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9fd4c8988f4f1b" /><Relationship Type="http://schemas.openxmlformats.org/officeDocument/2006/relationships/extended-properties" Target="/docProps/app.xml" Id="Red390a0f0f094ccc" /><Relationship Type="http://schemas.openxmlformats.org/officeDocument/2006/relationships/officeDocument" Target="/ppt/presentation.xml" Id="R3e80206d63324769" /></Relationships>
</file>

<file path=ppt/presentation.xml><?xml version="1.0" encoding="utf-8"?>
<p:presentation xmlns:p="http://schemas.openxmlformats.org/presentationml/2006/main">
  <p:sldMasterIdLst>
    <p:sldMasterId xmlns:r="http://schemas.openxmlformats.org/officeDocument/2006/relationships" id="2147483648" r:id="Rfc761228865d48b1"/>
  </p:sldMasterIdLst>
  <p:notesMasterIdLst>
    <p:notesMasterId xmlns:r="http://schemas.openxmlformats.org/officeDocument/2006/relationships" r:id="Rd591daf903d7485b"/>
  </p:notesMasterIdLst>
  <p:sldIdLst>
    <p:sldId xmlns:r="http://schemas.openxmlformats.org/officeDocument/2006/relationships" id="256" r:id="R84b869752622405c"/>
    <p:sldId xmlns:r="http://schemas.openxmlformats.org/officeDocument/2006/relationships" id="257" r:id="R59722b695ea04411"/>
    <p:sldId xmlns:r="http://schemas.openxmlformats.org/officeDocument/2006/relationships" id="258" r:id="R9ef12897d37a4434"/>
    <p:sldId xmlns:r="http://schemas.openxmlformats.org/officeDocument/2006/relationships" id="259" r:id="R4292639426fe4167"/>
    <p:sldId xmlns:r="http://schemas.openxmlformats.org/officeDocument/2006/relationships" id="260" r:id="R4efef9c954004154"/>
    <p:sldId xmlns:r="http://schemas.openxmlformats.org/officeDocument/2006/relationships" id="261" r:id="Re49281f2b8744216"/>
    <p:sldId xmlns:r="http://schemas.openxmlformats.org/officeDocument/2006/relationships" id="262" r:id="Rdb266be050504795"/>
    <p:sldId xmlns:r="http://schemas.openxmlformats.org/officeDocument/2006/relationships" id="263" r:id="R48dd48eefc55407c"/>
    <p:sldId xmlns:r="http://schemas.openxmlformats.org/officeDocument/2006/relationships" id="264" r:id="Redf879cf90184c5c"/>
    <p:sldId xmlns:r="http://schemas.openxmlformats.org/officeDocument/2006/relationships" id="265" r:id="Rcb89d3ecac154fcd"/>
    <p:sldId xmlns:r="http://schemas.openxmlformats.org/officeDocument/2006/relationships" id="266" r:id="R46d0ad0bccbb4e88"/>
    <p:sldId xmlns:r="http://schemas.openxmlformats.org/officeDocument/2006/relationships" id="267" r:id="Rab0d36473b544192"/>
    <p:sldId xmlns:r="http://schemas.openxmlformats.org/officeDocument/2006/relationships" id="268" r:id="R2f32d41547244ebc"/>
    <p:sldId xmlns:r="http://schemas.openxmlformats.org/officeDocument/2006/relationships" id="269" r:id="Ra6f9e50d197d4467"/>
    <p:sldId xmlns:r="http://schemas.openxmlformats.org/officeDocument/2006/relationships" id="270" r:id="R47ca45951a834a23"/>
    <p:sldId xmlns:r="http://schemas.openxmlformats.org/officeDocument/2006/relationships" id="271" r:id="R3a59c5df13fb4c70"/>
    <p:sldId xmlns:r="http://schemas.openxmlformats.org/officeDocument/2006/relationships" id="272" r:id="R07575375c8de4b26"/>
    <p:sldId xmlns:r="http://schemas.openxmlformats.org/officeDocument/2006/relationships" id="273" r:id="Ra40ea869439c42dd"/>
    <p:sldId xmlns:r="http://schemas.openxmlformats.org/officeDocument/2006/relationships" id="274" r:id="R6a2c17f46b474477"/>
    <p:sldId xmlns:r="http://schemas.openxmlformats.org/officeDocument/2006/relationships" id="275" r:id="Re2c08d08adb74c1d"/>
    <p:sldId xmlns:r="http://schemas.openxmlformats.org/officeDocument/2006/relationships" id="276" r:id="R185f06f3e22c4c94"/>
    <p:sldId xmlns:r="http://schemas.openxmlformats.org/officeDocument/2006/relationships" id="277" r:id="Rbad3f217c8414926"/>
    <p:sldId xmlns:r="http://schemas.openxmlformats.org/officeDocument/2006/relationships" id="278" r:id="Ra6a90d238ba444fd"/>
    <p:sldId xmlns:r="http://schemas.openxmlformats.org/officeDocument/2006/relationships" id="279" r:id="R41fe70ff4a5244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ff388e3d6a4ae3" /><Relationship Type="http://schemas.openxmlformats.org/officeDocument/2006/relationships/slideMaster" Target="/ppt/slideMasters/slideMaster1.xml" Id="Rfc761228865d48b1" /><Relationship Type="http://schemas.openxmlformats.org/officeDocument/2006/relationships/notesMaster" Target="/ppt/notesMasters/notesMaster1.xml" Id="Rd591daf903d7485b" /><Relationship Type="http://schemas.openxmlformats.org/officeDocument/2006/relationships/presProps" Target="/ppt/presProps.xml" Id="R494e3ddd46a44fc0" /><Relationship Type="http://schemas.openxmlformats.org/officeDocument/2006/relationships/tableStyles" Target="/ppt/tableStyles.xml" Id="R1f0b42b9c0924156" /><Relationship Type="http://schemas.openxmlformats.org/officeDocument/2006/relationships/slide" Target="/ppt/slides/slide1.xml" Id="R84b869752622405c" /><Relationship Type="http://schemas.openxmlformats.org/officeDocument/2006/relationships/slide" Target="/ppt/slides/slide2.xml" Id="R59722b695ea04411" /><Relationship Type="http://schemas.openxmlformats.org/officeDocument/2006/relationships/slide" Target="/ppt/slides/slide3.xml" Id="R9ef12897d37a4434" /><Relationship Type="http://schemas.openxmlformats.org/officeDocument/2006/relationships/slide" Target="/ppt/slides/slide4.xml" Id="R4292639426fe4167" /><Relationship Type="http://schemas.openxmlformats.org/officeDocument/2006/relationships/slide" Target="/ppt/slides/slide5.xml" Id="R4efef9c954004154" /><Relationship Type="http://schemas.openxmlformats.org/officeDocument/2006/relationships/slide" Target="/ppt/slides/slide6.xml" Id="Re49281f2b8744216" /><Relationship Type="http://schemas.openxmlformats.org/officeDocument/2006/relationships/slide" Target="/ppt/slides/slide7.xml" Id="Rdb266be050504795" /><Relationship Type="http://schemas.openxmlformats.org/officeDocument/2006/relationships/slide" Target="/ppt/slides/slide8.xml" Id="R48dd48eefc55407c" /><Relationship Type="http://schemas.openxmlformats.org/officeDocument/2006/relationships/slide" Target="/ppt/slides/slide9.xml" Id="Redf879cf90184c5c" /><Relationship Type="http://schemas.openxmlformats.org/officeDocument/2006/relationships/slide" Target="/ppt/slides/slide10.xml" Id="Rcb89d3ecac154fcd" /><Relationship Type="http://schemas.openxmlformats.org/officeDocument/2006/relationships/slide" Target="/ppt/slides/slide11.xml" Id="R46d0ad0bccbb4e88" /><Relationship Type="http://schemas.openxmlformats.org/officeDocument/2006/relationships/slide" Target="/ppt/slides/slide12.xml" Id="Rab0d36473b544192" /><Relationship Type="http://schemas.openxmlformats.org/officeDocument/2006/relationships/slide" Target="/ppt/slides/slide13.xml" Id="R2f32d41547244ebc" /><Relationship Type="http://schemas.openxmlformats.org/officeDocument/2006/relationships/slide" Target="/ppt/slides/slide14.xml" Id="Ra6f9e50d197d4467" /><Relationship Type="http://schemas.openxmlformats.org/officeDocument/2006/relationships/slide" Target="/ppt/slides/slide15.xml" Id="R47ca45951a834a23" /><Relationship Type="http://schemas.openxmlformats.org/officeDocument/2006/relationships/slide" Target="/ppt/slides/slide16.xml" Id="R3a59c5df13fb4c70" /><Relationship Type="http://schemas.openxmlformats.org/officeDocument/2006/relationships/slide" Target="/ppt/slides/slide17.xml" Id="R07575375c8de4b26" /><Relationship Type="http://schemas.openxmlformats.org/officeDocument/2006/relationships/slide" Target="/ppt/slides/slide18.xml" Id="Ra40ea869439c42dd" /><Relationship Type="http://schemas.openxmlformats.org/officeDocument/2006/relationships/slide" Target="/ppt/slides/slide19.xml" Id="R6a2c17f46b474477" /><Relationship Type="http://schemas.openxmlformats.org/officeDocument/2006/relationships/slide" Target="/ppt/slides/slide20.xml" Id="Re2c08d08adb74c1d" /><Relationship Type="http://schemas.openxmlformats.org/officeDocument/2006/relationships/slide" Target="/ppt/slides/slide21.xml" Id="R185f06f3e22c4c94" /><Relationship Type="http://schemas.openxmlformats.org/officeDocument/2006/relationships/slide" Target="/ppt/slides/slide22.xml" Id="Rbad3f217c8414926" /><Relationship Type="http://schemas.openxmlformats.org/officeDocument/2006/relationships/slide" Target="/ppt/slides/slide23.xml" Id="Ra6a90d238ba444fd" /><Relationship Type="http://schemas.openxmlformats.org/officeDocument/2006/relationships/slide" Target="/ppt/slides/slide24.xml" Id="R41fe70ff4a5244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5b20ab826f4c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e6449e9384f3a" /><Relationship Type="http://schemas.openxmlformats.org/officeDocument/2006/relationships/notesMaster" Target="/ppt/notesMasters/notesMaster1.xml" Id="Rb6820b705bb54192" /></Relationships>
</file>

<file path=ppt/notesSlides/_rels/notesSlide2.xml.rels>&#65279;<?xml version="1.0" encoding="utf-8"?><Relationships xmlns="http://schemas.openxmlformats.org/package/2006/relationships"><Relationship Type="http://schemas.openxmlformats.org/officeDocument/2006/relationships/slide" Target="/ppt/slides/slide2.xml" Id="Rfe6799773df94133" /><Relationship Type="http://schemas.openxmlformats.org/officeDocument/2006/relationships/notesMaster" Target="/ppt/notesMasters/notesMaster1.xml" Id="Rc9ca735157ce49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013449daf04aeb" /><Relationship Type="http://schemas.openxmlformats.org/officeDocument/2006/relationships/notesMaster" Target="/ppt/notesMasters/notesMaster1.xml" Id="R3a021d168e874b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efba97f0195e402a" /><Relationship Type="http://schemas.openxmlformats.org/officeDocument/2006/relationships/notesMaster" Target="/ppt/notesMasters/notesMaster1.xml" Id="R2c9f28b436b844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3795553b3694cdc" /><Relationship Type="http://schemas.openxmlformats.org/officeDocument/2006/relationships/notesMaster" Target="/ppt/notesMasters/notesMaster1.xml" Id="Rf961d7aadd944d98"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07ab8253014ed6" /><Relationship Type="http://schemas.openxmlformats.org/officeDocument/2006/relationships/notesMaster" Target="/ppt/notesMasters/notesMaster1.xml" Id="R49432c2bfc3f41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972ff38a924dd4" /><Relationship Type="http://schemas.openxmlformats.org/officeDocument/2006/relationships/notesMaster" Target="/ppt/notesMasters/notesMaster1.xml" Id="R166926d4917c45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f02f22b521496c" /><Relationship Type="http://schemas.openxmlformats.org/officeDocument/2006/relationships/notesMaster" Target="/ppt/notesMasters/notesMaster1.xml" Id="R85b6a4b64df3453f"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8e03b5fa434f2a" /><Relationship Type="http://schemas.openxmlformats.org/officeDocument/2006/relationships/notesMaster" Target="/ppt/notesMasters/notesMaster1.xml" Id="R6ca698f2b0f149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d9d9d1301b34998" /><Relationship Type="http://schemas.openxmlformats.org/officeDocument/2006/relationships/notesMaster" Target="/ppt/notesMasters/notesMaster1.xml" Id="Rdbe95e3b957b4e7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7620dd2419a477a" /><Relationship Type="http://schemas.openxmlformats.org/officeDocument/2006/relationships/notesMaster" Target="/ppt/notesMasters/notesMaster1.xml" Id="R33f32317202c4bf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ce943693dae45b8" /><Relationship Type="http://schemas.openxmlformats.org/officeDocument/2006/relationships/notesMaster" Target="/ppt/notesMasters/notesMaster1.xml" Id="Rb40c87e4ac4a44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64a94b89d584584" /><Relationship Type="http://schemas.openxmlformats.org/officeDocument/2006/relationships/notesMaster" Target="/ppt/notesMasters/notesMaster1.xml" Id="Rc9edc021119f47f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88e9a95d5d4e73" /><Relationship Type="http://schemas.openxmlformats.org/officeDocument/2006/relationships/notesMaster" Target="/ppt/notesMasters/notesMaster1.xml" Id="Rde6a6556d18b40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044beb4061a481e" /><Relationship Type="http://schemas.openxmlformats.org/officeDocument/2006/relationships/notesMaster" Target="/ppt/notesMasters/notesMaster1.xml" Id="Rc01242bda5194b2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65fc681850749a7" /><Relationship Type="http://schemas.openxmlformats.org/officeDocument/2006/relationships/notesMaster" Target="/ppt/notesMasters/notesMaster1.xml" Id="Rbbb1c4cfae354f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dea7d61bd14629" /><Relationship Type="http://schemas.openxmlformats.org/officeDocument/2006/relationships/notesMaster" Target="/ppt/notesMasters/notesMaster1.xml" Id="R185b04df64224bc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d0b2a1059a64e98" /><Relationship Type="http://schemas.openxmlformats.org/officeDocument/2006/relationships/notesMaster" Target="/ppt/notesMasters/notesMaster1.xml" Id="R6991d09dc1194ed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e65fb8a74424328" /><Relationship Type="http://schemas.openxmlformats.org/officeDocument/2006/relationships/notesMaster" Target="/ppt/notesMasters/notesMaster1.xml" Id="R57e49425a3fd43f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2b6cd2d31984d96" /><Relationship Type="http://schemas.openxmlformats.org/officeDocument/2006/relationships/notesMaster" Target="/ppt/notesMasters/notesMaster1.xml" Id="R580a40693ada446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84a13ee11524b96" /><Relationship Type="http://schemas.openxmlformats.org/officeDocument/2006/relationships/notesMaster" Target="/ppt/notesMasters/notesMaster1.xml" Id="R6ea350f4a3cf4dc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d91568a10ab4a6c" /><Relationship Type="http://schemas.openxmlformats.org/officeDocument/2006/relationships/notesMaster" Target="/ppt/notesMasters/notesMaster1.xml" Id="R0ab2069bff8e4d1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150706f67e04972" /><Relationship Type="http://schemas.openxmlformats.org/officeDocument/2006/relationships/notesMaster" Target="/ppt/notesMasters/notesMaster1.xml" Id="R099c072769f9401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34538f5310f4338" /><Relationship Type="http://schemas.openxmlformats.org/officeDocument/2006/relationships/notesMaster" Target="/ppt/notesMasters/notesMaster1.xml" Id="Rd16d3ac044fc44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 target 25 seconds. Good morning, and thank you for the opportunity to present my thesis. I evaluated whether an automatically discovered, data-aware process simulator can be transferred from event-log data to the physically constrained setting of container-terminal truck operations. I will focus on the results and their interpretation: what the model reproduces, what additional context changes, and what the scenario experiments reveal about trustworthy decision support.</a:t>
            </a:r>
          </a:p>
          <a:p xmlns:a="http://schemas.openxmlformats.org/drawingml/2006/main">
            <a:r>
              <a:t/>
            </a:r>
          </a:p>
          <a:p xmlns:a="http://schemas.openxmlformats.org/drawingml/2006/main">
            <a:r>
              <a:t>[Sources]</a:t>
            </a:r>
          </a:p>
          <a:p xmlns:a="http://schemas.openxmlformats.org/drawingml/2006/main">
            <a:r>
              <a:t>- Grigat, thesis title page and abstract.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10 seconds. The motivating decision is concrete: before changing truck-slot rates or a yard-resource policy, a terminal would like to estimate the effect on turnaround. But the operational process is physical. A truck follows a sequential route, shares resources with other demand, and moves through a spatial system. The available data, by contrast, are recorded events. That creates the central transfer problem: can an event-log-derived model represent enough of the terminal to support the intended decision?</a:t>
            </a:r>
          </a:p>
          <a:p xmlns:a="http://schemas.openxmlformats.org/drawingml/2006/main">
            <a:r>
              <a:t/>
            </a:r>
          </a:p>
          <a:p xmlns:a="http://schemas.openxmlformats.org/drawingml/2006/main">
            <a:r>
              <a:t>[Sources]</a:t>
            </a:r>
          </a:p>
          <a:p xmlns:a="http://schemas.openxmlformats.org/drawingml/2006/main">
            <a:r>
              <a:t>- Grigat, thesis Sections 2.1, 3.1, and 4.1.</a:t>
            </a:r>
          </a:p>
          <a:p xmlns:a="http://schemas.openxmlformats.org/drawingml/2006/main">
            <a:r>
              <a:t>- HHLA container-flow schematic reproduced in thesis Figure 2.1; local source: figures/background/container_flows_hhla.png.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The thesis deliberately separates three claims that are often conflated. First, historical fidelity: can the simulator reproduce a later, unseen period? Second, structural validity: does the process model obey the domain contract that a truck visit is sequential? Third, scenario credibility: do richer context and interventions create responses that can be interpreted operationally? My main argument is that these tests produce different answers, so scenario executability cannot be treated as evidence of physical validity.</a:t>
            </a:r>
          </a:p>
          <a:p xmlns:a="http://schemas.openxmlformats.org/drawingml/2006/main">
            <a:r>
              <a:t/>
            </a:r>
          </a:p>
          <a:p xmlns:a="http://schemas.openxmlformats.org/drawingml/2006/main">
            <a:r>
              <a:t>[Sources]</a:t>
            </a:r>
          </a:p>
          <a:p xmlns:a="http://schemas.openxmlformats.org/drawingml/2006/main">
            <a:r>
              <a:t>- Grigat, thesis Sections 1.2–1.3 and Chapter 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The evidence comes from 89,460 truck visits and 275,408 events over two continuous months. The first 80 percent of cases are used for discovery and calibration; the later 17,892 cases are held out. This temporal split preserves period shift instead of mixing it into both partitions. Each final comparison uses ten simulation seeds, and the two scenarios are evaluated with matched seeds against the same frozen baseline. I will not spend time on event-log engineering here; the key point is that all calibration choices are fixed before the hold-out evaluation.</a:t>
            </a:r>
          </a:p>
          <a:p xmlns:a="http://schemas.openxmlformats.org/drawingml/2006/main">
            <a:r>
              <a:t/>
            </a:r>
          </a:p>
          <a:p xmlns:a="http://schemas.openxmlformats.org/drawingml/2006/main">
            <a:r>
              <a:t>[Sources]</a:t>
            </a:r>
          </a:p>
          <a:p xmlns:a="http://schemas.openxmlformats.org/drawingml/2006/main">
            <a:r>
              <a:t>- Grigat, thesis Sections 3.6, 4.4–4.6, and 5.1.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20 seconds. The control-flow result is strong, but it depends on preserving the authoritative event order during conversion. Once that order is protected, the Inductive Miner produces a compact model with no parallel operator. It fits 17,891 of 17,892 held-out cases completely and generalises beyond memorised training variants. Precision is lower because the loop allows additional sequential yard combinations, but that is different from forbidden concurrency. So the discovered net is suitable as the simulation backbone; the important methodological lesson is to validate the operator semantics, not just a global fitness score.</a:t>
            </a:r>
          </a:p>
          <a:p xmlns:a="http://schemas.openxmlformats.org/drawingml/2006/main">
            <a:r>
              <a:t/>
            </a:r>
          </a:p>
          <a:p xmlns:a="http://schemas.openxmlformats.org/drawingml/2006/main">
            <a:r>
              <a:t>[Sources]</a:t>
            </a:r>
          </a:p>
          <a:p xmlns:a="http://schemas.openxmlformats.org/drawingml/2006/main">
            <a:r>
              <a:t>- Grigat, thesis Section 5.2 and Table 5.2.</a:t>
            </a:r>
          </a:p>
          <a:p xmlns:a="http://schemas.openxmlformats.org/drawingml/2006/main">
            <a:r>
              <a:t>- Local figure: figures/discovery/petri_net_inductive.png.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20 seconds. RQ1 produces a mixed result. Inter-arrival spacing is reproduced extremely closely, with an EMD of 0.072 minutes. Weighted yard-service timing is also reasonably close at 2.366 minutes. But turnaround EMD is 8.180 minutes. This is important because these are not three different models; they are three views of the same baseline. The model can reproduce local distributions while still missing time that accumulates between or around recorded activities. Historical fidelity is therefore multidimensional, and the operational KPI must be evaluated directly.</a:t>
            </a:r>
          </a:p>
          <a:p xmlns:a="http://schemas.openxmlformats.org/drawingml/2006/main">
            <a:r>
              <a:t/>
            </a:r>
          </a:p>
          <a:p xmlns:a="http://schemas.openxmlformats.org/drawingml/2006/main">
            <a:r>
              <a:t>[Sources]</a:t>
            </a:r>
          </a:p>
          <a:p xmlns:a="http://schemas.openxmlformats.org/drawingml/2006/main">
            <a:r>
              <a:t>- Grigat, thesis Section 5.3 and Table 5.3.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30 seconds. The operational weakness becomes clear in the summary statistics. Real mean turnaround is 39.74 minutes, while the simulation gives 31.57: an 8.17-minute or 20.6 percent under-prediction. At the 90th percentile, the gap grows to 17.31 minutes. This bias persists across all ten seeds. The intervals around the simulated means are narrow, but that only tells us that random simulation variation is small. It does not make the frozen model correct. The missing time is systematic and points to structural rather than Monte-Carlo uncertainty.</a:t>
            </a:r>
          </a:p>
          <a:p xmlns:a="http://schemas.openxmlformats.org/drawingml/2006/main">
            <a:r>
              <a:t/>
            </a:r>
          </a:p>
          <a:p xmlns:a="http://schemas.openxmlformats.org/drawingml/2006/main">
            <a:r>
              <a:t>[Sources]</a:t>
            </a:r>
          </a:p>
          <a:p xmlns:a="http://schemas.openxmlformats.org/drawingml/2006/main">
            <a:r>
              <a:t>- Grigat, thesis Section 5.3, Table 5.3, and Section 5.9.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25 seconds. RQ3 compares the distribution-only endpoint with the full rules-plus-workload endpoint after the same calibration. Timing is essentially tied: turnaround EMD becomes 0.135 minutes worse, while weighted service EMD improves by only 0.006 minutes. The clearer differences point in opposite directions. Context eliminates the rare gate-only bypass, but activity-rate error worsens from 0.1753 to 0.2264. The justified conclusion is not that data-aware modelling fails. It is that extra expressiveness changes different fidelity dimensions differently and must earn its complexity on held-out data.</a:t>
            </a:r>
          </a:p>
          <a:p xmlns:a="http://schemas.openxmlformats.org/drawingml/2006/main">
            <a:r>
              <a:t/>
            </a:r>
          </a:p>
          <a:p xmlns:a="http://schemas.openxmlformats.org/drawingml/2006/main">
            <a:r>
              <a:t>[Sources]</a:t>
            </a:r>
          </a:p>
          <a:p xmlns:a="http://schemas.openxmlformats.org/drawingml/2006/main">
            <a:r>
              <a:t>- Grigat, thesis Section 5.4 and Table 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20 seconds. The diagnostic explains why the aggregate RQ3 result is mixed. Calendar context is genuinely informative for arrivals: a time-aware tree reaches an R-squared of 0.762 and cuts arrival-count MAE by 67.5 percent; daytime intensity is about 8.7 times the night rate. In contrast, the available case-level attributes have slightly negative held-out R-squared for the two dominant RMG duration models, even though RMG accounts for more than 60 percent of yard events. Context is therefore useful selectively. More columns do not help when they do not measure the state that drives the outcome.</a:t>
            </a:r>
          </a:p>
          <a:p xmlns:a="http://schemas.openxmlformats.org/drawingml/2006/main">
            <a:r>
              <a:t/>
            </a:r>
          </a:p>
          <a:p xmlns:a="http://schemas.openxmlformats.org/drawingml/2006/main">
            <a:r>
              <a:t>[Sources]</a:t>
            </a:r>
          </a:p>
          <a:p xmlns:a="http://schemas.openxmlformats.org/drawingml/2006/main">
            <a:r>
              <a:t>- Grigat, thesis Sections 5.5–5.6 and Tables 5.6–5.8.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20 seconds. This is the interpretive bridge to the scenarios. The simulator can learn what the log contains: event order, calendar effects, activity labels and statistical resource assignments. It cannot learn states that were never represented: the actual queue, truck or container position, equipment movement, or block compatibility. A transparent white-box model is valuable because this gap is visible. But interpretability only makes an association inspectable; it does not turn the association into a causal mechanism or guarantee that an intervention will propagate physically.</a:t>
            </a:r>
          </a:p>
          <a:p xmlns:a="http://schemas.openxmlformats.org/drawingml/2006/main">
            <a:r>
              <a:t/>
            </a:r>
          </a:p>
          <a:p xmlns:a="http://schemas.openxmlformats.org/drawingml/2006/main">
            <a:r>
              <a:t>[Sources]</a:t>
            </a:r>
          </a:p>
          <a:p xmlns:a="http://schemas.openxmlformats.org/drawingml/2006/main">
            <a:r>
              <a:t>- Grigat, thesis Section 5.8 and Chapter 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25 seconds. In Scenario A, T22 is removed from the simulated RMG pool. The intervention executes exactly: assignments fall from an average of 591.5 to zero. Mean turnaround increases by only 0.092 minutes, and its paired interval includes zero. Delivery pre-service increases by 0.094 minutes and is the only activity-specific interval shown here that excludes zero. But this is not a physical block-closure study. The selector simply reallocates work to another statistical resource; it does not represent container location, relocation or added travel. The result is valid inside the model, not established for the terminal.</a:t>
            </a:r>
          </a:p>
          <a:p xmlns:a="http://schemas.openxmlformats.org/drawingml/2006/main">
            <a:r>
              <a:t/>
            </a:r>
          </a:p>
          <a:p xmlns:a="http://schemas.openxmlformats.org/drawingml/2006/main">
            <a:r>
              <a:t>[Sources]</a:t>
            </a:r>
          </a:p>
          <a:p xmlns:a="http://schemas.openxmlformats.org/drawingml/2006/main">
            <a:r>
              <a:t>- Grigat, thesis Sections 5.7.1 and Table 5.11.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25 seconds. Scenario B increases the model’s working-time arrival intensity by exactly 20 percent. Yet mean turnaround changes by only 0.131 minutes, with an interval that includes zero. Delivery pre-service increases by 0.153 minutes—about 9.2 seconds—and excludes zero, while the broader RMG measures do not. This is not evidence that the real terminal can absorb 20 percent more demand. It is a diagnostic result: the model changes arrival timing, but it lacks enough explicit queueing, spatial state and equipment interaction to create a credible congestion response.</a:t>
            </a:r>
          </a:p>
          <a:p xmlns:a="http://schemas.openxmlformats.org/drawingml/2006/main">
            <a:r>
              <a:t/>
            </a:r>
          </a:p>
          <a:p xmlns:a="http://schemas.openxmlformats.org/drawingml/2006/main">
            <a:r>
              <a:t>[Sources]</a:t>
            </a:r>
          </a:p>
          <a:p xmlns:a="http://schemas.openxmlformats.org/drawingml/2006/main">
            <a:r>
              <a:t>- Grigat, thesis Sections 5.7.2 and Table 5.11.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15 seconds. The two scenarios pass an executability test and a reproducibility test. The intended parameters change, and matched seeds make the resulting model-internal deltas precise. But they fail a stronger physical interpretation test. A near-null outcome can be an operational finding only when the mechanism through which the intervention should act is represented and validated. Here the null turnaround responses instead reveal missing spatial and queueing propagation. In that sense, the scenarios are successful stress tests of model semantics, even though they are not sufficient operational forecasts.</a:t>
            </a:r>
          </a:p>
          <a:p xmlns:a="http://schemas.openxmlformats.org/drawingml/2006/main">
            <a:r>
              <a:t/>
            </a:r>
          </a:p>
          <a:p xmlns:a="http://schemas.openxmlformats.org/drawingml/2006/main">
            <a:r>
              <a:t>[Sources]</a:t>
            </a:r>
          </a:p>
          <a:p xmlns:a="http://schemas.openxmlformats.org/drawingml/2006/main">
            <a:r>
              <a:t>- Grigat, thesis Sections 5.7–5.8 and Chapter 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1 minute 20 seconds. The findings can be summarised as a three-level evidence ladder. Historical reproduction is partial: the model captures important patterns but under-predicts the main operational KPI. Executable white-box scenarios are clearly supported: interventions are inspectable and repeatable. A credible physical counterfactual is not yet supported because the mechanisms that connect demand and resource changes to delay are incomplete. This distinction is the thesis’s practical contribution: it defines what the model can defensibly support today and what evidence is still required before prescriptive use.</a:t>
            </a:r>
          </a:p>
          <a:p xmlns:a="http://schemas.openxmlformats.org/drawingml/2006/main">
            <a:r>
              <a:t/>
            </a:r>
          </a:p>
          <a:p xmlns:a="http://schemas.openxmlformats.org/drawingml/2006/main">
            <a:r>
              <a:t>[Sources]</a:t>
            </a:r>
          </a:p>
          <a:p xmlns:a="http://schemas.openxmlformats.org/drawingml/2006/main">
            <a:r>
              <a:t>- Grigat, thesis Chapter 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 I would close with three points. First, automatically discovered structure can transfer to this logistics setting, but event-order semantics must be protected. Second, fidelity is multidimensional: strong component-level fits do not compensate for a systematic turnaround deficit. Third, scenario executability is not counterfactual validity. The model is already useful as a transparent and auditable diagnostic, especially because it makes its boundary visible. Moving from diagnosis to prescriptive terminal decisions requires richer event-level and spatial state plus explicit queueing and equipment mechanisms. I welcome your questions.</a:t>
            </a:r>
          </a:p>
          <a:p xmlns:a="http://schemas.openxmlformats.org/drawingml/2006/main">
            <a:r>
              <a:t/>
            </a:r>
          </a:p>
          <a:p xmlns:a="http://schemas.openxmlformats.org/drawingml/2006/main">
            <a:r>
              <a:t>[Sources]</a:t>
            </a:r>
          </a:p>
          <a:p xmlns:a="http://schemas.openxmlformats.org/drawingml/2006/main">
            <a:r>
              <a:t>- Grigat, thesis Chapter 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when an examiner asks you to restate the research design. Answer each question directly before adding nuance. The most important connective sentence is: the four answers are deliberately non-equivalent—structural validity, historical fidelity and scenario credibility must be evaluated separately.</a:t>
            </a:r>
          </a:p>
          <a:p xmlns:a="http://schemas.openxmlformats.org/drawingml/2006/main">
            <a:r>
              <a:t/>
            </a:r>
          </a:p>
          <a:p xmlns:a="http://schemas.openxmlformats.org/drawingml/2006/main">
            <a:r>
              <a:t>[Sources]</a:t>
            </a:r>
          </a:p>
          <a:p xmlns:a="http://schemas.openxmlformats.org/drawingml/2006/main">
            <a:r>
              <a:t>- Grigat, thesis Section 1.3 and Chapter 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about event-log engineering, keep the answer conceptual. A case is one truck visit from Gate In through one or more yard activities to Gate Out. The real log supports observed service time and turnaround, but not an observed enablement-to-start queue measure. That is why the thesis consistently calls the simulated quantity pre-service delay and avoids claiming it is validated queueing time.</a:t>
            </a:r>
          </a:p>
          <a:p xmlns:a="http://schemas.openxmlformats.org/drawingml/2006/main">
            <a:r>
              <a:t/>
            </a:r>
          </a:p>
          <a:p xmlns:a="http://schemas.openxmlformats.org/drawingml/2006/main">
            <a:r>
              <a:t>[Sources]</a:t>
            </a:r>
          </a:p>
          <a:p xmlns:a="http://schemas.openxmlformats.org/drawingml/2006/main">
            <a:r>
              <a:t>- Grigat, thesis Chapter 3 and Section 5.4, ‘Meaning of the Time Measures’.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concise answer: the temporal split tests transfer to a genuinely later period. Ten seeds are enough to show that the reported simulation means are stable for the frozen model. They do not quantify all uncertainty. More seeds would narrow Monte-Carlo intervals, but they would not address another training period, another discovery run, or missing spatial state.</a:t>
            </a:r>
          </a:p>
          <a:p xmlns:a="http://schemas.openxmlformats.org/drawingml/2006/main">
            <a:r>
              <a:t/>
            </a:r>
          </a:p>
          <a:p xmlns:a="http://schemas.openxmlformats.org/drawingml/2006/main">
            <a:r>
              <a:t>[Sources]</a:t>
            </a:r>
          </a:p>
          <a:p xmlns:a="http://schemas.openxmlformats.org/drawingml/2006/main">
            <a:r>
              <a:t>- Grigat, thesis Sections 4.4–4.6, 5.1, and 5.9.</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defense point is that no single metric establishes simulator validity. Fitness evaluates replay, precision evaluates permitted language, and distributional distances evaluate different timing outcomes. The thesis therefore combines metrics with explicit structural checks and operational KPI errors.</a:t>
            </a:r>
          </a:p>
          <a:p xmlns:a="http://schemas.openxmlformats.org/drawingml/2006/main">
            <a:r>
              <a:t/>
            </a:r>
          </a:p>
          <a:p xmlns:a="http://schemas.openxmlformats.org/drawingml/2006/main">
            <a:r>
              <a:t>[Sources]</a:t>
            </a:r>
          </a:p>
          <a:p xmlns:a="http://schemas.openxmlformats.org/drawingml/2006/main">
            <a:r>
              <a:t>- Grigat, thesis Sections 2.7 and 4.5.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challenged on precision, say that the model’s broader language is semantically inspected. It contains no parallel operator and produces no within-case overlap, so lower precision represents additional sequential combinations rather than prohibited concurrency. The silent bypass is the remaining auditable exception and is explicitly disclosed.</a:t>
            </a:r>
          </a:p>
          <a:p xmlns:a="http://schemas.openxmlformats.org/drawingml/2006/main">
            <a:r>
              <a:t/>
            </a:r>
          </a:p>
          <a:p xmlns:a="http://schemas.openxmlformats.org/drawingml/2006/main">
            <a:r>
              <a:t>[Sources]</a:t>
            </a:r>
          </a:p>
          <a:p xmlns:a="http://schemas.openxmlformats.org/drawingml/2006/main">
            <a:r>
              <a:t>- Grigat, thesis Section 5.2 and Table 5.2.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only if asked for the full comparison. Stress the missing middle configuration: this comparison identifies the combined effect of rules and workload features, not the isolated causal contribution of workload. That is why the conclusion is deliberately limited to ‘additional context changed fidelity dimensions in different directions.’</a:t>
            </a:r>
          </a:p>
          <a:p xmlns:a="http://schemas.openxmlformats.org/drawingml/2006/main">
            <a:r>
              <a:t/>
            </a:r>
          </a:p>
          <a:p xmlns:a="http://schemas.openxmlformats.org/drawingml/2006/main">
            <a:r>
              <a:t>[Sources]</a:t>
            </a:r>
          </a:p>
          <a:p xmlns:a="http://schemas.openxmlformats.org/drawingml/2006/main">
            <a:r>
              <a:t>- Grigat, thesis Section 5.4 and Table 5.5.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exact scenario values. If asked why some small effects exclude zero, explain that paired seeds remove much of the Monte-Carlo noise. Then immediately qualify that statistical resolution conditional on one model is not the same as operational significance or structural validity.</a:t>
            </a:r>
          </a:p>
          <a:p xmlns:a="http://schemas.openxmlformats.org/drawingml/2006/main">
            <a:r>
              <a:t/>
            </a:r>
          </a:p>
          <a:p xmlns:a="http://schemas.openxmlformats.org/drawingml/2006/main">
            <a:r>
              <a:t>[Sources]</a:t>
            </a:r>
          </a:p>
          <a:p xmlns:a="http://schemas.openxmlformats.org/drawingml/2006/main">
            <a:r>
              <a:t>- Grigat, thesis Section 5.7 and Table 5.11.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what you would do next, answer in this order: richer state representation first, then a hybrid simulation formalism, then external validation, and finally policy validation. This shows that the proposed future work follows directly from the empirical failure modes rather than being a generic wish list.</a:t>
            </a:r>
          </a:p>
          <a:p xmlns:a="http://schemas.openxmlformats.org/drawingml/2006/main">
            <a:r>
              <a:t/>
            </a:r>
          </a:p>
          <a:p xmlns:a="http://schemas.openxmlformats.org/drawingml/2006/main">
            <a:r>
              <a:t>[Sources]</a:t>
            </a:r>
          </a:p>
          <a:p xmlns:a="http://schemas.openxmlformats.org/drawingml/2006/main">
            <a:r>
              <a:t>- Grigat, thesis Section 5.9 and Chapter 6, Future Work.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as 20-second answers: lead with the direct answer, then provide one supporting number or limitation. Avoid turning a question into a mini-lecture. If an examiner asks whether the model is useful, distinguish diagnostic usefulness from prescriptive readiness.</a:t>
            </a:r>
          </a:p>
          <a:p xmlns:a="http://schemas.openxmlformats.org/drawingml/2006/main">
            <a:r>
              <a:t/>
            </a:r>
          </a:p>
          <a:p xmlns:a="http://schemas.openxmlformats.org/drawingml/2006/main">
            <a:r>
              <a:t>[Sources]</a:t>
            </a:r>
          </a:p>
          <a:p xmlns:a="http://schemas.openxmlformats.org/drawingml/2006/main">
            <a:r>
              <a:t>- Grigat, thesis Chapters 5–6.</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f582b03c7af40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13c84036c664b37" /><Relationship Type="http://schemas.openxmlformats.org/officeDocument/2006/relationships/slideLayout" Target="/ppt/slideLayouts/slideLayout1.xml" Id="R95b2ec5f101444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b2ec5f101444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c95ceb708d14777" /><Relationship Type="http://schemas.openxmlformats.org/officeDocument/2006/relationships/image" Target="/ppt/media/image.png" Id="R12527cfa83f542ab" /><Relationship Type="http://schemas.openxmlformats.org/officeDocument/2006/relationships/notesSlide" Target="/ppt/notesSlides/notesSlide1.xml" Id="R233f46834e6d4dc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9117ff436bf47c1" /><Relationship Type="http://schemas.openxmlformats.org/officeDocument/2006/relationships/image" Target="/ppt/media/image2.png" Id="Rf060c68c73494bbd" /><Relationship Type="http://schemas.openxmlformats.org/officeDocument/2006/relationships/notesSlide" Target="/ppt/notesSlides/notesSlide2.xml" Id="R883597f56d324d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cfe046c76354caa" /><Relationship Type="http://schemas.openxmlformats.org/officeDocument/2006/relationships/notesSlide" Target="/ppt/notesSlides/notesSlide3.xml" Id="R7c997474012e4db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f7819102f2f4036" /><Relationship Type="http://schemas.openxmlformats.org/officeDocument/2006/relationships/notesSlide" Target="/ppt/notesSlides/notesSlide4.xml" Id="R07bb01ad1a384e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a6d4d8c27c849f5" /><Relationship Type="http://schemas.openxmlformats.org/officeDocument/2006/relationships/image" Target="/ppt/media/image3.png" Id="Rd86d606b1d8846d3" /><Relationship Type="http://schemas.openxmlformats.org/officeDocument/2006/relationships/notesSlide" Target="/ppt/notesSlides/notesSlide5.xml" Id="Rfecf1f70fb064c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5c47ec1d3a048da" /><Relationship Type="http://schemas.openxmlformats.org/officeDocument/2006/relationships/notesSlide" Target="/ppt/notesSlides/notesSlide6.xml" Id="Re10bd92e61ca45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19505de6c88452b" /><Relationship Type="http://schemas.openxmlformats.org/officeDocument/2006/relationships/chart" Target="/ppt/slides/charts/chart1.xml" Id="R95b70ac00bae4d57" /><Relationship Type="http://schemas.openxmlformats.org/officeDocument/2006/relationships/notesSlide" Target="/ppt/notesSlides/notesSlide7.xml" Id="Rfceae23d8ffc47a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87e3963690445da" /><Relationship Type="http://schemas.openxmlformats.org/officeDocument/2006/relationships/notesSlide" Target="/ppt/notesSlides/notesSlide8.xml" Id="R7fbb3509d35449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031bdff6d4c4be6" /><Relationship Type="http://schemas.openxmlformats.org/officeDocument/2006/relationships/notesSlide" Target="/ppt/notesSlides/notesSlide9.xml" Id="R391e0fd1d25c49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8acccb7b50f4590" /><Relationship Type="http://schemas.openxmlformats.org/officeDocument/2006/relationships/notesSlide" Target="/ppt/notesSlides/notesSlide10.xml" Id="Rde39e58d1cd443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d28b08776da4922" /><Relationship Type="http://schemas.openxmlformats.org/officeDocument/2006/relationships/notesSlide" Target="/ppt/notesSlides/notesSlide11.xml" Id="Ref63d70afb3247d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e232af50774370" /><Relationship Type="http://schemas.openxmlformats.org/officeDocument/2006/relationships/notesSlide" Target="/ppt/notesSlides/notesSlide12.xml" Id="Rf690f358875c416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2dd5421f2934693" /><Relationship Type="http://schemas.openxmlformats.org/officeDocument/2006/relationships/notesSlide" Target="/ppt/notesSlides/notesSlide13.xml" Id="R2e6dcb96ec2549e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3a1f0bfbee6480a" /><Relationship Type="http://schemas.openxmlformats.org/officeDocument/2006/relationships/notesSlide" Target="/ppt/notesSlides/notesSlide14.xml" Id="Rb12875cfe3ba464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2973d951a7549bc" /><Relationship Type="http://schemas.openxmlformats.org/officeDocument/2006/relationships/notesSlide" Target="/ppt/notesSlides/notesSlide15.xml" Id="Rf7f156339ccc49d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1f11d02f7374c99" /><Relationship Type="http://schemas.openxmlformats.org/officeDocument/2006/relationships/notesSlide" Target="/ppt/notesSlides/notesSlide16.xml" Id="R6e0172d6322f428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c9c02fdd47e4620" /><Relationship Type="http://schemas.openxmlformats.org/officeDocument/2006/relationships/notesSlide" Target="/ppt/notesSlides/notesSlide17.xml" Id="Rb68ebfc6c22e456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0a397985a2a4a00" /><Relationship Type="http://schemas.openxmlformats.org/officeDocument/2006/relationships/notesSlide" Target="/ppt/notesSlides/notesSlide18.xml" Id="R1e0f5774f385445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4f47d19553140e7" /><Relationship Type="http://schemas.openxmlformats.org/officeDocument/2006/relationships/notesSlide" Target="/ppt/notesSlides/notesSlide19.xml" Id="R515581234a26471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673765596a143fa" /><Relationship Type="http://schemas.openxmlformats.org/officeDocument/2006/relationships/notesSlide" Target="/ppt/notesSlides/notesSlide20.xml" Id="R25a52d15fa33499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60c3f24ae1b4a41" /><Relationship Type="http://schemas.openxmlformats.org/officeDocument/2006/relationships/notesSlide" Target="/ppt/notesSlides/notesSlide21.xml" Id="R70d82ec7eab74cb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dcf9e9160b04159" /><Relationship Type="http://schemas.openxmlformats.org/officeDocument/2006/relationships/notesSlide" Target="/ppt/notesSlides/notesSlide22.xml" Id="R3d14b738757d43b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413d1929a744ed0" /><Relationship Type="http://schemas.openxmlformats.org/officeDocument/2006/relationships/notesSlide" Target="/ppt/notesSlides/notesSlide23.xml" Id="Rb2bfad902d3440a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52f29e49fa341d2" /><Relationship Type="http://schemas.openxmlformats.org/officeDocument/2006/relationships/notesSlide" Target="/ppt/notesSlides/notesSlide24.xml" Id="R9a6175b7c65549bf" /></Relationships>
</file>

<file path=ppt/slides/charts/chart1.xml><?xml version="1.0" encoding="utf-8"?>
<c:chartSpace xmlns:c="http://schemas.openxmlformats.org/drawingml/2006/chart">
  <c:lang val="en-US"/>
  <c:chart>
    <c:plotArea>
      <c:barChart>
        <c:barDir val="col"/>
        <c:grouping val="clustered"/>
        <c:varyColors val="0"/>
        <c:ser>
          <c:idx val="0"/>
          <c:order val="0"/>
          <c:tx>
            <c:v>Real hold-out</c:v>
          </c:tx>
          <c:spPr>
            <a:solidFill xmlns:a="http://schemas.openxmlformats.org/drawingml/2006/main">
              <a:srgbClr val="0B1220"/>
            </a:solidFill>
          </c:spPr>
          <c:cat>
            <c:strLit>
              <c:ptCount val="2"/>
              <c:pt idx="0">
                <c:v>Mean</c:v>
              </c:pt>
              <c:pt idx="1">
                <c:v>P90</c:v>
              </c:pt>
            </c:strLit>
          </c:cat>
          <c:val>
            <c:numLit>
              <c:formatCode>General</c:formatCode>
              <c:ptCount val="2"/>
              <c:pt idx="0">
                <c:v>39.742</c:v>
              </c:pt>
              <c:pt idx="1">
                <c:v>71</c:v>
              </c:pt>
            </c:numLit>
          </c:val>
        </c:ser>
        <c:ser>
          <c:idx val="1"/>
          <c:order val="1"/>
          <c:tx>
            <c:v>Simulation</c:v>
          </c:tx>
          <c:spPr>
            <a:solidFill xmlns:a="http://schemas.openxmlformats.org/drawingml/2006/main">
              <a:srgbClr val="2F80ED"/>
            </a:solidFill>
          </c:spPr>
          <c:cat>
            <c:strLit>
              <c:ptCount val="2"/>
              <c:pt idx="0">
                <c:v>Mean</c:v>
              </c:pt>
              <c:pt idx="1">
                <c:v>P90</c:v>
              </c:pt>
            </c:strLit>
          </c:cat>
          <c:val>
            <c:numLit>
              <c:formatCode>General</c:formatCode>
              <c:ptCount val="2"/>
              <c:pt idx="0">
                <c:v>31.572</c:v>
              </c:pt>
              <c:pt idx="1">
                <c:v>53.69</c:v>
              </c:pt>
            </c:numLit>
          </c:val>
        </c:ser>
        <c:dLbls>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0D5DD"/>
            </a:solidFill>
            <a:prstDash val="solid"/>
          </a:ln>
        </c:spPr>
        <c:txPr>
          <a:bodyPr xmlns:a="http://schemas.openxmlformats.org/drawingml/2006/main" anchorCtr="1"/>
          <a:lstStyle xmlns:a="http://schemas.openxmlformats.org/drawingml/2006/main"/>
          <a:p xmlns:a="http://schemas.openxmlformats.org/drawingml/2006/main">
            <a:pPr>
              <a:defRPr sz="1500">
                <a:solidFill>
                  <a:srgbClr val="0B1220"/>
                </a:solidFill>
                <a:latin typeface="Aptos"/>
                <a:ea typeface="Aptos"/>
                <a:cs typeface="Aptos"/>
              </a:defRPr>
            </a:pPr>
          </a:p>
        </c:txPr>
        <c:crossAx val="48672768"/>
      </c:catAx>
      <c:valAx>
        <c:axId val="48672768"/>
        <c:scaling>
          <c:orientation val="minMax"/>
          <c:max val="80"/>
          <c:min val="0"/>
        </c:scaling>
        <c:delete val="0"/>
        <c:axPos val="l"/>
        <c:majorGridlines>
          <c:spPr>
            <a:ln xmlns:a="http://schemas.openxmlformats.org/drawingml/2006/main" w="9525">
              <a:solidFill>
                <a:srgbClr val="D0D5DD"/>
              </a:solidFill>
              <a:prstDash val="solid"/>
            </a:ln>
          </c:spPr>
        </c:majorGridlines>
        <c:title>
          <c:tx>
            <c:rich>
              <a:bodyPr xmlns:a="http://schemas.openxmlformats.org/drawingml/2006/main"/>
              <a:lstStyle xmlns:a="http://schemas.openxmlformats.org/drawingml/2006/main"/>
              <a:p xmlns:a="http://schemas.openxmlformats.org/drawingml/2006/main">
                <a:r>
                  <a:t>minutes</a:t>
                </a:r>
              </a:p>
            </c:rich>
          </c:tx>
          <c:overlay val="0"/>
        </c:title>
        <c:numFmt formatCode="General"/>
        <c:majorTickMark val="none"/>
        <c:minorTickMark val="none"/>
        <c:spPr>
          <a:ln xmlns:a="http://schemas.openxmlformats.org/drawingml/2006/main" w="0">
            <a:solidFill>
              <a:srgbClr val="F8FAFC"/>
            </a:solidFill>
            <a:prstDash val="solid"/>
          </a:ln>
        </c:spPr>
        <c:txPr>
          <a:bodyPr xmlns:a="http://schemas.openxmlformats.org/drawingml/2006/main" anchorCtr="1"/>
          <a:lstStyle xmlns:a="http://schemas.openxmlformats.org/drawingml/2006/main"/>
          <a:p xmlns:a="http://schemas.openxmlformats.org/drawingml/2006/main">
            <a:pPr>
              <a:defRPr sz="1275">
                <a:solidFill>
                  <a:srgbClr val="5F6B7A"/>
                </a:solidFill>
                <a:latin typeface="Aptos"/>
                <a:ea typeface="Aptos"/>
                <a:cs typeface="Aptos"/>
              </a:defRPr>
            </a:pPr>
          </a:p>
        </c:txPr>
        <c:crossAx val="48650112"/>
        <c:crossBetween val="between"/>
        <c:majorUnit val="20"/>
      </c:valAx>
      <c:spPr>
        <a:noFill xmlns:a="http://schemas.openxmlformats.org/drawingml/2006/main"/>
        <a:ln xmlns:a="http://schemas.openxmlformats.org/drawingml/2006/main" w="0">
          <a:solidFill>
            <a:srgbClr val="F8FAFC"/>
          </a:solidFill>
          <a:prstDash val="solid"/>
        </a:ln>
      </c:spPr>
    </c:plotArea>
    <c:legend>
      <c:legendPos val="b"/>
      <c:overlay val="0"/>
    </c:legend>
    <c:plotVisOnly val="1"/>
  </c:chart>
  <c:spPr>
    <a:solidFill xmlns:a="http://schemas.openxmlformats.org/drawingml/2006/main">
      <a:srgbClr val="F8FAFC"/>
    </a:solidFill>
    <a:ln xmlns:a="http://schemas.openxmlformats.org/drawingml/2006/main" w="0">
      <a:solidFill>
        <a:srgbClr val="F8FAFC"/>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4A0979-45D2-4D09-88BB-C4E19C5EE04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2527cfa83f542ab"/>
          <a:stretch xmlns:a="http://schemas.openxmlformats.org/drawingml/2006/main"/>
        </p:blipFill>
        <p:spPr>
          <a:xfrm xmlns:a="http://schemas.openxmlformats.org/drawingml/2006/main">
            <a:off x="9891662" y="400050"/>
            <a:ext cx="1476476" cy="14859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C406D9C6-0DA2-46CF-8313-C0B4B0E529A4}"/>
              </a:ext>
            </a:extLst>
          </p:cNvPr>
          <p:cNvSpPr>
            <a:spLocks xmlns:a="http://schemas.openxmlformats.org/drawingml/2006/main" noGrp="1"/>
          </p:cNvSpPr>
          <p:nvPr/>
        </p:nvSpPr>
        <p:spPr>
          <a:xfrm xmlns:a="http://schemas.openxmlformats.org/drawingml/2006/main">
            <a:off x="590550" y="5143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C8102E"/>
                </a:solidFill>
                <a:latin typeface="Aptos"/>
                <a:ea typeface="Aptos"/>
                <a:cs typeface="Aptos"/>
              </a:defRPr>
            </a:pPr>
            <a:r>
              <a:rPr sz="1500" b="1" i="0">
                <a:solidFill>
                  <a:srgbClr val="C8102E"/>
                </a:solidFill>
                <a:latin typeface="Aptos"/>
                <a:ea typeface="Aptos"/>
                <a:cs typeface="Aptos"/>
              </a:rPr>
              <a:t>MASTER’S THESIS DEFENSE</a:t>
            </a:r>
          </a:p>
        </p:txBody>
      </p:sp>
      <p:sp>
        <p:nvSpPr>
          <p:cNvPr id="4" name="">
            <a:extLst xmlns:a="http://schemas.openxmlformats.org/drawingml/2006/main">
              <a:ext uri="{FF2B5EF4-FFF2-40B4-BE49-F238E27FC236}">
                <a16:creationId xmlns:a16="http://schemas.microsoft.com/office/drawing/2014/main" id="{275659BC-6E78-46F2-B391-3D9CF72DC529}"/>
              </a:ext>
            </a:extLst>
          </p:cNvPr>
          <p:cNvSpPr>
            <a:spLocks xmlns:a="http://schemas.openxmlformats.org/drawingml/2006/main" noGrp="1"/>
          </p:cNvSpPr>
          <p:nvPr/>
        </p:nvSpPr>
        <p:spPr>
          <a:xfrm xmlns:a="http://schemas.openxmlformats.org/drawingml/2006/main">
            <a:off x="590550" y="1285875"/>
            <a:ext cx="8858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425" b="1" i="0">
                <a:solidFill>
                  <a:srgbClr val="0B1220"/>
                </a:solidFill>
                <a:latin typeface="Aptos"/>
                <a:ea typeface="Aptos"/>
                <a:cs typeface="Aptos"/>
              </a:defRPr>
            </a:pPr>
            <a:r>
              <a:rPr sz="4425" b="1" i="0">
                <a:solidFill>
                  <a:srgbClr val="0B1220"/>
                </a:solidFill>
                <a:latin typeface="Aptos"/>
                <a:ea typeface="Aptos"/>
                <a:cs typeface="Aptos"/>
              </a:rPr>
              <a:t>Data-Aware Process Simulation</a:t>
            </a:r>
          </a:p>
          <a:p xmlns:a="http://schemas.openxmlformats.org/drawingml/2006/main">
            <a:pPr algn="l">
              <a:defRPr sz="4425" b="1" i="0">
                <a:solidFill>
                  <a:srgbClr val="0B1220"/>
                </a:solidFill>
                <a:latin typeface="Aptos"/>
                <a:ea typeface="Aptos"/>
                <a:cs typeface="Aptos"/>
              </a:defRPr>
            </a:pPr>
            <a:r>
              <a:rPr sz="4425" b="1" i="0">
                <a:solidFill>
                  <a:srgbClr val="0B1220"/>
                </a:solidFill>
                <a:latin typeface="Aptos"/>
                <a:ea typeface="Aptos"/>
                <a:cs typeface="Aptos"/>
              </a:rPr>
              <a:t>under Physical Constraints</a:t>
            </a:r>
          </a:p>
        </p:txBody>
      </p:sp>
      <p:sp>
        <p:nvSpPr>
          <p:cNvPr id="5" name="">
            <a:extLst xmlns:a="http://schemas.openxmlformats.org/drawingml/2006/main">
              <a:ext uri="{FF2B5EF4-FFF2-40B4-BE49-F238E27FC236}">
                <a16:creationId xmlns:a16="http://schemas.microsoft.com/office/drawing/2014/main" id="{A494DF00-05F9-4FA2-8A4C-597F799051F8}"/>
              </a:ext>
            </a:extLst>
          </p:cNvPr>
          <p:cNvSpPr>
            <a:spLocks xmlns:a="http://schemas.openxmlformats.org/drawingml/2006/main" noGrp="1"/>
          </p:cNvSpPr>
          <p:nvPr/>
        </p:nvSpPr>
        <p:spPr>
          <a:xfrm xmlns:a="http://schemas.openxmlformats.org/drawingml/2006/main">
            <a:off x="628650" y="3162300"/>
            <a:ext cx="809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0" i="0">
                <a:solidFill>
                  <a:srgbClr val="5F6B7A"/>
                </a:solidFill>
                <a:latin typeface="Aptos"/>
                <a:ea typeface="Aptos"/>
                <a:cs typeface="Aptos"/>
              </a:defRPr>
            </a:pPr>
            <a:r>
              <a:rPr sz="2325" b="0" i="0">
                <a:solidFill>
                  <a:srgbClr val="5F6B7A"/>
                </a:solidFill>
                <a:latin typeface="Aptos"/>
                <a:ea typeface="Aptos"/>
                <a:cs typeface="Aptos"/>
              </a:rPr>
              <a:t>A Container Terminal Truck Operations Case Study</a:t>
            </a:r>
          </a:p>
        </p:txBody>
      </p:sp>
      <p:sp>
        <p:nvSpPr>
          <p:cNvPr id="6" name="">
            <a:extLst xmlns:a="http://schemas.openxmlformats.org/drawingml/2006/main">
              <a:ext uri="{FF2B5EF4-FFF2-40B4-BE49-F238E27FC236}">
                <a16:creationId xmlns:a16="http://schemas.microsoft.com/office/drawing/2014/main" id="{A8EC16D3-77B5-4FCD-AA51-7A81DC0EA4AE}"/>
              </a:ext>
            </a:extLst>
          </p:cNvPr>
          <p:cNvSpPr>
            <a:spLocks xmlns:a="http://schemas.openxmlformats.org/drawingml/2006/main" noGrp="1"/>
          </p:cNvSpPr>
          <p:nvPr/>
        </p:nvSpPr>
        <p:spPr>
          <a:xfrm xmlns:a="http://schemas.openxmlformats.org/drawingml/2006/main">
            <a:off x="609600" y="4057650"/>
            <a:ext cx="10287000" cy="19050"/>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7" name="">
            <a:extLst xmlns:a="http://schemas.openxmlformats.org/drawingml/2006/main">
              <a:ext uri="{FF2B5EF4-FFF2-40B4-BE49-F238E27FC236}">
                <a16:creationId xmlns:a16="http://schemas.microsoft.com/office/drawing/2014/main" id="{97128967-7DD2-4ECF-8BEA-5F44AD317123}"/>
              </a:ext>
            </a:extLst>
          </p:cNvPr>
          <p:cNvSpPr>
            <a:spLocks xmlns:a="http://schemas.openxmlformats.org/drawingml/2006/main" noGrp="1"/>
          </p:cNvSpPr>
          <p:nvPr/>
        </p:nvSpPr>
        <p:spPr>
          <a:xfrm xmlns:a="http://schemas.openxmlformats.org/drawingml/2006/main">
            <a:off x="628650" y="4362450"/>
            <a:ext cx="3810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i="0">
                <a:solidFill>
                  <a:srgbClr val="0B1220"/>
                </a:solidFill>
                <a:latin typeface="Aptos"/>
                <a:ea typeface="Aptos"/>
                <a:cs typeface="Aptos"/>
              </a:defRPr>
            </a:pPr>
            <a:r>
              <a:rPr sz="2250" b="1" i="0">
                <a:solidFill>
                  <a:srgbClr val="0B1220"/>
                </a:solidFill>
                <a:latin typeface="Aptos"/>
                <a:ea typeface="Aptos"/>
                <a:cs typeface="Aptos"/>
              </a:rPr>
              <a:t>Jule Grigat</a:t>
            </a:r>
          </a:p>
        </p:txBody>
      </p:sp>
      <p:sp>
        <p:nvSpPr>
          <p:cNvPr id="8" name="">
            <a:extLst xmlns:a="http://schemas.openxmlformats.org/drawingml/2006/main">
              <a:ext uri="{FF2B5EF4-FFF2-40B4-BE49-F238E27FC236}">
                <a16:creationId xmlns:a16="http://schemas.microsoft.com/office/drawing/2014/main" id="{0137D4BE-9198-4028-B09D-F53533F12FBD}"/>
              </a:ext>
            </a:extLst>
          </p:cNvPr>
          <p:cNvSpPr>
            <a:spLocks xmlns:a="http://schemas.openxmlformats.org/drawingml/2006/main" noGrp="1"/>
          </p:cNvSpPr>
          <p:nvPr/>
        </p:nvSpPr>
        <p:spPr>
          <a:xfrm xmlns:a="http://schemas.openxmlformats.org/drawingml/2006/main">
            <a:off x="628650" y="4829175"/>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MSc Data Science · University of Padova · 2026</a:t>
            </a:r>
          </a:p>
        </p:txBody>
      </p:sp>
      <p:sp>
        <p:nvSpPr>
          <p:cNvPr id="9" name="">
            <a:extLst xmlns:a="http://schemas.openxmlformats.org/drawingml/2006/main">
              <a:ext uri="{FF2B5EF4-FFF2-40B4-BE49-F238E27FC236}">
                <a16:creationId xmlns:a16="http://schemas.microsoft.com/office/drawing/2014/main" id="{7D99DEB6-9A02-45C5-8722-DFB0F1F70E1D}"/>
              </a:ext>
            </a:extLst>
          </p:cNvPr>
          <p:cNvSpPr>
            <a:spLocks xmlns:a="http://schemas.openxmlformats.org/drawingml/2006/main" noGrp="1"/>
          </p:cNvSpPr>
          <p:nvPr/>
        </p:nvSpPr>
        <p:spPr>
          <a:xfrm xmlns:a="http://schemas.openxmlformats.org/drawingml/2006/main">
            <a:off x="628650" y="5410200"/>
            <a:ext cx="7048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Supervisor: Prof. Massimiliano di Leoni</a:t>
            </a:r>
          </a:p>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Co-advisors: Marcel Petersen · Prof. Esteban Zimanyi</a:t>
            </a:r>
          </a:p>
        </p:txBody>
      </p:sp>
      <p:sp>
        <p:nvSpPr>
          <p:cNvPr id="10" name="">
            <a:extLst xmlns:a="http://schemas.openxmlformats.org/drawingml/2006/main">
              <a:ext uri="{FF2B5EF4-FFF2-40B4-BE49-F238E27FC236}">
                <a16:creationId xmlns:a16="http://schemas.microsoft.com/office/drawing/2014/main" id="{FFA95EF2-5A99-43E2-B719-1C732DA16DB6}"/>
              </a:ext>
            </a:extLst>
          </p:cNvPr>
          <p:cNvSpPr>
            <a:spLocks xmlns:a="http://schemas.openxmlformats.org/drawingml/2006/main" noGrp="1"/>
          </p:cNvSpPr>
          <p:nvPr/>
        </p:nvSpPr>
        <p:spPr>
          <a:xfrm xmlns:a="http://schemas.openxmlformats.org/drawingml/2006/main">
            <a:off x="10058400" y="5629275"/>
            <a:ext cx="1066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i="0">
                <a:solidFill>
                  <a:srgbClr val="C8102E"/>
                </a:solidFill>
                <a:latin typeface="Aptos"/>
                <a:ea typeface="Aptos"/>
                <a:cs typeface="Aptos"/>
              </a:defRPr>
            </a:pPr>
            <a:r>
              <a:rPr sz="1800" b="1" i="0">
                <a:solidFill>
                  <a:srgbClr val="C8102E"/>
                </a:solidFill>
                <a:latin typeface="Aptos"/>
                <a:ea typeface="Aptos"/>
                <a:cs typeface="Aptos"/>
              </a:rPr>
              <a:t>20 min</a:t>
            </a:r>
          </a:p>
        </p:txBody>
      </p:sp>
    </p:spTree>
    <p:extLst>
      <p:ext uri="{BB962C8B-B14F-4D97-AF65-F5344CB8AC3E}">
        <p14:creationId xmlns:p14="http://schemas.microsoft.com/office/powerpoint/2010/main" val="9378360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FA709FF-CC54-4828-9783-F31E3862D4FD}"/>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The decision is physical; the data are event-based</a:t>
            </a:r>
          </a:p>
        </p:txBody>
      </p:sp>
      <p:sp>
        <p:nvSpPr>
          <p:cNvPr id="2" name="">
            <a:extLst xmlns:a="http://schemas.openxmlformats.org/drawingml/2006/main">
              <a:ext uri="{FF2B5EF4-FFF2-40B4-BE49-F238E27FC236}">
                <a16:creationId xmlns:a16="http://schemas.microsoft.com/office/drawing/2014/main" id="{40CC3564-7C19-410C-9B4D-5B783A40BCCE}"/>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B190810C-E53F-47E8-BFA0-700CBA21B5B7}"/>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04D2FBB0-58E4-4521-8D2A-88371607B4DC}"/>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02</a:t>
            </a:r>
          </a:p>
        </p:txBody>
      </p:sp>
      <p:sp>
        <p:nvSpPr>
          <p:cNvPr id="5" name="">
            <a:extLst xmlns:a="http://schemas.openxmlformats.org/drawingml/2006/main">
              <a:ext uri="{FF2B5EF4-FFF2-40B4-BE49-F238E27FC236}">
                <a16:creationId xmlns:a16="http://schemas.microsoft.com/office/drawing/2014/main" id="{EAE7A2AD-E0CD-4374-9650-DA78D6BEADC0}"/>
              </a:ext>
            </a:extLst>
          </p:cNvPr>
          <p:cNvSpPr>
            <a:spLocks xmlns:a="http://schemas.openxmlformats.org/drawingml/2006/main" noGrp="1"/>
          </p:cNvSpPr>
          <p:nvPr/>
        </p:nvSpPr>
        <p:spPr>
          <a:xfrm xmlns:a="http://schemas.openxmlformats.org/drawingml/2006/main">
            <a:off x="457200" y="1200150"/>
            <a:ext cx="6762750" cy="4857750"/>
          </a:xfrm>
          <a:prstGeom xmlns:a="http://schemas.openxmlformats.org/drawingml/2006/main" prst="roundRect">
            <a:avLst>
              <a:gd name="adj" fmla="val 2353"/>
            </a:avLst>
          </a:prstGeom>
          <a:solidFill xmlns:a="http://schemas.openxmlformats.org/drawingml/2006/main">
            <a:srgbClr val="F8FAFC"/>
          </a:solidFill>
          <a:ln xmlns:a="http://schemas.openxmlformats.org/drawingml/2006/main" w="0">
            <a:no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060c68c73494bbd"/>
          <a:stretch xmlns:a="http://schemas.openxmlformats.org/drawingml/2006/main"/>
        </p:blipFill>
        <p:spPr>
          <a:xfrm xmlns:a="http://schemas.openxmlformats.org/drawingml/2006/main">
            <a:off x="693135" y="1543050"/>
            <a:ext cx="6290880" cy="26860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037024F-A09F-4556-AD58-2459D62EB4ED}"/>
              </a:ext>
            </a:extLst>
          </p:cNvPr>
          <p:cNvSpPr>
            <a:spLocks xmlns:a="http://schemas.openxmlformats.org/drawingml/2006/main" noGrp="1"/>
          </p:cNvSpPr>
          <p:nvPr/>
        </p:nvSpPr>
        <p:spPr>
          <a:xfrm xmlns:a="http://schemas.openxmlformats.org/drawingml/2006/main">
            <a:off x="781050" y="44767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C8102E"/>
                </a:solidFill>
                <a:latin typeface="Aptos"/>
                <a:ea typeface="Aptos"/>
                <a:cs typeface="Aptos"/>
              </a:defRPr>
            </a:pPr>
            <a:r>
              <a:rPr sz="1500" b="1" i="0">
                <a:solidFill>
                  <a:srgbClr val="C8102E"/>
                </a:solidFill>
                <a:latin typeface="Aptos"/>
                <a:ea typeface="Aptos"/>
                <a:cs typeface="Aptos"/>
              </a:rPr>
              <a:t>Operational question</a:t>
            </a:r>
          </a:p>
        </p:txBody>
      </p:sp>
      <p:sp>
        <p:nvSpPr>
          <p:cNvPr id="8" name="">
            <a:extLst xmlns:a="http://schemas.openxmlformats.org/drawingml/2006/main">
              <a:ext uri="{FF2B5EF4-FFF2-40B4-BE49-F238E27FC236}">
                <a16:creationId xmlns:a16="http://schemas.microsoft.com/office/drawing/2014/main" id="{65F2A780-9347-4E45-9F14-563FA1B09B33}"/>
              </a:ext>
            </a:extLst>
          </p:cNvPr>
          <p:cNvSpPr>
            <a:spLocks xmlns:a="http://schemas.openxmlformats.org/drawingml/2006/main" noGrp="1"/>
          </p:cNvSpPr>
          <p:nvPr/>
        </p:nvSpPr>
        <p:spPr>
          <a:xfrm xmlns:a="http://schemas.openxmlformats.org/drawingml/2006/main">
            <a:off x="781050" y="4857750"/>
            <a:ext cx="6000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What happens to truck turnaround when demand or yard capacity changes?</a:t>
            </a:r>
          </a:p>
        </p:txBody>
      </p:sp>
      <p:sp>
        <p:nvSpPr>
          <p:cNvPr id="9" name="">
            <a:extLst xmlns:a="http://schemas.openxmlformats.org/drawingml/2006/main">
              <a:ext uri="{FF2B5EF4-FFF2-40B4-BE49-F238E27FC236}">
                <a16:creationId xmlns:a16="http://schemas.microsoft.com/office/drawing/2014/main" id="{B0DAA8B4-34DF-414D-A61B-2DF5F8CE129A}"/>
              </a:ext>
            </a:extLst>
          </p:cNvPr>
          <p:cNvSpPr>
            <a:spLocks xmlns:a="http://schemas.openxmlformats.org/drawingml/2006/main" noGrp="1"/>
          </p:cNvSpPr>
          <p:nvPr/>
        </p:nvSpPr>
        <p:spPr>
          <a:xfrm xmlns:a="http://schemas.openxmlformats.org/drawingml/2006/main">
            <a:off x="7524750" y="1257300"/>
            <a:ext cx="4210050" cy="1314450"/>
          </a:xfrm>
          <a:prstGeom xmlns:a="http://schemas.openxmlformats.org/drawingml/2006/main" prst="roundRect">
            <a:avLst>
              <a:gd name="adj" fmla="val 8696"/>
            </a:avLst>
          </a:prstGeom>
          <a:solidFill xmlns:a="http://schemas.openxmlformats.org/drawingml/2006/main">
            <a:srgbClr val="F8FAFC"/>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A632616F-48D4-4E38-9860-34CBB1425FC8}"/>
              </a:ext>
            </a:extLst>
          </p:cNvPr>
          <p:cNvSpPr>
            <a:spLocks xmlns:a="http://schemas.openxmlformats.org/drawingml/2006/main" noGrp="1"/>
          </p:cNvSpPr>
          <p:nvPr/>
        </p:nvSpPr>
        <p:spPr>
          <a:xfrm xmlns:a="http://schemas.openxmlformats.org/drawingml/2006/main">
            <a:off x="7753350" y="1485900"/>
            <a:ext cx="400050" cy="40005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11" name="">
            <a:extLst xmlns:a="http://schemas.openxmlformats.org/drawingml/2006/main">
              <a:ext uri="{FF2B5EF4-FFF2-40B4-BE49-F238E27FC236}">
                <a16:creationId xmlns:a16="http://schemas.microsoft.com/office/drawing/2014/main" id="{18E95F44-F6D1-4FD9-9AEC-3B42ED3F3B2B}"/>
              </a:ext>
            </a:extLst>
          </p:cNvPr>
          <p:cNvSpPr>
            <a:spLocks xmlns:a="http://schemas.openxmlformats.org/drawingml/2006/main" noGrp="1"/>
          </p:cNvSpPr>
          <p:nvPr/>
        </p:nvSpPr>
        <p:spPr>
          <a:xfrm xmlns:a="http://schemas.openxmlformats.org/drawingml/2006/main">
            <a:off x="7753350" y="15335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12" name="">
            <a:extLst xmlns:a="http://schemas.openxmlformats.org/drawingml/2006/main">
              <a:ext uri="{FF2B5EF4-FFF2-40B4-BE49-F238E27FC236}">
                <a16:creationId xmlns:a16="http://schemas.microsoft.com/office/drawing/2014/main" id="{12A79793-9929-481F-8820-A6EA1BFC40E9}"/>
              </a:ext>
            </a:extLst>
          </p:cNvPr>
          <p:cNvSpPr>
            <a:spLocks xmlns:a="http://schemas.openxmlformats.org/drawingml/2006/main" noGrp="1"/>
          </p:cNvSpPr>
          <p:nvPr/>
        </p:nvSpPr>
        <p:spPr>
          <a:xfrm xmlns:a="http://schemas.openxmlformats.org/drawingml/2006/main">
            <a:off x="8324850" y="1428750"/>
            <a:ext cx="3181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Sequential visits</a:t>
            </a:r>
          </a:p>
        </p:txBody>
      </p:sp>
      <p:sp>
        <p:nvSpPr>
          <p:cNvPr id="13" name="">
            <a:extLst xmlns:a="http://schemas.openxmlformats.org/drawingml/2006/main">
              <a:ext uri="{FF2B5EF4-FFF2-40B4-BE49-F238E27FC236}">
                <a16:creationId xmlns:a16="http://schemas.microsoft.com/office/drawing/2014/main" id="{49C8F918-B0BE-40C9-AC4E-52630BEF65B8}"/>
              </a:ext>
            </a:extLst>
          </p:cNvPr>
          <p:cNvSpPr>
            <a:spLocks xmlns:a="http://schemas.openxmlformats.org/drawingml/2006/main" noGrp="1"/>
          </p:cNvSpPr>
          <p:nvPr/>
        </p:nvSpPr>
        <p:spPr>
          <a:xfrm xmlns:a="http://schemas.openxmlformats.org/drawingml/2006/main">
            <a:off x="8324850" y="1809750"/>
            <a:ext cx="3181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One truck cannot perform two yard activities at once.</a:t>
            </a:r>
          </a:p>
        </p:txBody>
      </p:sp>
      <p:sp>
        <p:nvSpPr>
          <p:cNvPr id="14" name="">
            <a:extLst xmlns:a="http://schemas.openxmlformats.org/drawingml/2006/main">
              <a:ext uri="{FF2B5EF4-FFF2-40B4-BE49-F238E27FC236}">
                <a16:creationId xmlns:a16="http://schemas.microsoft.com/office/drawing/2014/main" id="{68A2DAFB-27AE-4CEF-9C0F-E5DE1F90E0D6}"/>
              </a:ext>
            </a:extLst>
          </p:cNvPr>
          <p:cNvSpPr>
            <a:spLocks xmlns:a="http://schemas.openxmlformats.org/drawingml/2006/main" noGrp="1"/>
          </p:cNvSpPr>
          <p:nvPr/>
        </p:nvSpPr>
        <p:spPr>
          <a:xfrm xmlns:a="http://schemas.openxmlformats.org/drawingml/2006/main">
            <a:off x="7524750" y="2781300"/>
            <a:ext cx="4210050" cy="1314450"/>
          </a:xfrm>
          <a:prstGeom xmlns:a="http://schemas.openxmlformats.org/drawingml/2006/main" prst="roundRect">
            <a:avLst>
              <a:gd name="adj" fmla="val 8696"/>
            </a:avLst>
          </a:prstGeom>
          <a:solidFill xmlns:a="http://schemas.openxmlformats.org/drawingml/2006/main">
            <a:srgbClr val="F8FAFC"/>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F05B40E6-6C17-4952-940A-EDAF3165F1A4}"/>
              </a:ext>
            </a:extLst>
          </p:cNvPr>
          <p:cNvSpPr>
            <a:spLocks xmlns:a="http://schemas.openxmlformats.org/drawingml/2006/main" noGrp="1"/>
          </p:cNvSpPr>
          <p:nvPr/>
        </p:nvSpPr>
        <p:spPr>
          <a:xfrm xmlns:a="http://schemas.openxmlformats.org/drawingml/2006/main">
            <a:off x="7753350" y="3009900"/>
            <a:ext cx="400050" cy="400050"/>
          </a:xfrm>
          <a:prstGeom xmlns:a="http://schemas.openxmlformats.org/drawingml/2006/main" prst="ellipse">
            <a:avLst/>
          </a:prstGeom>
          <a:solidFill xmlns:a="http://schemas.openxmlformats.org/drawingml/2006/main">
            <a:srgbClr val="C98200"/>
          </a:solidFill>
          <a:ln xmlns:a="http://schemas.openxmlformats.org/drawingml/2006/main" w="9525">
            <a:solidFill>
              <a:srgbClr val="C98200"/>
            </a:solidFill>
            <a:prstDash val="solid"/>
          </a:ln>
        </p:spPr>
      </p:sp>
      <p:sp>
        <p:nvSpPr>
          <p:cNvPr id="16" name="">
            <a:extLst xmlns:a="http://schemas.openxmlformats.org/drawingml/2006/main">
              <a:ext uri="{FF2B5EF4-FFF2-40B4-BE49-F238E27FC236}">
                <a16:creationId xmlns:a16="http://schemas.microsoft.com/office/drawing/2014/main" id="{DE0D12E3-EA9A-4AD3-BA83-8689605BCB82}"/>
              </a:ext>
            </a:extLst>
          </p:cNvPr>
          <p:cNvSpPr>
            <a:spLocks xmlns:a="http://schemas.openxmlformats.org/drawingml/2006/main" noGrp="1"/>
          </p:cNvSpPr>
          <p:nvPr/>
        </p:nvSpPr>
        <p:spPr>
          <a:xfrm xmlns:a="http://schemas.openxmlformats.org/drawingml/2006/main">
            <a:off x="7753350" y="30575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17" name="">
            <a:extLst xmlns:a="http://schemas.openxmlformats.org/drawingml/2006/main">
              <a:ext uri="{FF2B5EF4-FFF2-40B4-BE49-F238E27FC236}">
                <a16:creationId xmlns:a16="http://schemas.microsoft.com/office/drawing/2014/main" id="{F81FB6EC-C35E-4F8D-B22B-425E97297E17}"/>
              </a:ext>
            </a:extLst>
          </p:cNvPr>
          <p:cNvSpPr>
            <a:spLocks xmlns:a="http://schemas.openxmlformats.org/drawingml/2006/main" noGrp="1"/>
          </p:cNvSpPr>
          <p:nvPr/>
        </p:nvSpPr>
        <p:spPr>
          <a:xfrm xmlns:a="http://schemas.openxmlformats.org/drawingml/2006/main">
            <a:off x="8324850" y="2952750"/>
            <a:ext cx="3181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Shared resources</a:t>
            </a:r>
          </a:p>
        </p:txBody>
      </p:sp>
      <p:sp>
        <p:nvSpPr>
          <p:cNvPr id="18" name="">
            <a:extLst xmlns:a="http://schemas.openxmlformats.org/drawingml/2006/main">
              <a:ext uri="{FF2B5EF4-FFF2-40B4-BE49-F238E27FC236}">
                <a16:creationId xmlns:a16="http://schemas.microsoft.com/office/drawing/2014/main" id="{74E3E36B-8BB3-43E8-BDB6-9483D278D5C2}"/>
              </a:ext>
            </a:extLst>
          </p:cNvPr>
          <p:cNvSpPr>
            <a:spLocks xmlns:a="http://schemas.openxmlformats.org/drawingml/2006/main" noGrp="1"/>
          </p:cNvSpPr>
          <p:nvPr/>
        </p:nvSpPr>
        <p:spPr>
          <a:xfrm xmlns:a="http://schemas.openxmlformats.org/drawingml/2006/main">
            <a:off x="8324850" y="3333750"/>
            <a:ext cx="3181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Blocks, handling equipment and traffic interact.</a:t>
            </a:r>
          </a:p>
        </p:txBody>
      </p:sp>
      <p:sp>
        <p:nvSpPr>
          <p:cNvPr id="19" name="">
            <a:extLst xmlns:a="http://schemas.openxmlformats.org/drawingml/2006/main">
              <a:ext uri="{FF2B5EF4-FFF2-40B4-BE49-F238E27FC236}">
                <a16:creationId xmlns:a16="http://schemas.microsoft.com/office/drawing/2014/main" id="{B709556F-AB4B-41A8-B009-9BFB82C8D47A}"/>
              </a:ext>
            </a:extLst>
          </p:cNvPr>
          <p:cNvSpPr>
            <a:spLocks xmlns:a="http://schemas.openxmlformats.org/drawingml/2006/main" noGrp="1"/>
          </p:cNvSpPr>
          <p:nvPr/>
        </p:nvSpPr>
        <p:spPr>
          <a:xfrm xmlns:a="http://schemas.openxmlformats.org/drawingml/2006/main">
            <a:off x="7524750" y="4305300"/>
            <a:ext cx="4210050" cy="1314450"/>
          </a:xfrm>
          <a:prstGeom xmlns:a="http://schemas.openxmlformats.org/drawingml/2006/main" prst="roundRect">
            <a:avLst>
              <a:gd name="adj" fmla="val 8696"/>
            </a:avLst>
          </a:prstGeom>
          <a:solidFill xmlns:a="http://schemas.openxmlformats.org/drawingml/2006/main">
            <a:srgbClr val="F8FAFC"/>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2A338AA1-599D-44FC-A109-CB70D1492AC9}"/>
              </a:ext>
            </a:extLst>
          </p:cNvPr>
          <p:cNvSpPr>
            <a:spLocks xmlns:a="http://schemas.openxmlformats.org/drawingml/2006/main" noGrp="1"/>
          </p:cNvSpPr>
          <p:nvPr/>
        </p:nvSpPr>
        <p:spPr>
          <a:xfrm xmlns:a="http://schemas.openxmlformats.org/drawingml/2006/main">
            <a:off x="7753350" y="4533900"/>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21" name="">
            <a:extLst xmlns:a="http://schemas.openxmlformats.org/drawingml/2006/main">
              <a:ext uri="{FF2B5EF4-FFF2-40B4-BE49-F238E27FC236}">
                <a16:creationId xmlns:a16="http://schemas.microsoft.com/office/drawing/2014/main" id="{CD557A8E-9EFB-45E0-A344-5A44D6DBAD3A}"/>
              </a:ext>
            </a:extLst>
          </p:cNvPr>
          <p:cNvSpPr>
            <a:spLocks xmlns:a="http://schemas.openxmlformats.org/drawingml/2006/main" noGrp="1"/>
          </p:cNvSpPr>
          <p:nvPr/>
        </p:nvSpPr>
        <p:spPr>
          <a:xfrm xmlns:a="http://schemas.openxmlformats.org/drawingml/2006/main">
            <a:off x="7753350" y="45815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22" name="">
            <a:extLst xmlns:a="http://schemas.openxmlformats.org/drawingml/2006/main">
              <a:ext uri="{FF2B5EF4-FFF2-40B4-BE49-F238E27FC236}">
                <a16:creationId xmlns:a16="http://schemas.microsoft.com/office/drawing/2014/main" id="{9E35D723-C2FA-473C-B101-536221ABCC48}"/>
              </a:ext>
            </a:extLst>
          </p:cNvPr>
          <p:cNvSpPr>
            <a:spLocks xmlns:a="http://schemas.openxmlformats.org/drawingml/2006/main" noGrp="1"/>
          </p:cNvSpPr>
          <p:nvPr/>
        </p:nvSpPr>
        <p:spPr>
          <a:xfrm xmlns:a="http://schemas.openxmlformats.org/drawingml/2006/main">
            <a:off x="8324850" y="4476750"/>
            <a:ext cx="3181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Spatial propagation</a:t>
            </a:r>
          </a:p>
        </p:txBody>
      </p:sp>
      <p:sp>
        <p:nvSpPr>
          <p:cNvPr id="23" name="">
            <a:extLst xmlns:a="http://schemas.openxmlformats.org/drawingml/2006/main">
              <a:ext uri="{FF2B5EF4-FFF2-40B4-BE49-F238E27FC236}">
                <a16:creationId xmlns:a16="http://schemas.microsoft.com/office/drawing/2014/main" id="{09601B7C-C5DB-4696-81D4-D41F152827B6}"/>
              </a:ext>
            </a:extLst>
          </p:cNvPr>
          <p:cNvSpPr>
            <a:spLocks xmlns:a="http://schemas.openxmlformats.org/drawingml/2006/main" noGrp="1"/>
          </p:cNvSpPr>
          <p:nvPr/>
        </p:nvSpPr>
        <p:spPr>
          <a:xfrm xmlns:a="http://schemas.openxmlformats.org/drawingml/2006/main">
            <a:off x="8324850" y="4857750"/>
            <a:ext cx="31813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Location and movement determine whether a change creates delay.</a:t>
            </a:r>
          </a:p>
        </p:txBody>
      </p:sp>
    </p:spTree>
    <p:extLst>
      <p:ext uri="{BB962C8B-B14F-4D97-AF65-F5344CB8AC3E}">
        <p14:creationId xmlns:p14="http://schemas.microsoft.com/office/powerpoint/2010/main" val="144920576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20B47D8-40A1-4E4C-BB8A-C04C6C9E0C49}"/>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The question is not ‘can it run?’ but ‘what can we trust?’</a:t>
            </a:r>
          </a:p>
        </p:txBody>
      </p:sp>
      <p:sp>
        <p:nvSpPr>
          <p:cNvPr id="2" name="">
            <a:extLst xmlns:a="http://schemas.openxmlformats.org/drawingml/2006/main">
              <a:ext uri="{FF2B5EF4-FFF2-40B4-BE49-F238E27FC236}">
                <a16:creationId xmlns:a16="http://schemas.microsoft.com/office/drawing/2014/main" id="{E41973B8-A715-4D19-9C3B-5D4D187D2C28}"/>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8C6FB2CC-F1A0-40AE-8D07-E6571431683B}"/>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4264437D-1A1D-4847-B13A-2A3E9F724161}"/>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03</a:t>
            </a:r>
          </a:p>
        </p:txBody>
      </p:sp>
      <p:sp>
        <p:nvSpPr>
          <p:cNvPr id="5" name="">
            <a:extLst xmlns:a="http://schemas.openxmlformats.org/drawingml/2006/main">
              <a:ext uri="{FF2B5EF4-FFF2-40B4-BE49-F238E27FC236}">
                <a16:creationId xmlns:a16="http://schemas.microsoft.com/office/drawing/2014/main" id="{F6ADD75A-99C0-4772-A5F3-B780E4C824F4}"/>
              </a:ext>
            </a:extLst>
          </p:cNvPr>
          <p:cNvSpPr>
            <a:spLocks xmlns:a="http://schemas.openxmlformats.org/drawingml/2006/main" noGrp="1"/>
          </p:cNvSpPr>
          <p:nvPr/>
        </p:nvSpPr>
        <p:spPr>
          <a:xfrm xmlns:a="http://schemas.openxmlformats.org/drawingml/2006/main">
            <a:off x="895350" y="1428750"/>
            <a:ext cx="104013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i="0">
                <a:solidFill>
                  <a:srgbClr val="0B1220"/>
                </a:solidFill>
                <a:latin typeface="Aptos"/>
                <a:ea typeface="Aptos"/>
                <a:cs typeface="Aptos"/>
              </a:defRPr>
            </a:pPr>
            <a:r>
              <a:rPr sz="2550" b="1" i="0">
                <a:solidFill>
                  <a:srgbClr val="0B1220"/>
                </a:solidFill>
                <a:latin typeface="Aptos"/>
                <a:ea typeface="Aptos"/>
                <a:cs typeface="Aptos"/>
              </a:rPr>
              <a:t>How far can a simulator discovered from historical CTB events reproduce unseen behaviour—and where does the abstraction stop?</a:t>
            </a:r>
          </a:p>
        </p:txBody>
      </p:sp>
      <p:sp>
        <p:nvSpPr>
          <p:cNvPr id="6" name="">
            <a:extLst xmlns:a="http://schemas.openxmlformats.org/drawingml/2006/main">
              <a:ext uri="{FF2B5EF4-FFF2-40B4-BE49-F238E27FC236}">
                <a16:creationId xmlns:a16="http://schemas.microsoft.com/office/drawing/2014/main" id="{2E3CAB0E-4AED-45D4-A9B8-67513237CD04}"/>
              </a:ext>
            </a:extLst>
          </p:cNvPr>
          <p:cNvSpPr>
            <a:spLocks xmlns:a="http://schemas.openxmlformats.org/drawingml/2006/main" noGrp="1"/>
          </p:cNvSpPr>
          <p:nvPr/>
        </p:nvSpPr>
        <p:spPr>
          <a:xfrm xmlns:a="http://schemas.openxmlformats.org/drawingml/2006/main">
            <a:off x="666750" y="3009900"/>
            <a:ext cx="32004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4D3B63C7-7E9E-4C3A-98F9-AE5635D29F21}"/>
              </a:ext>
            </a:extLst>
          </p:cNvPr>
          <p:cNvSpPr>
            <a:spLocks xmlns:a="http://schemas.openxmlformats.org/drawingml/2006/main" noGrp="1"/>
          </p:cNvSpPr>
          <p:nvPr/>
        </p:nvSpPr>
        <p:spPr>
          <a:xfrm xmlns:a="http://schemas.openxmlformats.org/drawingml/2006/main">
            <a:off x="666750" y="3009900"/>
            <a:ext cx="3200400" cy="762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8" name="">
            <a:extLst xmlns:a="http://schemas.openxmlformats.org/drawingml/2006/main">
              <a:ext uri="{FF2B5EF4-FFF2-40B4-BE49-F238E27FC236}">
                <a16:creationId xmlns:a16="http://schemas.microsoft.com/office/drawing/2014/main" id="{700B0F96-D546-4A0C-83F9-671BD0337CAA}"/>
              </a:ext>
            </a:extLst>
          </p:cNvPr>
          <p:cNvSpPr>
            <a:spLocks xmlns:a="http://schemas.openxmlformats.org/drawingml/2006/main" noGrp="1"/>
          </p:cNvSpPr>
          <p:nvPr/>
        </p:nvSpPr>
        <p:spPr>
          <a:xfrm xmlns:a="http://schemas.openxmlformats.org/drawingml/2006/main">
            <a:off x="895350" y="323850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2F80ED"/>
                </a:solidFill>
                <a:latin typeface="Aptos"/>
                <a:ea typeface="Aptos"/>
                <a:cs typeface="Aptos"/>
              </a:defRPr>
            </a:pPr>
            <a:r>
              <a:rPr sz="1275" b="1" i="0">
                <a:solidFill>
                  <a:srgbClr val="2F80ED"/>
                </a:solidFill>
                <a:latin typeface="Aptos"/>
                <a:ea typeface="Aptos"/>
                <a:cs typeface="Aptos"/>
              </a:rPr>
              <a:t>RQ1</a:t>
            </a:r>
          </a:p>
        </p:txBody>
      </p:sp>
      <p:sp>
        <p:nvSpPr>
          <p:cNvPr id="9" name="">
            <a:extLst xmlns:a="http://schemas.openxmlformats.org/drawingml/2006/main">
              <a:ext uri="{FF2B5EF4-FFF2-40B4-BE49-F238E27FC236}">
                <a16:creationId xmlns:a16="http://schemas.microsoft.com/office/drawing/2014/main" id="{EF5271F1-A239-4587-B269-648B3F06AC92}"/>
              </a:ext>
            </a:extLst>
          </p:cNvPr>
          <p:cNvSpPr>
            <a:spLocks xmlns:a="http://schemas.openxmlformats.org/drawingml/2006/main" noGrp="1"/>
          </p:cNvSpPr>
          <p:nvPr/>
        </p:nvSpPr>
        <p:spPr>
          <a:xfrm xmlns:a="http://schemas.openxmlformats.org/drawingml/2006/main">
            <a:off x="895350" y="3619500"/>
            <a:ext cx="2743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Historical fidelity</a:t>
            </a:r>
          </a:p>
        </p:txBody>
      </p:sp>
      <p:sp>
        <p:nvSpPr>
          <p:cNvPr id="10" name="">
            <a:extLst xmlns:a="http://schemas.openxmlformats.org/drawingml/2006/main">
              <a:ext uri="{FF2B5EF4-FFF2-40B4-BE49-F238E27FC236}">
                <a16:creationId xmlns:a16="http://schemas.microsoft.com/office/drawing/2014/main" id="{B9636277-2CBC-4693-AEC5-1DA62B4DB7FF}"/>
              </a:ext>
            </a:extLst>
          </p:cNvPr>
          <p:cNvSpPr>
            <a:spLocks xmlns:a="http://schemas.openxmlformats.org/drawingml/2006/main" noGrp="1"/>
          </p:cNvSpPr>
          <p:nvPr/>
        </p:nvSpPr>
        <p:spPr>
          <a:xfrm xmlns:a="http://schemas.openxmlformats.org/drawingml/2006/main">
            <a:off x="895350" y="4229100"/>
            <a:ext cx="270510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Does the simulated later period resemble the real hold-out?</a:t>
            </a:r>
          </a:p>
        </p:txBody>
      </p:sp>
      <p:sp>
        <p:nvSpPr>
          <p:cNvPr id="11" name="">
            <a:extLst xmlns:a="http://schemas.openxmlformats.org/drawingml/2006/main">
              <a:ext uri="{FF2B5EF4-FFF2-40B4-BE49-F238E27FC236}">
                <a16:creationId xmlns:a16="http://schemas.microsoft.com/office/drawing/2014/main" id="{3C11D8B8-6D7A-4C7D-BC8F-103A09AEA2F7}"/>
              </a:ext>
            </a:extLst>
          </p:cNvPr>
          <p:cNvSpPr>
            <a:spLocks xmlns:a="http://schemas.openxmlformats.org/drawingml/2006/main" noGrp="1"/>
          </p:cNvSpPr>
          <p:nvPr/>
        </p:nvSpPr>
        <p:spPr>
          <a:xfrm xmlns:a="http://schemas.openxmlformats.org/drawingml/2006/main">
            <a:off x="4257675" y="3009900"/>
            <a:ext cx="32004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CA93745C-1744-4D26-A614-2ACD9113E020}"/>
              </a:ext>
            </a:extLst>
          </p:cNvPr>
          <p:cNvSpPr>
            <a:spLocks xmlns:a="http://schemas.openxmlformats.org/drawingml/2006/main" noGrp="1"/>
          </p:cNvSpPr>
          <p:nvPr/>
        </p:nvSpPr>
        <p:spPr>
          <a:xfrm xmlns:a="http://schemas.openxmlformats.org/drawingml/2006/main">
            <a:off x="4257675" y="3009900"/>
            <a:ext cx="3200400" cy="76200"/>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13" name="">
            <a:extLst xmlns:a="http://schemas.openxmlformats.org/drawingml/2006/main">
              <a:ext uri="{FF2B5EF4-FFF2-40B4-BE49-F238E27FC236}">
                <a16:creationId xmlns:a16="http://schemas.microsoft.com/office/drawing/2014/main" id="{8D4A0295-CDE8-4AD4-9B45-3D4B8B17009F}"/>
              </a:ext>
            </a:extLst>
          </p:cNvPr>
          <p:cNvSpPr>
            <a:spLocks xmlns:a="http://schemas.openxmlformats.org/drawingml/2006/main" noGrp="1"/>
          </p:cNvSpPr>
          <p:nvPr/>
        </p:nvSpPr>
        <p:spPr>
          <a:xfrm xmlns:a="http://schemas.openxmlformats.org/drawingml/2006/main">
            <a:off x="4486275" y="323850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16876A"/>
                </a:solidFill>
                <a:latin typeface="Aptos"/>
                <a:ea typeface="Aptos"/>
                <a:cs typeface="Aptos"/>
              </a:defRPr>
            </a:pPr>
            <a:r>
              <a:rPr sz="1275" b="1" i="0">
                <a:solidFill>
                  <a:srgbClr val="16876A"/>
                </a:solidFill>
                <a:latin typeface="Aptos"/>
                <a:ea typeface="Aptos"/>
                <a:cs typeface="Aptos"/>
              </a:rPr>
              <a:t>RQ2</a:t>
            </a:r>
          </a:p>
        </p:txBody>
      </p:sp>
      <p:sp>
        <p:nvSpPr>
          <p:cNvPr id="14" name="">
            <a:extLst xmlns:a="http://schemas.openxmlformats.org/drawingml/2006/main">
              <a:ext uri="{FF2B5EF4-FFF2-40B4-BE49-F238E27FC236}">
                <a16:creationId xmlns:a16="http://schemas.microsoft.com/office/drawing/2014/main" id="{9E147BC9-BC28-40BD-82CE-0FE09673D25C}"/>
              </a:ext>
            </a:extLst>
          </p:cNvPr>
          <p:cNvSpPr>
            <a:spLocks xmlns:a="http://schemas.openxmlformats.org/drawingml/2006/main" noGrp="1"/>
          </p:cNvSpPr>
          <p:nvPr/>
        </p:nvSpPr>
        <p:spPr>
          <a:xfrm xmlns:a="http://schemas.openxmlformats.org/drawingml/2006/main">
            <a:off x="4486275" y="3619500"/>
            <a:ext cx="2743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Structural validity</a:t>
            </a:r>
          </a:p>
        </p:txBody>
      </p:sp>
      <p:sp>
        <p:nvSpPr>
          <p:cNvPr id="15" name="">
            <a:extLst xmlns:a="http://schemas.openxmlformats.org/drawingml/2006/main">
              <a:ext uri="{FF2B5EF4-FFF2-40B4-BE49-F238E27FC236}">
                <a16:creationId xmlns:a16="http://schemas.microsoft.com/office/drawing/2014/main" id="{B54D97C0-B2BA-4E07-B903-F16713C8D927}"/>
              </a:ext>
            </a:extLst>
          </p:cNvPr>
          <p:cNvSpPr>
            <a:spLocks xmlns:a="http://schemas.openxmlformats.org/drawingml/2006/main" noGrp="1"/>
          </p:cNvSpPr>
          <p:nvPr/>
        </p:nvSpPr>
        <p:spPr>
          <a:xfrm xmlns:a="http://schemas.openxmlformats.org/drawingml/2006/main">
            <a:off x="4486275" y="4229100"/>
            <a:ext cx="270510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Does the discovered process respect the physical visit sequence?</a:t>
            </a:r>
          </a:p>
        </p:txBody>
      </p:sp>
      <p:sp>
        <p:nvSpPr>
          <p:cNvPr id="16" name="">
            <a:extLst xmlns:a="http://schemas.openxmlformats.org/drawingml/2006/main">
              <a:ext uri="{FF2B5EF4-FFF2-40B4-BE49-F238E27FC236}">
                <a16:creationId xmlns:a16="http://schemas.microsoft.com/office/drawing/2014/main" id="{1417548F-5734-4AEA-8E3A-BF912A2FD413}"/>
              </a:ext>
            </a:extLst>
          </p:cNvPr>
          <p:cNvSpPr>
            <a:spLocks xmlns:a="http://schemas.openxmlformats.org/drawingml/2006/main" noGrp="1"/>
          </p:cNvSpPr>
          <p:nvPr/>
        </p:nvSpPr>
        <p:spPr>
          <a:xfrm xmlns:a="http://schemas.openxmlformats.org/drawingml/2006/main">
            <a:off x="7848600" y="3009900"/>
            <a:ext cx="32004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4170824-2BD2-4C94-806D-5B39E7F65C7B}"/>
              </a:ext>
            </a:extLst>
          </p:cNvPr>
          <p:cNvSpPr>
            <a:spLocks xmlns:a="http://schemas.openxmlformats.org/drawingml/2006/main" noGrp="1"/>
          </p:cNvSpPr>
          <p:nvPr/>
        </p:nvSpPr>
        <p:spPr>
          <a:xfrm xmlns:a="http://schemas.openxmlformats.org/drawingml/2006/main">
            <a:off x="7848600" y="3009900"/>
            <a:ext cx="3200400" cy="762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18" name="">
            <a:extLst xmlns:a="http://schemas.openxmlformats.org/drawingml/2006/main">
              <a:ext uri="{FF2B5EF4-FFF2-40B4-BE49-F238E27FC236}">
                <a16:creationId xmlns:a16="http://schemas.microsoft.com/office/drawing/2014/main" id="{D4226451-C8C5-4073-95C6-F5D7D74710BE}"/>
              </a:ext>
            </a:extLst>
          </p:cNvPr>
          <p:cNvSpPr>
            <a:spLocks xmlns:a="http://schemas.openxmlformats.org/drawingml/2006/main" noGrp="1"/>
          </p:cNvSpPr>
          <p:nvPr/>
        </p:nvSpPr>
        <p:spPr>
          <a:xfrm xmlns:a="http://schemas.openxmlformats.org/drawingml/2006/main">
            <a:off x="8077200" y="3238500"/>
            <a:ext cx="85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RQ3–RQ4</a:t>
            </a:r>
          </a:p>
        </p:txBody>
      </p:sp>
      <p:sp>
        <p:nvSpPr>
          <p:cNvPr id="19" name="">
            <a:extLst xmlns:a="http://schemas.openxmlformats.org/drawingml/2006/main">
              <a:ext uri="{FF2B5EF4-FFF2-40B4-BE49-F238E27FC236}">
                <a16:creationId xmlns:a16="http://schemas.microsoft.com/office/drawing/2014/main" id="{D1481F01-F346-453B-8B37-DB391967B768}"/>
              </a:ext>
            </a:extLst>
          </p:cNvPr>
          <p:cNvSpPr>
            <a:spLocks xmlns:a="http://schemas.openxmlformats.org/drawingml/2006/main" noGrp="1"/>
          </p:cNvSpPr>
          <p:nvPr/>
        </p:nvSpPr>
        <p:spPr>
          <a:xfrm xmlns:a="http://schemas.openxmlformats.org/drawingml/2006/main">
            <a:off x="8077200" y="3619500"/>
            <a:ext cx="27432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Scenario credibility</a:t>
            </a:r>
          </a:p>
        </p:txBody>
      </p:sp>
      <p:sp>
        <p:nvSpPr>
          <p:cNvPr id="20" name="">
            <a:extLst xmlns:a="http://schemas.openxmlformats.org/drawingml/2006/main">
              <a:ext uri="{FF2B5EF4-FFF2-40B4-BE49-F238E27FC236}">
                <a16:creationId xmlns:a16="http://schemas.microsoft.com/office/drawing/2014/main" id="{DE94A19A-B9BC-4B14-AA8F-E655AA391597}"/>
              </a:ext>
            </a:extLst>
          </p:cNvPr>
          <p:cNvSpPr>
            <a:spLocks xmlns:a="http://schemas.openxmlformats.org/drawingml/2006/main" noGrp="1"/>
          </p:cNvSpPr>
          <p:nvPr/>
        </p:nvSpPr>
        <p:spPr>
          <a:xfrm xmlns:a="http://schemas.openxmlformats.org/drawingml/2006/main">
            <a:off x="8077200" y="4229100"/>
            <a:ext cx="270510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Do context and interventions produce interpretable, defensible responses?</a:t>
            </a:r>
          </a:p>
        </p:txBody>
      </p:sp>
      <p:sp>
        <p:nvSpPr>
          <p:cNvPr id="21" name="">
            <a:extLst xmlns:a="http://schemas.openxmlformats.org/drawingml/2006/main">
              <a:ext uri="{FF2B5EF4-FFF2-40B4-BE49-F238E27FC236}">
                <a16:creationId xmlns:a16="http://schemas.microsoft.com/office/drawing/2014/main" id="{E16742BE-4E75-4E1E-B252-6A082359F278}"/>
              </a:ext>
            </a:extLst>
          </p:cNvPr>
          <p:cNvSpPr>
            <a:spLocks xmlns:a="http://schemas.openxmlformats.org/drawingml/2006/main" noGrp="1"/>
          </p:cNvSpPr>
          <p:nvPr/>
        </p:nvSpPr>
        <p:spPr>
          <a:xfrm xmlns:a="http://schemas.openxmlformats.org/drawingml/2006/main">
            <a:off x="1885950" y="5695950"/>
            <a:ext cx="8420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i="0">
                <a:solidFill>
                  <a:srgbClr val="5F6B7A"/>
                </a:solidFill>
                <a:latin typeface="Aptos"/>
                <a:ea typeface="Aptos"/>
                <a:cs typeface="Aptos"/>
              </a:defRPr>
            </a:pPr>
            <a:r>
              <a:rPr sz="1725" b="1" i="0">
                <a:solidFill>
                  <a:srgbClr val="5F6B7A"/>
                </a:solidFill>
                <a:latin typeface="Aptos"/>
                <a:ea typeface="Aptos"/>
                <a:cs typeface="Aptos"/>
              </a:rPr>
              <a:t>These are separate tests: success in one does not imply success in the others.</a:t>
            </a:r>
          </a:p>
        </p:txBody>
      </p:sp>
    </p:spTree>
    <p:extLst>
      <p:ext uri="{BB962C8B-B14F-4D97-AF65-F5344CB8AC3E}">
        <p14:creationId xmlns:p14="http://schemas.microsoft.com/office/powerpoint/2010/main" val="131495843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2782FA6-45C7-4598-BA90-94DDC168FBF8}"/>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One temporal hold-out separates discovery from validation</a:t>
            </a:r>
          </a:p>
        </p:txBody>
      </p:sp>
      <p:sp>
        <p:nvSpPr>
          <p:cNvPr id="2" name="">
            <a:extLst xmlns:a="http://schemas.openxmlformats.org/drawingml/2006/main">
              <a:ext uri="{FF2B5EF4-FFF2-40B4-BE49-F238E27FC236}">
                <a16:creationId xmlns:a16="http://schemas.microsoft.com/office/drawing/2014/main" id="{373FB205-22BD-405D-8ED4-D0611B1D4CE9}"/>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A1F9F35A-E93E-4DA6-9AF1-BD9C12844CD4}"/>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A6DBD1AF-9E65-41B7-80FD-F1AE906E9BB4}"/>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04</a:t>
            </a:r>
          </a:p>
        </p:txBody>
      </p:sp>
      <p:sp>
        <p:nvSpPr>
          <p:cNvPr id="5" name="">
            <a:extLst xmlns:a="http://schemas.openxmlformats.org/drawingml/2006/main">
              <a:ext uri="{FF2B5EF4-FFF2-40B4-BE49-F238E27FC236}">
                <a16:creationId xmlns:a16="http://schemas.microsoft.com/office/drawing/2014/main" id="{545BE234-F186-44CD-8783-E5119C3D54D4}"/>
              </a:ext>
            </a:extLst>
          </p:cNvPr>
          <p:cNvSpPr>
            <a:spLocks xmlns:a="http://schemas.openxmlformats.org/drawingml/2006/main" noGrp="1"/>
          </p:cNvSpPr>
          <p:nvPr/>
        </p:nvSpPr>
        <p:spPr>
          <a:xfrm xmlns:a="http://schemas.openxmlformats.org/drawingml/2006/main">
            <a:off x="523875" y="1609725"/>
            <a:ext cx="2571750" cy="3371850"/>
          </a:xfrm>
          <a:prstGeom xmlns:a="http://schemas.openxmlformats.org/drawingml/2006/main" prst="roundRect">
            <a:avLst>
              <a:gd name="adj" fmla="val 4444"/>
            </a:avLst>
          </a:prstGeom>
          <a:solidFill xmlns:a="http://schemas.openxmlformats.org/drawingml/2006/main">
            <a:srgbClr val="F8FAFC"/>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074B328-F918-4202-BEF8-EC9E095FBDB1}"/>
              </a:ext>
            </a:extLst>
          </p:cNvPr>
          <p:cNvSpPr>
            <a:spLocks xmlns:a="http://schemas.openxmlformats.org/drawingml/2006/main" noGrp="1"/>
          </p:cNvSpPr>
          <p:nvPr/>
        </p:nvSpPr>
        <p:spPr>
          <a:xfrm xmlns:a="http://schemas.openxmlformats.org/drawingml/2006/main">
            <a:off x="733425" y="1809750"/>
            <a:ext cx="438150" cy="43815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7" name="">
            <a:extLst xmlns:a="http://schemas.openxmlformats.org/drawingml/2006/main">
              <a:ext uri="{FF2B5EF4-FFF2-40B4-BE49-F238E27FC236}">
                <a16:creationId xmlns:a16="http://schemas.microsoft.com/office/drawing/2014/main" id="{83171D9C-3E83-4FE7-AD7E-DA8D8C091BC6}"/>
              </a:ext>
            </a:extLst>
          </p:cNvPr>
          <p:cNvSpPr>
            <a:spLocks xmlns:a="http://schemas.openxmlformats.org/drawingml/2006/main" noGrp="1"/>
          </p:cNvSpPr>
          <p:nvPr/>
        </p:nvSpPr>
        <p:spPr>
          <a:xfrm xmlns:a="http://schemas.openxmlformats.org/drawingml/2006/main">
            <a:off x="733425" y="1905000"/>
            <a:ext cx="438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01</a:t>
            </a:r>
          </a:p>
        </p:txBody>
      </p:sp>
      <p:sp>
        <p:nvSpPr>
          <p:cNvPr id="8" name="">
            <a:extLst xmlns:a="http://schemas.openxmlformats.org/drawingml/2006/main">
              <a:ext uri="{FF2B5EF4-FFF2-40B4-BE49-F238E27FC236}">
                <a16:creationId xmlns:a16="http://schemas.microsoft.com/office/drawing/2014/main" id="{65AF3D70-6FB5-4A6C-9BE6-38C232C68F34}"/>
              </a:ext>
            </a:extLst>
          </p:cNvPr>
          <p:cNvSpPr>
            <a:spLocks xmlns:a="http://schemas.openxmlformats.org/drawingml/2006/main" noGrp="1"/>
          </p:cNvSpPr>
          <p:nvPr/>
        </p:nvSpPr>
        <p:spPr>
          <a:xfrm xmlns:a="http://schemas.openxmlformats.org/drawingml/2006/main">
            <a:off x="733425" y="2476500"/>
            <a:ext cx="2152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Operational data</a:t>
            </a:r>
          </a:p>
        </p:txBody>
      </p:sp>
      <p:sp>
        <p:nvSpPr>
          <p:cNvPr id="9" name="">
            <a:extLst xmlns:a="http://schemas.openxmlformats.org/drawingml/2006/main">
              <a:ext uri="{FF2B5EF4-FFF2-40B4-BE49-F238E27FC236}">
                <a16:creationId xmlns:a16="http://schemas.microsoft.com/office/drawing/2014/main" id="{3348D5CB-E9E1-4112-804D-2CCA92803718}"/>
              </a:ext>
            </a:extLst>
          </p:cNvPr>
          <p:cNvSpPr>
            <a:spLocks xmlns:a="http://schemas.openxmlformats.org/drawingml/2006/main" noGrp="1"/>
          </p:cNvSpPr>
          <p:nvPr/>
        </p:nvSpPr>
        <p:spPr>
          <a:xfrm xmlns:a="http://schemas.openxmlformats.org/drawingml/2006/main">
            <a:off x="733425" y="3305175"/>
            <a:ext cx="2152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89,460 visits</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275,408 events</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2 continuous months</a:t>
            </a:r>
          </a:p>
        </p:txBody>
      </p:sp>
      <p:sp>
        <p:nvSpPr>
          <p:cNvPr id="10" name="">
            <a:extLst xmlns:a="http://schemas.openxmlformats.org/drawingml/2006/main">
              <a:ext uri="{FF2B5EF4-FFF2-40B4-BE49-F238E27FC236}">
                <a16:creationId xmlns:a16="http://schemas.microsoft.com/office/drawing/2014/main" id="{114044A0-437F-4F99-AD13-69BC62035377}"/>
              </a:ext>
            </a:extLst>
          </p:cNvPr>
          <p:cNvSpPr>
            <a:spLocks xmlns:a="http://schemas.openxmlformats.org/drawingml/2006/main" noGrp="1"/>
          </p:cNvSpPr>
          <p:nvPr/>
        </p:nvSpPr>
        <p:spPr>
          <a:xfrm xmlns:a="http://schemas.openxmlformats.org/drawingml/2006/main">
            <a:off x="3095625" y="3048000"/>
            <a:ext cx="285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154BBA77-7CD2-4101-B4F2-2864F8F5B90B}"/>
              </a:ext>
            </a:extLst>
          </p:cNvPr>
          <p:cNvSpPr>
            <a:spLocks xmlns:a="http://schemas.openxmlformats.org/drawingml/2006/main" noGrp="1"/>
          </p:cNvSpPr>
          <p:nvPr/>
        </p:nvSpPr>
        <p:spPr>
          <a:xfrm xmlns:a="http://schemas.openxmlformats.org/drawingml/2006/main">
            <a:off x="3371850" y="1609725"/>
            <a:ext cx="2571750" cy="3371850"/>
          </a:xfrm>
          <a:prstGeom xmlns:a="http://schemas.openxmlformats.org/drawingml/2006/main" prst="roundRect">
            <a:avLst>
              <a:gd name="adj" fmla="val 4444"/>
            </a:avLst>
          </a:prstGeom>
          <a:solidFill xmlns:a="http://schemas.openxmlformats.org/drawingml/2006/main">
            <a:srgbClr val="F8FAFC"/>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AA0CAC40-FA63-43D2-B07F-F6F19F16C34C}"/>
              </a:ext>
            </a:extLst>
          </p:cNvPr>
          <p:cNvSpPr>
            <a:spLocks xmlns:a="http://schemas.openxmlformats.org/drawingml/2006/main" noGrp="1"/>
          </p:cNvSpPr>
          <p:nvPr/>
        </p:nvSpPr>
        <p:spPr>
          <a:xfrm xmlns:a="http://schemas.openxmlformats.org/drawingml/2006/main">
            <a:off x="3581400" y="1809750"/>
            <a:ext cx="438150" cy="4381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13" name="">
            <a:extLst xmlns:a="http://schemas.openxmlformats.org/drawingml/2006/main">
              <a:ext uri="{FF2B5EF4-FFF2-40B4-BE49-F238E27FC236}">
                <a16:creationId xmlns:a16="http://schemas.microsoft.com/office/drawing/2014/main" id="{67622A5B-3079-41D8-AA9D-0924C363A366}"/>
              </a:ext>
            </a:extLst>
          </p:cNvPr>
          <p:cNvSpPr>
            <a:spLocks xmlns:a="http://schemas.openxmlformats.org/drawingml/2006/main" noGrp="1"/>
          </p:cNvSpPr>
          <p:nvPr/>
        </p:nvSpPr>
        <p:spPr>
          <a:xfrm xmlns:a="http://schemas.openxmlformats.org/drawingml/2006/main">
            <a:off x="3581400" y="1905000"/>
            <a:ext cx="438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C38C165B-CA0B-488A-B8B5-9EDB6E70A8A4}"/>
              </a:ext>
            </a:extLst>
          </p:cNvPr>
          <p:cNvSpPr>
            <a:spLocks xmlns:a="http://schemas.openxmlformats.org/drawingml/2006/main" noGrp="1"/>
          </p:cNvSpPr>
          <p:nvPr/>
        </p:nvSpPr>
        <p:spPr>
          <a:xfrm xmlns:a="http://schemas.openxmlformats.org/drawingml/2006/main">
            <a:off x="3581400" y="2476500"/>
            <a:ext cx="2152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Temporal split</a:t>
            </a:r>
          </a:p>
        </p:txBody>
      </p:sp>
      <p:sp>
        <p:nvSpPr>
          <p:cNvPr id="15" name="">
            <a:extLst xmlns:a="http://schemas.openxmlformats.org/drawingml/2006/main">
              <a:ext uri="{FF2B5EF4-FFF2-40B4-BE49-F238E27FC236}">
                <a16:creationId xmlns:a16="http://schemas.microsoft.com/office/drawing/2014/main" id="{0D678694-3CC6-4F5D-84E0-757797822370}"/>
              </a:ext>
            </a:extLst>
          </p:cNvPr>
          <p:cNvSpPr>
            <a:spLocks xmlns:a="http://schemas.openxmlformats.org/drawingml/2006/main" noGrp="1"/>
          </p:cNvSpPr>
          <p:nvPr/>
        </p:nvSpPr>
        <p:spPr>
          <a:xfrm xmlns:a="http://schemas.openxmlformats.org/drawingml/2006/main">
            <a:off x="3581400" y="3305175"/>
            <a:ext cx="2152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71,568 train</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17,892 held out</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later period only</a:t>
            </a:r>
          </a:p>
        </p:txBody>
      </p:sp>
      <p:sp>
        <p:nvSpPr>
          <p:cNvPr id="16" name="">
            <a:extLst xmlns:a="http://schemas.openxmlformats.org/drawingml/2006/main">
              <a:ext uri="{FF2B5EF4-FFF2-40B4-BE49-F238E27FC236}">
                <a16:creationId xmlns:a16="http://schemas.microsoft.com/office/drawing/2014/main" id="{F2424FE5-D5A5-406F-8971-5EACB9CC4D2D}"/>
              </a:ext>
            </a:extLst>
          </p:cNvPr>
          <p:cNvSpPr>
            <a:spLocks xmlns:a="http://schemas.openxmlformats.org/drawingml/2006/main" noGrp="1"/>
          </p:cNvSpPr>
          <p:nvPr/>
        </p:nvSpPr>
        <p:spPr>
          <a:xfrm xmlns:a="http://schemas.openxmlformats.org/drawingml/2006/main">
            <a:off x="5943600" y="3048000"/>
            <a:ext cx="285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4409AB7A-BCB5-4C13-8FDD-69CAC8592770}"/>
              </a:ext>
            </a:extLst>
          </p:cNvPr>
          <p:cNvSpPr>
            <a:spLocks xmlns:a="http://schemas.openxmlformats.org/drawingml/2006/main" noGrp="1"/>
          </p:cNvSpPr>
          <p:nvPr/>
        </p:nvSpPr>
        <p:spPr>
          <a:xfrm xmlns:a="http://schemas.openxmlformats.org/drawingml/2006/main">
            <a:off x="6219825" y="1609725"/>
            <a:ext cx="2571750" cy="3371850"/>
          </a:xfrm>
          <a:prstGeom xmlns:a="http://schemas.openxmlformats.org/drawingml/2006/main" prst="roundRect">
            <a:avLst>
              <a:gd name="adj" fmla="val 4444"/>
            </a:avLst>
          </a:prstGeom>
          <a:solidFill xmlns:a="http://schemas.openxmlformats.org/drawingml/2006/main">
            <a:srgbClr val="F8FAFC"/>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ADBE5B0C-4F52-4407-AE55-17D4EA24AC87}"/>
              </a:ext>
            </a:extLst>
          </p:cNvPr>
          <p:cNvSpPr>
            <a:spLocks xmlns:a="http://schemas.openxmlformats.org/drawingml/2006/main" noGrp="1"/>
          </p:cNvSpPr>
          <p:nvPr/>
        </p:nvSpPr>
        <p:spPr>
          <a:xfrm xmlns:a="http://schemas.openxmlformats.org/drawingml/2006/main">
            <a:off x="6429375" y="1809750"/>
            <a:ext cx="438150" cy="438150"/>
          </a:xfrm>
          <a:prstGeom xmlns:a="http://schemas.openxmlformats.org/drawingml/2006/main" prst="ellipse">
            <a:avLst/>
          </a:prstGeom>
          <a:solidFill xmlns:a="http://schemas.openxmlformats.org/drawingml/2006/main">
            <a:srgbClr val="C98200"/>
          </a:solidFill>
          <a:ln xmlns:a="http://schemas.openxmlformats.org/drawingml/2006/main" w="9525">
            <a:solidFill>
              <a:srgbClr val="C98200"/>
            </a:solidFill>
            <a:prstDash val="solid"/>
          </a:ln>
        </p:spPr>
      </p:sp>
      <p:sp>
        <p:nvSpPr>
          <p:cNvPr id="19" name="">
            <a:extLst xmlns:a="http://schemas.openxmlformats.org/drawingml/2006/main">
              <a:ext uri="{FF2B5EF4-FFF2-40B4-BE49-F238E27FC236}">
                <a16:creationId xmlns:a16="http://schemas.microsoft.com/office/drawing/2014/main" id="{F4854E86-C011-4B54-A390-D4B394BE6019}"/>
              </a:ext>
            </a:extLst>
          </p:cNvPr>
          <p:cNvSpPr>
            <a:spLocks xmlns:a="http://schemas.openxmlformats.org/drawingml/2006/main" noGrp="1"/>
          </p:cNvSpPr>
          <p:nvPr/>
        </p:nvSpPr>
        <p:spPr>
          <a:xfrm xmlns:a="http://schemas.openxmlformats.org/drawingml/2006/main">
            <a:off x="6429375" y="1905000"/>
            <a:ext cx="438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822AFA04-1346-448D-88C4-A7386FDB2C0B}"/>
              </a:ext>
            </a:extLst>
          </p:cNvPr>
          <p:cNvSpPr>
            <a:spLocks xmlns:a="http://schemas.openxmlformats.org/drawingml/2006/main" noGrp="1"/>
          </p:cNvSpPr>
          <p:nvPr/>
        </p:nvSpPr>
        <p:spPr>
          <a:xfrm xmlns:a="http://schemas.openxmlformats.org/drawingml/2006/main">
            <a:off x="6429375" y="2476500"/>
            <a:ext cx="2152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Repeated simulation</a:t>
            </a:r>
          </a:p>
        </p:txBody>
      </p:sp>
      <p:sp>
        <p:nvSpPr>
          <p:cNvPr id="21" name="">
            <a:extLst xmlns:a="http://schemas.openxmlformats.org/drawingml/2006/main">
              <a:ext uri="{FF2B5EF4-FFF2-40B4-BE49-F238E27FC236}">
                <a16:creationId xmlns:a16="http://schemas.microsoft.com/office/drawing/2014/main" id="{9C7CDE51-7192-469A-9C38-2BD62EB669C7}"/>
              </a:ext>
            </a:extLst>
          </p:cNvPr>
          <p:cNvSpPr>
            <a:spLocks xmlns:a="http://schemas.openxmlformats.org/drawingml/2006/main" noGrp="1"/>
          </p:cNvSpPr>
          <p:nvPr/>
        </p:nvSpPr>
        <p:spPr>
          <a:xfrm xmlns:a="http://schemas.openxmlformats.org/drawingml/2006/main">
            <a:off x="6429375" y="3305175"/>
            <a:ext cx="2152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10 seeds (42–51)</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17,892 cases/run</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frozen model</a:t>
            </a:r>
          </a:p>
        </p:txBody>
      </p:sp>
      <p:sp>
        <p:nvSpPr>
          <p:cNvPr id="22" name="">
            <a:extLst xmlns:a="http://schemas.openxmlformats.org/drawingml/2006/main">
              <a:ext uri="{FF2B5EF4-FFF2-40B4-BE49-F238E27FC236}">
                <a16:creationId xmlns:a16="http://schemas.microsoft.com/office/drawing/2014/main" id="{F57DAD90-9CDE-44E9-9A37-4094622D80CD}"/>
              </a:ext>
            </a:extLst>
          </p:cNvPr>
          <p:cNvSpPr>
            <a:spLocks xmlns:a="http://schemas.openxmlformats.org/drawingml/2006/main" noGrp="1"/>
          </p:cNvSpPr>
          <p:nvPr/>
        </p:nvSpPr>
        <p:spPr>
          <a:xfrm xmlns:a="http://schemas.openxmlformats.org/drawingml/2006/main">
            <a:off x="8791575" y="3048000"/>
            <a:ext cx="285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23" name="">
            <a:extLst xmlns:a="http://schemas.openxmlformats.org/drawingml/2006/main">
              <a:ext uri="{FF2B5EF4-FFF2-40B4-BE49-F238E27FC236}">
                <a16:creationId xmlns:a16="http://schemas.microsoft.com/office/drawing/2014/main" id="{2F90511E-2813-478D-8307-943B6CE6B086}"/>
              </a:ext>
            </a:extLst>
          </p:cNvPr>
          <p:cNvSpPr>
            <a:spLocks xmlns:a="http://schemas.openxmlformats.org/drawingml/2006/main" noGrp="1"/>
          </p:cNvSpPr>
          <p:nvPr/>
        </p:nvSpPr>
        <p:spPr>
          <a:xfrm xmlns:a="http://schemas.openxmlformats.org/drawingml/2006/main">
            <a:off x="9067800" y="1609725"/>
            <a:ext cx="2571750" cy="3371850"/>
          </a:xfrm>
          <a:prstGeom xmlns:a="http://schemas.openxmlformats.org/drawingml/2006/main" prst="roundRect">
            <a:avLst>
              <a:gd name="adj" fmla="val 4444"/>
            </a:avLst>
          </a:prstGeom>
          <a:solidFill xmlns:a="http://schemas.openxmlformats.org/drawingml/2006/main">
            <a:srgbClr val="F8FAFC"/>
          </a:solidFill>
          <a:ln xmlns:a="http://schemas.openxmlformats.org/drawingml/2006/main" w="9525">
            <a:solidFill>
              <a:srgbClr val="D0D5DD"/>
            </a:solidFill>
            <a:prstDash val="solid"/>
          </a:ln>
        </p:spPr>
      </p:sp>
      <p:sp>
        <p:nvSpPr>
          <p:cNvPr id="24" name="">
            <a:extLst xmlns:a="http://schemas.openxmlformats.org/drawingml/2006/main">
              <a:ext uri="{FF2B5EF4-FFF2-40B4-BE49-F238E27FC236}">
                <a16:creationId xmlns:a16="http://schemas.microsoft.com/office/drawing/2014/main" id="{59D2F225-2011-4040-97A7-6786F2B69CEA}"/>
              </a:ext>
            </a:extLst>
          </p:cNvPr>
          <p:cNvSpPr>
            <a:spLocks xmlns:a="http://schemas.openxmlformats.org/drawingml/2006/main" noGrp="1"/>
          </p:cNvSpPr>
          <p:nvPr/>
        </p:nvSpPr>
        <p:spPr>
          <a:xfrm xmlns:a="http://schemas.openxmlformats.org/drawingml/2006/main">
            <a:off x="9277350" y="1809750"/>
            <a:ext cx="438150" cy="4381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25" name="">
            <a:extLst xmlns:a="http://schemas.openxmlformats.org/drawingml/2006/main">
              <a:ext uri="{FF2B5EF4-FFF2-40B4-BE49-F238E27FC236}">
                <a16:creationId xmlns:a16="http://schemas.microsoft.com/office/drawing/2014/main" id="{BC89A8DF-39E9-4E70-9577-9EF0E61AA0A7}"/>
              </a:ext>
            </a:extLst>
          </p:cNvPr>
          <p:cNvSpPr>
            <a:spLocks xmlns:a="http://schemas.openxmlformats.org/drawingml/2006/main" noGrp="1"/>
          </p:cNvSpPr>
          <p:nvPr/>
        </p:nvSpPr>
        <p:spPr>
          <a:xfrm xmlns:a="http://schemas.openxmlformats.org/drawingml/2006/main">
            <a:off x="9277350" y="1905000"/>
            <a:ext cx="4381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04</a:t>
            </a:r>
          </a:p>
        </p:txBody>
      </p:sp>
      <p:sp>
        <p:nvSpPr>
          <p:cNvPr id="26" name="">
            <a:extLst xmlns:a="http://schemas.openxmlformats.org/drawingml/2006/main">
              <a:ext uri="{FF2B5EF4-FFF2-40B4-BE49-F238E27FC236}">
                <a16:creationId xmlns:a16="http://schemas.microsoft.com/office/drawing/2014/main" id="{43379611-EFC5-453B-A0DA-A93C043EB8ED}"/>
              </a:ext>
            </a:extLst>
          </p:cNvPr>
          <p:cNvSpPr>
            <a:spLocks xmlns:a="http://schemas.openxmlformats.org/drawingml/2006/main" noGrp="1"/>
          </p:cNvSpPr>
          <p:nvPr/>
        </p:nvSpPr>
        <p:spPr>
          <a:xfrm xmlns:a="http://schemas.openxmlformats.org/drawingml/2006/main">
            <a:off x="9277350" y="2476500"/>
            <a:ext cx="21526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Paired scenarios</a:t>
            </a:r>
          </a:p>
        </p:txBody>
      </p:sp>
      <p:sp>
        <p:nvSpPr>
          <p:cNvPr id="27" name="">
            <a:extLst xmlns:a="http://schemas.openxmlformats.org/drawingml/2006/main">
              <a:ext uri="{FF2B5EF4-FFF2-40B4-BE49-F238E27FC236}">
                <a16:creationId xmlns:a16="http://schemas.microsoft.com/office/drawing/2014/main" id="{B71AC4BE-1F63-462F-84C9-6203899B8661}"/>
              </a:ext>
            </a:extLst>
          </p:cNvPr>
          <p:cNvSpPr>
            <a:spLocks xmlns:a="http://schemas.openxmlformats.org/drawingml/2006/main" noGrp="1"/>
          </p:cNvSpPr>
          <p:nvPr/>
        </p:nvSpPr>
        <p:spPr>
          <a:xfrm xmlns:a="http://schemas.openxmlformats.org/drawingml/2006/main">
            <a:off x="9277350" y="3305175"/>
            <a:ext cx="2152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T22 reallocation</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+20% working-time</a:t>
            </a:r>
          </a:p>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arrival intensity</a:t>
            </a:r>
          </a:p>
        </p:txBody>
      </p:sp>
      <p:sp>
        <p:nvSpPr>
          <p:cNvPr id="28" name="">
            <a:extLst xmlns:a="http://schemas.openxmlformats.org/drawingml/2006/main">
              <a:ext uri="{FF2B5EF4-FFF2-40B4-BE49-F238E27FC236}">
                <a16:creationId xmlns:a16="http://schemas.microsoft.com/office/drawing/2014/main" id="{D64577A5-0E99-4F38-BA18-95990D59189E}"/>
              </a:ext>
            </a:extLst>
          </p:cNvPr>
          <p:cNvSpPr>
            <a:spLocks xmlns:a="http://schemas.openxmlformats.org/drawingml/2006/main" noGrp="1"/>
          </p:cNvSpPr>
          <p:nvPr/>
        </p:nvSpPr>
        <p:spPr>
          <a:xfrm xmlns:a="http://schemas.openxmlformats.org/drawingml/2006/main">
            <a:off x="1600200" y="5400675"/>
            <a:ext cx="8991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i="0">
                <a:solidFill>
                  <a:srgbClr val="0B1220"/>
                </a:solidFill>
                <a:latin typeface="Aptos"/>
                <a:ea typeface="Aptos"/>
                <a:cs typeface="Aptos"/>
              </a:defRPr>
            </a:pPr>
            <a:r>
              <a:rPr sz="1800" b="1" i="0">
                <a:solidFill>
                  <a:srgbClr val="0B1220"/>
                </a:solidFill>
                <a:latin typeface="Aptos"/>
                <a:ea typeface="Aptos"/>
                <a:cs typeface="Aptos"/>
              </a:rPr>
              <a:t>Calibration uses training data only; the hold-out is untouched until evaluation.</a:t>
            </a:r>
          </a:p>
        </p:txBody>
      </p:sp>
    </p:spTree>
    <p:extLst>
      <p:ext uri="{BB962C8B-B14F-4D97-AF65-F5344CB8AC3E}">
        <p14:creationId xmlns:p14="http://schemas.microsoft.com/office/powerpoint/2010/main" val="167141989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702A2B3-3C3E-4DF0-83EB-4C65166F00F7}"/>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The process structure transfers—if event order is protected</a:t>
            </a:r>
          </a:p>
        </p:txBody>
      </p:sp>
      <p:sp>
        <p:nvSpPr>
          <p:cNvPr id="2" name="">
            <a:extLst xmlns:a="http://schemas.openxmlformats.org/drawingml/2006/main">
              <a:ext uri="{FF2B5EF4-FFF2-40B4-BE49-F238E27FC236}">
                <a16:creationId xmlns:a16="http://schemas.microsoft.com/office/drawing/2014/main" id="{5E5A8381-730C-42B7-A1C8-780D600364D9}"/>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1C604B6E-0A26-4172-93EB-0AFF08EE3194}"/>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2B2D811D-E537-4258-A3D7-9A11A4E7421F}"/>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05</a:t>
            </a:r>
          </a:p>
        </p:txBody>
      </p:sp>
      <p:sp>
        <p:nvSpPr>
          <p:cNvPr id="5" name="">
            <a:extLst xmlns:a="http://schemas.openxmlformats.org/drawingml/2006/main">
              <a:ext uri="{FF2B5EF4-FFF2-40B4-BE49-F238E27FC236}">
                <a16:creationId xmlns:a16="http://schemas.microsoft.com/office/drawing/2014/main" id="{63DC5B22-E9FE-42D5-B302-7724653BBFAE}"/>
              </a:ext>
            </a:extLst>
          </p:cNvPr>
          <p:cNvSpPr>
            <a:spLocks xmlns:a="http://schemas.openxmlformats.org/drawingml/2006/main" noGrp="1"/>
          </p:cNvSpPr>
          <p:nvPr/>
        </p:nvSpPr>
        <p:spPr>
          <a:xfrm xmlns:a="http://schemas.openxmlformats.org/drawingml/2006/main">
            <a:off x="457200" y="1200150"/>
            <a:ext cx="7572375" cy="4905375"/>
          </a:xfrm>
          <a:prstGeom xmlns:a="http://schemas.openxmlformats.org/drawingml/2006/main" prst="roundRect">
            <a:avLst>
              <a:gd name="adj" fmla="val 2330"/>
            </a:avLst>
          </a:prstGeom>
          <a:solidFill xmlns:a="http://schemas.openxmlformats.org/drawingml/2006/main">
            <a:srgbClr val="F8FAFC"/>
          </a:solidFill>
          <a:ln xmlns:a="http://schemas.openxmlformats.org/drawingml/2006/main" w="0">
            <a:no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d86d606b1d8846d3"/>
          <a:stretch xmlns:a="http://schemas.openxmlformats.org/drawingml/2006/main"/>
        </p:blipFill>
        <p:spPr>
          <a:xfrm xmlns:a="http://schemas.openxmlformats.org/drawingml/2006/main">
            <a:off x="666750" y="2094251"/>
            <a:ext cx="7143750" cy="2764747"/>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CDE627A-202F-4B41-9B70-3E89E7FF6F9C}"/>
              </a:ext>
            </a:extLst>
          </p:cNvPr>
          <p:cNvSpPr>
            <a:spLocks xmlns:a="http://schemas.openxmlformats.org/drawingml/2006/main" noGrp="1"/>
          </p:cNvSpPr>
          <p:nvPr/>
        </p:nvSpPr>
        <p:spPr>
          <a:xfrm xmlns:a="http://schemas.openxmlformats.org/drawingml/2006/main">
            <a:off x="1085850" y="5505450"/>
            <a:ext cx="632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5F6B7A"/>
                </a:solidFill>
                <a:latin typeface="Aptos"/>
                <a:ea typeface="Aptos"/>
                <a:cs typeface="Aptos"/>
              </a:defRPr>
            </a:pPr>
            <a:r>
              <a:rPr sz="1650" b="1" i="0">
                <a:solidFill>
                  <a:srgbClr val="5F6B7A"/>
                </a:solidFill>
                <a:latin typeface="Aptos"/>
                <a:ea typeface="Aptos"/>
                <a:cs typeface="Aptos"/>
              </a:rPr>
              <a:t>Gate In → variable sequential yard loop → Gate Out</a:t>
            </a:r>
          </a:p>
        </p:txBody>
      </p:sp>
      <p:sp>
        <p:nvSpPr>
          <p:cNvPr id="8" name="">
            <a:extLst xmlns:a="http://schemas.openxmlformats.org/drawingml/2006/main">
              <a:ext uri="{FF2B5EF4-FFF2-40B4-BE49-F238E27FC236}">
                <a16:creationId xmlns:a16="http://schemas.microsoft.com/office/drawing/2014/main" id="{DBFF75F0-C418-4027-8349-29BB9FDE9E0E}"/>
              </a:ext>
            </a:extLst>
          </p:cNvPr>
          <p:cNvSpPr>
            <a:spLocks xmlns:a="http://schemas.openxmlformats.org/drawingml/2006/main" noGrp="1"/>
          </p:cNvSpPr>
          <p:nvPr/>
        </p:nvSpPr>
        <p:spPr>
          <a:xfrm xmlns:a="http://schemas.openxmlformats.org/drawingml/2006/main">
            <a:off x="8324850" y="1238250"/>
            <a:ext cx="3333750" cy="1390650"/>
          </a:xfrm>
          <a:prstGeom xmlns:a="http://schemas.openxmlformats.org/drawingml/2006/main" prst="roundRect">
            <a:avLst>
              <a:gd name="adj" fmla="val 8219"/>
            </a:avLst>
          </a:prstGeom>
          <a:solidFill xmlns:a="http://schemas.openxmlformats.org/drawingml/2006/main">
            <a:srgbClr val="EAF8F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24DB52D-2F7A-4578-ABE4-FC482835C550}"/>
              </a:ext>
            </a:extLst>
          </p:cNvPr>
          <p:cNvSpPr>
            <a:spLocks xmlns:a="http://schemas.openxmlformats.org/drawingml/2006/main" noGrp="1"/>
          </p:cNvSpPr>
          <p:nvPr/>
        </p:nvSpPr>
        <p:spPr>
          <a:xfrm xmlns:a="http://schemas.openxmlformats.org/drawingml/2006/main">
            <a:off x="8324850" y="1238250"/>
            <a:ext cx="66675" cy="1390650"/>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10" name="">
            <a:extLst xmlns:a="http://schemas.openxmlformats.org/drawingml/2006/main">
              <a:ext uri="{FF2B5EF4-FFF2-40B4-BE49-F238E27FC236}">
                <a16:creationId xmlns:a16="http://schemas.microsoft.com/office/drawing/2014/main" id="{C90821DB-98EE-484D-B23E-507CF335E9B5}"/>
              </a:ext>
            </a:extLst>
          </p:cNvPr>
          <p:cNvSpPr>
            <a:spLocks xmlns:a="http://schemas.openxmlformats.org/drawingml/2006/main" noGrp="1"/>
          </p:cNvSpPr>
          <p:nvPr/>
        </p:nvSpPr>
        <p:spPr>
          <a:xfrm xmlns:a="http://schemas.openxmlformats.org/drawingml/2006/main">
            <a:off x="8572500" y="1428750"/>
            <a:ext cx="28384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16876A"/>
                </a:solidFill>
                <a:latin typeface="Aptos"/>
                <a:ea typeface="Aptos"/>
                <a:cs typeface="Aptos"/>
              </a:defRPr>
            </a:pPr>
            <a:r>
              <a:rPr sz="3450" b="1" i="0">
                <a:solidFill>
                  <a:srgbClr val="16876A"/>
                </a:solidFill>
                <a:latin typeface="Aptos"/>
                <a:ea typeface="Aptos"/>
                <a:cs typeface="Aptos"/>
              </a:rPr>
              <a:t>99.994%</a:t>
            </a:r>
          </a:p>
        </p:txBody>
      </p:sp>
      <p:sp>
        <p:nvSpPr>
          <p:cNvPr id="11" name="">
            <a:extLst xmlns:a="http://schemas.openxmlformats.org/drawingml/2006/main">
              <a:ext uri="{FF2B5EF4-FFF2-40B4-BE49-F238E27FC236}">
                <a16:creationId xmlns:a16="http://schemas.microsoft.com/office/drawing/2014/main" id="{FCCD63CA-352F-4B92-9AD4-4738637D906A}"/>
              </a:ext>
            </a:extLst>
          </p:cNvPr>
          <p:cNvSpPr>
            <a:spLocks xmlns:a="http://schemas.openxmlformats.org/drawingml/2006/main" noGrp="1"/>
          </p:cNvSpPr>
          <p:nvPr/>
        </p:nvSpPr>
        <p:spPr>
          <a:xfrm xmlns:a="http://schemas.openxmlformats.org/drawingml/2006/main">
            <a:off x="8572500" y="2038350"/>
            <a:ext cx="2838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held-out traces fit completely</a:t>
            </a:r>
          </a:p>
        </p:txBody>
      </p:sp>
      <p:sp>
        <p:nvSpPr>
          <p:cNvPr id="12" name="">
            <a:extLst xmlns:a="http://schemas.openxmlformats.org/drawingml/2006/main">
              <a:ext uri="{FF2B5EF4-FFF2-40B4-BE49-F238E27FC236}">
                <a16:creationId xmlns:a16="http://schemas.microsoft.com/office/drawing/2014/main" id="{F4A95385-906F-49FA-A5FB-A2E43C6D519F}"/>
              </a:ext>
            </a:extLst>
          </p:cNvPr>
          <p:cNvSpPr>
            <a:spLocks xmlns:a="http://schemas.openxmlformats.org/drawingml/2006/main" noGrp="1"/>
          </p:cNvSpPr>
          <p:nvPr/>
        </p:nvSpPr>
        <p:spPr>
          <a:xfrm xmlns:a="http://schemas.openxmlformats.org/drawingml/2006/main">
            <a:off x="8324850" y="2838450"/>
            <a:ext cx="3333750" cy="1390650"/>
          </a:xfrm>
          <a:prstGeom xmlns:a="http://schemas.openxmlformats.org/drawingml/2006/main" prst="roundRect">
            <a:avLst>
              <a:gd name="adj" fmla="val 8219"/>
            </a:avLst>
          </a:prstGeom>
          <a:solidFill xmlns:a="http://schemas.openxmlformats.org/drawingml/2006/main">
            <a:srgbClr val="EAF3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E2199C3-E19B-4D5F-816B-467E29D5D82B}"/>
              </a:ext>
            </a:extLst>
          </p:cNvPr>
          <p:cNvSpPr>
            <a:spLocks xmlns:a="http://schemas.openxmlformats.org/drawingml/2006/main" noGrp="1"/>
          </p:cNvSpPr>
          <p:nvPr/>
        </p:nvSpPr>
        <p:spPr>
          <a:xfrm xmlns:a="http://schemas.openxmlformats.org/drawingml/2006/main">
            <a:off x="8324850" y="2838450"/>
            <a:ext cx="66675" cy="139065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4" name="">
            <a:extLst xmlns:a="http://schemas.openxmlformats.org/drawingml/2006/main">
              <a:ext uri="{FF2B5EF4-FFF2-40B4-BE49-F238E27FC236}">
                <a16:creationId xmlns:a16="http://schemas.microsoft.com/office/drawing/2014/main" id="{F012EB2F-2160-4964-AC7B-4B411C90AC3D}"/>
              </a:ext>
            </a:extLst>
          </p:cNvPr>
          <p:cNvSpPr>
            <a:spLocks xmlns:a="http://schemas.openxmlformats.org/drawingml/2006/main" noGrp="1"/>
          </p:cNvSpPr>
          <p:nvPr/>
        </p:nvSpPr>
        <p:spPr>
          <a:xfrm xmlns:a="http://schemas.openxmlformats.org/drawingml/2006/main">
            <a:off x="8572500" y="3028950"/>
            <a:ext cx="28384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2F80ED"/>
                </a:solidFill>
                <a:latin typeface="Aptos"/>
                <a:ea typeface="Aptos"/>
                <a:cs typeface="Aptos"/>
              </a:defRPr>
            </a:pPr>
            <a:r>
              <a:rPr sz="3450" b="1" i="0">
                <a:solidFill>
                  <a:srgbClr val="2F80ED"/>
                </a:solidFill>
                <a:latin typeface="Aptos"/>
                <a:ea typeface="Aptos"/>
                <a:cs typeface="Aptos"/>
              </a:rPr>
              <a:t>0.9413</a:t>
            </a:r>
          </a:p>
        </p:txBody>
      </p:sp>
      <p:sp>
        <p:nvSpPr>
          <p:cNvPr id="15" name="">
            <a:extLst xmlns:a="http://schemas.openxmlformats.org/drawingml/2006/main">
              <a:ext uri="{FF2B5EF4-FFF2-40B4-BE49-F238E27FC236}">
                <a16:creationId xmlns:a16="http://schemas.microsoft.com/office/drawing/2014/main" id="{299CEA90-68EB-43F0-AB7D-6DEFA0648967}"/>
              </a:ext>
            </a:extLst>
          </p:cNvPr>
          <p:cNvSpPr>
            <a:spLocks xmlns:a="http://schemas.openxmlformats.org/drawingml/2006/main" noGrp="1"/>
          </p:cNvSpPr>
          <p:nvPr/>
        </p:nvSpPr>
        <p:spPr>
          <a:xfrm xmlns:a="http://schemas.openxmlformats.org/drawingml/2006/main">
            <a:off x="8572500" y="3638550"/>
            <a:ext cx="2838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held-out generalisation</a:t>
            </a:r>
          </a:p>
        </p:txBody>
      </p:sp>
      <p:sp>
        <p:nvSpPr>
          <p:cNvPr id="16" name="">
            <a:extLst xmlns:a="http://schemas.openxmlformats.org/drawingml/2006/main">
              <a:ext uri="{FF2B5EF4-FFF2-40B4-BE49-F238E27FC236}">
                <a16:creationId xmlns:a16="http://schemas.microsoft.com/office/drawing/2014/main" id="{DDF796F9-3AB1-4382-B3D7-CC27C0C7D72D}"/>
              </a:ext>
            </a:extLst>
          </p:cNvPr>
          <p:cNvSpPr>
            <a:spLocks xmlns:a="http://schemas.openxmlformats.org/drawingml/2006/main" noGrp="1"/>
          </p:cNvSpPr>
          <p:nvPr/>
        </p:nvSpPr>
        <p:spPr>
          <a:xfrm xmlns:a="http://schemas.openxmlformats.org/drawingml/2006/main">
            <a:off x="8324850" y="4438650"/>
            <a:ext cx="3333750" cy="1390650"/>
          </a:xfrm>
          <a:prstGeom xmlns:a="http://schemas.openxmlformats.org/drawingml/2006/main" prst="roundRect">
            <a:avLst>
              <a:gd name="adj" fmla="val 8219"/>
            </a:avLst>
          </a:prstGeom>
          <a:solidFill xmlns:a="http://schemas.openxmlformats.org/drawingml/2006/main">
            <a:srgbClr val="FDECE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7BFEB45-180A-436B-9213-2BD0C6AF122E}"/>
              </a:ext>
            </a:extLst>
          </p:cNvPr>
          <p:cNvSpPr>
            <a:spLocks xmlns:a="http://schemas.openxmlformats.org/drawingml/2006/main" noGrp="1"/>
          </p:cNvSpPr>
          <p:nvPr/>
        </p:nvSpPr>
        <p:spPr>
          <a:xfrm xmlns:a="http://schemas.openxmlformats.org/drawingml/2006/main">
            <a:off x="8324850" y="4438650"/>
            <a:ext cx="66675" cy="139065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18" name="">
            <a:extLst xmlns:a="http://schemas.openxmlformats.org/drawingml/2006/main">
              <a:ext uri="{FF2B5EF4-FFF2-40B4-BE49-F238E27FC236}">
                <a16:creationId xmlns:a16="http://schemas.microsoft.com/office/drawing/2014/main" id="{31342187-F7D8-4613-8023-9B9806310223}"/>
              </a:ext>
            </a:extLst>
          </p:cNvPr>
          <p:cNvSpPr>
            <a:spLocks xmlns:a="http://schemas.openxmlformats.org/drawingml/2006/main" noGrp="1"/>
          </p:cNvSpPr>
          <p:nvPr/>
        </p:nvSpPr>
        <p:spPr>
          <a:xfrm xmlns:a="http://schemas.openxmlformats.org/drawingml/2006/main">
            <a:off x="8572500" y="4629150"/>
            <a:ext cx="28384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8102E"/>
                </a:solidFill>
                <a:latin typeface="Aptos"/>
                <a:ea typeface="Aptos"/>
                <a:cs typeface="Aptos"/>
              </a:defRPr>
            </a:pPr>
            <a:r>
              <a:rPr sz="3450" b="1" i="0">
                <a:solidFill>
                  <a:srgbClr val="C8102E"/>
                </a:solidFill>
                <a:latin typeface="Aptos"/>
                <a:ea typeface="Aptos"/>
                <a:cs typeface="Aptos"/>
              </a:rPr>
              <a:t>0</a:t>
            </a:r>
          </a:p>
        </p:txBody>
      </p:sp>
      <p:sp>
        <p:nvSpPr>
          <p:cNvPr id="19" name="">
            <a:extLst xmlns:a="http://schemas.openxmlformats.org/drawingml/2006/main">
              <a:ext uri="{FF2B5EF4-FFF2-40B4-BE49-F238E27FC236}">
                <a16:creationId xmlns:a16="http://schemas.microsoft.com/office/drawing/2014/main" id="{4DCA3A8B-126F-47BA-ABB8-1177DEC1B8DE}"/>
              </a:ext>
            </a:extLst>
          </p:cNvPr>
          <p:cNvSpPr>
            <a:spLocks xmlns:a="http://schemas.openxmlformats.org/drawingml/2006/main" noGrp="1"/>
          </p:cNvSpPr>
          <p:nvPr/>
        </p:nvSpPr>
        <p:spPr>
          <a:xfrm xmlns:a="http://schemas.openxmlformats.org/drawingml/2006/main">
            <a:off x="8572500" y="5238750"/>
            <a:ext cx="2838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parallel operators</a:t>
            </a:r>
          </a:p>
        </p:txBody>
      </p:sp>
    </p:spTree>
    <p:extLst>
      <p:ext uri="{BB962C8B-B14F-4D97-AF65-F5344CB8AC3E}">
        <p14:creationId xmlns:p14="http://schemas.microsoft.com/office/powerpoint/2010/main" val="39675941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9B519B3-3F89-4227-A952-006E93146D05}"/>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Historical fidelity is strong locally, weak end-to-end</a:t>
            </a:r>
          </a:p>
        </p:txBody>
      </p:sp>
      <p:sp>
        <p:nvSpPr>
          <p:cNvPr id="2" name="">
            <a:extLst xmlns:a="http://schemas.openxmlformats.org/drawingml/2006/main">
              <a:ext uri="{FF2B5EF4-FFF2-40B4-BE49-F238E27FC236}">
                <a16:creationId xmlns:a16="http://schemas.microsoft.com/office/drawing/2014/main" id="{AE14A997-C1EC-421E-9AF5-D22C7E13B292}"/>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560A2CA7-48E1-4FC2-930C-812B239D85F7}"/>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92958D0C-10C4-4659-83CE-BBB4234869C6}"/>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06</a:t>
            </a:r>
          </a:p>
        </p:txBody>
      </p:sp>
      <p:sp>
        <p:nvSpPr>
          <p:cNvPr id="5" name="">
            <a:extLst xmlns:a="http://schemas.openxmlformats.org/drawingml/2006/main">
              <a:ext uri="{FF2B5EF4-FFF2-40B4-BE49-F238E27FC236}">
                <a16:creationId xmlns:a16="http://schemas.microsoft.com/office/drawing/2014/main" id="{3D898DB9-D2B4-4ADA-8C64-816AC4317C2A}"/>
              </a:ext>
            </a:extLst>
          </p:cNvPr>
          <p:cNvSpPr>
            <a:spLocks xmlns:a="http://schemas.openxmlformats.org/drawingml/2006/main" noGrp="1"/>
          </p:cNvSpPr>
          <p:nvPr/>
        </p:nvSpPr>
        <p:spPr>
          <a:xfrm xmlns:a="http://schemas.openxmlformats.org/drawingml/2006/main">
            <a:off x="457200" y="1123950"/>
            <a:ext cx="8096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0" i="0">
                <a:solidFill>
                  <a:srgbClr val="5F6B7A"/>
                </a:solidFill>
                <a:latin typeface="Aptos"/>
                <a:ea typeface="Aptos"/>
                <a:cs typeface="Aptos"/>
              </a:defRPr>
            </a:pPr>
            <a:r>
              <a:rPr sz="1875" b="0" i="0">
                <a:solidFill>
                  <a:srgbClr val="5F6B7A"/>
                </a:solidFill>
                <a:latin typeface="Aptos"/>
                <a:ea typeface="Aptos"/>
                <a:cs typeface="Aptos"/>
              </a:rPr>
              <a:t>The same frozen simulator gives three very different answers.</a:t>
            </a:r>
          </a:p>
        </p:txBody>
      </p:sp>
      <p:sp>
        <p:nvSpPr>
          <p:cNvPr id="6" name="">
            <a:extLst xmlns:a="http://schemas.openxmlformats.org/drawingml/2006/main">
              <a:ext uri="{FF2B5EF4-FFF2-40B4-BE49-F238E27FC236}">
                <a16:creationId xmlns:a16="http://schemas.microsoft.com/office/drawing/2014/main" id="{AA36728F-A108-4A6F-823A-454151425254}"/>
              </a:ext>
            </a:extLst>
          </p:cNvPr>
          <p:cNvSpPr>
            <a:spLocks xmlns:a="http://schemas.openxmlformats.org/drawingml/2006/main" noGrp="1"/>
          </p:cNvSpPr>
          <p:nvPr/>
        </p:nvSpPr>
        <p:spPr>
          <a:xfrm xmlns:a="http://schemas.openxmlformats.org/drawingml/2006/main">
            <a:off x="523875" y="1866900"/>
            <a:ext cx="3486150" cy="2781300"/>
          </a:xfrm>
          <a:prstGeom xmlns:a="http://schemas.openxmlformats.org/drawingml/2006/main" prst="roundRect">
            <a:avLst>
              <a:gd name="adj" fmla="val 4110"/>
            </a:avLst>
          </a:prstGeom>
          <a:solidFill xmlns:a="http://schemas.openxmlformats.org/drawingml/2006/main">
            <a:srgbClr val="EAF8F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D0B2BCE-1134-4087-8BB7-7036534189C7}"/>
              </a:ext>
            </a:extLst>
          </p:cNvPr>
          <p:cNvSpPr>
            <a:spLocks xmlns:a="http://schemas.openxmlformats.org/drawingml/2006/main" noGrp="1"/>
          </p:cNvSpPr>
          <p:nvPr/>
        </p:nvSpPr>
        <p:spPr>
          <a:xfrm xmlns:a="http://schemas.openxmlformats.org/drawingml/2006/main">
            <a:off x="523875" y="1866900"/>
            <a:ext cx="66675" cy="2781300"/>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8" name="">
            <a:extLst xmlns:a="http://schemas.openxmlformats.org/drawingml/2006/main">
              <a:ext uri="{FF2B5EF4-FFF2-40B4-BE49-F238E27FC236}">
                <a16:creationId xmlns:a16="http://schemas.microsoft.com/office/drawing/2014/main" id="{CBC17C9C-96AD-450E-A6AA-BAA32DC96D7B}"/>
              </a:ext>
            </a:extLst>
          </p:cNvPr>
          <p:cNvSpPr>
            <a:spLocks xmlns:a="http://schemas.openxmlformats.org/drawingml/2006/main" noGrp="1"/>
          </p:cNvSpPr>
          <p:nvPr/>
        </p:nvSpPr>
        <p:spPr>
          <a:xfrm xmlns:a="http://schemas.openxmlformats.org/drawingml/2006/main">
            <a:off x="771525" y="2057400"/>
            <a:ext cx="2990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16876A"/>
                </a:solidFill>
                <a:latin typeface="Aptos"/>
                <a:ea typeface="Aptos"/>
                <a:cs typeface="Aptos"/>
              </a:defRPr>
            </a:pPr>
            <a:r>
              <a:rPr sz="3450" b="1" i="0">
                <a:solidFill>
                  <a:srgbClr val="16876A"/>
                </a:solidFill>
                <a:latin typeface="Aptos"/>
                <a:ea typeface="Aptos"/>
                <a:cs typeface="Aptos"/>
              </a:rPr>
              <a:t>0.072 min</a:t>
            </a:r>
          </a:p>
        </p:txBody>
      </p:sp>
      <p:sp>
        <p:nvSpPr>
          <p:cNvPr id="9" name="">
            <a:extLst xmlns:a="http://schemas.openxmlformats.org/drawingml/2006/main">
              <a:ext uri="{FF2B5EF4-FFF2-40B4-BE49-F238E27FC236}">
                <a16:creationId xmlns:a16="http://schemas.microsoft.com/office/drawing/2014/main" id="{5D48EDF9-A43E-42D0-A870-BF5A3C8D934D}"/>
              </a:ext>
            </a:extLst>
          </p:cNvPr>
          <p:cNvSpPr>
            <a:spLocks xmlns:a="http://schemas.openxmlformats.org/drawingml/2006/main" noGrp="1"/>
          </p:cNvSpPr>
          <p:nvPr/>
        </p:nvSpPr>
        <p:spPr>
          <a:xfrm xmlns:a="http://schemas.openxmlformats.org/drawingml/2006/main">
            <a:off x="771525" y="266700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Inter-arrival EMD</a:t>
            </a:r>
          </a:p>
        </p:txBody>
      </p:sp>
      <p:sp>
        <p:nvSpPr>
          <p:cNvPr id="10" name="">
            <a:extLst xmlns:a="http://schemas.openxmlformats.org/drawingml/2006/main">
              <a:ext uri="{FF2B5EF4-FFF2-40B4-BE49-F238E27FC236}">
                <a16:creationId xmlns:a16="http://schemas.microsoft.com/office/drawing/2014/main" id="{5BF3A276-3B94-45A0-B34B-5C9A1310916A}"/>
              </a:ext>
            </a:extLst>
          </p:cNvPr>
          <p:cNvSpPr>
            <a:spLocks xmlns:a="http://schemas.openxmlformats.org/drawingml/2006/main" noGrp="1"/>
          </p:cNvSpPr>
          <p:nvPr/>
        </p:nvSpPr>
        <p:spPr>
          <a:xfrm xmlns:a="http://schemas.openxmlformats.org/drawingml/2006/main">
            <a:off x="771525" y="4133850"/>
            <a:ext cx="2990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Arrival spacing is reproduced closely.</a:t>
            </a:r>
          </a:p>
        </p:txBody>
      </p:sp>
      <p:sp>
        <p:nvSpPr>
          <p:cNvPr id="11" name="">
            <a:extLst xmlns:a="http://schemas.openxmlformats.org/drawingml/2006/main">
              <a:ext uri="{FF2B5EF4-FFF2-40B4-BE49-F238E27FC236}">
                <a16:creationId xmlns:a16="http://schemas.microsoft.com/office/drawing/2014/main" id="{951B7BBA-FABE-4B62-B6F5-05AF42D288B2}"/>
              </a:ext>
            </a:extLst>
          </p:cNvPr>
          <p:cNvSpPr>
            <a:spLocks xmlns:a="http://schemas.openxmlformats.org/drawingml/2006/main" noGrp="1"/>
          </p:cNvSpPr>
          <p:nvPr/>
        </p:nvSpPr>
        <p:spPr>
          <a:xfrm xmlns:a="http://schemas.openxmlformats.org/drawingml/2006/main">
            <a:off x="4352925" y="1866900"/>
            <a:ext cx="3486150" cy="2781300"/>
          </a:xfrm>
          <a:prstGeom xmlns:a="http://schemas.openxmlformats.org/drawingml/2006/main" prst="roundRect">
            <a:avLst>
              <a:gd name="adj" fmla="val 4110"/>
            </a:avLst>
          </a:prstGeom>
          <a:solidFill xmlns:a="http://schemas.openxmlformats.org/drawingml/2006/main">
            <a:srgbClr val="EAF3F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0581377-7BC7-4FBB-8D9F-1B1C224BE99A}"/>
              </a:ext>
            </a:extLst>
          </p:cNvPr>
          <p:cNvSpPr>
            <a:spLocks xmlns:a="http://schemas.openxmlformats.org/drawingml/2006/main" noGrp="1"/>
          </p:cNvSpPr>
          <p:nvPr/>
        </p:nvSpPr>
        <p:spPr>
          <a:xfrm xmlns:a="http://schemas.openxmlformats.org/drawingml/2006/main">
            <a:off x="4352925" y="1866900"/>
            <a:ext cx="66675" cy="27813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3" name="">
            <a:extLst xmlns:a="http://schemas.openxmlformats.org/drawingml/2006/main">
              <a:ext uri="{FF2B5EF4-FFF2-40B4-BE49-F238E27FC236}">
                <a16:creationId xmlns:a16="http://schemas.microsoft.com/office/drawing/2014/main" id="{9B3328E7-3050-4DDA-BBC2-361AD0193698}"/>
              </a:ext>
            </a:extLst>
          </p:cNvPr>
          <p:cNvSpPr>
            <a:spLocks xmlns:a="http://schemas.openxmlformats.org/drawingml/2006/main" noGrp="1"/>
          </p:cNvSpPr>
          <p:nvPr/>
        </p:nvSpPr>
        <p:spPr>
          <a:xfrm xmlns:a="http://schemas.openxmlformats.org/drawingml/2006/main">
            <a:off x="4600575" y="2057400"/>
            <a:ext cx="2990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2F80ED"/>
                </a:solidFill>
                <a:latin typeface="Aptos"/>
                <a:ea typeface="Aptos"/>
                <a:cs typeface="Aptos"/>
              </a:defRPr>
            </a:pPr>
            <a:r>
              <a:rPr sz="3450" b="1" i="0">
                <a:solidFill>
                  <a:srgbClr val="2F80ED"/>
                </a:solidFill>
                <a:latin typeface="Aptos"/>
                <a:ea typeface="Aptos"/>
                <a:cs typeface="Aptos"/>
              </a:rPr>
              <a:t>2.366 min</a:t>
            </a:r>
          </a:p>
        </p:txBody>
      </p:sp>
      <p:sp>
        <p:nvSpPr>
          <p:cNvPr id="14" name="">
            <a:extLst xmlns:a="http://schemas.openxmlformats.org/drawingml/2006/main">
              <a:ext uri="{FF2B5EF4-FFF2-40B4-BE49-F238E27FC236}">
                <a16:creationId xmlns:a16="http://schemas.microsoft.com/office/drawing/2014/main" id="{EF69D9B5-2D11-4147-9A86-FCFFBA8F142E}"/>
              </a:ext>
            </a:extLst>
          </p:cNvPr>
          <p:cNvSpPr>
            <a:spLocks xmlns:a="http://schemas.openxmlformats.org/drawingml/2006/main" noGrp="1"/>
          </p:cNvSpPr>
          <p:nvPr/>
        </p:nvSpPr>
        <p:spPr>
          <a:xfrm xmlns:a="http://schemas.openxmlformats.org/drawingml/2006/main">
            <a:off x="4600575" y="266700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Weighted yard-service EMD</a:t>
            </a:r>
          </a:p>
        </p:txBody>
      </p:sp>
      <p:sp>
        <p:nvSpPr>
          <p:cNvPr id="15" name="">
            <a:extLst xmlns:a="http://schemas.openxmlformats.org/drawingml/2006/main">
              <a:ext uri="{FF2B5EF4-FFF2-40B4-BE49-F238E27FC236}">
                <a16:creationId xmlns:a16="http://schemas.microsoft.com/office/drawing/2014/main" id="{EF10C627-E3F8-4C96-9A8F-103F3BB746B3}"/>
              </a:ext>
            </a:extLst>
          </p:cNvPr>
          <p:cNvSpPr>
            <a:spLocks xmlns:a="http://schemas.openxmlformats.org/drawingml/2006/main" noGrp="1"/>
          </p:cNvSpPr>
          <p:nvPr/>
        </p:nvSpPr>
        <p:spPr>
          <a:xfrm xmlns:a="http://schemas.openxmlformats.org/drawingml/2006/main">
            <a:off x="4600575" y="4133850"/>
            <a:ext cx="2990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Common activities dominate the aggregate.</a:t>
            </a:r>
          </a:p>
        </p:txBody>
      </p:sp>
      <p:sp>
        <p:nvSpPr>
          <p:cNvPr id="16" name="">
            <a:extLst xmlns:a="http://schemas.openxmlformats.org/drawingml/2006/main">
              <a:ext uri="{FF2B5EF4-FFF2-40B4-BE49-F238E27FC236}">
                <a16:creationId xmlns:a16="http://schemas.microsoft.com/office/drawing/2014/main" id="{49BE90C7-8D99-4E4E-B533-8072A572D069}"/>
              </a:ext>
            </a:extLst>
          </p:cNvPr>
          <p:cNvSpPr>
            <a:spLocks xmlns:a="http://schemas.openxmlformats.org/drawingml/2006/main" noGrp="1"/>
          </p:cNvSpPr>
          <p:nvPr/>
        </p:nvSpPr>
        <p:spPr>
          <a:xfrm xmlns:a="http://schemas.openxmlformats.org/drawingml/2006/main">
            <a:off x="8181975" y="1866900"/>
            <a:ext cx="3486150" cy="2781300"/>
          </a:xfrm>
          <a:prstGeom xmlns:a="http://schemas.openxmlformats.org/drawingml/2006/main" prst="roundRect">
            <a:avLst>
              <a:gd name="adj" fmla="val 4110"/>
            </a:avLst>
          </a:prstGeom>
          <a:solidFill xmlns:a="http://schemas.openxmlformats.org/drawingml/2006/main">
            <a:srgbClr val="FDECE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949E1C4-3E27-4B22-8DBF-F5AFCB60C18D}"/>
              </a:ext>
            </a:extLst>
          </p:cNvPr>
          <p:cNvSpPr>
            <a:spLocks xmlns:a="http://schemas.openxmlformats.org/drawingml/2006/main" noGrp="1"/>
          </p:cNvSpPr>
          <p:nvPr/>
        </p:nvSpPr>
        <p:spPr>
          <a:xfrm xmlns:a="http://schemas.openxmlformats.org/drawingml/2006/main">
            <a:off x="8181975" y="1866900"/>
            <a:ext cx="66675" cy="27813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18" name="">
            <a:extLst xmlns:a="http://schemas.openxmlformats.org/drawingml/2006/main">
              <a:ext uri="{FF2B5EF4-FFF2-40B4-BE49-F238E27FC236}">
                <a16:creationId xmlns:a16="http://schemas.microsoft.com/office/drawing/2014/main" id="{BF61D36F-1344-451A-87C5-7E2DF8961296}"/>
              </a:ext>
            </a:extLst>
          </p:cNvPr>
          <p:cNvSpPr>
            <a:spLocks xmlns:a="http://schemas.openxmlformats.org/drawingml/2006/main" noGrp="1"/>
          </p:cNvSpPr>
          <p:nvPr/>
        </p:nvSpPr>
        <p:spPr>
          <a:xfrm xmlns:a="http://schemas.openxmlformats.org/drawingml/2006/main">
            <a:off x="8429625" y="2057400"/>
            <a:ext cx="2990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8102E"/>
                </a:solidFill>
                <a:latin typeface="Aptos"/>
                <a:ea typeface="Aptos"/>
                <a:cs typeface="Aptos"/>
              </a:defRPr>
            </a:pPr>
            <a:r>
              <a:rPr sz="3450" b="1" i="0">
                <a:solidFill>
                  <a:srgbClr val="C8102E"/>
                </a:solidFill>
                <a:latin typeface="Aptos"/>
                <a:ea typeface="Aptos"/>
                <a:cs typeface="Aptos"/>
              </a:rPr>
              <a:t>8.180 min</a:t>
            </a:r>
          </a:p>
        </p:txBody>
      </p:sp>
      <p:sp>
        <p:nvSpPr>
          <p:cNvPr id="19" name="">
            <a:extLst xmlns:a="http://schemas.openxmlformats.org/drawingml/2006/main">
              <a:ext uri="{FF2B5EF4-FFF2-40B4-BE49-F238E27FC236}">
                <a16:creationId xmlns:a16="http://schemas.microsoft.com/office/drawing/2014/main" id="{2B093A5A-3E0E-43D8-8CBA-3B7236D13D51}"/>
              </a:ext>
            </a:extLst>
          </p:cNvPr>
          <p:cNvSpPr>
            <a:spLocks xmlns:a="http://schemas.openxmlformats.org/drawingml/2006/main" noGrp="1"/>
          </p:cNvSpPr>
          <p:nvPr/>
        </p:nvSpPr>
        <p:spPr>
          <a:xfrm xmlns:a="http://schemas.openxmlformats.org/drawingml/2006/main">
            <a:off x="8429625" y="266700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Turnaround EMD</a:t>
            </a:r>
          </a:p>
        </p:txBody>
      </p:sp>
      <p:sp>
        <p:nvSpPr>
          <p:cNvPr id="20" name="">
            <a:extLst xmlns:a="http://schemas.openxmlformats.org/drawingml/2006/main">
              <a:ext uri="{FF2B5EF4-FFF2-40B4-BE49-F238E27FC236}">
                <a16:creationId xmlns:a16="http://schemas.microsoft.com/office/drawing/2014/main" id="{E70A7D10-675F-4D82-A86E-5857844D7515}"/>
              </a:ext>
            </a:extLst>
          </p:cNvPr>
          <p:cNvSpPr>
            <a:spLocks xmlns:a="http://schemas.openxmlformats.org/drawingml/2006/main" noGrp="1"/>
          </p:cNvSpPr>
          <p:nvPr/>
        </p:nvSpPr>
        <p:spPr>
          <a:xfrm xmlns:a="http://schemas.openxmlformats.org/drawingml/2006/main">
            <a:off x="8429625" y="4133850"/>
            <a:ext cx="2990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The complete visit remains biased.</a:t>
            </a:r>
          </a:p>
        </p:txBody>
      </p:sp>
      <p:sp>
        <p:nvSpPr>
          <p:cNvPr id="21" name="">
            <a:extLst xmlns:a="http://schemas.openxmlformats.org/drawingml/2006/main">
              <a:ext uri="{FF2B5EF4-FFF2-40B4-BE49-F238E27FC236}">
                <a16:creationId xmlns:a16="http://schemas.microsoft.com/office/drawing/2014/main" id="{9EE977F6-5D00-4FD4-8ECA-BA0380F5FA96}"/>
              </a:ext>
            </a:extLst>
          </p:cNvPr>
          <p:cNvSpPr>
            <a:spLocks xmlns:a="http://schemas.openxmlformats.org/drawingml/2006/main" noGrp="1"/>
          </p:cNvSpPr>
          <p:nvPr/>
        </p:nvSpPr>
        <p:spPr>
          <a:xfrm xmlns:a="http://schemas.openxmlformats.org/drawingml/2006/main">
            <a:off x="1733550" y="5048250"/>
            <a:ext cx="8724900" cy="819150"/>
          </a:xfrm>
          <a:prstGeom xmlns:a="http://schemas.openxmlformats.org/drawingml/2006/main" prst="roundRect">
            <a:avLst>
              <a:gd name="adj" fmla="val 13953"/>
            </a:avLst>
          </a:prstGeom>
          <a:solidFill xmlns:a="http://schemas.openxmlformats.org/drawingml/2006/main">
            <a:srgbClr val="F8FAF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4A4794E-6F18-40DF-BFAD-0CB3DBD9E5CB}"/>
              </a:ext>
            </a:extLst>
          </p:cNvPr>
          <p:cNvSpPr>
            <a:spLocks xmlns:a="http://schemas.openxmlformats.org/drawingml/2006/main" noGrp="1"/>
          </p:cNvSpPr>
          <p:nvPr/>
        </p:nvSpPr>
        <p:spPr>
          <a:xfrm xmlns:a="http://schemas.openxmlformats.org/drawingml/2006/main">
            <a:off x="2000250" y="5229225"/>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i="0">
                <a:solidFill>
                  <a:srgbClr val="C8102E"/>
                </a:solidFill>
                <a:latin typeface="Aptos"/>
                <a:ea typeface="Aptos"/>
                <a:cs typeface="Aptos"/>
              </a:defRPr>
            </a:pPr>
            <a:r>
              <a:rPr sz="1350" b="1" i="0">
                <a:solidFill>
                  <a:srgbClr val="C8102E"/>
                </a:solidFill>
                <a:latin typeface="Aptos"/>
                <a:ea typeface="Aptos"/>
                <a:cs typeface="Aptos"/>
              </a:rPr>
              <a:t>Interpretation</a:t>
            </a:r>
          </a:p>
        </p:txBody>
      </p:sp>
      <p:sp>
        <p:nvSpPr>
          <p:cNvPr id="23" name="">
            <a:extLst xmlns:a="http://schemas.openxmlformats.org/drawingml/2006/main">
              <a:ext uri="{FF2B5EF4-FFF2-40B4-BE49-F238E27FC236}">
                <a16:creationId xmlns:a16="http://schemas.microsoft.com/office/drawing/2014/main" id="{F6C069EB-7684-4E1E-B902-18216A514385}"/>
              </a:ext>
            </a:extLst>
          </p:cNvPr>
          <p:cNvSpPr>
            <a:spLocks xmlns:a="http://schemas.openxmlformats.org/drawingml/2006/main" noGrp="1"/>
          </p:cNvSpPr>
          <p:nvPr/>
        </p:nvSpPr>
        <p:spPr>
          <a:xfrm xmlns:a="http://schemas.openxmlformats.org/drawingml/2006/main">
            <a:off x="3486150" y="5181600"/>
            <a:ext cx="6629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Accurate components do not guarantee an accurate system-level KPI.</a:t>
            </a:r>
          </a:p>
        </p:txBody>
      </p:sp>
    </p:spTree>
    <p:extLst>
      <p:ext uri="{BB962C8B-B14F-4D97-AF65-F5344CB8AC3E}">
        <p14:creationId xmlns:p14="http://schemas.microsoft.com/office/powerpoint/2010/main" val="9575515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AE95C0E-9566-4A64-A102-752B11BF3F6E}"/>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Turnaround is systematically too short</a:t>
            </a:r>
          </a:p>
        </p:txBody>
      </p:sp>
      <p:sp>
        <p:nvSpPr>
          <p:cNvPr id="2" name="">
            <a:extLst xmlns:a="http://schemas.openxmlformats.org/drawingml/2006/main">
              <a:ext uri="{FF2B5EF4-FFF2-40B4-BE49-F238E27FC236}">
                <a16:creationId xmlns:a16="http://schemas.microsoft.com/office/drawing/2014/main" id="{65135B09-4E8B-46C3-8AE9-37A7ABD0294E}"/>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1C54DDEC-2E08-4624-AB29-68BF13DA9914}"/>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CEDD260E-349F-4BDC-907E-83B68F461616}"/>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07</a:t>
            </a:r>
          </a:p>
        </p:txBody>
      </p:sp>
      <p:sp>
        <p:nvSpPr>
          <p:cNvPr id="5" name="">
            <a:extLst xmlns:a="http://schemas.openxmlformats.org/drawingml/2006/main">
              <a:ext uri="{FF2B5EF4-FFF2-40B4-BE49-F238E27FC236}">
                <a16:creationId xmlns:a16="http://schemas.microsoft.com/office/drawing/2014/main" id="{A775B59B-6258-423E-AE8B-FC7783B1691F}"/>
              </a:ext>
            </a:extLst>
          </p:cNvPr>
          <p:cNvSpPr>
            <a:spLocks xmlns:a="http://schemas.openxmlformats.org/drawingml/2006/main" noGrp="1"/>
          </p:cNvSpPr>
          <p:nvPr/>
        </p:nvSpPr>
        <p:spPr>
          <a:xfrm xmlns:a="http://schemas.openxmlformats.org/drawingml/2006/main">
            <a:off x="457200" y="1219200"/>
            <a:ext cx="6953250" cy="4762500"/>
          </a:xfrm>
          <a:prstGeom xmlns:a="http://schemas.openxmlformats.org/drawingml/2006/main" prst="roundRect">
            <a:avLst>
              <a:gd name="adj" fmla="val 2400"/>
            </a:avLst>
          </a:prstGeom>
          <a:solidFill xmlns:a="http://schemas.openxmlformats.org/drawingml/2006/main">
            <a:srgbClr val="F8FAFC"/>
          </a:solidFill>
          <a:ln xmlns:a="http://schemas.openxmlformats.org/drawingml/2006/main" w="0">
            <a:noFill/>
            <a:prstDash val="solid"/>
          </a:ln>
        </p:spPr>
      </p:sp>
      <p:graphicFrame>
        <p:nvGraphicFramePr>
          <p:cNvPr id="23" name="Chart"/>
          <p:cNvGraphicFramePr/>
          <p:nvPr/>
        </p:nvGraphicFramePr>
        <p:xfrm>
          <a:off xmlns:a="http://schemas.openxmlformats.org/drawingml/2006/main" x="742950" y="1562100"/>
          <a:ext xmlns:a="http://schemas.openxmlformats.org/drawingml/2006/main" cx="6381750" cy="3905250"/>
        </p:xfrm>
        <a:graphic xmlns:a="http://schemas.openxmlformats.org/drawingml/2006/main">
          <a:graphicData uri="http://schemas.openxmlformats.org/drawingml/2006/chart">
            <c:chart xmlns:r="http://schemas.openxmlformats.org/officeDocument/2006/relationships" xmlns:c="http://schemas.openxmlformats.org/drawingml/2006/chart" r:id="R95b70ac00bae4d57"/>
          </a:graphicData>
        </a:graphic>
      </p:graphicFrame>
      <p:sp>
        <p:nvSpPr>
          <p:cNvPr id="7" name="">
            <a:extLst xmlns:a="http://schemas.openxmlformats.org/drawingml/2006/main">
              <a:ext uri="{FF2B5EF4-FFF2-40B4-BE49-F238E27FC236}">
                <a16:creationId xmlns:a16="http://schemas.microsoft.com/office/drawing/2014/main" id="{CD54705E-FB34-489F-828E-0DB4EC841F13}"/>
              </a:ext>
            </a:extLst>
          </p:cNvPr>
          <p:cNvSpPr>
            <a:spLocks xmlns:a="http://schemas.openxmlformats.org/drawingml/2006/main" noGrp="1"/>
          </p:cNvSpPr>
          <p:nvPr/>
        </p:nvSpPr>
        <p:spPr>
          <a:xfrm xmlns:a="http://schemas.openxmlformats.org/drawingml/2006/main">
            <a:off x="7810500" y="1276350"/>
            <a:ext cx="3848100" cy="1857375"/>
          </a:xfrm>
          <a:prstGeom xmlns:a="http://schemas.openxmlformats.org/drawingml/2006/main" prst="roundRect">
            <a:avLst>
              <a:gd name="adj" fmla="val 6154"/>
            </a:avLst>
          </a:prstGeom>
          <a:solidFill xmlns:a="http://schemas.openxmlformats.org/drawingml/2006/main">
            <a:srgbClr val="FDECE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835683-9619-4BD8-AD20-00CB0F39113B}"/>
              </a:ext>
            </a:extLst>
          </p:cNvPr>
          <p:cNvSpPr>
            <a:spLocks xmlns:a="http://schemas.openxmlformats.org/drawingml/2006/main" noGrp="1"/>
          </p:cNvSpPr>
          <p:nvPr/>
        </p:nvSpPr>
        <p:spPr>
          <a:xfrm xmlns:a="http://schemas.openxmlformats.org/drawingml/2006/main">
            <a:off x="7810500" y="1276350"/>
            <a:ext cx="66675" cy="1857375"/>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9" name="">
            <a:extLst xmlns:a="http://schemas.openxmlformats.org/drawingml/2006/main">
              <a:ext uri="{FF2B5EF4-FFF2-40B4-BE49-F238E27FC236}">
                <a16:creationId xmlns:a16="http://schemas.microsoft.com/office/drawing/2014/main" id="{AF9E302A-F2BF-4F39-9807-4FE753600953}"/>
              </a:ext>
            </a:extLst>
          </p:cNvPr>
          <p:cNvSpPr>
            <a:spLocks xmlns:a="http://schemas.openxmlformats.org/drawingml/2006/main" noGrp="1"/>
          </p:cNvSpPr>
          <p:nvPr/>
        </p:nvSpPr>
        <p:spPr>
          <a:xfrm xmlns:a="http://schemas.openxmlformats.org/drawingml/2006/main">
            <a:off x="8058150" y="146685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8102E"/>
                </a:solidFill>
                <a:latin typeface="Aptos"/>
                <a:ea typeface="Aptos"/>
                <a:cs typeface="Aptos"/>
              </a:defRPr>
            </a:pPr>
            <a:r>
              <a:rPr sz="3450" b="1" i="0">
                <a:solidFill>
                  <a:srgbClr val="C8102E"/>
                </a:solidFill>
                <a:latin typeface="Aptos"/>
                <a:ea typeface="Aptos"/>
                <a:cs typeface="Aptos"/>
              </a:rPr>
              <a:t>−8.17 min</a:t>
            </a:r>
          </a:p>
        </p:txBody>
      </p:sp>
      <p:sp>
        <p:nvSpPr>
          <p:cNvPr id="10" name="">
            <a:extLst xmlns:a="http://schemas.openxmlformats.org/drawingml/2006/main">
              <a:ext uri="{FF2B5EF4-FFF2-40B4-BE49-F238E27FC236}">
                <a16:creationId xmlns:a16="http://schemas.microsoft.com/office/drawing/2014/main" id="{7CCBB6FE-BB90-47D3-8002-8068AE70AAC1}"/>
              </a:ext>
            </a:extLst>
          </p:cNvPr>
          <p:cNvSpPr>
            <a:spLocks xmlns:a="http://schemas.openxmlformats.org/drawingml/2006/main" noGrp="1"/>
          </p:cNvSpPr>
          <p:nvPr/>
        </p:nvSpPr>
        <p:spPr>
          <a:xfrm xmlns:a="http://schemas.openxmlformats.org/drawingml/2006/main">
            <a:off x="8058150" y="2076450"/>
            <a:ext cx="335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mean turnaround bias</a:t>
            </a:r>
          </a:p>
        </p:txBody>
      </p:sp>
      <p:sp>
        <p:nvSpPr>
          <p:cNvPr id="11" name="">
            <a:extLst xmlns:a="http://schemas.openxmlformats.org/drawingml/2006/main">
              <a:ext uri="{FF2B5EF4-FFF2-40B4-BE49-F238E27FC236}">
                <a16:creationId xmlns:a16="http://schemas.microsoft.com/office/drawing/2014/main" id="{8D88693C-6393-4AF3-B7E9-6CFA78B8E267}"/>
              </a:ext>
            </a:extLst>
          </p:cNvPr>
          <p:cNvSpPr>
            <a:spLocks xmlns:a="http://schemas.openxmlformats.org/drawingml/2006/main" noGrp="1"/>
          </p:cNvSpPr>
          <p:nvPr/>
        </p:nvSpPr>
        <p:spPr>
          <a:xfrm xmlns:a="http://schemas.openxmlformats.org/drawingml/2006/main">
            <a:off x="8058150" y="2619375"/>
            <a:ext cx="335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−20.56% versus the hold-out</a:t>
            </a:r>
          </a:p>
        </p:txBody>
      </p:sp>
      <p:sp>
        <p:nvSpPr>
          <p:cNvPr id="12" name="">
            <a:extLst xmlns:a="http://schemas.openxmlformats.org/drawingml/2006/main">
              <a:ext uri="{FF2B5EF4-FFF2-40B4-BE49-F238E27FC236}">
                <a16:creationId xmlns:a16="http://schemas.microsoft.com/office/drawing/2014/main" id="{849701FB-F6A5-4165-B885-D51F45C16400}"/>
              </a:ext>
            </a:extLst>
          </p:cNvPr>
          <p:cNvSpPr>
            <a:spLocks xmlns:a="http://schemas.openxmlformats.org/drawingml/2006/main" noGrp="1"/>
          </p:cNvSpPr>
          <p:nvPr/>
        </p:nvSpPr>
        <p:spPr>
          <a:xfrm xmlns:a="http://schemas.openxmlformats.org/drawingml/2006/main">
            <a:off x="7810500" y="3371850"/>
            <a:ext cx="3848100" cy="1857375"/>
          </a:xfrm>
          <a:prstGeom xmlns:a="http://schemas.openxmlformats.org/drawingml/2006/main" prst="roundRect">
            <a:avLst>
              <a:gd name="adj" fmla="val 6154"/>
            </a:avLst>
          </a:prstGeom>
          <a:solidFill xmlns:a="http://schemas.openxmlformats.org/drawingml/2006/main">
            <a:srgbClr val="FDECE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53D21AB-2B92-4D73-9005-67C4A26D8EDB}"/>
              </a:ext>
            </a:extLst>
          </p:cNvPr>
          <p:cNvSpPr>
            <a:spLocks xmlns:a="http://schemas.openxmlformats.org/drawingml/2006/main" noGrp="1"/>
          </p:cNvSpPr>
          <p:nvPr/>
        </p:nvSpPr>
        <p:spPr>
          <a:xfrm xmlns:a="http://schemas.openxmlformats.org/drawingml/2006/main">
            <a:off x="7810500" y="3371850"/>
            <a:ext cx="66675" cy="1857375"/>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14" name="">
            <a:extLst xmlns:a="http://schemas.openxmlformats.org/drawingml/2006/main">
              <a:ext uri="{FF2B5EF4-FFF2-40B4-BE49-F238E27FC236}">
                <a16:creationId xmlns:a16="http://schemas.microsoft.com/office/drawing/2014/main" id="{585EFF86-EF73-4736-86F3-19A9A5CAE1A9}"/>
              </a:ext>
            </a:extLst>
          </p:cNvPr>
          <p:cNvSpPr>
            <a:spLocks xmlns:a="http://schemas.openxmlformats.org/drawingml/2006/main" noGrp="1"/>
          </p:cNvSpPr>
          <p:nvPr/>
        </p:nvSpPr>
        <p:spPr>
          <a:xfrm xmlns:a="http://schemas.openxmlformats.org/drawingml/2006/main">
            <a:off x="8058150" y="356235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8102E"/>
                </a:solidFill>
                <a:latin typeface="Aptos"/>
                <a:ea typeface="Aptos"/>
                <a:cs typeface="Aptos"/>
              </a:defRPr>
            </a:pPr>
            <a:r>
              <a:rPr sz="3450" b="1" i="0">
                <a:solidFill>
                  <a:srgbClr val="C8102E"/>
                </a:solidFill>
                <a:latin typeface="Aptos"/>
                <a:ea typeface="Aptos"/>
                <a:cs typeface="Aptos"/>
              </a:rPr>
              <a:t>−17.31 min</a:t>
            </a:r>
          </a:p>
        </p:txBody>
      </p:sp>
      <p:sp>
        <p:nvSpPr>
          <p:cNvPr id="15" name="">
            <a:extLst xmlns:a="http://schemas.openxmlformats.org/drawingml/2006/main">
              <a:ext uri="{FF2B5EF4-FFF2-40B4-BE49-F238E27FC236}">
                <a16:creationId xmlns:a16="http://schemas.microsoft.com/office/drawing/2014/main" id="{5CFE96F0-3D62-448D-8043-5ADC8C22AB63}"/>
              </a:ext>
            </a:extLst>
          </p:cNvPr>
          <p:cNvSpPr>
            <a:spLocks xmlns:a="http://schemas.openxmlformats.org/drawingml/2006/main" noGrp="1"/>
          </p:cNvSpPr>
          <p:nvPr/>
        </p:nvSpPr>
        <p:spPr>
          <a:xfrm xmlns:a="http://schemas.openxmlformats.org/drawingml/2006/main">
            <a:off x="8058150" y="4171950"/>
            <a:ext cx="335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P90 turnaround bias</a:t>
            </a:r>
          </a:p>
        </p:txBody>
      </p:sp>
      <p:sp>
        <p:nvSpPr>
          <p:cNvPr id="16" name="">
            <a:extLst xmlns:a="http://schemas.openxmlformats.org/drawingml/2006/main">
              <a:ext uri="{FF2B5EF4-FFF2-40B4-BE49-F238E27FC236}">
                <a16:creationId xmlns:a16="http://schemas.microsoft.com/office/drawing/2014/main" id="{58F5F597-285D-4326-8F4B-F3DF618E70F4}"/>
              </a:ext>
            </a:extLst>
          </p:cNvPr>
          <p:cNvSpPr>
            <a:spLocks xmlns:a="http://schemas.openxmlformats.org/drawingml/2006/main" noGrp="1"/>
          </p:cNvSpPr>
          <p:nvPr/>
        </p:nvSpPr>
        <p:spPr>
          <a:xfrm xmlns:a="http://schemas.openxmlformats.org/drawingml/2006/main">
            <a:off x="8058150" y="4714875"/>
            <a:ext cx="3352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−24.38% in the upper tail</a:t>
            </a:r>
          </a:p>
        </p:txBody>
      </p:sp>
      <p:sp>
        <p:nvSpPr>
          <p:cNvPr id="17" name="">
            <a:extLst xmlns:a="http://schemas.openxmlformats.org/drawingml/2006/main">
              <a:ext uri="{FF2B5EF4-FFF2-40B4-BE49-F238E27FC236}">
                <a16:creationId xmlns:a16="http://schemas.microsoft.com/office/drawing/2014/main" id="{8C587094-3F45-4884-9521-24F5F197678B}"/>
              </a:ext>
            </a:extLst>
          </p:cNvPr>
          <p:cNvSpPr>
            <a:spLocks xmlns:a="http://schemas.openxmlformats.org/drawingml/2006/main" noGrp="1"/>
          </p:cNvSpPr>
          <p:nvPr/>
        </p:nvSpPr>
        <p:spPr>
          <a:xfrm xmlns:a="http://schemas.openxmlformats.org/drawingml/2006/main">
            <a:off x="7810500" y="5429250"/>
            <a:ext cx="3848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i="0">
                <a:solidFill>
                  <a:srgbClr val="5F6B7A"/>
                </a:solidFill>
                <a:latin typeface="Aptos"/>
                <a:ea typeface="Aptos"/>
                <a:cs typeface="Aptos"/>
              </a:defRPr>
            </a:pPr>
            <a:r>
              <a:rPr sz="1575" b="1" i="0">
                <a:solidFill>
                  <a:srgbClr val="5F6B7A"/>
                </a:solidFill>
                <a:latin typeface="Aptos"/>
                <a:ea typeface="Aptos"/>
                <a:cs typeface="Aptos"/>
              </a:rPr>
              <a:t>Narrow seed intervals show stable simulation output—not a correct model.</a:t>
            </a:r>
          </a:p>
        </p:txBody>
      </p:sp>
    </p:spTree>
    <p:extLst>
      <p:ext uri="{BB962C8B-B14F-4D97-AF65-F5344CB8AC3E}">
        <p14:creationId xmlns:p14="http://schemas.microsoft.com/office/powerpoint/2010/main" val="3154274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E27E6CD-C614-4D00-B50E-67EB517E3436}"/>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More context does not uniformly improve fidelity</a:t>
            </a:r>
          </a:p>
        </p:txBody>
      </p:sp>
      <p:sp>
        <p:nvSpPr>
          <p:cNvPr id="2" name="">
            <a:extLst xmlns:a="http://schemas.openxmlformats.org/drawingml/2006/main">
              <a:ext uri="{FF2B5EF4-FFF2-40B4-BE49-F238E27FC236}">
                <a16:creationId xmlns:a16="http://schemas.microsoft.com/office/drawing/2014/main" id="{159D9C8F-CB1B-436D-925B-BAB3F357634C}"/>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BE767EFC-5F7C-448F-B3FA-260E29C22568}"/>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61F8B40F-1470-4CF5-91E9-DB49E83D0295}"/>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08</a:t>
            </a:r>
          </a:p>
        </p:txBody>
      </p:sp>
      <p:sp>
        <p:nvSpPr>
          <p:cNvPr id="5" name="">
            <a:extLst xmlns:a="http://schemas.openxmlformats.org/drawingml/2006/main">
              <a:ext uri="{FF2B5EF4-FFF2-40B4-BE49-F238E27FC236}">
                <a16:creationId xmlns:a16="http://schemas.microsoft.com/office/drawing/2014/main" id="{D7B96070-F01F-4355-A458-9ACAD5E6A0FC}"/>
              </a:ext>
            </a:extLst>
          </p:cNvPr>
          <p:cNvSpPr>
            <a:spLocks xmlns:a="http://schemas.openxmlformats.org/drawingml/2006/main" noGrp="1"/>
          </p:cNvSpPr>
          <p:nvPr/>
        </p:nvSpPr>
        <p:spPr>
          <a:xfrm xmlns:a="http://schemas.openxmlformats.org/drawingml/2006/main">
            <a:off x="1038225" y="1247775"/>
            <a:ext cx="1905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5F6B7A"/>
                </a:solidFill>
                <a:latin typeface="Aptos"/>
                <a:ea typeface="Aptos"/>
                <a:cs typeface="Aptos"/>
              </a:defRPr>
            </a:pPr>
            <a:r>
              <a:rPr sz="1650" b="1" i="0">
                <a:solidFill>
                  <a:srgbClr val="5F6B7A"/>
                </a:solidFill>
                <a:latin typeface="Aptos"/>
                <a:ea typeface="Aptos"/>
                <a:cs typeface="Aptos"/>
              </a:rPr>
              <a:t>no-rules</a:t>
            </a:r>
          </a:p>
        </p:txBody>
      </p:sp>
      <p:sp>
        <p:nvSpPr>
          <p:cNvPr id="6" name="">
            <a:extLst xmlns:a="http://schemas.openxmlformats.org/drawingml/2006/main">
              <a:ext uri="{FF2B5EF4-FFF2-40B4-BE49-F238E27FC236}">
                <a16:creationId xmlns:a16="http://schemas.microsoft.com/office/drawing/2014/main" id="{14EF1C41-09B4-4157-A9D3-A3E468BFD33D}"/>
              </a:ext>
            </a:extLst>
          </p:cNvPr>
          <p:cNvSpPr>
            <a:spLocks xmlns:a="http://schemas.openxmlformats.org/drawingml/2006/main" noGrp="1"/>
          </p:cNvSpPr>
          <p:nvPr/>
        </p:nvSpPr>
        <p:spPr>
          <a:xfrm xmlns:a="http://schemas.openxmlformats.org/drawingml/2006/main">
            <a:off x="3819525" y="1247775"/>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2F80ED"/>
                </a:solidFill>
                <a:latin typeface="Aptos"/>
                <a:ea typeface="Aptos"/>
                <a:cs typeface="Aptos"/>
              </a:defRPr>
            </a:pPr>
            <a:r>
              <a:rPr sz="1650" b="1" i="0">
                <a:solidFill>
                  <a:srgbClr val="2F80ED"/>
                </a:solidFill>
                <a:latin typeface="Aptos"/>
                <a:ea typeface="Aptos"/>
                <a:cs typeface="Aptos"/>
              </a:rPr>
              <a:t>rules + workload</a:t>
            </a:r>
          </a:p>
        </p:txBody>
      </p:sp>
      <p:sp>
        <p:nvSpPr>
          <p:cNvPr id="7" name="">
            <a:extLst xmlns:a="http://schemas.openxmlformats.org/drawingml/2006/main">
              <a:ext uri="{FF2B5EF4-FFF2-40B4-BE49-F238E27FC236}">
                <a16:creationId xmlns:a16="http://schemas.microsoft.com/office/drawing/2014/main" id="{8B12085C-BC08-4E47-8B05-983FFEA111EE}"/>
              </a:ext>
            </a:extLst>
          </p:cNvPr>
          <p:cNvSpPr>
            <a:spLocks xmlns:a="http://schemas.openxmlformats.org/drawingml/2006/main" noGrp="1"/>
          </p:cNvSpPr>
          <p:nvPr/>
        </p:nvSpPr>
        <p:spPr>
          <a:xfrm xmlns:a="http://schemas.openxmlformats.org/drawingml/2006/main">
            <a:off x="457200" y="1752600"/>
            <a:ext cx="676275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CE7695-E75F-4870-A011-52C57D6DD2D8}"/>
              </a:ext>
            </a:extLst>
          </p:cNvPr>
          <p:cNvSpPr>
            <a:spLocks xmlns:a="http://schemas.openxmlformats.org/drawingml/2006/main" noGrp="1"/>
          </p:cNvSpPr>
          <p:nvPr/>
        </p:nvSpPr>
        <p:spPr>
          <a:xfrm xmlns:a="http://schemas.openxmlformats.org/drawingml/2006/main">
            <a:off x="666750" y="19716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Turnaround EMD</a:t>
            </a:r>
          </a:p>
        </p:txBody>
      </p:sp>
      <p:sp>
        <p:nvSpPr>
          <p:cNvPr id="9" name="">
            <a:extLst xmlns:a="http://schemas.openxmlformats.org/drawingml/2006/main">
              <a:ext uri="{FF2B5EF4-FFF2-40B4-BE49-F238E27FC236}">
                <a16:creationId xmlns:a16="http://schemas.microsoft.com/office/drawing/2014/main" id="{CD37DF1D-EDDA-498A-9E1A-6446A7D3B99B}"/>
              </a:ext>
            </a:extLst>
          </p:cNvPr>
          <p:cNvSpPr>
            <a:spLocks xmlns:a="http://schemas.openxmlformats.org/drawingml/2006/main" noGrp="1"/>
          </p:cNvSpPr>
          <p:nvPr/>
        </p:nvSpPr>
        <p:spPr>
          <a:xfrm xmlns:a="http://schemas.openxmlformats.org/drawingml/2006/main">
            <a:off x="3276600" y="19240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5F6B7A"/>
                </a:solidFill>
                <a:latin typeface="Aptos"/>
                <a:ea typeface="Aptos"/>
                <a:cs typeface="Aptos"/>
              </a:defRPr>
            </a:pPr>
            <a:r>
              <a:rPr sz="2100" b="1" i="0">
                <a:solidFill>
                  <a:srgbClr val="5F6B7A"/>
                </a:solidFill>
                <a:latin typeface="Aptos"/>
                <a:ea typeface="Aptos"/>
                <a:cs typeface="Aptos"/>
              </a:rPr>
              <a:t>7.996</a:t>
            </a:r>
          </a:p>
        </p:txBody>
      </p:sp>
      <p:sp>
        <p:nvSpPr>
          <p:cNvPr id="10" name="">
            <a:extLst xmlns:a="http://schemas.openxmlformats.org/drawingml/2006/main">
              <a:ext uri="{FF2B5EF4-FFF2-40B4-BE49-F238E27FC236}">
                <a16:creationId xmlns:a16="http://schemas.microsoft.com/office/drawing/2014/main" id="{971DC843-48B1-4794-8D58-5080EB568824}"/>
              </a:ext>
            </a:extLst>
          </p:cNvPr>
          <p:cNvSpPr>
            <a:spLocks xmlns:a="http://schemas.openxmlformats.org/drawingml/2006/main" noGrp="1"/>
          </p:cNvSpPr>
          <p:nvPr/>
        </p:nvSpPr>
        <p:spPr>
          <a:xfrm xmlns:a="http://schemas.openxmlformats.org/drawingml/2006/main">
            <a:off x="4619625" y="192405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75" b="1" i="0">
                <a:solidFill>
                  <a:srgbClr val="98A2B3"/>
                </a:solidFill>
                <a:latin typeface="Aptos"/>
                <a:ea typeface="Aptos"/>
                <a:cs typeface="Aptos"/>
              </a:defRPr>
            </a:pPr>
            <a:r>
              <a:rPr sz="2175" b="1" i="0">
                <a:solidFill>
                  <a:srgbClr val="98A2B3"/>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F590AA1A-978E-441C-8C13-F0213B20E3E2}"/>
              </a:ext>
            </a:extLst>
          </p:cNvPr>
          <p:cNvSpPr>
            <a:spLocks xmlns:a="http://schemas.openxmlformats.org/drawingml/2006/main" noGrp="1"/>
          </p:cNvSpPr>
          <p:nvPr/>
        </p:nvSpPr>
        <p:spPr>
          <a:xfrm xmlns:a="http://schemas.openxmlformats.org/drawingml/2006/main">
            <a:off x="5162550" y="19240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2F80ED"/>
                </a:solidFill>
                <a:latin typeface="Aptos"/>
                <a:ea typeface="Aptos"/>
                <a:cs typeface="Aptos"/>
              </a:defRPr>
            </a:pPr>
            <a:r>
              <a:rPr sz="2100" b="1" i="0">
                <a:solidFill>
                  <a:srgbClr val="2F80ED"/>
                </a:solidFill>
                <a:latin typeface="Aptos"/>
                <a:ea typeface="Aptos"/>
                <a:cs typeface="Aptos"/>
              </a:rPr>
              <a:t>8.131</a:t>
            </a:r>
          </a:p>
        </p:txBody>
      </p:sp>
      <p:sp>
        <p:nvSpPr>
          <p:cNvPr id="12" name="">
            <a:extLst xmlns:a="http://schemas.openxmlformats.org/drawingml/2006/main">
              <a:ext uri="{FF2B5EF4-FFF2-40B4-BE49-F238E27FC236}">
                <a16:creationId xmlns:a16="http://schemas.microsoft.com/office/drawing/2014/main" id="{F59CA28E-B6F9-462D-883C-D88E6366198E}"/>
              </a:ext>
            </a:extLst>
          </p:cNvPr>
          <p:cNvSpPr>
            <a:spLocks xmlns:a="http://schemas.openxmlformats.org/drawingml/2006/main" noGrp="1"/>
          </p:cNvSpPr>
          <p:nvPr/>
        </p:nvSpPr>
        <p:spPr>
          <a:xfrm xmlns:a="http://schemas.openxmlformats.org/drawingml/2006/main">
            <a:off x="6391275" y="1962150"/>
            <a:ext cx="704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i="0">
                <a:solidFill>
                  <a:srgbClr val="C8102E"/>
                </a:solidFill>
                <a:latin typeface="Aptos"/>
                <a:ea typeface="Aptos"/>
                <a:cs typeface="Aptos"/>
              </a:defRPr>
            </a:pPr>
            <a:r>
              <a:rPr sz="1350" b="1" i="0">
                <a:solidFill>
                  <a:srgbClr val="C8102E"/>
                </a:solidFill>
                <a:latin typeface="Aptos"/>
                <a:ea typeface="Aptos"/>
                <a:cs typeface="Aptos"/>
              </a:rPr>
              <a:t>+0.135 min</a:t>
            </a:r>
          </a:p>
        </p:txBody>
      </p:sp>
      <p:sp>
        <p:nvSpPr>
          <p:cNvPr id="13" name="">
            <a:extLst xmlns:a="http://schemas.openxmlformats.org/drawingml/2006/main">
              <a:ext uri="{FF2B5EF4-FFF2-40B4-BE49-F238E27FC236}">
                <a16:creationId xmlns:a16="http://schemas.microsoft.com/office/drawing/2014/main" id="{8FD4BF62-0087-47EE-B9EE-39D3FB5F691D}"/>
              </a:ext>
            </a:extLst>
          </p:cNvPr>
          <p:cNvSpPr>
            <a:spLocks xmlns:a="http://schemas.openxmlformats.org/drawingml/2006/main" noGrp="1"/>
          </p:cNvSpPr>
          <p:nvPr/>
        </p:nvSpPr>
        <p:spPr>
          <a:xfrm xmlns:a="http://schemas.openxmlformats.org/drawingml/2006/main">
            <a:off x="457200" y="2743200"/>
            <a:ext cx="6762750" cy="781050"/>
          </a:xfrm>
          <a:prstGeom xmlns:a="http://schemas.openxmlformats.org/drawingml/2006/main" prst="roundRect">
            <a:avLst>
              <a:gd name="adj" fmla="val 14634"/>
            </a:avLst>
          </a:prstGeom>
          <a:solidFill xmlns:a="http://schemas.openxmlformats.org/drawingml/2006/main">
            <a:srgbClr val="FFFF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C594302-5B95-49E1-AC18-5C5A5661FB88}"/>
              </a:ext>
            </a:extLst>
          </p:cNvPr>
          <p:cNvSpPr>
            <a:spLocks xmlns:a="http://schemas.openxmlformats.org/drawingml/2006/main" noGrp="1"/>
          </p:cNvSpPr>
          <p:nvPr/>
        </p:nvSpPr>
        <p:spPr>
          <a:xfrm xmlns:a="http://schemas.openxmlformats.org/drawingml/2006/main">
            <a:off x="666750" y="29622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Weighted service EMD</a:t>
            </a:r>
          </a:p>
        </p:txBody>
      </p:sp>
      <p:sp>
        <p:nvSpPr>
          <p:cNvPr id="15" name="">
            <a:extLst xmlns:a="http://schemas.openxmlformats.org/drawingml/2006/main">
              <a:ext uri="{FF2B5EF4-FFF2-40B4-BE49-F238E27FC236}">
                <a16:creationId xmlns:a16="http://schemas.microsoft.com/office/drawing/2014/main" id="{8B2E30DA-165E-4398-A603-849FD58850BE}"/>
              </a:ext>
            </a:extLst>
          </p:cNvPr>
          <p:cNvSpPr>
            <a:spLocks xmlns:a="http://schemas.openxmlformats.org/drawingml/2006/main" noGrp="1"/>
          </p:cNvSpPr>
          <p:nvPr/>
        </p:nvSpPr>
        <p:spPr>
          <a:xfrm xmlns:a="http://schemas.openxmlformats.org/drawingml/2006/main">
            <a:off x="3276600" y="29146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5F6B7A"/>
                </a:solidFill>
                <a:latin typeface="Aptos"/>
                <a:ea typeface="Aptos"/>
                <a:cs typeface="Aptos"/>
              </a:defRPr>
            </a:pPr>
            <a:r>
              <a:rPr sz="2100" b="1" i="0">
                <a:solidFill>
                  <a:srgbClr val="5F6B7A"/>
                </a:solidFill>
                <a:latin typeface="Aptos"/>
                <a:ea typeface="Aptos"/>
                <a:cs typeface="Aptos"/>
              </a:rPr>
              <a:t>2.360</a:t>
            </a:r>
          </a:p>
        </p:txBody>
      </p:sp>
      <p:sp>
        <p:nvSpPr>
          <p:cNvPr id="16" name="">
            <a:extLst xmlns:a="http://schemas.openxmlformats.org/drawingml/2006/main">
              <a:ext uri="{FF2B5EF4-FFF2-40B4-BE49-F238E27FC236}">
                <a16:creationId xmlns:a16="http://schemas.microsoft.com/office/drawing/2014/main" id="{26E703D9-4D82-4991-B3B1-1CAEA8DF91DE}"/>
              </a:ext>
            </a:extLst>
          </p:cNvPr>
          <p:cNvSpPr>
            <a:spLocks xmlns:a="http://schemas.openxmlformats.org/drawingml/2006/main" noGrp="1"/>
          </p:cNvSpPr>
          <p:nvPr/>
        </p:nvSpPr>
        <p:spPr>
          <a:xfrm xmlns:a="http://schemas.openxmlformats.org/drawingml/2006/main">
            <a:off x="4619625" y="291465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75" b="1" i="0">
                <a:solidFill>
                  <a:srgbClr val="98A2B3"/>
                </a:solidFill>
                <a:latin typeface="Aptos"/>
                <a:ea typeface="Aptos"/>
                <a:cs typeface="Aptos"/>
              </a:defRPr>
            </a:pPr>
            <a:r>
              <a:rPr sz="2175" b="1" i="0">
                <a:solidFill>
                  <a:srgbClr val="98A2B3"/>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5CD570AC-16F7-4D14-AF80-379A1BE1F613}"/>
              </a:ext>
            </a:extLst>
          </p:cNvPr>
          <p:cNvSpPr>
            <a:spLocks xmlns:a="http://schemas.openxmlformats.org/drawingml/2006/main" noGrp="1"/>
          </p:cNvSpPr>
          <p:nvPr/>
        </p:nvSpPr>
        <p:spPr>
          <a:xfrm xmlns:a="http://schemas.openxmlformats.org/drawingml/2006/main">
            <a:off x="5162550" y="29146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2F80ED"/>
                </a:solidFill>
                <a:latin typeface="Aptos"/>
                <a:ea typeface="Aptos"/>
                <a:cs typeface="Aptos"/>
              </a:defRPr>
            </a:pPr>
            <a:r>
              <a:rPr sz="2100" b="1" i="0">
                <a:solidFill>
                  <a:srgbClr val="2F80ED"/>
                </a:solidFill>
                <a:latin typeface="Aptos"/>
                <a:ea typeface="Aptos"/>
                <a:cs typeface="Aptos"/>
              </a:rPr>
              <a:t>2.354</a:t>
            </a:r>
          </a:p>
        </p:txBody>
      </p:sp>
      <p:sp>
        <p:nvSpPr>
          <p:cNvPr id="18" name="">
            <a:extLst xmlns:a="http://schemas.openxmlformats.org/drawingml/2006/main">
              <a:ext uri="{FF2B5EF4-FFF2-40B4-BE49-F238E27FC236}">
                <a16:creationId xmlns:a16="http://schemas.microsoft.com/office/drawing/2014/main" id="{8E65A8A5-6F9B-4D93-A69F-62D0DF8534C9}"/>
              </a:ext>
            </a:extLst>
          </p:cNvPr>
          <p:cNvSpPr>
            <a:spLocks xmlns:a="http://schemas.openxmlformats.org/drawingml/2006/main" noGrp="1"/>
          </p:cNvSpPr>
          <p:nvPr/>
        </p:nvSpPr>
        <p:spPr>
          <a:xfrm xmlns:a="http://schemas.openxmlformats.org/drawingml/2006/main">
            <a:off x="6391275" y="2952750"/>
            <a:ext cx="704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i="0">
                <a:solidFill>
                  <a:srgbClr val="16876A"/>
                </a:solidFill>
                <a:latin typeface="Aptos"/>
                <a:ea typeface="Aptos"/>
                <a:cs typeface="Aptos"/>
              </a:defRPr>
            </a:pPr>
            <a:r>
              <a:rPr sz="1350" b="1" i="0">
                <a:solidFill>
                  <a:srgbClr val="16876A"/>
                </a:solidFill>
                <a:latin typeface="Aptos"/>
                <a:ea typeface="Aptos"/>
                <a:cs typeface="Aptos"/>
              </a:rPr>
              <a:t>−0.006 min</a:t>
            </a:r>
          </a:p>
        </p:txBody>
      </p:sp>
      <p:sp>
        <p:nvSpPr>
          <p:cNvPr id="19" name="">
            <a:extLst xmlns:a="http://schemas.openxmlformats.org/drawingml/2006/main">
              <a:ext uri="{FF2B5EF4-FFF2-40B4-BE49-F238E27FC236}">
                <a16:creationId xmlns:a16="http://schemas.microsoft.com/office/drawing/2014/main" id="{68085A18-5ACE-4B9E-AE1E-23030EEF9E2D}"/>
              </a:ext>
            </a:extLst>
          </p:cNvPr>
          <p:cNvSpPr>
            <a:spLocks xmlns:a="http://schemas.openxmlformats.org/drawingml/2006/main" noGrp="1"/>
          </p:cNvSpPr>
          <p:nvPr/>
        </p:nvSpPr>
        <p:spPr>
          <a:xfrm xmlns:a="http://schemas.openxmlformats.org/drawingml/2006/main">
            <a:off x="457200" y="3733800"/>
            <a:ext cx="676275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17403F1-BC35-49B9-AF2F-8372CA6C2ADC}"/>
              </a:ext>
            </a:extLst>
          </p:cNvPr>
          <p:cNvSpPr>
            <a:spLocks xmlns:a="http://schemas.openxmlformats.org/drawingml/2006/main" noGrp="1"/>
          </p:cNvSpPr>
          <p:nvPr/>
        </p:nvSpPr>
        <p:spPr>
          <a:xfrm xmlns:a="http://schemas.openxmlformats.org/drawingml/2006/main">
            <a:off x="666750" y="39528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Activity-rate L1 error</a:t>
            </a:r>
          </a:p>
        </p:txBody>
      </p:sp>
      <p:sp>
        <p:nvSpPr>
          <p:cNvPr id="21" name="">
            <a:extLst xmlns:a="http://schemas.openxmlformats.org/drawingml/2006/main">
              <a:ext uri="{FF2B5EF4-FFF2-40B4-BE49-F238E27FC236}">
                <a16:creationId xmlns:a16="http://schemas.microsoft.com/office/drawing/2014/main" id="{00D07E09-E2B6-4DF4-9772-BE13F1ED5B9E}"/>
              </a:ext>
            </a:extLst>
          </p:cNvPr>
          <p:cNvSpPr>
            <a:spLocks xmlns:a="http://schemas.openxmlformats.org/drawingml/2006/main" noGrp="1"/>
          </p:cNvSpPr>
          <p:nvPr/>
        </p:nvSpPr>
        <p:spPr>
          <a:xfrm xmlns:a="http://schemas.openxmlformats.org/drawingml/2006/main">
            <a:off x="3276600" y="39052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5F6B7A"/>
                </a:solidFill>
                <a:latin typeface="Aptos"/>
                <a:ea typeface="Aptos"/>
                <a:cs typeface="Aptos"/>
              </a:defRPr>
            </a:pPr>
            <a:r>
              <a:rPr sz="2100" b="1" i="0">
                <a:solidFill>
                  <a:srgbClr val="5F6B7A"/>
                </a:solidFill>
                <a:latin typeface="Aptos"/>
                <a:ea typeface="Aptos"/>
                <a:cs typeface="Aptos"/>
              </a:rPr>
              <a:t>0.1753</a:t>
            </a:r>
          </a:p>
        </p:txBody>
      </p:sp>
      <p:sp>
        <p:nvSpPr>
          <p:cNvPr id="22" name="">
            <a:extLst xmlns:a="http://schemas.openxmlformats.org/drawingml/2006/main">
              <a:ext uri="{FF2B5EF4-FFF2-40B4-BE49-F238E27FC236}">
                <a16:creationId xmlns:a16="http://schemas.microsoft.com/office/drawing/2014/main" id="{925DA877-930F-4DAE-9AA1-79A9DA9DECAD}"/>
              </a:ext>
            </a:extLst>
          </p:cNvPr>
          <p:cNvSpPr>
            <a:spLocks xmlns:a="http://schemas.openxmlformats.org/drawingml/2006/main" noGrp="1"/>
          </p:cNvSpPr>
          <p:nvPr/>
        </p:nvSpPr>
        <p:spPr>
          <a:xfrm xmlns:a="http://schemas.openxmlformats.org/drawingml/2006/main">
            <a:off x="4619625" y="390525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75" b="1" i="0">
                <a:solidFill>
                  <a:srgbClr val="98A2B3"/>
                </a:solidFill>
                <a:latin typeface="Aptos"/>
                <a:ea typeface="Aptos"/>
                <a:cs typeface="Aptos"/>
              </a:defRPr>
            </a:pPr>
            <a:r>
              <a:rPr sz="2175" b="1" i="0">
                <a:solidFill>
                  <a:srgbClr val="98A2B3"/>
                </a:solidFill>
                <a:latin typeface="Aptos"/>
                <a:ea typeface="Aptos"/>
                <a:cs typeface="Aptos"/>
              </a:rPr>
              <a:t>→</a:t>
            </a:r>
          </a:p>
        </p:txBody>
      </p:sp>
      <p:sp>
        <p:nvSpPr>
          <p:cNvPr id="23" name="">
            <a:extLst xmlns:a="http://schemas.openxmlformats.org/drawingml/2006/main">
              <a:ext uri="{FF2B5EF4-FFF2-40B4-BE49-F238E27FC236}">
                <a16:creationId xmlns:a16="http://schemas.microsoft.com/office/drawing/2014/main" id="{7D6B756D-DDFD-4A75-99F0-224AF394D52F}"/>
              </a:ext>
            </a:extLst>
          </p:cNvPr>
          <p:cNvSpPr>
            <a:spLocks xmlns:a="http://schemas.openxmlformats.org/drawingml/2006/main" noGrp="1"/>
          </p:cNvSpPr>
          <p:nvPr/>
        </p:nvSpPr>
        <p:spPr>
          <a:xfrm xmlns:a="http://schemas.openxmlformats.org/drawingml/2006/main">
            <a:off x="5162550" y="39052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2F80ED"/>
                </a:solidFill>
                <a:latin typeface="Aptos"/>
                <a:ea typeface="Aptos"/>
                <a:cs typeface="Aptos"/>
              </a:defRPr>
            </a:pPr>
            <a:r>
              <a:rPr sz="2100" b="1" i="0">
                <a:solidFill>
                  <a:srgbClr val="2F80ED"/>
                </a:solidFill>
                <a:latin typeface="Aptos"/>
                <a:ea typeface="Aptos"/>
                <a:cs typeface="Aptos"/>
              </a:rPr>
              <a:t>0.2264</a:t>
            </a:r>
          </a:p>
        </p:txBody>
      </p:sp>
      <p:sp>
        <p:nvSpPr>
          <p:cNvPr id="24" name="">
            <a:extLst xmlns:a="http://schemas.openxmlformats.org/drawingml/2006/main">
              <a:ext uri="{FF2B5EF4-FFF2-40B4-BE49-F238E27FC236}">
                <a16:creationId xmlns:a16="http://schemas.microsoft.com/office/drawing/2014/main" id="{FFE0D638-A9AD-4941-A75F-797601DB73E3}"/>
              </a:ext>
            </a:extLst>
          </p:cNvPr>
          <p:cNvSpPr>
            <a:spLocks xmlns:a="http://schemas.openxmlformats.org/drawingml/2006/main" noGrp="1"/>
          </p:cNvSpPr>
          <p:nvPr/>
        </p:nvSpPr>
        <p:spPr>
          <a:xfrm xmlns:a="http://schemas.openxmlformats.org/drawingml/2006/main">
            <a:off x="6391275" y="3943350"/>
            <a:ext cx="704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i="0">
                <a:solidFill>
                  <a:srgbClr val="C8102E"/>
                </a:solidFill>
                <a:latin typeface="Aptos"/>
                <a:ea typeface="Aptos"/>
                <a:cs typeface="Aptos"/>
              </a:defRPr>
            </a:pPr>
            <a:r>
              <a:rPr sz="1350" b="1" i="0">
                <a:solidFill>
                  <a:srgbClr val="C8102E"/>
                </a:solidFill>
                <a:latin typeface="Aptos"/>
                <a:ea typeface="Aptos"/>
                <a:cs typeface="Aptos"/>
              </a:rPr>
              <a:t>+29%</a:t>
            </a:r>
          </a:p>
        </p:txBody>
      </p:sp>
      <p:sp>
        <p:nvSpPr>
          <p:cNvPr id="25" name="">
            <a:extLst xmlns:a="http://schemas.openxmlformats.org/drawingml/2006/main">
              <a:ext uri="{FF2B5EF4-FFF2-40B4-BE49-F238E27FC236}">
                <a16:creationId xmlns:a16="http://schemas.microsoft.com/office/drawing/2014/main" id="{E5EE9FCA-A2E6-461F-9D03-05117AE6469D}"/>
              </a:ext>
            </a:extLst>
          </p:cNvPr>
          <p:cNvSpPr>
            <a:spLocks xmlns:a="http://schemas.openxmlformats.org/drawingml/2006/main" noGrp="1"/>
          </p:cNvSpPr>
          <p:nvPr/>
        </p:nvSpPr>
        <p:spPr>
          <a:xfrm xmlns:a="http://schemas.openxmlformats.org/drawingml/2006/main">
            <a:off x="457200" y="4724400"/>
            <a:ext cx="6762750" cy="781050"/>
          </a:xfrm>
          <a:prstGeom xmlns:a="http://schemas.openxmlformats.org/drawingml/2006/main" prst="roundRect">
            <a:avLst>
              <a:gd name="adj" fmla="val 14634"/>
            </a:avLst>
          </a:prstGeom>
          <a:solidFill xmlns:a="http://schemas.openxmlformats.org/drawingml/2006/main">
            <a:srgbClr val="FFFFF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4C17431-B2A9-4DFF-851A-7667D2189499}"/>
              </a:ext>
            </a:extLst>
          </p:cNvPr>
          <p:cNvSpPr>
            <a:spLocks xmlns:a="http://schemas.openxmlformats.org/drawingml/2006/main" noGrp="1"/>
          </p:cNvSpPr>
          <p:nvPr/>
        </p:nvSpPr>
        <p:spPr>
          <a:xfrm xmlns:a="http://schemas.openxmlformats.org/drawingml/2006/main">
            <a:off x="666750" y="4943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Gate-only cases / run</a:t>
            </a:r>
          </a:p>
        </p:txBody>
      </p:sp>
      <p:sp>
        <p:nvSpPr>
          <p:cNvPr id="27" name="">
            <a:extLst xmlns:a="http://schemas.openxmlformats.org/drawingml/2006/main">
              <a:ext uri="{FF2B5EF4-FFF2-40B4-BE49-F238E27FC236}">
                <a16:creationId xmlns:a16="http://schemas.microsoft.com/office/drawing/2014/main" id="{D2F8F0B0-71DD-4B2F-88FC-BBC3B08FE053}"/>
              </a:ext>
            </a:extLst>
          </p:cNvPr>
          <p:cNvSpPr>
            <a:spLocks xmlns:a="http://schemas.openxmlformats.org/drawingml/2006/main" noGrp="1"/>
          </p:cNvSpPr>
          <p:nvPr/>
        </p:nvSpPr>
        <p:spPr>
          <a:xfrm xmlns:a="http://schemas.openxmlformats.org/drawingml/2006/main">
            <a:off x="3276600" y="48958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5F6B7A"/>
                </a:solidFill>
                <a:latin typeface="Aptos"/>
                <a:ea typeface="Aptos"/>
                <a:cs typeface="Aptos"/>
              </a:defRPr>
            </a:pPr>
            <a:r>
              <a:rPr sz="2100" b="1" i="0">
                <a:solidFill>
                  <a:srgbClr val="5F6B7A"/>
                </a:solidFill>
                <a:latin typeface="Aptos"/>
                <a:ea typeface="Aptos"/>
                <a:cs typeface="Aptos"/>
              </a:rPr>
              <a:t>11.9</a:t>
            </a:r>
          </a:p>
        </p:txBody>
      </p:sp>
      <p:sp>
        <p:nvSpPr>
          <p:cNvPr id="28" name="">
            <a:extLst xmlns:a="http://schemas.openxmlformats.org/drawingml/2006/main">
              <a:ext uri="{FF2B5EF4-FFF2-40B4-BE49-F238E27FC236}">
                <a16:creationId xmlns:a16="http://schemas.microsoft.com/office/drawing/2014/main" id="{04D664C1-8AA6-4AEB-88CF-14C0D9B371EF}"/>
              </a:ext>
            </a:extLst>
          </p:cNvPr>
          <p:cNvSpPr>
            <a:spLocks xmlns:a="http://schemas.openxmlformats.org/drawingml/2006/main" noGrp="1"/>
          </p:cNvSpPr>
          <p:nvPr/>
        </p:nvSpPr>
        <p:spPr>
          <a:xfrm xmlns:a="http://schemas.openxmlformats.org/drawingml/2006/main">
            <a:off x="4619625" y="4895850"/>
            <a:ext cx="47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75" b="1" i="0">
                <a:solidFill>
                  <a:srgbClr val="98A2B3"/>
                </a:solidFill>
                <a:latin typeface="Aptos"/>
                <a:ea typeface="Aptos"/>
                <a:cs typeface="Aptos"/>
              </a:defRPr>
            </a:pPr>
            <a:r>
              <a:rPr sz="2175" b="1" i="0">
                <a:solidFill>
                  <a:srgbClr val="98A2B3"/>
                </a:solidFill>
                <a:latin typeface="Aptos"/>
                <a:ea typeface="Aptos"/>
                <a:cs typeface="Aptos"/>
              </a:rPr>
              <a:t>→</a:t>
            </a:r>
          </a:p>
        </p:txBody>
      </p:sp>
      <p:sp>
        <p:nvSpPr>
          <p:cNvPr id="29" name="">
            <a:extLst xmlns:a="http://schemas.openxmlformats.org/drawingml/2006/main">
              <a:ext uri="{FF2B5EF4-FFF2-40B4-BE49-F238E27FC236}">
                <a16:creationId xmlns:a16="http://schemas.microsoft.com/office/drawing/2014/main" id="{3C5118FF-B873-4FA1-B238-089E30D0D9EE}"/>
              </a:ext>
            </a:extLst>
          </p:cNvPr>
          <p:cNvSpPr>
            <a:spLocks xmlns:a="http://schemas.openxmlformats.org/drawingml/2006/main" noGrp="1"/>
          </p:cNvSpPr>
          <p:nvPr/>
        </p:nvSpPr>
        <p:spPr>
          <a:xfrm xmlns:a="http://schemas.openxmlformats.org/drawingml/2006/main">
            <a:off x="5162550" y="4895850"/>
            <a:ext cx="123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2F80ED"/>
                </a:solidFill>
                <a:latin typeface="Aptos"/>
                <a:ea typeface="Aptos"/>
                <a:cs typeface="Aptos"/>
              </a:defRPr>
            </a:pPr>
            <a:r>
              <a:rPr sz="2100" b="1" i="0">
                <a:solidFill>
                  <a:srgbClr val="2F80ED"/>
                </a:solidFill>
                <a:latin typeface="Aptos"/>
                <a:ea typeface="Aptos"/>
                <a:cs typeface="Aptos"/>
              </a:rPr>
              <a:t>0.0</a:t>
            </a:r>
          </a:p>
        </p:txBody>
      </p:sp>
      <p:sp>
        <p:nvSpPr>
          <p:cNvPr id="30" name="">
            <a:extLst xmlns:a="http://schemas.openxmlformats.org/drawingml/2006/main">
              <a:ext uri="{FF2B5EF4-FFF2-40B4-BE49-F238E27FC236}">
                <a16:creationId xmlns:a16="http://schemas.microsoft.com/office/drawing/2014/main" id="{77D82098-BAC3-4798-BE4F-099E8706462F}"/>
              </a:ext>
            </a:extLst>
          </p:cNvPr>
          <p:cNvSpPr>
            <a:spLocks xmlns:a="http://schemas.openxmlformats.org/drawingml/2006/main" noGrp="1"/>
          </p:cNvSpPr>
          <p:nvPr/>
        </p:nvSpPr>
        <p:spPr>
          <a:xfrm xmlns:a="http://schemas.openxmlformats.org/drawingml/2006/main">
            <a:off x="6391275" y="4933950"/>
            <a:ext cx="704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350" b="1" i="0">
                <a:solidFill>
                  <a:srgbClr val="16876A"/>
                </a:solidFill>
                <a:latin typeface="Aptos"/>
                <a:ea typeface="Aptos"/>
                <a:cs typeface="Aptos"/>
              </a:defRPr>
            </a:pPr>
            <a:r>
              <a:rPr sz="1350" b="1" i="0">
                <a:solidFill>
                  <a:srgbClr val="16876A"/>
                </a:solidFill>
                <a:latin typeface="Aptos"/>
                <a:ea typeface="Aptos"/>
                <a:cs typeface="Aptos"/>
              </a:rPr>
              <a:t>−100%</a:t>
            </a:r>
          </a:p>
        </p:txBody>
      </p:sp>
      <p:sp>
        <p:nvSpPr>
          <p:cNvPr id="31" name="">
            <a:extLst xmlns:a="http://schemas.openxmlformats.org/drawingml/2006/main">
              <a:ext uri="{FF2B5EF4-FFF2-40B4-BE49-F238E27FC236}">
                <a16:creationId xmlns:a16="http://schemas.microsoft.com/office/drawing/2014/main" id="{6F3FCC4C-228E-4E34-BE2B-220BB72A64B4}"/>
              </a:ext>
            </a:extLst>
          </p:cNvPr>
          <p:cNvSpPr>
            <a:spLocks xmlns:a="http://schemas.openxmlformats.org/drawingml/2006/main" noGrp="1"/>
          </p:cNvSpPr>
          <p:nvPr/>
        </p:nvSpPr>
        <p:spPr>
          <a:xfrm xmlns:a="http://schemas.openxmlformats.org/drawingml/2006/main">
            <a:off x="7639050" y="1504950"/>
            <a:ext cx="4000500" cy="4324350"/>
          </a:xfrm>
          <a:prstGeom xmlns:a="http://schemas.openxmlformats.org/drawingml/2006/main" prst="roundRect">
            <a:avLst>
              <a:gd name="adj" fmla="val 2857"/>
            </a:avLst>
          </a:prstGeom>
          <a:solidFill xmlns:a="http://schemas.openxmlformats.org/drawingml/2006/main">
            <a:srgbClr val="F8FAFC"/>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34FC5F98-3FC6-4B90-B4A9-2032037767FA}"/>
              </a:ext>
            </a:extLst>
          </p:cNvPr>
          <p:cNvSpPr>
            <a:spLocks xmlns:a="http://schemas.openxmlformats.org/drawingml/2006/main" noGrp="1"/>
          </p:cNvSpPr>
          <p:nvPr/>
        </p:nvSpPr>
        <p:spPr>
          <a:xfrm xmlns:a="http://schemas.openxmlformats.org/drawingml/2006/main">
            <a:off x="7943850" y="1790700"/>
            <a:ext cx="323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i="0">
                <a:solidFill>
                  <a:srgbClr val="0B1220"/>
                </a:solidFill>
                <a:latin typeface="Aptos"/>
                <a:ea typeface="Aptos"/>
                <a:cs typeface="Aptos"/>
              </a:defRPr>
            </a:pPr>
            <a:r>
              <a:rPr sz="2100" b="1" i="0">
                <a:solidFill>
                  <a:srgbClr val="0B1220"/>
                </a:solidFill>
                <a:latin typeface="Aptos"/>
                <a:ea typeface="Aptos"/>
                <a:cs typeface="Aptos"/>
              </a:rPr>
              <a:t>What changed?</a:t>
            </a:r>
          </a:p>
        </p:txBody>
      </p:sp>
      <p:sp>
        <p:nvSpPr>
          <p:cNvPr id="33" name="">
            <a:extLst xmlns:a="http://schemas.openxmlformats.org/drawingml/2006/main">
              <a:ext uri="{FF2B5EF4-FFF2-40B4-BE49-F238E27FC236}">
                <a16:creationId xmlns:a16="http://schemas.microsoft.com/office/drawing/2014/main" id="{F433E923-7674-465B-B6C9-8CA10FE8B864}"/>
              </a:ext>
            </a:extLst>
          </p:cNvPr>
          <p:cNvSpPr>
            <a:spLocks xmlns:a="http://schemas.openxmlformats.org/drawingml/2006/main" noGrp="1"/>
          </p:cNvSpPr>
          <p:nvPr/>
        </p:nvSpPr>
        <p:spPr>
          <a:xfrm xmlns:a="http://schemas.openxmlformats.org/drawingml/2006/main">
            <a:off x="7867650" y="2362200"/>
            <a:ext cx="3543300" cy="1095375"/>
          </a:xfrm>
          <a:prstGeom xmlns:a="http://schemas.openxmlformats.org/drawingml/2006/main" prst="roundRect">
            <a:avLst>
              <a:gd name="adj" fmla="val 10435"/>
            </a:avLst>
          </a:prstGeom>
          <a:solidFill xmlns:a="http://schemas.openxmlformats.org/drawingml/2006/main">
            <a:srgbClr val="F8FAFC"/>
          </a:solidFill>
          <a:ln xmlns:a="http://schemas.openxmlformats.org/drawingml/2006/main" w="9525">
            <a:solidFill>
              <a:srgbClr val="D0D5DD"/>
            </a:solidFill>
            <a:prstDash val="solid"/>
          </a:ln>
        </p:spPr>
      </p:sp>
      <p:sp>
        <p:nvSpPr>
          <p:cNvPr id="34" name="">
            <a:extLst xmlns:a="http://schemas.openxmlformats.org/drawingml/2006/main">
              <a:ext uri="{FF2B5EF4-FFF2-40B4-BE49-F238E27FC236}">
                <a16:creationId xmlns:a16="http://schemas.microsoft.com/office/drawing/2014/main" id="{7F1C24A1-4A35-4DDF-A60C-7357129FC428}"/>
              </a:ext>
            </a:extLst>
          </p:cNvPr>
          <p:cNvSpPr>
            <a:spLocks xmlns:a="http://schemas.openxmlformats.org/drawingml/2006/main" noGrp="1"/>
          </p:cNvSpPr>
          <p:nvPr/>
        </p:nvSpPr>
        <p:spPr>
          <a:xfrm xmlns:a="http://schemas.openxmlformats.org/drawingml/2006/main">
            <a:off x="8096250" y="2590800"/>
            <a:ext cx="400050" cy="40005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35" name="">
            <a:extLst xmlns:a="http://schemas.openxmlformats.org/drawingml/2006/main">
              <a:ext uri="{FF2B5EF4-FFF2-40B4-BE49-F238E27FC236}">
                <a16:creationId xmlns:a16="http://schemas.microsoft.com/office/drawing/2014/main" id="{F72B0478-2D34-49EA-BBD7-C643846DD601}"/>
              </a:ext>
            </a:extLst>
          </p:cNvPr>
          <p:cNvSpPr>
            <a:spLocks xmlns:a="http://schemas.openxmlformats.org/drawingml/2006/main" noGrp="1"/>
          </p:cNvSpPr>
          <p:nvPr/>
        </p:nvSpPr>
        <p:spPr>
          <a:xfrm xmlns:a="http://schemas.openxmlformats.org/drawingml/2006/main">
            <a:off x="8096250" y="26384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36" name="">
            <a:extLst xmlns:a="http://schemas.openxmlformats.org/drawingml/2006/main">
              <a:ext uri="{FF2B5EF4-FFF2-40B4-BE49-F238E27FC236}">
                <a16:creationId xmlns:a16="http://schemas.microsoft.com/office/drawing/2014/main" id="{38C8345A-F886-4613-82F2-368498BDAB0E}"/>
              </a:ext>
            </a:extLst>
          </p:cNvPr>
          <p:cNvSpPr>
            <a:spLocks xmlns:a="http://schemas.openxmlformats.org/drawingml/2006/main" noGrp="1"/>
          </p:cNvSpPr>
          <p:nvPr/>
        </p:nvSpPr>
        <p:spPr>
          <a:xfrm xmlns:a="http://schemas.openxmlformats.org/drawingml/2006/main">
            <a:off x="8667750" y="253365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Timing: essentially tied</a:t>
            </a:r>
          </a:p>
        </p:txBody>
      </p:sp>
      <p:sp>
        <p:nvSpPr>
          <p:cNvPr id="37" name="">
            <a:extLst xmlns:a="http://schemas.openxmlformats.org/drawingml/2006/main">
              <a:ext uri="{FF2B5EF4-FFF2-40B4-BE49-F238E27FC236}">
                <a16:creationId xmlns:a16="http://schemas.microsoft.com/office/drawing/2014/main" id="{22A5A9BC-DA27-4E72-8A53-C08F35E0A3C0}"/>
              </a:ext>
            </a:extLst>
          </p:cNvPr>
          <p:cNvSpPr>
            <a:spLocks xmlns:a="http://schemas.openxmlformats.org/drawingml/2006/main" noGrp="1"/>
          </p:cNvSpPr>
          <p:nvPr/>
        </p:nvSpPr>
        <p:spPr>
          <a:xfrm xmlns:a="http://schemas.openxmlformats.org/drawingml/2006/main">
            <a:off x="8667750" y="2914650"/>
            <a:ext cx="25146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Overlapping intervals; no practical timing advantage.</a:t>
            </a:r>
          </a:p>
        </p:txBody>
      </p:sp>
      <p:sp>
        <p:nvSpPr>
          <p:cNvPr id="38" name="">
            <a:extLst xmlns:a="http://schemas.openxmlformats.org/drawingml/2006/main">
              <a:ext uri="{FF2B5EF4-FFF2-40B4-BE49-F238E27FC236}">
                <a16:creationId xmlns:a16="http://schemas.microsoft.com/office/drawing/2014/main" id="{325C8F98-EC97-409C-AA8E-B90C1044810F}"/>
              </a:ext>
            </a:extLst>
          </p:cNvPr>
          <p:cNvSpPr>
            <a:spLocks xmlns:a="http://schemas.openxmlformats.org/drawingml/2006/main" noGrp="1"/>
          </p:cNvSpPr>
          <p:nvPr/>
        </p:nvSpPr>
        <p:spPr>
          <a:xfrm xmlns:a="http://schemas.openxmlformats.org/drawingml/2006/main">
            <a:off x="7867650" y="3514725"/>
            <a:ext cx="3543300" cy="1095375"/>
          </a:xfrm>
          <a:prstGeom xmlns:a="http://schemas.openxmlformats.org/drawingml/2006/main" prst="roundRect">
            <a:avLst>
              <a:gd name="adj" fmla="val 10435"/>
            </a:avLst>
          </a:prstGeom>
          <a:solidFill xmlns:a="http://schemas.openxmlformats.org/drawingml/2006/main">
            <a:srgbClr val="F8FAFC"/>
          </a:solidFill>
          <a:ln xmlns:a="http://schemas.openxmlformats.org/drawingml/2006/main" w="9525">
            <a:solidFill>
              <a:srgbClr val="D0D5DD"/>
            </a:solidFill>
            <a:prstDash val="solid"/>
          </a:ln>
        </p:spPr>
      </p:sp>
      <p:sp>
        <p:nvSpPr>
          <p:cNvPr id="39" name="">
            <a:extLst xmlns:a="http://schemas.openxmlformats.org/drawingml/2006/main">
              <a:ext uri="{FF2B5EF4-FFF2-40B4-BE49-F238E27FC236}">
                <a16:creationId xmlns:a16="http://schemas.microsoft.com/office/drawing/2014/main" id="{4DCFF5EE-2CFF-413E-B849-0370D1AB26CC}"/>
              </a:ext>
            </a:extLst>
          </p:cNvPr>
          <p:cNvSpPr>
            <a:spLocks xmlns:a="http://schemas.openxmlformats.org/drawingml/2006/main" noGrp="1"/>
          </p:cNvSpPr>
          <p:nvPr/>
        </p:nvSpPr>
        <p:spPr>
          <a:xfrm xmlns:a="http://schemas.openxmlformats.org/drawingml/2006/main">
            <a:off x="8096250" y="3743325"/>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40" name="">
            <a:extLst xmlns:a="http://schemas.openxmlformats.org/drawingml/2006/main">
              <a:ext uri="{FF2B5EF4-FFF2-40B4-BE49-F238E27FC236}">
                <a16:creationId xmlns:a16="http://schemas.microsoft.com/office/drawing/2014/main" id="{C0E48B0B-ECF5-4C67-9F4D-BBDAD6EDB8DD}"/>
              </a:ext>
            </a:extLst>
          </p:cNvPr>
          <p:cNvSpPr>
            <a:spLocks xmlns:a="http://schemas.openxmlformats.org/drawingml/2006/main" noGrp="1"/>
          </p:cNvSpPr>
          <p:nvPr/>
        </p:nvSpPr>
        <p:spPr>
          <a:xfrm xmlns:a="http://schemas.openxmlformats.org/drawingml/2006/main">
            <a:off x="8096250" y="3790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41" name="">
            <a:extLst xmlns:a="http://schemas.openxmlformats.org/drawingml/2006/main">
              <a:ext uri="{FF2B5EF4-FFF2-40B4-BE49-F238E27FC236}">
                <a16:creationId xmlns:a16="http://schemas.microsoft.com/office/drawing/2014/main" id="{F92A151E-2933-4A99-9B74-4F32C9F723A4}"/>
              </a:ext>
            </a:extLst>
          </p:cNvPr>
          <p:cNvSpPr>
            <a:spLocks xmlns:a="http://schemas.openxmlformats.org/drawingml/2006/main" noGrp="1"/>
          </p:cNvSpPr>
          <p:nvPr/>
        </p:nvSpPr>
        <p:spPr>
          <a:xfrm xmlns:a="http://schemas.openxmlformats.org/drawingml/2006/main">
            <a:off x="8667750" y="3686175"/>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Routing: cleaner</a:t>
            </a:r>
          </a:p>
        </p:txBody>
      </p:sp>
      <p:sp>
        <p:nvSpPr>
          <p:cNvPr id="42" name="">
            <a:extLst xmlns:a="http://schemas.openxmlformats.org/drawingml/2006/main">
              <a:ext uri="{FF2B5EF4-FFF2-40B4-BE49-F238E27FC236}">
                <a16:creationId xmlns:a16="http://schemas.microsoft.com/office/drawing/2014/main" id="{8E5B4F85-F29A-4B14-A779-7D99CAE3D54C}"/>
              </a:ext>
            </a:extLst>
          </p:cNvPr>
          <p:cNvSpPr>
            <a:spLocks xmlns:a="http://schemas.openxmlformats.org/drawingml/2006/main" noGrp="1"/>
          </p:cNvSpPr>
          <p:nvPr/>
        </p:nvSpPr>
        <p:spPr>
          <a:xfrm xmlns:a="http://schemas.openxmlformats.org/drawingml/2006/main">
            <a:off x="8667750" y="4067175"/>
            <a:ext cx="25146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The rare silent yard bypass disappears.</a:t>
            </a:r>
          </a:p>
        </p:txBody>
      </p:sp>
      <p:sp>
        <p:nvSpPr>
          <p:cNvPr id="43" name="">
            <a:extLst xmlns:a="http://schemas.openxmlformats.org/drawingml/2006/main">
              <a:ext uri="{FF2B5EF4-FFF2-40B4-BE49-F238E27FC236}">
                <a16:creationId xmlns:a16="http://schemas.microsoft.com/office/drawing/2014/main" id="{9F06A5B8-7500-4033-B17D-938C46E88FBC}"/>
              </a:ext>
            </a:extLst>
          </p:cNvPr>
          <p:cNvSpPr>
            <a:spLocks xmlns:a="http://schemas.openxmlformats.org/drawingml/2006/main" noGrp="1"/>
          </p:cNvSpPr>
          <p:nvPr/>
        </p:nvSpPr>
        <p:spPr>
          <a:xfrm xmlns:a="http://schemas.openxmlformats.org/drawingml/2006/main">
            <a:off x="7867650" y="4667250"/>
            <a:ext cx="3543300" cy="1095375"/>
          </a:xfrm>
          <a:prstGeom xmlns:a="http://schemas.openxmlformats.org/drawingml/2006/main" prst="roundRect">
            <a:avLst>
              <a:gd name="adj" fmla="val 10435"/>
            </a:avLst>
          </a:prstGeom>
          <a:solidFill xmlns:a="http://schemas.openxmlformats.org/drawingml/2006/main">
            <a:srgbClr val="F8FAFC"/>
          </a:solidFill>
          <a:ln xmlns:a="http://schemas.openxmlformats.org/drawingml/2006/main" w="9525">
            <a:solidFill>
              <a:srgbClr val="D0D5DD"/>
            </a:solidFill>
            <a:prstDash val="solid"/>
          </a:ln>
        </p:spPr>
      </p:sp>
      <p:sp>
        <p:nvSpPr>
          <p:cNvPr id="44" name="">
            <a:extLst xmlns:a="http://schemas.openxmlformats.org/drawingml/2006/main">
              <a:ext uri="{FF2B5EF4-FFF2-40B4-BE49-F238E27FC236}">
                <a16:creationId xmlns:a16="http://schemas.microsoft.com/office/drawing/2014/main" id="{F3F8A2B1-4CBD-4E53-ABBB-BC440D2FD84A}"/>
              </a:ext>
            </a:extLst>
          </p:cNvPr>
          <p:cNvSpPr>
            <a:spLocks xmlns:a="http://schemas.openxmlformats.org/drawingml/2006/main" noGrp="1"/>
          </p:cNvSpPr>
          <p:nvPr/>
        </p:nvSpPr>
        <p:spPr>
          <a:xfrm xmlns:a="http://schemas.openxmlformats.org/drawingml/2006/main">
            <a:off x="8096250" y="4895850"/>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45" name="">
            <a:extLst xmlns:a="http://schemas.openxmlformats.org/drawingml/2006/main">
              <a:ext uri="{FF2B5EF4-FFF2-40B4-BE49-F238E27FC236}">
                <a16:creationId xmlns:a16="http://schemas.microsoft.com/office/drawing/2014/main" id="{94A5FF69-54D3-4624-8A75-6C93F1BB31BB}"/>
              </a:ext>
            </a:extLst>
          </p:cNvPr>
          <p:cNvSpPr>
            <a:spLocks xmlns:a="http://schemas.openxmlformats.org/drawingml/2006/main" noGrp="1"/>
          </p:cNvSpPr>
          <p:nvPr/>
        </p:nvSpPr>
        <p:spPr>
          <a:xfrm xmlns:a="http://schemas.openxmlformats.org/drawingml/2006/main">
            <a:off x="8096250" y="49434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46" name="">
            <a:extLst xmlns:a="http://schemas.openxmlformats.org/drawingml/2006/main">
              <a:ext uri="{FF2B5EF4-FFF2-40B4-BE49-F238E27FC236}">
                <a16:creationId xmlns:a16="http://schemas.microsoft.com/office/drawing/2014/main" id="{E97CA0F4-79B1-40A8-9EA2-A8E37ADF1280}"/>
              </a:ext>
            </a:extLst>
          </p:cNvPr>
          <p:cNvSpPr>
            <a:spLocks xmlns:a="http://schemas.openxmlformats.org/drawingml/2006/main" noGrp="1"/>
          </p:cNvSpPr>
          <p:nvPr/>
        </p:nvSpPr>
        <p:spPr>
          <a:xfrm xmlns:a="http://schemas.openxmlformats.org/drawingml/2006/main">
            <a:off x="8667750" y="48387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Incidence: worse</a:t>
            </a:r>
          </a:p>
        </p:txBody>
      </p:sp>
      <p:sp>
        <p:nvSpPr>
          <p:cNvPr id="47" name="">
            <a:extLst xmlns:a="http://schemas.openxmlformats.org/drawingml/2006/main">
              <a:ext uri="{FF2B5EF4-FFF2-40B4-BE49-F238E27FC236}">
                <a16:creationId xmlns:a16="http://schemas.microsoft.com/office/drawing/2014/main" id="{78C39B85-25D9-4045-91A3-AA307EFE9102}"/>
              </a:ext>
            </a:extLst>
          </p:cNvPr>
          <p:cNvSpPr>
            <a:spLocks xmlns:a="http://schemas.openxmlformats.org/drawingml/2006/main" noGrp="1"/>
          </p:cNvSpPr>
          <p:nvPr/>
        </p:nvSpPr>
        <p:spPr>
          <a:xfrm xmlns:a="http://schemas.openxmlformats.org/drawingml/2006/main">
            <a:off x="8667750" y="5219700"/>
            <a:ext cx="25146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Activity frequencies move further from reality.</a:t>
            </a:r>
          </a:p>
        </p:txBody>
      </p:sp>
    </p:spTree>
    <p:extLst>
      <p:ext uri="{BB962C8B-B14F-4D97-AF65-F5344CB8AC3E}">
        <p14:creationId xmlns:p14="http://schemas.microsoft.com/office/powerpoint/2010/main" val="12713409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A835155-CD9A-4962-B417-5D6EAD818BBE}"/>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Context works where the signal exists</a:t>
            </a:r>
          </a:p>
        </p:txBody>
      </p:sp>
      <p:sp>
        <p:nvSpPr>
          <p:cNvPr id="2" name="">
            <a:extLst xmlns:a="http://schemas.openxmlformats.org/drawingml/2006/main">
              <a:ext uri="{FF2B5EF4-FFF2-40B4-BE49-F238E27FC236}">
                <a16:creationId xmlns:a16="http://schemas.microsoft.com/office/drawing/2014/main" id="{59DBBD4F-550F-4A6A-B8F9-6AA452ADFA60}"/>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137C58B3-8EB3-45E9-8643-8E04034F3130}"/>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810B6076-6232-45E7-8FEB-D3B3791CE596}"/>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09</a:t>
            </a:r>
          </a:p>
        </p:txBody>
      </p:sp>
      <p:sp>
        <p:nvSpPr>
          <p:cNvPr id="5" name="">
            <a:extLst xmlns:a="http://schemas.openxmlformats.org/drawingml/2006/main">
              <a:ext uri="{FF2B5EF4-FFF2-40B4-BE49-F238E27FC236}">
                <a16:creationId xmlns:a16="http://schemas.microsoft.com/office/drawing/2014/main" id="{04F347F8-BC91-4558-A3B8-36E80F5E7137}"/>
              </a:ext>
            </a:extLst>
          </p:cNvPr>
          <p:cNvSpPr>
            <a:spLocks xmlns:a="http://schemas.openxmlformats.org/drawingml/2006/main" noGrp="1"/>
          </p:cNvSpPr>
          <p:nvPr/>
        </p:nvSpPr>
        <p:spPr>
          <a:xfrm xmlns:a="http://schemas.openxmlformats.org/drawingml/2006/main">
            <a:off x="523875" y="1381125"/>
            <a:ext cx="5334000" cy="4000500"/>
          </a:xfrm>
          <a:prstGeom xmlns:a="http://schemas.openxmlformats.org/drawingml/2006/main" prst="roundRect">
            <a:avLst>
              <a:gd name="adj" fmla="val 2857"/>
            </a:avLst>
          </a:prstGeom>
          <a:solidFill xmlns:a="http://schemas.openxmlformats.org/drawingml/2006/main">
            <a:srgbClr val="EAF8F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09FE27-6FEC-4EA0-B5F5-6030991EC32F}"/>
              </a:ext>
            </a:extLst>
          </p:cNvPr>
          <p:cNvSpPr>
            <a:spLocks xmlns:a="http://schemas.openxmlformats.org/drawingml/2006/main" noGrp="1"/>
          </p:cNvSpPr>
          <p:nvPr/>
        </p:nvSpPr>
        <p:spPr>
          <a:xfrm xmlns:a="http://schemas.openxmlformats.org/drawingml/2006/main">
            <a:off x="800100" y="1657350"/>
            <a:ext cx="1524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i="0">
                <a:solidFill>
                  <a:srgbClr val="16876A"/>
                </a:solidFill>
                <a:latin typeface="Aptos"/>
                <a:ea typeface="Aptos"/>
                <a:cs typeface="Aptos"/>
              </a:defRPr>
            </a:pPr>
            <a:r>
              <a:rPr sz="1350" b="1" i="0">
                <a:solidFill>
                  <a:srgbClr val="16876A"/>
                </a:solidFill>
                <a:latin typeface="Aptos"/>
                <a:ea typeface="Aptos"/>
                <a:cs typeface="Aptos"/>
              </a:rPr>
              <a:t>ARRIVALS</a:t>
            </a:r>
          </a:p>
        </p:txBody>
      </p:sp>
      <p:sp>
        <p:nvSpPr>
          <p:cNvPr id="7" name="">
            <a:extLst xmlns:a="http://schemas.openxmlformats.org/drawingml/2006/main">
              <a:ext uri="{FF2B5EF4-FFF2-40B4-BE49-F238E27FC236}">
                <a16:creationId xmlns:a16="http://schemas.microsoft.com/office/drawing/2014/main" id="{9327DC44-720F-46E6-9CD2-301CEBEDD15E}"/>
              </a:ext>
            </a:extLst>
          </p:cNvPr>
          <p:cNvSpPr>
            <a:spLocks xmlns:a="http://schemas.openxmlformats.org/drawingml/2006/main" noGrp="1"/>
          </p:cNvSpPr>
          <p:nvPr/>
        </p:nvSpPr>
        <p:spPr>
          <a:xfrm xmlns:a="http://schemas.openxmlformats.org/drawingml/2006/main">
            <a:off x="800100" y="205740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i="0">
                <a:solidFill>
                  <a:srgbClr val="0B1220"/>
                </a:solidFill>
                <a:latin typeface="Aptos"/>
                <a:ea typeface="Aptos"/>
                <a:cs typeface="Aptos"/>
              </a:defRPr>
            </a:pPr>
            <a:r>
              <a:rPr sz="2250" b="1" i="0">
                <a:solidFill>
                  <a:srgbClr val="0B1220"/>
                </a:solidFill>
                <a:latin typeface="Aptos"/>
                <a:ea typeface="Aptos"/>
                <a:cs typeface="Aptos"/>
              </a:rPr>
              <a:t>Strong, stable calendar signal</a:t>
            </a:r>
          </a:p>
        </p:txBody>
      </p:sp>
      <p:sp>
        <p:nvSpPr>
          <p:cNvPr id="8" name="">
            <a:extLst xmlns:a="http://schemas.openxmlformats.org/drawingml/2006/main">
              <a:ext uri="{FF2B5EF4-FFF2-40B4-BE49-F238E27FC236}">
                <a16:creationId xmlns:a16="http://schemas.microsoft.com/office/drawing/2014/main" id="{FE7CF272-025C-44AD-82AD-1080660569C8}"/>
              </a:ext>
            </a:extLst>
          </p:cNvPr>
          <p:cNvSpPr>
            <a:spLocks xmlns:a="http://schemas.openxmlformats.org/drawingml/2006/main" noGrp="1"/>
          </p:cNvSpPr>
          <p:nvPr/>
        </p:nvSpPr>
        <p:spPr>
          <a:xfrm xmlns:a="http://schemas.openxmlformats.org/drawingml/2006/main">
            <a:off x="800100" y="2762250"/>
            <a:ext cx="2143125" cy="1924050"/>
          </a:xfrm>
          <a:prstGeom xmlns:a="http://schemas.openxmlformats.org/drawingml/2006/main" prst="roundRect">
            <a:avLst>
              <a:gd name="adj" fmla="val 5941"/>
            </a:avLst>
          </a:prstGeom>
          <a:solidFill xmlns:a="http://schemas.openxmlformats.org/drawingml/2006/main">
            <a:srgbClr val="EAF8F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70BD08E-BE1D-4E09-8F6C-30E39C059D22}"/>
              </a:ext>
            </a:extLst>
          </p:cNvPr>
          <p:cNvSpPr>
            <a:spLocks xmlns:a="http://schemas.openxmlformats.org/drawingml/2006/main" noGrp="1"/>
          </p:cNvSpPr>
          <p:nvPr/>
        </p:nvSpPr>
        <p:spPr>
          <a:xfrm xmlns:a="http://schemas.openxmlformats.org/drawingml/2006/main">
            <a:off x="800100" y="2762250"/>
            <a:ext cx="66675" cy="1924050"/>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10" name="">
            <a:extLst xmlns:a="http://schemas.openxmlformats.org/drawingml/2006/main">
              <a:ext uri="{FF2B5EF4-FFF2-40B4-BE49-F238E27FC236}">
                <a16:creationId xmlns:a16="http://schemas.microsoft.com/office/drawing/2014/main" id="{1FBCA8BC-4D18-4B8E-8617-C8D0DAFB8EEB}"/>
              </a:ext>
            </a:extLst>
          </p:cNvPr>
          <p:cNvSpPr>
            <a:spLocks xmlns:a="http://schemas.openxmlformats.org/drawingml/2006/main" noGrp="1"/>
          </p:cNvSpPr>
          <p:nvPr/>
        </p:nvSpPr>
        <p:spPr>
          <a:xfrm xmlns:a="http://schemas.openxmlformats.org/drawingml/2006/main">
            <a:off x="1047750" y="2952750"/>
            <a:ext cx="16478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16876A"/>
                </a:solidFill>
                <a:latin typeface="Aptos"/>
                <a:ea typeface="Aptos"/>
                <a:cs typeface="Aptos"/>
              </a:defRPr>
            </a:pPr>
            <a:r>
              <a:rPr sz="3450" b="1" i="0">
                <a:solidFill>
                  <a:srgbClr val="16876A"/>
                </a:solidFill>
                <a:latin typeface="Aptos"/>
                <a:ea typeface="Aptos"/>
                <a:cs typeface="Aptos"/>
              </a:rPr>
              <a:t>0.762</a:t>
            </a:r>
          </a:p>
        </p:txBody>
      </p:sp>
      <p:sp>
        <p:nvSpPr>
          <p:cNvPr id="11" name="">
            <a:extLst xmlns:a="http://schemas.openxmlformats.org/drawingml/2006/main">
              <a:ext uri="{FF2B5EF4-FFF2-40B4-BE49-F238E27FC236}">
                <a16:creationId xmlns:a16="http://schemas.microsoft.com/office/drawing/2014/main" id="{127573B2-9456-4950-B525-672354EB3DDC}"/>
              </a:ext>
            </a:extLst>
          </p:cNvPr>
          <p:cNvSpPr>
            <a:spLocks xmlns:a="http://schemas.openxmlformats.org/drawingml/2006/main" noGrp="1"/>
          </p:cNvSpPr>
          <p:nvPr/>
        </p:nvSpPr>
        <p:spPr>
          <a:xfrm xmlns:a="http://schemas.openxmlformats.org/drawingml/2006/main">
            <a:off x="1047750" y="3562350"/>
            <a:ext cx="16478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time-aware R²</a:t>
            </a:r>
          </a:p>
        </p:txBody>
      </p:sp>
      <p:sp>
        <p:nvSpPr>
          <p:cNvPr id="12" name="">
            <a:extLst xmlns:a="http://schemas.openxmlformats.org/drawingml/2006/main">
              <a:ext uri="{FF2B5EF4-FFF2-40B4-BE49-F238E27FC236}">
                <a16:creationId xmlns:a16="http://schemas.microsoft.com/office/drawing/2014/main" id="{284FE1BD-41C3-47BC-8AF6-234E6BF35C5F}"/>
              </a:ext>
            </a:extLst>
          </p:cNvPr>
          <p:cNvSpPr>
            <a:spLocks xmlns:a="http://schemas.openxmlformats.org/drawingml/2006/main" noGrp="1"/>
          </p:cNvSpPr>
          <p:nvPr/>
        </p:nvSpPr>
        <p:spPr>
          <a:xfrm xmlns:a="http://schemas.openxmlformats.org/drawingml/2006/main">
            <a:off x="3171825" y="2762250"/>
            <a:ext cx="2400300" cy="1924050"/>
          </a:xfrm>
          <a:prstGeom xmlns:a="http://schemas.openxmlformats.org/drawingml/2006/main" prst="roundRect">
            <a:avLst>
              <a:gd name="adj" fmla="val 5941"/>
            </a:avLst>
          </a:prstGeom>
          <a:solidFill xmlns:a="http://schemas.openxmlformats.org/drawingml/2006/main">
            <a:srgbClr val="EAF8F3"/>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5EFA84-2F21-40F4-8E5D-5098CD78F844}"/>
              </a:ext>
            </a:extLst>
          </p:cNvPr>
          <p:cNvSpPr>
            <a:spLocks xmlns:a="http://schemas.openxmlformats.org/drawingml/2006/main" noGrp="1"/>
          </p:cNvSpPr>
          <p:nvPr/>
        </p:nvSpPr>
        <p:spPr>
          <a:xfrm xmlns:a="http://schemas.openxmlformats.org/drawingml/2006/main">
            <a:off x="3171825" y="2762250"/>
            <a:ext cx="66675" cy="1924050"/>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14" name="">
            <a:extLst xmlns:a="http://schemas.openxmlformats.org/drawingml/2006/main">
              <a:ext uri="{FF2B5EF4-FFF2-40B4-BE49-F238E27FC236}">
                <a16:creationId xmlns:a16="http://schemas.microsoft.com/office/drawing/2014/main" id="{158EE290-F858-4CF7-92E8-AD7AF702E160}"/>
              </a:ext>
            </a:extLst>
          </p:cNvPr>
          <p:cNvSpPr>
            <a:spLocks xmlns:a="http://schemas.openxmlformats.org/drawingml/2006/main" noGrp="1"/>
          </p:cNvSpPr>
          <p:nvPr/>
        </p:nvSpPr>
        <p:spPr>
          <a:xfrm xmlns:a="http://schemas.openxmlformats.org/drawingml/2006/main">
            <a:off x="3419475" y="2952750"/>
            <a:ext cx="1905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16876A"/>
                </a:solidFill>
                <a:latin typeface="Aptos"/>
                <a:ea typeface="Aptos"/>
                <a:cs typeface="Aptos"/>
              </a:defRPr>
            </a:pPr>
            <a:r>
              <a:rPr sz="3450" b="1" i="0">
                <a:solidFill>
                  <a:srgbClr val="16876A"/>
                </a:solidFill>
                <a:latin typeface="Aptos"/>
                <a:ea typeface="Aptos"/>
                <a:cs typeface="Aptos"/>
              </a:rPr>
              <a:t>−67.5%</a:t>
            </a:r>
          </a:p>
        </p:txBody>
      </p:sp>
      <p:sp>
        <p:nvSpPr>
          <p:cNvPr id="15" name="">
            <a:extLst xmlns:a="http://schemas.openxmlformats.org/drawingml/2006/main">
              <a:ext uri="{FF2B5EF4-FFF2-40B4-BE49-F238E27FC236}">
                <a16:creationId xmlns:a16="http://schemas.microsoft.com/office/drawing/2014/main" id="{5122BDFC-801A-48EA-8BA7-54213CE6CC18}"/>
              </a:ext>
            </a:extLst>
          </p:cNvPr>
          <p:cNvSpPr>
            <a:spLocks xmlns:a="http://schemas.openxmlformats.org/drawingml/2006/main" noGrp="1"/>
          </p:cNvSpPr>
          <p:nvPr/>
        </p:nvSpPr>
        <p:spPr>
          <a:xfrm xmlns:a="http://schemas.openxmlformats.org/drawingml/2006/main">
            <a:off x="3419475" y="3562350"/>
            <a:ext cx="1905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arrival-count MAE</a:t>
            </a:r>
          </a:p>
        </p:txBody>
      </p:sp>
      <p:sp>
        <p:nvSpPr>
          <p:cNvPr id="16" name="">
            <a:extLst xmlns:a="http://schemas.openxmlformats.org/drawingml/2006/main">
              <a:ext uri="{FF2B5EF4-FFF2-40B4-BE49-F238E27FC236}">
                <a16:creationId xmlns:a16="http://schemas.microsoft.com/office/drawing/2014/main" id="{D59A4D20-8A70-44F6-977F-F5E0E46B430C}"/>
              </a:ext>
            </a:extLst>
          </p:cNvPr>
          <p:cNvSpPr>
            <a:spLocks xmlns:a="http://schemas.openxmlformats.org/drawingml/2006/main" noGrp="1"/>
          </p:cNvSpPr>
          <p:nvPr/>
        </p:nvSpPr>
        <p:spPr>
          <a:xfrm xmlns:a="http://schemas.openxmlformats.org/drawingml/2006/main">
            <a:off x="3419475" y="4171950"/>
            <a:ext cx="190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day rate ≈ 8.7× night</a:t>
            </a:r>
          </a:p>
        </p:txBody>
      </p:sp>
      <p:sp>
        <p:nvSpPr>
          <p:cNvPr id="17" name="">
            <a:extLst xmlns:a="http://schemas.openxmlformats.org/drawingml/2006/main">
              <a:ext uri="{FF2B5EF4-FFF2-40B4-BE49-F238E27FC236}">
                <a16:creationId xmlns:a16="http://schemas.microsoft.com/office/drawing/2014/main" id="{51C960DF-B7B2-4554-9FDF-0BC98B1ECA10}"/>
              </a:ext>
            </a:extLst>
          </p:cNvPr>
          <p:cNvSpPr>
            <a:spLocks xmlns:a="http://schemas.openxmlformats.org/drawingml/2006/main" noGrp="1"/>
          </p:cNvSpPr>
          <p:nvPr/>
        </p:nvSpPr>
        <p:spPr>
          <a:xfrm xmlns:a="http://schemas.openxmlformats.org/drawingml/2006/main">
            <a:off x="6334125" y="1381125"/>
            <a:ext cx="5334000" cy="4000500"/>
          </a:xfrm>
          <a:prstGeom xmlns:a="http://schemas.openxmlformats.org/drawingml/2006/main" prst="roundRect">
            <a:avLst>
              <a:gd name="adj" fmla="val 2857"/>
            </a:avLst>
          </a:prstGeom>
          <a:solidFill xmlns:a="http://schemas.openxmlformats.org/drawingml/2006/main">
            <a:srgbClr val="FDECE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0B6A074-B956-4B66-AA38-62D835D3E03E}"/>
              </a:ext>
            </a:extLst>
          </p:cNvPr>
          <p:cNvSpPr>
            <a:spLocks xmlns:a="http://schemas.openxmlformats.org/drawingml/2006/main" noGrp="1"/>
          </p:cNvSpPr>
          <p:nvPr/>
        </p:nvSpPr>
        <p:spPr>
          <a:xfrm xmlns:a="http://schemas.openxmlformats.org/drawingml/2006/main">
            <a:off x="6610350" y="1657350"/>
            <a:ext cx="295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i="0">
                <a:solidFill>
                  <a:srgbClr val="C8102E"/>
                </a:solidFill>
                <a:latin typeface="Aptos"/>
                <a:ea typeface="Aptos"/>
                <a:cs typeface="Aptos"/>
              </a:defRPr>
            </a:pPr>
            <a:r>
              <a:rPr sz="1350" b="1" i="0">
                <a:solidFill>
                  <a:srgbClr val="C8102E"/>
                </a:solidFill>
                <a:latin typeface="Aptos"/>
                <a:ea typeface="Aptos"/>
                <a:cs typeface="Aptos"/>
              </a:rPr>
              <a:t>DOMINANT RMG DURATIONS</a:t>
            </a:r>
          </a:p>
        </p:txBody>
      </p:sp>
      <p:sp>
        <p:nvSpPr>
          <p:cNvPr id="19" name="">
            <a:extLst xmlns:a="http://schemas.openxmlformats.org/drawingml/2006/main">
              <a:ext uri="{FF2B5EF4-FFF2-40B4-BE49-F238E27FC236}">
                <a16:creationId xmlns:a16="http://schemas.microsoft.com/office/drawing/2014/main" id="{EE3FD001-E44C-4C8D-94F2-EC7288B87909}"/>
              </a:ext>
            </a:extLst>
          </p:cNvPr>
          <p:cNvSpPr>
            <a:spLocks xmlns:a="http://schemas.openxmlformats.org/drawingml/2006/main" noGrp="1"/>
          </p:cNvSpPr>
          <p:nvPr/>
        </p:nvSpPr>
        <p:spPr>
          <a:xfrm xmlns:a="http://schemas.openxmlformats.org/drawingml/2006/main">
            <a:off x="6610350" y="2057400"/>
            <a:ext cx="4476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1" i="0">
                <a:solidFill>
                  <a:srgbClr val="0B1220"/>
                </a:solidFill>
                <a:latin typeface="Aptos"/>
                <a:ea typeface="Aptos"/>
                <a:cs typeface="Aptos"/>
              </a:defRPr>
            </a:pPr>
            <a:r>
              <a:rPr sz="2250" b="1" i="0">
                <a:solidFill>
                  <a:srgbClr val="0B1220"/>
                </a:solidFill>
                <a:latin typeface="Aptos"/>
                <a:ea typeface="Aptos"/>
                <a:cs typeface="Aptos"/>
              </a:rPr>
              <a:t>Available attributes explain almost nothing</a:t>
            </a:r>
          </a:p>
        </p:txBody>
      </p:sp>
      <p:sp>
        <p:nvSpPr>
          <p:cNvPr id="20" name="">
            <a:extLst xmlns:a="http://schemas.openxmlformats.org/drawingml/2006/main">
              <a:ext uri="{FF2B5EF4-FFF2-40B4-BE49-F238E27FC236}">
                <a16:creationId xmlns:a16="http://schemas.microsoft.com/office/drawing/2014/main" id="{EF7DA080-02E1-4D7F-A828-86F482D62E63}"/>
              </a:ext>
            </a:extLst>
          </p:cNvPr>
          <p:cNvSpPr>
            <a:spLocks xmlns:a="http://schemas.openxmlformats.org/drawingml/2006/main" noGrp="1"/>
          </p:cNvSpPr>
          <p:nvPr/>
        </p:nvSpPr>
        <p:spPr>
          <a:xfrm xmlns:a="http://schemas.openxmlformats.org/drawingml/2006/main">
            <a:off x="6610350" y="3000375"/>
            <a:ext cx="2143125" cy="1685925"/>
          </a:xfrm>
          <a:prstGeom xmlns:a="http://schemas.openxmlformats.org/drawingml/2006/main" prst="roundRect">
            <a:avLst>
              <a:gd name="adj" fmla="val 6780"/>
            </a:avLst>
          </a:prstGeom>
          <a:solidFill xmlns:a="http://schemas.openxmlformats.org/drawingml/2006/main">
            <a:srgbClr val="FDECE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73DFA50-1693-446A-A3A2-7B47CF4FD2CA}"/>
              </a:ext>
            </a:extLst>
          </p:cNvPr>
          <p:cNvSpPr>
            <a:spLocks xmlns:a="http://schemas.openxmlformats.org/drawingml/2006/main" noGrp="1"/>
          </p:cNvSpPr>
          <p:nvPr/>
        </p:nvSpPr>
        <p:spPr>
          <a:xfrm xmlns:a="http://schemas.openxmlformats.org/drawingml/2006/main">
            <a:off x="6610350" y="3000375"/>
            <a:ext cx="66675" cy="1685925"/>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2" name="">
            <a:extLst xmlns:a="http://schemas.openxmlformats.org/drawingml/2006/main">
              <a:ext uri="{FF2B5EF4-FFF2-40B4-BE49-F238E27FC236}">
                <a16:creationId xmlns:a16="http://schemas.microsoft.com/office/drawing/2014/main" id="{E0A35499-5182-4DCB-932D-6E09183C67D8}"/>
              </a:ext>
            </a:extLst>
          </p:cNvPr>
          <p:cNvSpPr>
            <a:spLocks xmlns:a="http://schemas.openxmlformats.org/drawingml/2006/main" noGrp="1"/>
          </p:cNvSpPr>
          <p:nvPr/>
        </p:nvSpPr>
        <p:spPr>
          <a:xfrm xmlns:a="http://schemas.openxmlformats.org/drawingml/2006/main">
            <a:off x="6858000" y="3190875"/>
            <a:ext cx="16478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8102E"/>
                </a:solidFill>
                <a:latin typeface="Aptos"/>
                <a:ea typeface="Aptos"/>
                <a:cs typeface="Aptos"/>
              </a:defRPr>
            </a:pPr>
            <a:r>
              <a:rPr sz="3450" b="1" i="0">
                <a:solidFill>
                  <a:srgbClr val="C8102E"/>
                </a:solidFill>
                <a:latin typeface="Aptos"/>
                <a:ea typeface="Aptos"/>
                <a:cs typeface="Aptos"/>
              </a:rPr>
              <a:t>−0.005</a:t>
            </a:r>
          </a:p>
        </p:txBody>
      </p:sp>
      <p:sp>
        <p:nvSpPr>
          <p:cNvPr id="23" name="">
            <a:extLst xmlns:a="http://schemas.openxmlformats.org/drawingml/2006/main">
              <a:ext uri="{FF2B5EF4-FFF2-40B4-BE49-F238E27FC236}">
                <a16:creationId xmlns:a16="http://schemas.microsoft.com/office/drawing/2014/main" id="{00A5B4BB-026E-4886-8F2A-F0BEC3A13320}"/>
              </a:ext>
            </a:extLst>
          </p:cNvPr>
          <p:cNvSpPr>
            <a:spLocks xmlns:a="http://schemas.openxmlformats.org/drawingml/2006/main" noGrp="1"/>
          </p:cNvSpPr>
          <p:nvPr/>
        </p:nvSpPr>
        <p:spPr>
          <a:xfrm xmlns:a="http://schemas.openxmlformats.org/drawingml/2006/main">
            <a:off x="6858000" y="3800475"/>
            <a:ext cx="16478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RMG receive R²</a:t>
            </a:r>
          </a:p>
        </p:txBody>
      </p:sp>
      <p:sp>
        <p:nvSpPr>
          <p:cNvPr id="24" name="">
            <a:extLst xmlns:a="http://schemas.openxmlformats.org/drawingml/2006/main">
              <a:ext uri="{FF2B5EF4-FFF2-40B4-BE49-F238E27FC236}">
                <a16:creationId xmlns:a16="http://schemas.microsoft.com/office/drawing/2014/main" id="{29049E79-672D-471A-BFB4-1EB7C55A61B7}"/>
              </a:ext>
            </a:extLst>
          </p:cNvPr>
          <p:cNvSpPr>
            <a:spLocks xmlns:a="http://schemas.openxmlformats.org/drawingml/2006/main" noGrp="1"/>
          </p:cNvSpPr>
          <p:nvPr/>
        </p:nvSpPr>
        <p:spPr>
          <a:xfrm xmlns:a="http://schemas.openxmlformats.org/drawingml/2006/main">
            <a:off x="8982075" y="3000375"/>
            <a:ext cx="2400300" cy="1685925"/>
          </a:xfrm>
          <a:prstGeom xmlns:a="http://schemas.openxmlformats.org/drawingml/2006/main" prst="roundRect">
            <a:avLst>
              <a:gd name="adj" fmla="val 6780"/>
            </a:avLst>
          </a:prstGeom>
          <a:solidFill xmlns:a="http://schemas.openxmlformats.org/drawingml/2006/main">
            <a:srgbClr val="FDECE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B2CCD40-B03D-4FF2-9132-630E74E80886}"/>
              </a:ext>
            </a:extLst>
          </p:cNvPr>
          <p:cNvSpPr>
            <a:spLocks xmlns:a="http://schemas.openxmlformats.org/drawingml/2006/main" noGrp="1"/>
          </p:cNvSpPr>
          <p:nvPr/>
        </p:nvSpPr>
        <p:spPr>
          <a:xfrm xmlns:a="http://schemas.openxmlformats.org/drawingml/2006/main">
            <a:off x="8982075" y="3000375"/>
            <a:ext cx="66675" cy="1685925"/>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6" name="">
            <a:extLst xmlns:a="http://schemas.openxmlformats.org/drawingml/2006/main">
              <a:ext uri="{FF2B5EF4-FFF2-40B4-BE49-F238E27FC236}">
                <a16:creationId xmlns:a16="http://schemas.microsoft.com/office/drawing/2014/main" id="{327AD2FE-70CE-4973-96BE-B878CEE6145C}"/>
              </a:ext>
            </a:extLst>
          </p:cNvPr>
          <p:cNvSpPr>
            <a:spLocks xmlns:a="http://schemas.openxmlformats.org/drawingml/2006/main" noGrp="1"/>
          </p:cNvSpPr>
          <p:nvPr/>
        </p:nvSpPr>
        <p:spPr>
          <a:xfrm xmlns:a="http://schemas.openxmlformats.org/drawingml/2006/main">
            <a:off x="9229725" y="3190875"/>
            <a:ext cx="1905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8102E"/>
                </a:solidFill>
                <a:latin typeface="Aptos"/>
                <a:ea typeface="Aptos"/>
                <a:cs typeface="Aptos"/>
              </a:defRPr>
            </a:pPr>
            <a:r>
              <a:rPr sz="3450" b="1" i="0">
                <a:solidFill>
                  <a:srgbClr val="C8102E"/>
                </a:solidFill>
                <a:latin typeface="Aptos"/>
                <a:ea typeface="Aptos"/>
                <a:cs typeface="Aptos"/>
              </a:rPr>
              <a:t>−0.004</a:t>
            </a:r>
          </a:p>
        </p:txBody>
      </p:sp>
      <p:sp>
        <p:nvSpPr>
          <p:cNvPr id="27" name="">
            <a:extLst xmlns:a="http://schemas.openxmlformats.org/drawingml/2006/main">
              <a:ext uri="{FF2B5EF4-FFF2-40B4-BE49-F238E27FC236}">
                <a16:creationId xmlns:a16="http://schemas.microsoft.com/office/drawing/2014/main" id="{5BC27733-276F-4E6B-9A19-0823BF9B09C0}"/>
              </a:ext>
            </a:extLst>
          </p:cNvPr>
          <p:cNvSpPr>
            <a:spLocks xmlns:a="http://schemas.openxmlformats.org/drawingml/2006/main" noGrp="1"/>
          </p:cNvSpPr>
          <p:nvPr/>
        </p:nvSpPr>
        <p:spPr>
          <a:xfrm xmlns:a="http://schemas.openxmlformats.org/drawingml/2006/main">
            <a:off x="9229725" y="3800475"/>
            <a:ext cx="1905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RMG delivery R²</a:t>
            </a:r>
          </a:p>
        </p:txBody>
      </p:sp>
      <p:sp>
        <p:nvSpPr>
          <p:cNvPr id="28" name="">
            <a:extLst xmlns:a="http://schemas.openxmlformats.org/drawingml/2006/main">
              <a:ext uri="{FF2B5EF4-FFF2-40B4-BE49-F238E27FC236}">
                <a16:creationId xmlns:a16="http://schemas.microsoft.com/office/drawing/2014/main" id="{52A8B994-BD61-430C-9323-3627F57C7219}"/>
              </a:ext>
            </a:extLst>
          </p:cNvPr>
          <p:cNvSpPr>
            <a:spLocks xmlns:a="http://schemas.openxmlformats.org/drawingml/2006/main" noGrp="1"/>
          </p:cNvSpPr>
          <p:nvPr/>
        </p:nvSpPr>
        <p:spPr>
          <a:xfrm xmlns:a="http://schemas.openxmlformats.org/drawingml/2006/main">
            <a:off x="1666875" y="5619750"/>
            <a:ext cx="8858250" cy="571500"/>
          </a:xfrm>
          <a:prstGeom xmlns:a="http://schemas.openxmlformats.org/drawingml/2006/main" prst="roundRect">
            <a:avLst>
              <a:gd name="adj" fmla="val 20000"/>
            </a:avLst>
          </a:prstGeom>
          <a:solidFill xmlns:a="http://schemas.openxmlformats.org/drawingml/2006/main">
            <a:srgbClr val="F8FAFC"/>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6309442-8B93-4E1B-80B4-E058D8236466}"/>
              </a:ext>
            </a:extLst>
          </p:cNvPr>
          <p:cNvSpPr>
            <a:spLocks xmlns:a="http://schemas.openxmlformats.org/drawingml/2006/main" noGrp="1"/>
          </p:cNvSpPr>
          <p:nvPr/>
        </p:nvSpPr>
        <p:spPr>
          <a:xfrm xmlns:a="http://schemas.openxmlformats.org/drawingml/2006/main">
            <a:off x="1905000" y="5753100"/>
            <a:ext cx="838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i="0">
                <a:solidFill>
                  <a:srgbClr val="0B1220"/>
                </a:solidFill>
                <a:latin typeface="Aptos"/>
                <a:ea typeface="Aptos"/>
                <a:cs typeface="Aptos"/>
              </a:defRPr>
            </a:pPr>
            <a:r>
              <a:rPr sz="1725" b="1" i="0">
                <a:solidFill>
                  <a:srgbClr val="0B1220"/>
                </a:solidFill>
                <a:latin typeface="Aptos"/>
                <a:ea typeface="Aptos"/>
                <a:cs typeface="Aptos"/>
              </a:rPr>
              <a:t>Data awareness helps only when information is available at the decision point and remains predictive over time.</a:t>
            </a:r>
          </a:p>
        </p:txBody>
      </p:sp>
    </p:spTree>
    <p:extLst>
      <p:ext uri="{BB962C8B-B14F-4D97-AF65-F5344CB8AC3E}">
        <p14:creationId xmlns:p14="http://schemas.microsoft.com/office/powerpoint/2010/main" val="13848077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D8519EC5-0E8A-4FA3-B01C-67A894BEDAF4}"/>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The model learns observed patterns—not missing mechanisms</a:t>
            </a:r>
          </a:p>
        </p:txBody>
      </p:sp>
      <p:sp>
        <p:nvSpPr>
          <p:cNvPr id="2" name="">
            <a:extLst xmlns:a="http://schemas.openxmlformats.org/drawingml/2006/main">
              <a:ext uri="{FF2B5EF4-FFF2-40B4-BE49-F238E27FC236}">
                <a16:creationId xmlns:a16="http://schemas.microsoft.com/office/drawing/2014/main" id="{352E7F98-6130-4D62-A199-9F1E104FDFFE}"/>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6D6EC843-346A-4F7F-AE9C-DA3F12783C9D}"/>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F34A2036-D680-4BCA-9531-AB0FD2D06335}"/>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10</a:t>
            </a:r>
          </a:p>
        </p:txBody>
      </p:sp>
      <p:sp>
        <p:nvSpPr>
          <p:cNvPr id="5" name="">
            <a:extLst xmlns:a="http://schemas.openxmlformats.org/drawingml/2006/main">
              <a:ext uri="{FF2B5EF4-FFF2-40B4-BE49-F238E27FC236}">
                <a16:creationId xmlns:a16="http://schemas.microsoft.com/office/drawing/2014/main" id="{F2B6F03C-488B-4B20-855F-87ACBB8FC92E}"/>
              </a:ext>
            </a:extLst>
          </p:cNvPr>
          <p:cNvSpPr>
            <a:spLocks xmlns:a="http://schemas.openxmlformats.org/drawingml/2006/main" noGrp="1"/>
          </p:cNvSpPr>
          <p:nvPr/>
        </p:nvSpPr>
        <p:spPr>
          <a:xfrm xmlns:a="http://schemas.openxmlformats.org/drawingml/2006/main">
            <a:off x="904875" y="137160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16876A"/>
                </a:solidFill>
                <a:latin typeface="Aptos"/>
                <a:ea typeface="Aptos"/>
                <a:cs typeface="Aptos"/>
              </a:defRPr>
            </a:pPr>
            <a:r>
              <a:rPr sz="2100" b="1" i="0">
                <a:solidFill>
                  <a:srgbClr val="16876A"/>
                </a:solidFill>
                <a:latin typeface="Aptos"/>
                <a:ea typeface="Aptos"/>
                <a:cs typeface="Aptos"/>
              </a:rPr>
              <a:t>Represented in the log</a:t>
            </a:r>
          </a:p>
        </p:txBody>
      </p:sp>
      <p:sp>
        <p:nvSpPr>
          <p:cNvPr id="6" name="">
            <a:extLst xmlns:a="http://schemas.openxmlformats.org/drawingml/2006/main">
              <a:ext uri="{FF2B5EF4-FFF2-40B4-BE49-F238E27FC236}">
                <a16:creationId xmlns:a16="http://schemas.microsoft.com/office/drawing/2014/main" id="{AF349599-D71D-4DFD-B0D6-B2F1E0C0C355}"/>
              </a:ext>
            </a:extLst>
          </p:cNvPr>
          <p:cNvSpPr>
            <a:spLocks xmlns:a="http://schemas.openxmlformats.org/drawingml/2006/main" noGrp="1"/>
          </p:cNvSpPr>
          <p:nvPr/>
        </p:nvSpPr>
        <p:spPr>
          <a:xfrm xmlns:a="http://schemas.openxmlformats.org/drawingml/2006/main">
            <a:off x="7096125" y="137160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i="0">
                <a:solidFill>
                  <a:srgbClr val="C8102E"/>
                </a:solidFill>
                <a:latin typeface="Aptos"/>
                <a:ea typeface="Aptos"/>
                <a:cs typeface="Aptos"/>
              </a:defRPr>
            </a:pPr>
            <a:r>
              <a:rPr sz="2100" b="1" i="0">
                <a:solidFill>
                  <a:srgbClr val="C8102E"/>
                </a:solidFill>
                <a:latin typeface="Aptos"/>
                <a:ea typeface="Aptos"/>
                <a:cs typeface="Aptos"/>
              </a:rPr>
              <a:t>Required for a physical counterfactual</a:t>
            </a:r>
          </a:p>
        </p:txBody>
      </p:sp>
      <p:sp>
        <p:nvSpPr>
          <p:cNvPr id="7" name="">
            <a:extLst xmlns:a="http://schemas.openxmlformats.org/drawingml/2006/main">
              <a:ext uri="{FF2B5EF4-FFF2-40B4-BE49-F238E27FC236}">
                <a16:creationId xmlns:a16="http://schemas.microsoft.com/office/drawing/2014/main" id="{6B0D993C-A064-4A3C-AB60-B364BB347A10}"/>
              </a:ext>
            </a:extLst>
          </p:cNvPr>
          <p:cNvSpPr>
            <a:spLocks xmlns:a="http://schemas.openxmlformats.org/drawingml/2006/main" noGrp="1"/>
          </p:cNvSpPr>
          <p:nvPr/>
        </p:nvSpPr>
        <p:spPr>
          <a:xfrm xmlns:a="http://schemas.openxmlformats.org/drawingml/2006/main">
            <a:off x="1047750" y="2019300"/>
            <a:ext cx="3762375" cy="552450"/>
          </a:xfrm>
          <a:prstGeom xmlns:a="http://schemas.openxmlformats.org/drawingml/2006/main" prst="roundRect">
            <a:avLst>
              <a:gd name="adj" fmla="val 20690"/>
            </a:avLst>
          </a:prstGeom>
          <a:solidFill xmlns:a="http://schemas.openxmlformats.org/drawingml/2006/main">
            <a:srgbClr val="EAF8F3"/>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462CBD2-0103-4FA5-99E5-3A911E273B31}"/>
              </a:ext>
            </a:extLst>
          </p:cNvPr>
          <p:cNvSpPr>
            <a:spLocks xmlns:a="http://schemas.openxmlformats.org/drawingml/2006/main" noGrp="1"/>
          </p:cNvSpPr>
          <p:nvPr/>
        </p:nvSpPr>
        <p:spPr>
          <a:xfrm xmlns:a="http://schemas.openxmlformats.org/drawingml/2006/main">
            <a:off x="1238250" y="2171700"/>
            <a:ext cx="247650" cy="2476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9" name="">
            <a:extLst xmlns:a="http://schemas.openxmlformats.org/drawingml/2006/main">
              <a:ext uri="{FF2B5EF4-FFF2-40B4-BE49-F238E27FC236}">
                <a16:creationId xmlns:a16="http://schemas.microsoft.com/office/drawing/2014/main" id="{ED5A74E5-44AE-47F8-B00E-5B48460930A2}"/>
              </a:ext>
            </a:extLst>
          </p:cNvPr>
          <p:cNvSpPr>
            <a:spLocks xmlns:a="http://schemas.openxmlformats.org/drawingml/2006/main" noGrp="1"/>
          </p:cNvSpPr>
          <p:nvPr/>
        </p:nvSpPr>
        <p:spPr>
          <a:xfrm xmlns:a="http://schemas.openxmlformats.org/drawingml/2006/main">
            <a:off x="1238250" y="21907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C8B0D71A-3775-43B7-B391-C908229BFA46}"/>
              </a:ext>
            </a:extLst>
          </p:cNvPr>
          <p:cNvSpPr>
            <a:spLocks xmlns:a="http://schemas.openxmlformats.org/drawingml/2006/main" noGrp="1"/>
          </p:cNvSpPr>
          <p:nvPr/>
        </p:nvSpPr>
        <p:spPr>
          <a:xfrm xmlns:a="http://schemas.openxmlformats.org/drawingml/2006/main">
            <a:off x="1657350" y="21621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event order</a:t>
            </a:r>
          </a:p>
        </p:txBody>
      </p:sp>
      <p:sp>
        <p:nvSpPr>
          <p:cNvPr id="11" name="">
            <a:extLst xmlns:a="http://schemas.openxmlformats.org/drawingml/2006/main">
              <a:ext uri="{FF2B5EF4-FFF2-40B4-BE49-F238E27FC236}">
                <a16:creationId xmlns:a16="http://schemas.microsoft.com/office/drawing/2014/main" id="{ADF82BA6-D604-4DEE-AEB4-7B533EF36E39}"/>
              </a:ext>
            </a:extLst>
          </p:cNvPr>
          <p:cNvSpPr>
            <a:spLocks xmlns:a="http://schemas.openxmlformats.org/drawingml/2006/main" noGrp="1"/>
          </p:cNvSpPr>
          <p:nvPr/>
        </p:nvSpPr>
        <p:spPr>
          <a:xfrm xmlns:a="http://schemas.openxmlformats.org/drawingml/2006/main">
            <a:off x="1047750" y="2800350"/>
            <a:ext cx="3762375" cy="552450"/>
          </a:xfrm>
          <a:prstGeom xmlns:a="http://schemas.openxmlformats.org/drawingml/2006/main" prst="roundRect">
            <a:avLst>
              <a:gd name="adj" fmla="val 20690"/>
            </a:avLst>
          </a:prstGeom>
          <a:solidFill xmlns:a="http://schemas.openxmlformats.org/drawingml/2006/main">
            <a:srgbClr val="EAF8F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DC167E7-A44F-417E-BD7A-B545743C9E18}"/>
              </a:ext>
            </a:extLst>
          </p:cNvPr>
          <p:cNvSpPr>
            <a:spLocks xmlns:a="http://schemas.openxmlformats.org/drawingml/2006/main" noGrp="1"/>
          </p:cNvSpPr>
          <p:nvPr/>
        </p:nvSpPr>
        <p:spPr>
          <a:xfrm xmlns:a="http://schemas.openxmlformats.org/drawingml/2006/main">
            <a:off x="1238250" y="2952750"/>
            <a:ext cx="247650" cy="2476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13" name="">
            <a:extLst xmlns:a="http://schemas.openxmlformats.org/drawingml/2006/main">
              <a:ext uri="{FF2B5EF4-FFF2-40B4-BE49-F238E27FC236}">
                <a16:creationId xmlns:a16="http://schemas.microsoft.com/office/drawing/2014/main" id="{9C0C3164-9321-4BAE-8CFA-0940E9595E9B}"/>
              </a:ext>
            </a:extLst>
          </p:cNvPr>
          <p:cNvSpPr>
            <a:spLocks xmlns:a="http://schemas.openxmlformats.org/drawingml/2006/main" noGrp="1"/>
          </p:cNvSpPr>
          <p:nvPr/>
        </p:nvSpPr>
        <p:spPr>
          <a:xfrm xmlns:a="http://schemas.openxmlformats.org/drawingml/2006/main">
            <a:off x="1238250" y="297180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14" name="">
            <a:extLst xmlns:a="http://schemas.openxmlformats.org/drawingml/2006/main">
              <a:ext uri="{FF2B5EF4-FFF2-40B4-BE49-F238E27FC236}">
                <a16:creationId xmlns:a16="http://schemas.microsoft.com/office/drawing/2014/main" id="{0B6BD19D-5770-4E3D-B99F-23ACA06A8239}"/>
              </a:ext>
            </a:extLst>
          </p:cNvPr>
          <p:cNvSpPr>
            <a:spLocks xmlns:a="http://schemas.openxmlformats.org/drawingml/2006/main" noGrp="1"/>
          </p:cNvSpPr>
          <p:nvPr/>
        </p:nvSpPr>
        <p:spPr>
          <a:xfrm xmlns:a="http://schemas.openxmlformats.org/drawingml/2006/main">
            <a:off x="1657350" y="29432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calendar pattern</a:t>
            </a:r>
          </a:p>
        </p:txBody>
      </p:sp>
      <p:sp>
        <p:nvSpPr>
          <p:cNvPr id="15" name="">
            <a:extLst xmlns:a="http://schemas.openxmlformats.org/drawingml/2006/main">
              <a:ext uri="{FF2B5EF4-FFF2-40B4-BE49-F238E27FC236}">
                <a16:creationId xmlns:a16="http://schemas.microsoft.com/office/drawing/2014/main" id="{A89AD13E-C11B-4FFE-B9AD-FCB560D7032C}"/>
              </a:ext>
            </a:extLst>
          </p:cNvPr>
          <p:cNvSpPr>
            <a:spLocks xmlns:a="http://schemas.openxmlformats.org/drawingml/2006/main" noGrp="1"/>
          </p:cNvSpPr>
          <p:nvPr/>
        </p:nvSpPr>
        <p:spPr>
          <a:xfrm xmlns:a="http://schemas.openxmlformats.org/drawingml/2006/main">
            <a:off x="1047750" y="3581400"/>
            <a:ext cx="3762375" cy="552450"/>
          </a:xfrm>
          <a:prstGeom xmlns:a="http://schemas.openxmlformats.org/drawingml/2006/main" prst="roundRect">
            <a:avLst>
              <a:gd name="adj" fmla="val 20690"/>
            </a:avLst>
          </a:prstGeom>
          <a:solidFill xmlns:a="http://schemas.openxmlformats.org/drawingml/2006/main">
            <a:srgbClr val="EAF8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7F4DACD-ED73-40E3-BE4F-A41AB30898DE}"/>
              </a:ext>
            </a:extLst>
          </p:cNvPr>
          <p:cNvSpPr>
            <a:spLocks xmlns:a="http://schemas.openxmlformats.org/drawingml/2006/main" noGrp="1"/>
          </p:cNvSpPr>
          <p:nvPr/>
        </p:nvSpPr>
        <p:spPr>
          <a:xfrm xmlns:a="http://schemas.openxmlformats.org/drawingml/2006/main">
            <a:off x="1238250" y="3733800"/>
            <a:ext cx="247650" cy="2476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17" name="">
            <a:extLst xmlns:a="http://schemas.openxmlformats.org/drawingml/2006/main">
              <a:ext uri="{FF2B5EF4-FFF2-40B4-BE49-F238E27FC236}">
                <a16:creationId xmlns:a16="http://schemas.microsoft.com/office/drawing/2014/main" id="{DD994272-AB4D-4867-90B9-57779D07A233}"/>
              </a:ext>
            </a:extLst>
          </p:cNvPr>
          <p:cNvSpPr>
            <a:spLocks xmlns:a="http://schemas.openxmlformats.org/drawingml/2006/main" noGrp="1"/>
          </p:cNvSpPr>
          <p:nvPr/>
        </p:nvSpPr>
        <p:spPr>
          <a:xfrm xmlns:a="http://schemas.openxmlformats.org/drawingml/2006/main">
            <a:off x="1238250" y="375285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3FCF4830-47FF-4416-B8A3-0529135FE345}"/>
              </a:ext>
            </a:extLst>
          </p:cNvPr>
          <p:cNvSpPr>
            <a:spLocks xmlns:a="http://schemas.openxmlformats.org/drawingml/2006/main" noGrp="1"/>
          </p:cNvSpPr>
          <p:nvPr/>
        </p:nvSpPr>
        <p:spPr>
          <a:xfrm xmlns:a="http://schemas.openxmlformats.org/drawingml/2006/main">
            <a:off x="1657350" y="37242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activity labels</a:t>
            </a:r>
          </a:p>
        </p:txBody>
      </p:sp>
      <p:sp>
        <p:nvSpPr>
          <p:cNvPr id="19" name="">
            <a:extLst xmlns:a="http://schemas.openxmlformats.org/drawingml/2006/main">
              <a:ext uri="{FF2B5EF4-FFF2-40B4-BE49-F238E27FC236}">
                <a16:creationId xmlns:a16="http://schemas.microsoft.com/office/drawing/2014/main" id="{2E74865C-9465-4933-AFA4-252B54D170CB}"/>
              </a:ext>
            </a:extLst>
          </p:cNvPr>
          <p:cNvSpPr>
            <a:spLocks xmlns:a="http://schemas.openxmlformats.org/drawingml/2006/main" noGrp="1"/>
          </p:cNvSpPr>
          <p:nvPr/>
        </p:nvSpPr>
        <p:spPr>
          <a:xfrm xmlns:a="http://schemas.openxmlformats.org/drawingml/2006/main">
            <a:off x="1047750" y="4362450"/>
            <a:ext cx="3762375" cy="552450"/>
          </a:xfrm>
          <a:prstGeom xmlns:a="http://schemas.openxmlformats.org/drawingml/2006/main" prst="roundRect">
            <a:avLst>
              <a:gd name="adj" fmla="val 20690"/>
            </a:avLst>
          </a:prstGeom>
          <a:solidFill xmlns:a="http://schemas.openxmlformats.org/drawingml/2006/main">
            <a:srgbClr val="EAF8F3"/>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847D53C-2E71-4D40-8958-D7B91595B586}"/>
              </a:ext>
            </a:extLst>
          </p:cNvPr>
          <p:cNvSpPr>
            <a:spLocks xmlns:a="http://schemas.openxmlformats.org/drawingml/2006/main" noGrp="1"/>
          </p:cNvSpPr>
          <p:nvPr/>
        </p:nvSpPr>
        <p:spPr>
          <a:xfrm xmlns:a="http://schemas.openxmlformats.org/drawingml/2006/main">
            <a:off x="1238250" y="4514850"/>
            <a:ext cx="247650" cy="2476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21" name="">
            <a:extLst xmlns:a="http://schemas.openxmlformats.org/drawingml/2006/main">
              <a:ext uri="{FF2B5EF4-FFF2-40B4-BE49-F238E27FC236}">
                <a16:creationId xmlns:a16="http://schemas.microsoft.com/office/drawing/2014/main" id="{FBAF2900-4169-4259-B963-D7DCB88B104F}"/>
              </a:ext>
            </a:extLst>
          </p:cNvPr>
          <p:cNvSpPr>
            <a:spLocks xmlns:a="http://schemas.openxmlformats.org/drawingml/2006/main" noGrp="1"/>
          </p:cNvSpPr>
          <p:nvPr/>
        </p:nvSpPr>
        <p:spPr>
          <a:xfrm xmlns:a="http://schemas.openxmlformats.org/drawingml/2006/main">
            <a:off x="1238250" y="4533900"/>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2005C7A6-9186-4FEC-9F0B-CE6F5CD23465}"/>
              </a:ext>
            </a:extLst>
          </p:cNvPr>
          <p:cNvSpPr>
            <a:spLocks xmlns:a="http://schemas.openxmlformats.org/drawingml/2006/main" noGrp="1"/>
          </p:cNvSpPr>
          <p:nvPr/>
        </p:nvSpPr>
        <p:spPr>
          <a:xfrm xmlns:a="http://schemas.openxmlformats.org/drawingml/2006/main">
            <a:off x="1657350" y="45053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statistical resource IDs</a:t>
            </a:r>
          </a:p>
        </p:txBody>
      </p:sp>
      <p:sp>
        <p:nvSpPr>
          <p:cNvPr id="23" name="">
            <a:extLst xmlns:a="http://schemas.openxmlformats.org/drawingml/2006/main">
              <a:ext uri="{FF2B5EF4-FFF2-40B4-BE49-F238E27FC236}">
                <a16:creationId xmlns:a16="http://schemas.microsoft.com/office/drawing/2014/main" id="{8F117E9A-42DC-45CE-9C1C-CD7DE9152692}"/>
              </a:ext>
            </a:extLst>
          </p:cNvPr>
          <p:cNvSpPr>
            <a:spLocks xmlns:a="http://schemas.openxmlformats.org/drawingml/2006/main" noGrp="1"/>
          </p:cNvSpPr>
          <p:nvPr/>
        </p:nvSpPr>
        <p:spPr>
          <a:xfrm xmlns:a="http://schemas.openxmlformats.org/drawingml/2006/main">
            <a:off x="7381875" y="2019300"/>
            <a:ext cx="3762375" cy="552450"/>
          </a:xfrm>
          <a:prstGeom xmlns:a="http://schemas.openxmlformats.org/drawingml/2006/main" prst="roundRect">
            <a:avLst>
              <a:gd name="adj" fmla="val 20690"/>
            </a:avLst>
          </a:prstGeom>
          <a:solidFill xmlns:a="http://schemas.openxmlformats.org/drawingml/2006/main">
            <a:srgbClr val="FDECEF"/>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7DB91B3-6154-4946-A815-71F334663FC3}"/>
              </a:ext>
            </a:extLst>
          </p:cNvPr>
          <p:cNvSpPr>
            <a:spLocks xmlns:a="http://schemas.openxmlformats.org/drawingml/2006/main" noGrp="1"/>
          </p:cNvSpPr>
          <p:nvPr/>
        </p:nvSpPr>
        <p:spPr>
          <a:xfrm xmlns:a="http://schemas.openxmlformats.org/drawingml/2006/main">
            <a:off x="7572375" y="2171700"/>
            <a:ext cx="247650" cy="2476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25" name="">
            <a:extLst xmlns:a="http://schemas.openxmlformats.org/drawingml/2006/main">
              <a:ext uri="{FF2B5EF4-FFF2-40B4-BE49-F238E27FC236}">
                <a16:creationId xmlns:a16="http://schemas.microsoft.com/office/drawing/2014/main" id="{56A2A354-CA69-4CC1-B0F3-E380DDA29181}"/>
              </a:ext>
            </a:extLst>
          </p:cNvPr>
          <p:cNvSpPr>
            <a:spLocks xmlns:a="http://schemas.openxmlformats.org/drawingml/2006/main" noGrp="1"/>
          </p:cNvSpPr>
          <p:nvPr/>
        </p:nvSpPr>
        <p:spPr>
          <a:xfrm xmlns:a="http://schemas.openxmlformats.org/drawingml/2006/main">
            <a:off x="7572375" y="2181225"/>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26" name="">
            <a:extLst xmlns:a="http://schemas.openxmlformats.org/drawingml/2006/main">
              <a:ext uri="{FF2B5EF4-FFF2-40B4-BE49-F238E27FC236}">
                <a16:creationId xmlns:a16="http://schemas.microsoft.com/office/drawing/2014/main" id="{FF2C9B3F-D25F-4431-8962-F3F8F7CE44C1}"/>
              </a:ext>
            </a:extLst>
          </p:cNvPr>
          <p:cNvSpPr>
            <a:spLocks xmlns:a="http://schemas.openxmlformats.org/drawingml/2006/main" noGrp="1"/>
          </p:cNvSpPr>
          <p:nvPr/>
        </p:nvSpPr>
        <p:spPr>
          <a:xfrm xmlns:a="http://schemas.openxmlformats.org/drawingml/2006/main">
            <a:off x="7991475" y="21621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explicit queue state</a:t>
            </a:r>
          </a:p>
        </p:txBody>
      </p:sp>
      <p:sp>
        <p:nvSpPr>
          <p:cNvPr id="27" name="">
            <a:extLst xmlns:a="http://schemas.openxmlformats.org/drawingml/2006/main">
              <a:ext uri="{FF2B5EF4-FFF2-40B4-BE49-F238E27FC236}">
                <a16:creationId xmlns:a16="http://schemas.microsoft.com/office/drawing/2014/main" id="{B2166CF6-BF39-4804-B84C-A26A3B2CC9A7}"/>
              </a:ext>
            </a:extLst>
          </p:cNvPr>
          <p:cNvSpPr>
            <a:spLocks xmlns:a="http://schemas.openxmlformats.org/drawingml/2006/main" noGrp="1"/>
          </p:cNvSpPr>
          <p:nvPr/>
        </p:nvSpPr>
        <p:spPr>
          <a:xfrm xmlns:a="http://schemas.openxmlformats.org/drawingml/2006/main">
            <a:off x="7381875" y="2800350"/>
            <a:ext cx="3762375" cy="552450"/>
          </a:xfrm>
          <a:prstGeom xmlns:a="http://schemas.openxmlformats.org/drawingml/2006/main" prst="roundRect">
            <a:avLst>
              <a:gd name="adj" fmla="val 20690"/>
            </a:avLst>
          </a:prstGeom>
          <a:solidFill xmlns:a="http://schemas.openxmlformats.org/drawingml/2006/main">
            <a:srgbClr val="FDECE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1D74C28-3D0F-4F5B-9F2A-C2D313343A51}"/>
              </a:ext>
            </a:extLst>
          </p:cNvPr>
          <p:cNvSpPr>
            <a:spLocks xmlns:a="http://schemas.openxmlformats.org/drawingml/2006/main" noGrp="1"/>
          </p:cNvSpPr>
          <p:nvPr/>
        </p:nvSpPr>
        <p:spPr>
          <a:xfrm xmlns:a="http://schemas.openxmlformats.org/drawingml/2006/main">
            <a:off x="7572375" y="2952750"/>
            <a:ext cx="247650" cy="2476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29" name="">
            <a:extLst xmlns:a="http://schemas.openxmlformats.org/drawingml/2006/main">
              <a:ext uri="{FF2B5EF4-FFF2-40B4-BE49-F238E27FC236}">
                <a16:creationId xmlns:a16="http://schemas.microsoft.com/office/drawing/2014/main" id="{ADD963A8-F73F-4164-9477-C12F89C5D895}"/>
              </a:ext>
            </a:extLst>
          </p:cNvPr>
          <p:cNvSpPr>
            <a:spLocks xmlns:a="http://schemas.openxmlformats.org/drawingml/2006/main" noGrp="1"/>
          </p:cNvSpPr>
          <p:nvPr/>
        </p:nvSpPr>
        <p:spPr>
          <a:xfrm xmlns:a="http://schemas.openxmlformats.org/drawingml/2006/main">
            <a:off x="7572375" y="2962275"/>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30" name="">
            <a:extLst xmlns:a="http://schemas.openxmlformats.org/drawingml/2006/main">
              <a:ext uri="{FF2B5EF4-FFF2-40B4-BE49-F238E27FC236}">
                <a16:creationId xmlns:a16="http://schemas.microsoft.com/office/drawing/2014/main" id="{0C4DC3B1-A8E6-42F3-803A-28AEC77A4A8E}"/>
              </a:ext>
            </a:extLst>
          </p:cNvPr>
          <p:cNvSpPr>
            <a:spLocks xmlns:a="http://schemas.openxmlformats.org/drawingml/2006/main" noGrp="1"/>
          </p:cNvSpPr>
          <p:nvPr/>
        </p:nvSpPr>
        <p:spPr>
          <a:xfrm xmlns:a="http://schemas.openxmlformats.org/drawingml/2006/main">
            <a:off x="7991475" y="29432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truck &amp; container location</a:t>
            </a:r>
          </a:p>
        </p:txBody>
      </p:sp>
      <p:sp>
        <p:nvSpPr>
          <p:cNvPr id="31" name="">
            <a:extLst xmlns:a="http://schemas.openxmlformats.org/drawingml/2006/main">
              <a:ext uri="{FF2B5EF4-FFF2-40B4-BE49-F238E27FC236}">
                <a16:creationId xmlns:a16="http://schemas.microsoft.com/office/drawing/2014/main" id="{641CC470-DE56-4AB4-B145-996FB9B698C6}"/>
              </a:ext>
            </a:extLst>
          </p:cNvPr>
          <p:cNvSpPr>
            <a:spLocks xmlns:a="http://schemas.openxmlformats.org/drawingml/2006/main" noGrp="1"/>
          </p:cNvSpPr>
          <p:nvPr/>
        </p:nvSpPr>
        <p:spPr>
          <a:xfrm xmlns:a="http://schemas.openxmlformats.org/drawingml/2006/main">
            <a:off x="7381875" y="3581400"/>
            <a:ext cx="3762375" cy="552450"/>
          </a:xfrm>
          <a:prstGeom xmlns:a="http://schemas.openxmlformats.org/drawingml/2006/main" prst="roundRect">
            <a:avLst>
              <a:gd name="adj" fmla="val 20690"/>
            </a:avLst>
          </a:prstGeom>
          <a:solidFill xmlns:a="http://schemas.openxmlformats.org/drawingml/2006/main">
            <a:srgbClr val="FDECE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C40C24D7-CE98-4F49-92CA-75D06C69FC18}"/>
              </a:ext>
            </a:extLst>
          </p:cNvPr>
          <p:cNvSpPr>
            <a:spLocks xmlns:a="http://schemas.openxmlformats.org/drawingml/2006/main" noGrp="1"/>
          </p:cNvSpPr>
          <p:nvPr/>
        </p:nvSpPr>
        <p:spPr>
          <a:xfrm xmlns:a="http://schemas.openxmlformats.org/drawingml/2006/main">
            <a:off x="7572375" y="3733800"/>
            <a:ext cx="247650" cy="2476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33" name="">
            <a:extLst xmlns:a="http://schemas.openxmlformats.org/drawingml/2006/main">
              <a:ext uri="{FF2B5EF4-FFF2-40B4-BE49-F238E27FC236}">
                <a16:creationId xmlns:a16="http://schemas.microsoft.com/office/drawing/2014/main" id="{338294B9-E57A-4478-A7D0-C9687B740305}"/>
              </a:ext>
            </a:extLst>
          </p:cNvPr>
          <p:cNvSpPr>
            <a:spLocks xmlns:a="http://schemas.openxmlformats.org/drawingml/2006/main" noGrp="1"/>
          </p:cNvSpPr>
          <p:nvPr/>
        </p:nvSpPr>
        <p:spPr>
          <a:xfrm xmlns:a="http://schemas.openxmlformats.org/drawingml/2006/main">
            <a:off x="7572375" y="3743325"/>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34" name="">
            <a:extLst xmlns:a="http://schemas.openxmlformats.org/drawingml/2006/main">
              <a:ext uri="{FF2B5EF4-FFF2-40B4-BE49-F238E27FC236}">
                <a16:creationId xmlns:a16="http://schemas.microsoft.com/office/drawing/2014/main" id="{3E27E522-FAAB-4262-BC26-D338A59CD071}"/>
              </a:ext>
            </a:extLst>
          </p:cNvPr>
          <p:cNvSpPr>
            <a:spLocks xmlns:a="http://schemas.openxmlformats.org/drawingml/2006/main" noGrp="1"/>
          </p:cNvSpPr>
          <p:nvPr/>
        </p:nvSpPr>
        <p:spPr>
          <a:xfrm xmlns:a="http://schemas.openxmlformats.org/drawingml/2006/main">
            <a:off x="7991475" y="37242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equipment movement</a:t>
            </a:r>
          </a:p>
        </p:txBody>
      </p:sp>
      <p:sp>
        <p:nvSpPr>
          <p:cNvPr id="35" name="">
            <a:extLst xmlns:a="http://schemas.openxmlformats.org/drawingml/2006/main">
              <a:ext uri="{FF2B5EF4-FFF2-40B4-BE49-F238E27FC236}">
                <a16:creationId xmlns:a16="http://schemas.microsoft.com/office/drawing/2014/main" id="{BB5F3F94-2013-4CC7-ADDF-DD433434ABF6}"/>
              </a:ext>
            </a:extLst>
          </p:cNvPr>
          <p:cNvSpPr>
            <a:spLocks xmlns:a="http://schemas.openxmlformats.org/drawingml/2006/main" noGrp="1"/>
          </p:cNvSpPr>
          <p:nvPr/>
        </p:nvSpPr>
        <p:spPr>
          <a:xfrm xmlns:a="http://schemas.openxmlformats.org/drawingml/2006/main">
            <a:off x="7381875" y="4362450"/>
            <a:ext cx="3762375" cy="552450"/>
          </a:xfrm>
          <a:prstGeom xmlns:a="http://schemas.openxmlformats.org/drawingml/2006/main" prst="roundRect">
            <a:avLst>
              <a:gd name="adj" fmla="val 20690"/>
            </a:avLst>
          </a:prstGeom>
          <a:solidFill xmlns:a="http://schemas.openxmlformats.org/drawingml/2006/main">
            <a:srgbClr val="FDECEF"/>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C6265B9F-2FF9-4D02-99E9-64C6A74924AB}"/>
              </a:ext>
            </a:extLst>
          </p:cNvPr>
          <p:cNvSpPr>
            <a:spLocks xmlns:a="http://schemas.openxmlformats.org/drawingml/2006/main" noGrp="1"/>
          </p:cNvSpPr>
          <p:nvPr/>
        </p:nvSpPr>
        <p:spPr>
          <a:xfrm xmlns:a="http://schemas.openxmlformats.org/drawingml/2006/main">
            <a:off x="7572375" y="4514850"/>
            <a:ext cx="247650" cy="2476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37" name="">
            <a:extLst xmlns:a="http://schemas.openxmlformats.org/drawingml/2006/main">
              <a:ext uri="{FF2B5EF4-FFF2-40B4-BE49-F238E27FC236}">
                <a16:creationId xmlns:a16="http://schemas.microsoft.com/office/drawing/2014/main" id="{4778F6D4-F2FC-4EC3-B804-E4373F9C5FBD}"/>
              </a:ext>
            </a:extLst>
          </p:cNvPr>
          <p:cNvSpPr>
            <a:spLocks xmlns:a="http://schemas.openxmlformats.org/drawingml/2006/main" noGrp="1"/>
          </p:cNvSpPr>
          <p:nvPr/>
        </p:nvSpPr>
        <p:spPr>
          <a:xfrm xmlns:a="http://schemas.openxmlformats.org/drawingml/2006/main">
            <a:off x="7572375" y="4524375"/>
            <a:ext cx="247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t>
            </a:r>
          </a:p>
        </p:txBody>
      </p:sp>
      <p:sp>
        <p:nvSpPr>
          <p:cNvPr id="38" name="">
            <a:extLst xmlns:a="http://schemas.openxmlformats.org/drawingml/2006/main">
              <a:ext uri="{FF2B5EF4-FFF2-40B4-BE49-F238E27FC236}">
                <a16:creationId xmlns:a16="http://schemas.microsoft.com/office/drawing/2014/main" id="{FF3C75AA-32E9-400C-938B-2E5FA73E1D76}"/>
              </a:ext>
            </a:extLst>
          </p:cNvPr>
          <p:cNvSpPr>
            <a:spLocks xmlns:a="http://schemas.openxmlformats.org/drawingml/2006/main" noGrp="1"/>
          </p:cNvSpPr>
          <p:nvPr/>
        </p:nvSpPr>
        <p:spPr>
          <a:xfrm xmlns:a="http://schemas.openxmlformats.org/drawingml/2006/main">
            <a:off x="7991475" y="45053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0B1220"/>
                </a:solidFill>
                <a:latin typeface="Aptos"/>
                <a:ea typeface="Aptos"/>
                <a:cs typeface="Aptos"/>
              </a:defRPr>
            </a:pPr>
            <a:r>
              <a:rPr sz="1725" b="1" i="0">
                <a:solidFill>
                  <a:srgbClr val="0B1220"/>
                </a:solidFill>
                <a:latin typeface="Aptos"/>
                <a:ea typeface="Aptos"/>
                <a:cs typeface="Aptos"/>
              </a:rPr>
              <a:t>block compatibility</a:t>
            </a:r>
          </a:p>
        </p:txBody>
      </p:sp>
      <p:sp>
        <p:nvSpPr>
          <p:cNvPr id="39" name="">
            <a:extLst xmlns:a="http://schemas.openxmlformats.org/drawingml/2006/main">
              <a:ext uri="{FF2B5EF4-FFF2-40B4-BE49-F238E27FC236}">
                <a16:creationId xmlns:a16="http://schemas.microsoft.com/office/drawing/2014/main" id="{0545494E-A271-40BD-B8D5-AA693C34CFD5}"/>
              </a:ext>
            </a:extLst>
          </p:cNvPr>
          <p:cNvSpPr>
            <a:spLocks xmlns:a="http://schemas.openxmlformats.org/drawingml/2006/main" noGrp="1"/>
          </p:cNvSpPr>
          <p:nvPr/>
        </p:nvSpPr>
        <p:spPr>
          <a:xfrm xmlns:a="http://schemas.openxmlformats.org/drawingml/2006/main">
            <a:off x="5600700" y="3190875"/>
            <a:ext cx="990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40" name="">
            <a:extLst xmlns:a="http://schemas.openxmlformats.org/drawingml/2006/main">
              <a:ext uri="{FF2B5EF4-FFF2-40B4-BE49-F238E27FC236}">
                <a16:creationId xmlns:a16="http://schemas.microsoft.com/office/drawing/2014/main" id="{F47E368E-B706-469D-90C1-FA9DCC8DAE36}"/>
              </a:ext>
            </a:extLst>
          </p:cNvPr>
          <p:cNvSpPr>
            <a:spLocks xmlns:a="http://schemas.openxmlformats.org/drawingml/2006/main" noGrp="1"/>
          </p:cNvSpPr>
          <p:nvPr/>
        </p:nvSpPr>
        <p:spPr>
          <a:xfrm xmlns:a="http://schemas.openxmlformats.org/drawingml/2006/main">
            <a:off x="5791200" y="3619500"/>
            <a:ext cx="609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i="0">
                <a:solidFill>
                  <a:srgbClr val="C8102E"/>
                </a:solidFill>
                <a:latin typeface="Aptos"/>
                <a:ea typeface="Aptos"/>
                <a:cs typeface="Aptos"/>
              </a:defRPr>
            </a:pPr>
            <a:r>
              <a:rPr sz="1350" b="1" i="0">
                <a:solidFill>
                  <a:srgbClr val="C8102E"/>
                </a:solidFill>
                <a:latin typeface="Aptos"/>
                <a:ea typeface="Aptos"/>
                <a:cs typeface="Aptos"/>
              </a:rPr>
              <a:t>gap</a:t>
            </a:r>
          </a:p>
        </p:txBody>
      </p:sp>
      <p:sp>
        <p:nvSpPr>
          <p:cNvPr id="41" name="">
            <a:extLst xmlns:a="http://schemas.openxmlformats.org/drawingml/2006/main">
              <a:ext uri="{FF2B5EF4-FFF2-40B4-BE49-F238E27FC236}">
                <a16:creationId xmlns:a16="http://schemas.microsoft.com/office/drawing/2014/main" id="{77A4501B-0909-407E-A5E0-E6C0E0627598}"/>
              </a:ext>
            </a:extLst>
          </p:cNvPr>
          <p:cNvSpPr>
            <a:spLocks xmlns:a="http://schemas.openxmlformats.org/drawingml/2006/main" noGrp="1"/>
          </p:cNvSpPr>
          <p:nvPr/>
        </p:nvSpPr>
        <p:spPr>
          <a:xfrm xmlns:a="http://schemas.openxmlformats.org/drawingml/2006/main">
            <a:off x="1857375" y="5572125"/>
            <a:ext cx="847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i="0">
                <a:solidFill>
                  <a:srgbClr val="0B1220"/>
                </a:solidFill>
                <a:latin typeface="Aptos"/>
                <a:ea typeface="Aptos"/>
                <a:cs typeface="Aptos"/>
              </a:defRPr>
            </a:pPr>
            <a:r>
              <a:rPr sz="2025" b="1" i="0">
                <a:solidFill>
                  <a:srgbClr val="0B1220"/>
                </a:solidFill>
                <a:latin typeface="Aptos"/>
                <a:ea typeface="Aptos"/>
                <a:cs typeface="Aptos"/>
              </a:rPr>
              <a:t>Interpretability makes associations auditable; it does not make them causal.</a:t>
            </a:r>
          </a:p>
        </p:txBody>
      </p:sp>
    </p:spTree>
    <p:extLst>
      <p:ext uri="{BB962C8B-B14F-4D97-AF65-F5344CB8AC3E}">
        <p14:creationId xmlns:p14="http://schemas.microsoft.com/office/powerpoint/2010/main" val="65064537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959271F6-C293-4C3F-8B75-EC35722002C2}"/>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What-if A: T22 reallocation executes—but not as a physical closure</a:t>
            </a:r>
          </a:p>
        </p:txBody>
      </p:sp>
      <p:sp>
        <p:nvSpPr>
          <p:cNvPr id="2" name="">
            <a:extLst xmlns:a="http://schemas.openxmlformats.org/drawingml/2006/main">
              <a:ext uri="{FF2B5EF4-FFF2-40B4-BE49-F238E27FC236}">
                <a16:creationId xmlns:a16="http://schemas.microsoft.com/office/drawing/2014/main" id="{32E33DFD-C355-4F09-8D86-851D8DDAA991}"/>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887AAD31-E1D2-400D-B5BB-72E2317179BA}"/>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275630ED-8700-4AF2-9334-2DCA1F7CF492}"/>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11</a:t>
            </a:r>
          </a:p>
        </p:txBody>
      </p:sp>
      <p:sp>
        <p:nvSpPr>
          <p:cNvPr id="5" name="">
            <a:extLst xmlns:a="http://schemas.openxmlformats.org/drawingml/2006/main">
              <a:ext uri="{FF2B5EF4-FFF2-40B4-BE49-F238E27FC236}">
                <a16:creationId xmlns:a16="http://schemas.microsoft.com/office/drawing/2014/main" id="{A2CC59C0-BB26-40AA-90DA-6A4B8F42BB5B}"/>
              </a:ext>
            </a:extLst>
          </p:cNvPr>
          <p:cNvSpPr>
            <a:spLocks xmlns:a="http://schemas.openxmlformats.org/drawingml/2006/main" noGrp="1"/>
          </p:cNvSpPr>
          <p:nvPr/>
        </p:nvSpPr>
        <p:spPr>
          <a:xfrm xmlns:a="http://schemas.openxmlformats.org/drawingml/2006/main">
            <a:off x="2714625" y="1543050"/>
            <a:ext cx="3714750" cy="19050"/>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6" name="">
            <a:extLst xmlns:a="http://schemas.openxmlformats.org/drawingml/2006/main">
              <a:ext uri="{FF2B5EF4-FFF2-40B4-BE49-F238E27FC236}">
                <a16:creationId xmlns:a16="http://schemas.microsoft.com/office/drawing/2014/main" id="{39E7B5A5-7BFB-4CC7-B540-274ABF6069F1}"/>
              </a:ext>
            </a:extLst>
          </p:cNvPr>
          <p:cNvSpPr>
            <a:spLocks xmlns:a="http://schemas.openxmlformats.org/drawingml/2006/main" noGrp="1"/>
          </p:cNvSpPr>
          <p:nvPr/>
        </p:nvSpPr>
        <p:spPr>
          <a:xfrm xmlns:a="http://schemas.openxmlformats.org/drawingml/2006/main">
            <a:off x="2714625" y="1485900"/>
            <a:ext cx="19050" cy="14287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7" name="">
            <a:extLst xmlns:a="http://schemas.openxmlformats.org/drawingml/2006/main">
              <a:ext uri="{FF2B5EF4-FFF2-40B4-BE49-F238E27FC236}">
                <a16:creationId xmlns:a16="http://schemas.microsoft.com/office/drawing/2014/main" id="{BEADE052-0C2D-4DDA-9469-60BAAAAFA813}"/>
              </a:ext>
            </a:extLst>
          </p:cNvPr>
          <p:cNvSpPr>
            <a:spLocks xmlns:a="http://schemas.openxmlformats.org/drawingml/2006/main" noGrp="1"/>
          </p:cNvSpPr>
          <p:nvPr/>
        </p:nvSpPr>
        <p:spPr>
          <a:xfrm xmlns:a="http://schemas.openxmlformats.org/drawingml/2006/main">
            <a:off x="2390775" y="1638300"/>
            <a:ext cx="647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i="0">
                <a:solidFill>
                  <a:srgbClr val="5F6B7A"/>
                </a:solidFill>
                <a:latin typeface="Aptos"/>
                <a:ea typeface="Aptos"/>
                <a:cs typeface="Aptos"/>
              </a:defRPr>
            </a:pPr>
            <a:r>
              <a:rPr sz="1200" b="0" i="0">
                <a:solidFill>
                  <a:srgbClr val="5F6B7A"/>
                </a:solidFill>
                <a:latin typeface="Aptos"/>
                <a:ea typeface="Aptos"/>
                <a:cs typeface="Aptos"/>
              </a:rPr>
              <a:t>-0.15</a:t>
            </a:r>
          </a:p>
        </p:txBody>
      </p:sp>
      <p:sp>
        <p:nvSpPr>
          <p:cNvPr id="8" name="">
            <a:extLst xmlns:a="http://schemas.openxmlformats.org/drawingml/2006/main">
              <a:ext uri="{FF2B5EF4-FFF2-40B4-BE49-F238E27FC236}">
                <a16:creationId xmlns:a16="http://schemas.microsoft.com/office/drawing/2014/main" id="{6188E101-AFC9-41CC-B234-781E7AE322B1}"/>
              </a:ext>
            </a:extLst>
          </p:cNvPr>
          <p:cNvSpPr>
            <a:spLocks xmlns:a="http://schemas.openxmlformats.org/drawingml/2006/main" noGrp="1"/>
          </p:cNvSpPr>
          <p:nvPr/>
        </p:nvSpPr>
        <p:spPr>
          <a:xfrm xmlns:a="http://schemas.openxmlformats.org/drawingml/2006/main">
            <a:off x="4107656" y="1485900"/>
            <a:ext cx="19050" cy="142875"/>
          </a:xfrm>
          <a:prstGeom xmlns:a="http://schemas.openxmlformats.org/drawingml/2006/main" prst="rect">
            <a:avLst/>
          </a:prstGeom>
          <a:solidFill xmlns:a="http://schemas.openxmlformats.org/drawingml/2006/main">
            <a:srgbClr val="0B1220"/>
          </a:solidFill>
          <a:ln xmlns:a="http://schemas.openxmlformats.org/drawingml/2006/main" w="0">
            <a:solidFill>
              <a:srgbClr val="0B1220"/>
            </a:solidFill>
            <a:prstDash val="solid"/>
          </a:ln>
        </p:spPr>
      </p:sp>
      <p:sp>
        <p:nvSpPr>
          <p:cNvPr id="9" name="">
            <a:extLst xmlns:a="http://schemas.openxmlformats.org/drawingml/2006/main">
              <a:ext uri="{FF2B5EF4-FFF2-40B4-BE49-F238E27FC236}">
                <a16:creationId xmlns:a16="http://schemas.microsoft.com/office/drawing/2014/main" id="{F98D095F-A4E3-44E4-B351-A7540C9D3D28}"/>
              </a:ext>
            </a:extLst>
          </p:cNvPr>
          <p:cNvSpPr>
            <a:spLocks xmlns:a="http://schemas.openxmlformats.org/drawingml/2006/main" noGrp="1"/>
          </p:cNvSpPr>
          <p:nvPr/>
        </p:nvSpPr>
        <p:spPr>
          <a:xfrm xmlns:a="http://schemas.openxmlformats.org/drawingml/2006/main">
            <a:off x="3783806" y="1638300"/>
            <a:ext cx="647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i="0">
                <a:solidFill>
                  <a:srgbClr val="5F6B7A"/>
                </a:solidFill>
                <a:latin typeface="Aptos"/>
                <a:ea typeface="Aptos"/>
                <a:cs typeface="Aptos"/>
              </a:defRPr>
            </a:pPr>
            <a:r>
              <a:rPr sz="1200" b="0" i="0">
                <a:solidFill>
                  <a:srgbClr val="5F6B7A"/>
                </a:solidFill>
                <a:latin typeface="Aptos"/>
                <a:ea typeface="Aptos"/>
                <a:cs typeface="Aptos"/>
              </a:rPr>
              <a:t>+0.00</a:t>
            </a:r>
          </a:p>
        </p:txBody>
      </p:sp>
      <p:sp>
        <p:nvSpPr>
          <p:cNvPr id="10" name="">
            <a:extLst xmlns:a="http://schemas.openxmlformats.org/drawingml/2006/main">
              <a:ext uri="{FF2B5EF4-FFF2-40B4-BE49-F238E27FC236}">
                <a16:creationId xmlns:a16="http://schemas.microsoft.com/office/drawing/2014/main" id="{45E7D37B-B66C-41E0-A3E7-53A09E5251AD}"/>
              </a:ext>
            </a:extLst>
          </p:cNvPr>
          <p:cNvSpPr>
            <a:spLocks xmlns:a="http://schemas.openxmlformats.org/drawingml/2006/main" noGrp="1"/>
          </p:cNvSpPr>
          <p:nvPr/>
        </p:nvSpPr>
        <p:spPr>
          <a:xfrm xmlns:a="http://schemas.openxmlformats.org/drawingml/2006/main">
            <a:off x="6429375" y="1485900"/>
            <a:ext cx="19050" cy="14287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11" name="">
            <a:extLst xmlns:a="http://schemas.openxmlformats.org/drawingml/2006/main">
              <a:ext uri="{FF2B5EF4-FFF2-40B4-BE49-F238E27FC236}">
                <a16:creationId xmlns:a16="http://schemas.microsoft.com/office/drawing/2014/main" id="{6CBC5329-6DF4-4442-A94F-203B62ED4E6E}"/>
              </a:ext>
            </a:extLst>
          </p:cNvPr>
          <p:cNvSpPr>
            <a:spLocks xmlns:a="http://schemas.openxmlformats.org/drawingml/2006/main" noGrp="1"/>
          </p:cNvSpPr>
          <p:nvPr/>
        </p:nvSpPr>
        <p:spPr>
          <a:xfrm xmlns:a="http://schemas.openxmlformats.org/drawingml/2006/main">
            <a:off x="6105525" y="1638300"/>
            <a:ext cx="647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i="0">
                <a:solidFill>
                  <a:srgbClr val="5F6B7A"/>
                </a:solidFill>
                <a:latin typeface="Aptos"/>
                <a:ea typeface="Aptos"/>
                <a:cs typeface="Aptos"/>
              </a:defRPr>
            </a:pPr>
            <a:r>
              <a:rPr sz="1200" b="0" i="0">
                <a:solidFill>
                  <a:srgbClr val="5F6B7A"/>
                </a:solidFill>
                <a:latin typeface="Aptos"/>
                <a:ea typeface="Aptos"/>
                <a:cs typeface="Aptos"/>
              </a:rPr>
              <a:t>+0.25</a:t>
            </a:r>
          </a:p>
        </p:txBody>
      </p:sp>
      <p:sp>
        <p:nvSpPr>
          <p:cNvPr id="12" name="">
            <a:extLst xmlns:a="http://schemas.openxmlformats.org/drawingml/2006/main">
              <a:ext uri="{FF2B5EF4-FFF2-40B4-BE49-F238E27FC236}">
                <a16:creationId xmlns:a16="http://schemas.microsoft.com/office/drawing/2014/main" id="{74852092-1138-43B6-87ED-010F5D6AD7F3}"/>
              </a:ext>
            </a:extLst>
          </p:cNvPr>
          <p:cNvSpPr>
            <a:spLocks xmlns:a="http://schemas.openxmlformats.org/drawingml/2006/main" noGrp="1"/>
          </p:cNvSpPr>
          <p:nvPr/>
        </p:nvSpPr>
        <p:spPr>
          <a:xfrm xmlns:a="http://schemas.openxmlformats.org/drawingml/2006/main">
            <a:off x="4107656" y="1914525"/>
            <a:ext cx="19050" cy="2876550"/>
          </a:xfrm>
          <a:prstGeom xmlns:a="http://schemas.openxmlformats.org/drawingml/2006/main" prst="rect">
            <a:avLst/>
          </a:prstGeom>
          <a:solidFill xmlns:a="http://schemas.openxmlformats.org/drawingml/2006/main">
            <a:srgbClr val="98A2B3"/>
          </a:solidFill>
          <a:ln xmlns:a="http://schemas.openxmlformats.org/drawingml/2006/main" w="0">
            <a:solidFill>
              <a:srgbClr val="98A2B3"/>
            </a:solidFill>
            <a:prstDash val="solid"/>
          </a:ln>
        </p:spPr>
      </p:sp>
      <p:sp>
        <p:nvSpPr>
          <p:cNvPr id="13" name="">
            <a:extLst xmlns:a="http://schemas.openxmlformats.org/drawingml/2006/main">
              <a:ext uri="{FF2B5EF4-FFF2-40B4-BE49-F238E27FC236}">
                <a16:creationId xmlns:a16="http://schemas.microsoft.com/office/drawing/2014/main" id="{ABB4F33A-F269-4939-9316-61BCEA0C2328}"/>
              </a:ext>
            </a:extLst>
          </p:cNvPr>
          <p:cNvSpPr>
            <a:spLocks xmlns:a="http://schemas.openxmlformats.org/drawingml/2006/main" noGrp="1"/>
          </p:cNvSpPr>
          <p:nvPr/>
        </p:nvSpPr>
        <p:spPr>
          <a:xfrm xmlns:a="http://schemas.openxmlformats.org/drawingml/2006/main">
            <a:off x="476250" y="1819275"/>
            <a:ext cx="20669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Mean turnaround</a:t>
            </a:r>
          </a:p>
        </p:txBody>
      </p:sp>
      <p:sp>
        <p:nvSpPr>
          <p:cNvPr id="14" name="">
            <a:extLst xmlns:a="http://schemas.openxmlformats.org/drawingml/2006/main">
              <a:ext uri="{FF2B5EF4-FFF2-40B4-BE49-F238E27FC236}">
                <a16:creationId xmlns:a16="http://schemas.microsoft.com/office/drawing/2014/main" id="{4E158FB7-7C32-400B-A065-D883410D50D2}"/>
              </a:ext>
            </a:extLst>
          </p:cNvPr>
          <p:cNvSpPr>
            <a:spLocks xmlns:a="http://schemas.openxmlformats.org/drawingml/2006/main" noGrp="1"/>
          </p:cNvSpPr>
          <p:nvPr/>
        </p:nvSpPr>
        <p:spPr>
          <a:xfrm xmlns:a="http://schemas.openxmlformats.org/drawingml/2006/main">
            <a:off x="3959066" y="2038350"/>
            <a:ext cx="2005965" cy="381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5" name="">
            <a:extLst xmlns:a="http://schemas.openxmlformats.org/drawingml/2006/main">
              <a:ext uri="{FF2B5EF4-FFF2-40B4-BE49-F238E27FC236}">
                <a16:creationId xmlns:a16="http://schemas.microsoft.com/office/drawing/2014/main" id="{943CFC3F-A1B8-4F3F-BD15-9E2982B766A9}"/>
              </a:ext>
            </a:extLst>
          </p:cNvPr>
          <p:cNvSpPr>
            <a:spLocks xmlns:a="http://schemas.openxmlformats.org/drawingml/2006/main" noGrp="1"/>
          </p:cNvSpPr>
          <p:nvPr/>
        </p:nvSpPr>
        <p:spPr>
          <a:xfrm xmlns:a="http://schemas.openxmlformats.org/drawingml/2006/main">
            <a:off x="3949541" y="19621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6" name="">
            <a:extLst xmlns:a="http://schemas.openxmlformats.org/drawingml/2006/main">
              <a:ext uri="{FF2B5EF4-FFF2-40B4-BE49-F238E27FC236}">
                <a16:creationId xmlns:a16="http://schemas.microsoft.com/office/drawing/2014/main" id="{4EAFF142-9975-43D9-9C6F-5FCC2F9D9C1E}"/>
              </a:ext>
            </a:extLst>
          </p:cNvPr>
          <p:cNvSpPr>
            <a:spLocks xmlns:a="http://schemas.openxmlformats.org/drawingml/2006/main" noGrp="1"/>
          </p:cNvSpPr>
          <p:nvPr/>
        </p:nvSpPr>
        <p:spPr>
          <a:xfrm xmlns:a="http://schemas.openxmlformats.org/drawingml/2006/main">
            <a:off x="5955506" y="19621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7" name="">
            <a:extLst xmlns:a="http://schemas.openxmlformats.org/drawingml/2006/main">
              <a:ext uri="{FF2B5EF4-FFF2-40B4-BE49-F238E27FC236}">
                <a16:creationId xmlns:a16="http://schemas.microsoft.com/office/drawing/2014/main" id="{EF9E9145-ED1C-4011-8A89-A031D94B3448}"/>
              </a:ext>
            </a:extLst>
          </p:cNvPr>
          <p:cNvSpPr>
            <a:spLocks xmlns:a="http://schemas.openxmlformats.org/drawingml/2006/main" noGrp="1"/>
          </p:cNvSpPr>
          <p:nvPr/>
        </p:nvSpPr>
        <p:spPr>
          <a:xfrm xmlns:a="http://schemas.openxmlformats.org/drawingml/2006/main">
            <a:off x="4885849" y="1981200"/>
            <a:ext cx="152400" cy="15240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18" name="">
            <a:extLst xmlns:a="http://schemas.openxmlformats.org/drawingml/2006/main">
              <a:ext uri="{FF2B5EF4-FFF2-40B4-BE49-F238E27FC236}">
                <a16:creationId xmlns:a16="http://schemas.microsoft.com/office/drawing/2014/main" id="{A3E0BFB8-D5BC-400E-A215-596E44998F4E}"/>
              </a:ext>
            </a:extLst>
          </p:cNvPr>
          <p:cNvSpPr>
            <a:spLocks xmlns:a="http://schemas.openxmlformats.org/drawingml/2006/main" noGrp="1"/>
          </p:cNvSpPr>
          <p:nvPr/>
        </p:nvSpPr>
        <p:spPr>
          <a:xfrm xmlns:a="http://schemas.openxmlformats.org/drawingml/2006/main">
            <a:off x="6572250" y="18669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+0.092  [-0.016, +0.200]</a:t>
            </a:r>
          </a:p>
        </p:txBody>
      </p:sp>
      <p:sp>
        <p:nvSpPr>
          <p:cNvPr id="19" name="">
            <a:extLst xmlns:a="http://schemas.openxmlformats.org/drawingml/2006/main">
              <a:ext uri="{FF2B5EF4-FFF2-40B4-BE49-F238E27FC236}">
                <a16:creationId xmlns:a16="http://schemas.microsoft.com/office/drawing/2014/main" id="{AEAB3682-24FE-4022-B49B-A5E3FAC65D50}"/>
              </a:ext>
            </a:extLst>
          </p:cNvPr>
          <p:cNvSpPr>
            <a:spLocks xmlns:a="http://schemas.openxmlformats.org/drawingml/2006/main" noGrp="1"/>
          </p:cNvSpPr>
          <p:nvPr/>
        </p:nvSpPr>
        <p:spPr>
          <a:xfrm xmlns:a="http://schemas.openxmlformats.org/drawingml/2006/main">
            <a:off x="476250" y="2847975"/>
            <a:ext cx="20669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Mean RMG service</a:t>
            </a:r>
          </a:p>
        </p:txBody>
      </p:sp>
      <p:sp>
        <p:nvSpPr>
          <p:cNvPr id="20" name="">
            <a:extLst xmlns:a="http://schemas.openxmlformats.org/drawingml/2006/main">
              <a:ext uri="{FF2B5EF4-FFF2-40B4-BE49-F238E27FC236}">
                <a16:creationId xmlns:a16="http://schemas.microsoft.com/office/drawing/2014/main" id="{48DB8115-F5E3-4C47-976C-D5A6BB625BEC}"/>
              </a:ext>
            </a:extLst>
          </p:cNvPr>
          <p:cNvSpPr>
            <a:spLocks xmlns:a="http://schemas.openxmlformats.org/drawingml/2006/main" noGrp="1"/>
          </p:cNvSpPr>
          <p:nvPr/>
        </p:nvSpPr>
        <p:spPr>
          <a:xfrm xmlns:a="http://schemas.openxmlformats.org/drawingml/2006/main">
            <a:off x="3169682" y="3067050"/>
            <a:ext cx="1523047" cy="381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21" name="">
            <a:extLst xmlns:a="http://schemas.openxmlformats.org/drawingml/2006/main">
              <a:ext uri="{FF2B5EF4-FFF2-40B4-BE49-F238E27FC236}">
                <a16:creationId xmlns:a16="http://schemas.microsoft.com/office/drawing/2014/main" id="{D80B3CD3-3CA0-4C97-AAB7-7DEDA9C2CB2C}"/>
              </a:ext>
            </a:extLst>
          </p:cNvPr>
          <p:cNvSpPr>
            <a:spLocks xmlns:a="http://schemas.openxmlformats.org/drawingml/2006/main" noGrp="1"/>
          </p:cNvSpPr>
          <p:nvPr/>
        </p:nvSpPr>
        <p:spPr>
          <a:xfrm xmlns:a="http://schemas.openxmlformats.org/drawingml/2006/main">
            <a:off x="3160157" y="29908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22" name="">
            <a:extLst xmlns:a="http://schemas.openxmlformats.org/drawingml/2006/main">
              <a:ext uri="{FF2B5EF4-FFF2-40B4-BE49-F238E27FC236}">
                <a16:creationId xmlns:a16="http://schemas.microsoft.com/office/drawing/2014/main" id="{F2B4D5A2-E861-47B2-85B7-B66FCBB66D45}"/>
              </a:ext>
            </a:extLst>
          </p:cNvPr>
          <p:cNvSpPr>
            <a:spLocks xmlns:a="http://schemas.openxmlformats.org/drawingml/2006/main" noGrp="1"/>
          </p:cNvSpPr>
          <p:nvPr/>
        </p:nvSpPr>
        <p:spPr>
          <a:xfrm xmlns:a="http://schemas.openxmlformats.org/drawingml/2006/main">
            <a:off x="4683204" y="29908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23" name="">
            <a:extLst xmlns:a="http://schemas.openxmlformats.org/drawingml/2006/main">
              <a:ext uri="{FF2B5EF4-FFF2-40B4-BE49-F238E27FC236}">
                <a16:creationId xmlns:a16="http://schemas.microsoft.com/office/drawing/2014/main" id="{77A72475-53BD-4CE5-AFB6-659BD85F859A}"/>
              </a:ext>
            </a:extLst>
          </p:cNvPr>
          <p:cNvSpPr>
            <a:spLocks xmlns:a="http://schemas.openxmlformats.org/drawingml/2006/main" noGrp="1"/>
          </p:cNvSpPr>
          <p:nvPr/>
        </p:nvSpPr>
        <p:spPr>
          <a:xfrm xmlns:a="http://schemas.openxmlformats.org/drawingml/2006/main">
            <a:off x="3855006" y="3009900"/>
            <a:ext cx="152400" cy="15240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24" name="">
            <a:extLst xmlns:a="http://schemas.openxmlformats.org/drawingml/2006/main">
              <a:ext uri="{FF2B5EF4-FFF2-40B4-BE49-F238E27FC236}">
                <a16:creationId xmlns:a16="http://schemas.microsoft.com/office/drawing/2014/main" id="{A9BAC6AA-6DDF-470D-AE5C-B05A424D3A82}"/>
              </a:ext>
            </a:extLst>
          </p:cNvPr>
          <p:cNvSpPr>
            <a:spLocks xmlns:a="http://schemas.openxmlformats.org/drawingml/2006/main" noGrp="1"/>
          </p:cNvSpPr>
          <p:nvPr/>
        </p:nvSpPr>
        <p:spPr>
          <a:xfrm xmlns:a="http://schemas.openxmlformats.org/drawingml/2006/main">
            <a:off x="6572250" y="28956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-0.019  [-0.101, +0.063]</a:t>
            </a:r>
          </a:p>
        </p:txBody>
      </p:sp>
      <p:sp>
        <p:nvSpPr>
          <p:cNvPr id="25" name="">
            <a:extLst xmlns:a="http://schemas.openxmlformats.org/drawingml/2006/main">
              <a:ext uri="{FF2B5EF4-FFF2-40B4-BE49-F238E27FC236}">
                <a16:creationId xmlns:a16="http://schemas.microsoft.com/office/drawing/2014/main" id="{D2178D9F-7B8C-4E93-8633-A7433D239F37}"/>
              </a:ext>
            </a:extLst>
          </p:cNvPr>
          <p:cNvSpPr>
            <a:spLocks xmlns:a="http://schemas.openxmlformats.org/drawingml/2006/main" noGrp="1"/>
          </p:cNvSpPr>
          <p:nvPr/>
        </p:nvSpPr>
        <p:spPr>
          <a:xfrm xmlns:a="http://schemas.openxmlformats.org/drawingml/2006/main">
            <a:off x="476250" y="3876675"/>
            <a:ext cx="20669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Delivery pre-service</a:t>
            </a:r>
          </a:p>
        </p:txBody>
      </p:sp>
      <p:sp>
        <p:nvSpPr>
          <p:cNvPr id="26" name="">
            <a:extLst xmlns:a="http://schemas.openxmlformats.org/drawingml/2006/main">
              <a:ext uri="{FF2B5EF4-FFF2-40B4-BE49-F238E27FC236}">
                <a16:creationId xmlns:a16="http://schemas.microsoft.com/office/drawing/2014/main" id="{DA47629B-4017-4B66-BF28-2EAB1E28265F}"/>
              </a:ext>
            </a:extLst>
          </p:cNvPr>
          <p:cNvSpPr>
            <a:spLocks xmlns:a="http://schemas.openxmlformats.org/drawingml/2006/main" noGrp="1"/>
          </p:cNvSpPr>
          <p:nvPr/>
        </p:nvSpPr>
        <p:spPr>
          <a:xfrm xmlns:a="http://schemas.openxmlformats.org/drawingml/2006/main">
            <a:off x="4358402" y="4095750"/>
            <a:ext cx="1235154" cy="381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7" name="">
            <a:extLst xmlns:a="http://schemas.openxmlformats.org/drawingml/2006/main">
              <a:ext uri="{FF2B5EF4-FFF2-40B4-BE49-F238E27FC236}">
                <a16:creationId xmlns:a16="http://schemas.microsoft.com/office/drawing/2014/main" id="{1338F29E-2F07-4A18-B053-59E0CD11225F}"/>
              </a:ext>
            </a:extLst>
          </p:cNvPr>
          <p:cNvSpPr>
            <a:spLocks xmlns:a="http://schemas.openxmlformats.org/drawingml/2006/main" noGrp="1"/>
          </p:cNvSpPr>
          <p:nvPr/>
        </p:nvSpPr>
        <p:spPr>
          <a:xfrm xmlns:a="http://schemas.openxmlformats.org/drawingml/2006/main">
            <a:off x="4348877" y="4019550"/>
            <a:ext cx="19050" cy="1905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8" name="">
            <a:extLst xmlns:a="http://schemas.openxmlformats.org/drawingml/2006/main">
              <a:ext uri="{FF2B5EF4-FFF2-40B4-BE49-F238E27FC236}">
                <a16:creationId xmlns:a16="http://schemas.microsoft.com/office/drawing/2014/main" id="{965417BF-FA88-4DCD-8AF2-46161E1CCF98}"/>
              </a:ext>
            </a:extLst>
          </p:cNvPr>
          <p:cNvSpPr>
            <a:spLocks xmlns:a="http://schemas.openxmlformats.org/drawingml/2006/main" noGrp="1"/>
          </p:cNvSpPr>
          <p:nvPr/>
        </p:nvSpPr>
        <p:spPr>
          <a:xfrm xmlns:a="http://schemas.openxmlformats.org/drawingml/2006/main">
            <a:off x="5584031" y="4019550"/>
            <a:ext cx="19050" cy="1905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9" name="">
            <a:extLst xmlns:a="http://schemas.openxmlformats.org/drawingml/2006/main">
              <a:ext uri="{FF2B5EF4-FFF2-40B4-BE49-F238E27FC236}">
                <a16:creationId xmlns:a16="http://schemas.microsoft.com/office/drawing/2014/main" id="{92704ABF-574C-4BB4-A1DB-75024A630A5E}"/>
              </a:ext>
            </a:extLst>
          </p:cNvPr>
          <p:cNvSpPr>
            <a:spLocks xmlns:a="http://schemas.openxmlformats.org/drawingml/2006/main" noGrp="1"/>
          </p:cNvSpPr>
          <p:nvPr/>
        </p:nvSpPr>
        <p:spPr>
          <a:xfrm xmlns:a="http://schemas.openxmlformats.org/drawingml/2006/main">
            <a:off x="4904423" y="4038600"/>
            <a:ext cx="152400" cy="15240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30" name="">
            <a:extLst xmlns:a="http://schemas.openxmlformats.org/drawingml/2006/main">
              <a:ext uri="{FF2B5EF4-FFF2-40B4-BE49-F238E27FC236}">
                <a16:creationId xmlns:a16="http://schemas.microsoft.com/office/drawing/2014/main" id="{256CC433-A21E-4B2E-8CBB-72AA42235AAE}"/>
              </a:ext>
            </a:extLst>
          </p:cNvPr>
          <p:cNvSpPr>
            <a:spLocks xmlns:a="http://schemas.openxmlformats.org/drawingml/2006/main" noGrp="1"/>
          </p:cNvSpPr>
          <p:nvPr/>
        </p:nvSpPr>
        <p:spPr>
          <a:xfrm xmlns:a="http://schemas.openxmlformats.org/drawingml/2006/main">
            <a:off x="6572250" y="39243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1" i="0">
                <a:solidFill>
                  <a:srgbClr val="C8102E"/>
                </a:solidFill>
                <a:latin typeface="Aptos"/>
                <a:ea typeface="Aptos"/>
                <a:cs typeface="Aptos"/>
              </a:defRPr>
            </a:pPr>
            <a:r>
              <a:rPr sz="1350" b="1" i="0">
                <a:solidFill>
                  <a:srgbClr val="C8102E"/>
                </a:solidFill>
                <a:latin typeface="Aptos"/>
                <a:ea typeface="Aptos"/>
                <a:cs typeface="Aptos"/>
              </a:rPr>
              <a:t>+0.094  [+0.027, +0.160]</a:t>
            </a:r>
          </a:p>
        </p:txBody>
      </p:sp>
      <p:sp>
        <p:nvSpPr>
          <p:cNvPr id="31" name="">
            <a:extLst xmlns:a="http://schemas.openxmlformats.org/drawingml/2006/main">
              <a:ext uri="{FF2B5EF4-FFF2-40B4-BE49-F238E27FC236}">
                <a16:creationId xmlns:a16="http://schemas.microsoft.com/office/drawing/2014/main" id="{CF3684C9-1E8D-4195-BEC2-08CC71A0D171}"/>
              </a:ext>
            </a:extLst>
          </p:cNvPr>
          <p:cNvSpPr>
            <a:spLocks xmlns:a="http://schemas.openxmlformats.org/drawingml/2006/main" noGrp="1"/>
          </p:cNvSpPr>
          <p:nvPr/>
        </p:nvSpPr>
        <p:spPr>
          <a:xfrm xmlns:a="http://schemas.openxmlformats.org/drawingml/2006/main">
            <a:off x="8477250" y="1352550"/>
            <a:ext cx="3181350" cy="4324350"/>
          </a:xfrm>
          <a:prstGeom xmlns:a="http://schemas.openxmlformats.org/drawingml/2006/main" prst="roundRect">
            <a:avLst>
              <a:gd name="adj" fmla="val 3593"/>
            </a:avLst>
          </a:prstGeom>
          <a:solidFill xmlns:a="http://schemas.openxmlformats.org/drawingml/2006/main">
            <a:srgbClr val="F8FAFC"/>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DF19E99C-15E6-4732-AD87-42B89267F067}"/>
              </a:ext>
            </a:extLst>
          </p:cNvPr>
          <p:cNvSpPr>
            <a:spLocks xmlns:a="http://schemas.openxmlformats.org/drawingml/2006/main" noGrp="1"/>
          </p:cNvSpPr>
          <p:nvPr/>
        </p:nvSpPr>
        <p:spPr>
          <a:xfrm xmlns:a="http://schemas.openxmlformats.org/drawingml/2006/main">
            <a:off x="8743950" y="16002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16876A"/>
                </a:solidFill>
                <a:latin typeface="Aptos"/>
                <a:ea typeface="Aptos"/>
                <a:cs typeface="Aptos"/>
              </a:defRPr>
            </a:pPr>
            <a:r>
              <a:rPr sz="1500" b="1" i="0">
                <a:solidFill>
                  <a:srgbClr val="16876A"/>
                </a:solidFill>
                <a:latin typeface="Aptos"/>
                <a:ea typeface="Aptos"/>
                <a:cs typeface="Aptos"/>
              </a:rPr>
              <a:t>Intervention check</a:t>
            </a:r>
          </a:p>
        </p:txBody>
      </p:sp>
      <p:sp>
        <p:nvSpPr>
          <p:cNvPr id="33" name="">
            <a:extLst xmlns:a="http://schemas.openxmlformats.org/drawingml/2006/main">
              <a:ext uri="{FF2B5EF4-FFF2-40B4-BE49-F238E27FC236}">
                <a16:creationId xmlns:a16="http://schemas.microsoft.com/office/drawing/2014/main" id="{B0FF7D8F-E0E6-4AA9-B1DF-5238B3717B17}"/>
              </a:ext>
            </a:extLst>
          </p:cNvPr>
          <p:cNvSpPr>
            <a:spLocks xmlns:a="http://schemas.openxmlformats.org/drawingml/2006/main" noGrp="1"/>
          </p:cNvSpPr>
          <p:nvPr/>
        </p:nvSpPr>
        <p:spPr>
          <a:xfrm xmlns:a="http://schemas.openxmlformats.org/drawingml/2006/main">
            <a:off x="8743950" y="1971675"/>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i="0">
                <a:solidFill>
                  <a:srgbClr val="16876A"/>
                </a:solidFill>
                <a:latin typeface="Aptos"/>
                <a:ea typeface="Aptos"/>
                <a:cs typeface="Aptos"/>
              </a:defRPr>
            </a:pPr>
            <a:r>
              <a:rPr sz="3000" b="1" i="0">
                <a:solidFill>
                  <a:srgbClr val="16876A"/>
                </a:solidFill>
                <a:latin typeface="Aptos"/>
                <a:ea typeface="Aptos"/>
                <a:cs typeface="Aptos"/>
              </a:rPr>
              <a:t>591.5 → 0</a:t>
            </a:r>
          </a:p>
        </p:txBody>
      </p:sp>
      <p:sp>
        <p:nvSpPr>
          <p:cNvPr id="34" name="">
            <a:extLst xmlns:a="http://schemas.openxmlformats.org/drawingml/2006/main">
              <a:ext uri="{FF2B5EF4-FFF2-40B4-BE49-F238E27FC236}">
                <a16:creationId xmlns:a16="http://schemas.microsoft.com/office/drawing/2014/main" id="{935C5A03-DCEE-4D62-B864-8DDFEF166A19}"/>
              </a:ext>
            </a:extLst>
          </p:cNvPr>
          <p:cNvSpPr>
            <a:spLocks xmlns:a="http://schemas.openxmlformats.org/drawingml/2006/main" noGrp="1"/>
          </p:cNvSpPr>
          <p:nvPr/>
        </p:nvSpPr>
        <p:spPr>
          <a:xfrm xmlns:a="http://schemas.openxmlformats.org/drawingml/2006/main">
            <a:off x="8743950" y="2543175"/>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i="0">
                <a:solidFill>
                  <a:srgbClr val="5F6B7A"/>
                </a:solidFill>
                <a:latin typeface="Aptos"/>
                <a:ea typeface="Aptos"/>
                <a:cs typeface="Aptos"/>
              </a:defRPr>
            </a:pPr>
            <a:r>
              <a:rPr sz="1500" b="0" i="0">
                <a:solidFill>
                  <a:srgbClr val="5F6B7A"/>
                </a:solidFill>
                <a:latin typeface="Aptos"/>
                <a:ea typeface="Aptos"/>
                <a:cs typeface="Aptos"/>
              </a:rPr>
              <a:t>T22 assignments per run</a:t>
            </a:r>
          </a:p>
        </p:txBody>
      </p:sp>
      <p:sp>
        <p:nvSpPr>
          <p:cNvPr id="35" name="">
            <a:extLst xmlns:a="http://schemas.openxmlformats.org/drawingml/2006/main">
              <a:ext uri="{FF2B5EF4-FFF2-40B4-BE49-F238E27FC236}">
                <a16:creationId xmlns:a16="http://schemas.microsoft.com/office/drawing/2014/main" id="{E8ABAFAF-BED5-4F41-8CB4-9CF986B51E88}"/>
              </a:ext>
            </a:extLst>
          </p:cNvPr>
          <p:cNvSpPr>
            <a:spLocks xmlns:a="http://schemas.openxmlformats.org/drawingml/2006/main" noGrp="1"/>
          </p:cNvSpPr>
          <p:nvPr/>
        </p:nvSpPr>
        <p:spPr>
          <a:xfrm xmlns:a="http://schemas.openxmlformats.org/drawingml/2006/main">
            <a:off x="8743950" y="3067050"/>
            <a:ext cx="2381250" cy="19050"/>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6" name="">
            <a:extLst xmlns:a="http://schemas.openxmlformats.org/drawingml/2006/main">
              <a:ext uri="{FF2B5EF4-FFF2-40B4-BE49-F238E27FC236}">
                <a16:creationId xmlns:a16="http://schemas.microsoft.com/office/drawing/2014/main" id="{2096F64B-4475-4B73-B528-501520C9AEFD}"/>
              </a:ext>
            </a:extLst>
          </p:cNvPr>
          <p:cNvSpPr>
            <a:spLocks xmlns:a="http://schemas.openxmlformats.org/drawingml/2006/main" noGrp="1"/>
          </p:cNvSpPr>
          <p:nvPr/>
        </p:nvSpPr>
        <p:spPr>
          <a:xfrm xmlns:a="http://schemas.openxmlformats.org/drawingml/2006/main">
            <a:off x="8743950" y="333375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What the experiment means</a:t>
            </a:r>
          </a:p>
        </p:txBody>
      </p:sp>
      <p:sp>
        <p:nvSpPr>
          <p:cNvPr id="37" name="">
            <a:extLst xmlns:a="http://schemas.openxmlformats.org/drawingml/2006/main">
              <a:ext uri="{FF2B5EF4-FFF2-40B4-BE49-F238E27FC236}">
                <a16:creationId xmlns:a16="http://schemas.microsoft.com/office/drawing/2014/main" id="{7149A638-7E7E-4D5C-A602-53541730BC79}"/>
              </a:ext>
            </a:extLst>
          </p:cNvPr>
          <p:cNvSpPr>
            <a:spLocks xmlns:a="http://schemas.openxmlformats.org/drawingml/2006/main" noGrp="1"/>
          </p:cNvSpPr>
          <p:nvPr/>
        </p:nvSpPr>
        <p:spPr>
          <a:xfrm xmlns:a="http://schemas.openxmlformats.org/drawingml/2006/main">
            <a:off x="8743950" y="3848100"/>
            <a:ext cx="2571750" cy="1276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Work is reassigned inside an abstract interchangeable resource pool. The model does not check location, relocation or travel.</a:t>
            </a:r>
          </a:p>
        </p:txBody>
      </p:sp>
      <p:sp>
        <p:nvSpPr>
          <p:cNvPr id="38" name="">
            <a:extLst xmlns:a="http://schemas.openxmlformats.org/drawingml/2006/main">
              <a:ext uri="{FF2B5EF4-FFF2-40B4-BE49-F238E27FC236}">
                <a16:creationId xmlns:a16="http://schemas.microsoft.com/office/drawing/2014/main" id="{86200BC5-54F4-493E-87A9-6217055241E9}"/>
              </a:ext>
            </a:extLst>
          </p:cNvPr>
          <p:cNvSpPr>
            <a:spLocks xmlns:a="http://schemas.openxmlformats.org/drawingml/2006/main" noGrp="1"/>
          </p:cNvSpPr>
          <p:nvPr/>
        </p:nvSpPr>
        <p:spPr>
          <a:xfrm xmlns:a="http://schemas.openxmlformats.org/drawingml/2006/main">
            <a:off x="8743950" y="52197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C8102E"/>
                </a:solidFill>
                <a:latin typeface="Aptos"/>
                <a:ea typeface="Aptos"/>
                <a:cs typeface="Aptos"/>
              </a:defRPr>
            </a:pPr>
            <a:r>
              <a:rPr sz="1500" b="1" i="0">
                <a:solidFill>
                  <a:srgbClr val="C8102E"/>
                </a:solidFill>
                <a:latin typeface="Aptos"/>
                <a:ea typeface="Aptos"/>
                <a:cs typeface="Aptos"/>
              </a:rPr>
              <a:t>Only delivery pre-service excludes zero.</a:t>
            </a:r>
          </a:p>
        </p:txBody>
      </p:sp>
    </p:spTree>
    <p:extLst>
      <p:ext uri="{BB962C8B-B14F-4D97-AF65-F5344CB8AC3E}">
        <p14:creationId xmlns:p14="http://schemas.microsoft.com/office/powerpoint/2010/main" val="56105284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2460D8E9-B9B2-4D75-B1C8-04E5EAA6981D}"/>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What-if B: +20% demand barely moves turnaround</a:t>
            </a:r>
          </a:p>
        </p:txBody>
      </p:sp>
      <p:sp>
        <p:nvSpPr>
          <p:cNvPr id="2" name="">
            <a:extLst xmlns:a="http://schemas.openxmlformats.org/drawingml/2006/main">
              <a:ext uri="{FF2B5EF4-FFF2-40B4-BE49-F238E27FC236}">
                <a16:creationId xmlns:a16="http://schemas.microsoft.com/office/drawing/2014/main" id="{6FC9A6C0-CADF-46B8-B73C-D777F9B3B215}"/>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3A367902-3B72-4177-A560-5479EEFF44A6}"/>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4122CC1B-B446-4C8B-A81F-5F2DED17E77C}"/>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12</a:t>
            </a:r>
          </a:p>
        </p:txBody>
      </p:sp>
      <p:sp>
        <p:nvSpPr>
          <p:cNvPr id="5" name="">
            <a:extLst xmlns:a="http://schemas.openxmlformats.org/drawingml/2006/main">
              <a:ext uri="{FF2B5EF4-FFF2-40B4-BE49-F238E27FC236}">
                <a16:creationId xmlns:a16="http://schemas.microsoft.com/office/drawing/2014/main" id="{871C2711-509E-4512-B570-1F73152B5791}"/>
              </a:ext>
            </a:extLst>
          </p:cNvPr>
          <p:cNvSpPr>
            <a:spLocks xmlns:a="http://schemas.openxmlformats.org/drawingml/2006/main" noGrp="1"/>
          </p:cNvSpPr>
          <p:nvPr/>
        </p:nvSpPr>
        <p:spPr>
          <a:xfrm xmlns:a="http://schemas.openxmlformats.org/drawingml/2006/main">
            <a:off x="2714625" y="1543050"/>
            <a:ext cx="3714750" cy="19050"/>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6" name="">
            <a:extLst xmlns:a="http://schemas.openxmlformats.org/drawingml/2006/main">
              <a:ext uri="{FF2B5EF4-FFF2-40B4-BE49-F238E27FC236}">
                <a16:creationId xmlns:a16="http://schemas.microsoft.com/office/drawing/2014/main" id="{4C51305E-EECF-4679-8784-633449252848}"/>
              </a:ext>
            </a:extLst>
          </p:cNvPr>
          <p:cNvSpPr>
            <a:spLocks xmlns:a="http://schemas.openxmlformats.org/drawingml/2006/main" noGrp="1"/>
          </p:cNvSpPr>
          <p:nvPr/>
        </p:nvSpPr>
        <p:spPr>
          <a:xfrm xmlns:a="http://schemas.openxmlformats.org/drawingml/2006/main">
            <a:off x="2714625" y="1485900"/>
            <a:ext cx="19050" cy="14287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7" name="">
            <a:extLst xmlns:a="http://schemas.openxmlformats.org/drawingml/2006/main">
              <a:ext uri="{FF2B5EF4-FFF2-40B4-BE49-F238E27FC236}">
                <a16:creationId xmlns:a16="http://schemas.microsoft.com/office/drawing/2014/main" id="{F1159031-ECC7-4866-93BA-96B1DF28C820}"/>
              </a:ext>
            </a:extLst>
          </p:cNvPr>
          <p:cNvSpPr>
            <a:spLocks xmlns:a="http://schemas.openxmlformats.org/drawingml/2006/main" noGrp="1"/>
          </p:cNvSpPr>
          <p:nvPr/>
        </p:nvSpPr>
        <p:spPr>
          <a:xfrm xmlns:a="http://schemas.openxmlformats.org/drawingml/2006/main">
            <a:off x="2390775" y="1638300"/>
            <a:ext cx="647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i="0">
                <a:solidFill>
                  <a:srgbClr val="5F6B7A"/>
                </a:solidFill>
                <a:latin typeface="Aptos"/>
                <a:ea typeface="Aptos"/>
                <a:cs typeface="Aptos"/>
              </a:defRPr>
            </a:pPr>
            <a:r>
              <a:rPr sz="1200" b="0" i="0">
                <a:solidFill>
                  <a:srgbClr val="5F6B7A"/>
                </a:solidFill>
                <a:latin typeface="Aptos"/>
                <a:ea typeface="Aptos"/>
                <a:cs typeface="Aptos"/>
              </a:rPr>
              <a:t>-0.10</a:t>
            </a:r>
          </a:p>
        </p:txBody>
      </p:sp>
      <p:sp>
        <p:nvSpPr>
          <p:cNvPr id="8" name="">
            <a:extLst xmlns:a="http://schemas.openxmlformats.org/drawingml/2006/main">
              <a:ext uri="{FF2B5EF4-FFF2-40B4-BE49-F238E27FC236}">
                <a16:creationId xmlns:a16="http://schemas.microsoft.com/office/drawing/2014/main" id="{3BE7719F-AD54-4CCD-9164-C7B03FE3E470}"/>
              </a:ext>
            </a:extLst>
          </p:cNvPr>
          <p:cNvSpPr>
            <a:spLocks xmlns:a="http://schemas.openxmlformats.org/drawingml/2006/main" noGrp="1"/>
          </p:cNvSpPr>
          <p:nvPr/>
        </p:nvSpPr>
        <p:spPr>
          <a:xfrm xmlns:a="http://schemas.openxmlformats.org/drawingml/2006/main">
            <a:off x="3599089" y="1485900"/>
            <a:ext cx="19050" cy="142875"/>
          </a:xfrm>
          <a:prstGeom xmlns:a="http://schemas.openxmlformats.org/drawingml/2006/main" prst="rect">
            <a:avLst/>
          </a:prstGeom>
          <a:solidFill xmlns:a="http://schemas.openxmlformats.org/drawingml/2006/main">
            <a:srgbClr val="0B1220"/>
          </a:solidFill>
          <a:ln xmlns:a="http://schemas.openxmlformats.org/drawingml/2006/main" w="0">
            <a:solidFill>
              <a:srgbClr val="0B1220"/>
            </a:solidFill>
            <a:prstDash val="solid"/>
          </a:ln>
        </p:spPr>
      </p:sp>
      <p:sp>
        <p:nvSpPr>
          <p:cNvPr id="9" name="">
            <a:extLst xmlns:a="http://schemas.openxmlformats.org/drawingml/2006/main">
              <a:ext uri="{FF2B5EF4-FFF2-40B4-BE49-F238E27FC236}">
                <a16:creationId xmlns:a16="http://schemas.microsoft.com/office/drawing/2014/main" id="{0D865805-A7E2-4629-B193-9D05A6FD9E04}"/>
              </a:ext>
            </a:extLst>
          </p:cNvPr>
          <p:cNvSpPr>
            <a:spLocks xmlns:a="http://schemas.openxmlformats.org/drawingml/2006/main" noGrp="1"/>
          </p:cNvSpPr>
          <p:nvPr/>
        </p:nvSpPr>
        <p:spPr>
          <a:xfrm xmlns:a="http://schemas.openxmlformats.org/drawingml/2006/main">
            <a:off x="3275239" y="1638300"/>
            <a:ext cx="647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i="0">
                <a:solidFill>
                  <a:srgbClr val="5F6B7A"/>
                </a:solidFill>
                <a:latin typeface="Aptos"/>
                <a:ea typeface="Aptos"/>
                <a:cs typeface="Aptos"/>
              </a:defRPr>
            </a:pPr>
            <a:r>
              <a:rPr sz="1200" b="0" i="0">
                <a:solidFill>
                  <a:srgbClr val="5F6B7A"/>
                </a:solidFill>
                <a:latin typeface="Aptos"/>
                <a:ea typeface="Aptos"/>
                <a:cs typeface="Aptos"/>
              </a:rPr>
              <a:t>+0.00</a:t>
            </a:r>
          </a:p>
        </p:txBody>
      </p:sp>
      <p:sp>
        <p:nvSpPr>
          <p:cNvPr id="10" name="">
            <a:extLst xmlns:a="http://schemas.openxmlformats.org/drawingml/2006/main">
              <a:ext uri="{FF2B5EF4-FFF2-40B4-BE49-F238E27FC236}">
                <a16:creationId xmlns:a16="http://schemas.microsoft.com/office/drawing/2014/main" id="{DD64BB91-433F-4733-98D8-6999700051F3}"/>
              </a:ext>
            </a:extLst>
          </p:cNvPr>
          <p:cNvSpPr>
            <a:spLocks xmlns:a="http://schemas.openxmlformats.org/drawingml/2006/main" noGrp="1"/>
          </p:cNvSpPr>
          <p:nvPr/>
        </p:nvSpPr>
        <p:spPr>
          <a:xfrm xmlns:a="http://schemas.openxmlformats.org/drawingml/2006/main">
            <a:off x="6429375" y="1485900"/>
            <a:ext cx="19050" cy="14287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11" name="">
            <a:extLst xmlns:a="http://schemas.openxmlformats.org/drawingml/2006/main">
              <a:ext uri="{FF2B5EF4-FFF2-40B4-BE49-F238E27FC236}">
                <a16:creationId xmlns:a16="http://schemas.microsoft.com/office/drawing/2014/main" id="{80DE7FC3-C16C-46F8-B306-39C3FD0E0BFF}"/>
              </a:ext>
            </a:extLst>
          </p:cNvPr>
          <p:cNvSpPr>
            <a:spLocks xmlns:a="http://schemas.openxmlformats.org/drawingml/2006/main" noGrp="1"/>
          </p:cNvSpPr>
          <p:nvPr/>
        </p:nvSpPr>
        <p:spPr>
          <a:xfrm xmlns:a="http://schemas.openxmlformats.org/drawingml/2006/main">
            <a:off x="6105525" y="1638300"/>
            <a:ext cx="6477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i="0">
                <a:solidFill>
                  <a:srgbClr val="5F6B7A"/>
                </a:solidFill>
                <a:latin typeface="Aptos"/>
                <a:ea typeface="Aptos"/>
                <a:cs typeface="Aptos"/>
              </a:defRPr>
            </a:pPr>
            <a:r>
              <a:rPr sz="1200" b="0" i="0">
                <a:solidFill>
                  <a:srgbClr val="5F6B7A"/>
                </a:solidFill>
                <a:latin typeface="Aptos"/>
                <a:ea typeface="Aptos"/>
                <a:cs typeface="Aptos"/>
              </a:rPr>
              <a:t>+0.32</a:t>
            </a:r>
          </a:p>
        </p:txBody>
      </p:sp>
      <p:sp>
        <p:nvSpPr>
          <p:cNvPr id="12" name="">
            <a:extLst xmlns:a="http://schemas.openxmlformats.org/drawingml/2006/main">
              <a:ext uri="{FF2B5EF4-FFF2-40B4-BE49-F238E27FC236}">
                <a16:creationId xmlns:a16="http://schemas.microsoft.com/office/drawing/2014/main" id="{7EC27F6F-B420-4BDE-9CFB-FC534D1FB7E8}"/>
              </a:ext>
            </a:extLst>
          </p:cNvPr>
          <p:cNvSpPr>
            <a:spLocks xmlns:a="http://schemas.openxmlformats.org/drawingml/2006/main" noGrp="1"/>
          </p:cNvSpPr>
          <p:nvPr/>
        </p:nvSpPr>
        <p:spPr>
          <a:xfrm xmlns:a="http://schemas.openxmlformats.org/drawingml/2006/main">
            <a:off x="3599089" y="1914525"/>
            <a:ext cx="19050" cy="2876550"/>
          </a:xfrm>
          <a:prstGeom xmlns:a="http://schemas.openxmlformats.org/drawingml/2006/main" prst="rect">
            <a:avLst/>
          </a:prstGeom>
          <a:solidFill xmlns:a="http://schemas.openxmlformats.org/drawingml/2006/main">
            <a:srgbClr val="98A2B3"/>
          </a:solidFill>
          <a:ln xmlns:a="http://schemas.openxmlformats.org/drawingml/2006/main" w="0">
            <a:solidFill>
              <a:srgbClr val="98A2B3"/>
            </a:solidFill>
            <a:prstDash val="solid"/>
          </a:ln>
        </p:spPr>
      </p:sp>
      <p:sp>
        <p:nvSpPr>
          <p:cNvPr id="13" name="">
            <a:extLst xmlns:a="http://schemas.openxmlformats.org/drawingml/2006/main">
              <a:ext uri="{FF2B5EF4-FFF2-40B4-BE49-F238E27FC236}">
                <a16:creationId xmlns:a16="http://schemas.microsoft.com/office/drawing/2014/main" id="{E72D3C8F-078B-43A6-B13D-21C269C3FA23}"/>
              </a:ext>
            </a:extLst>
          </p:cNvPr>
          <p:cNvSpPr>
            <a:spLocks xmlns:a="http://schemas.openxmlformats.org/drawingml/2006/main" noGrp="1"/>
          </p:cNvSpPr>
          <p:nvPr/>
        </p:nvSpPr>
        <p:spPr>
          <a:xfrm xmlns:a="http://schemas.openxmlformats.org/drawingml/2006/main">
            <a:off x="476250" y="1819275"/>
            <a:ext cx="20669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Mean turnaround</a:t>
            </a:r>
          </a:p>
        </p:txBody>
      </p:sp>
      <p:sp>
        <p:nvSpPr>
          <p:cNvPr id="14" name="">
            <a:extLst xmlns:a="http://schemas.openxmlformats.org/drawingml/2006/main">
              <a:ext uri="{FF2B5EF4-FFF2-40B4-BE49-F238E27FC236}">
                <a16:creationId xmlns:a16="http://schemas.microsoft.com/office/drawing/2014/main" id="{4BCC2C67-A653-4C01-98D2-013B7F858749}"/>
              </a:ext>
            </a:extLst>
          </p:cNvPr>
          <p:cNvSpPr>
            <a:spLocks xmlns:a="http://schemas.openxmlformats.org/drawingml/2006/main" noGrp="1"/>
          </p:cNvSpPr>
          <p:nvPr/>
        </p:nvSpPr>
        <p:spPr>
          <a:xfrm xmlns:a="http://schemas.openxmlformats.org/drawingml/2006/main">
            <a:off x="3369129" y="2038350"/>
            <a:ext cx="2777218" cy="381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5" name="">
            <a:extLst xmlns:a="http://schemas.openxmlformats.org/drawingml/2006/main">
              <a:ext uri="{FF2B5EF4-FFF2-40B4-BE49-F238E27FC236}">
                <a16:creationId xmlns:a16="http://schemas.microsoft.com/office/drawing/2014/main" id="{D282B7CF-6EF6-4644-AD38-0A6C84345457}"/>
              </a:ext>
            </a:extLst>
          </p:cNvPr>
          <p:cNvSpPr>
            <a:spLocks xmlns:a="http://schemas.openxmlformats.org/drawingml/2006/main" noGrp="1"/>
          </p:cNvSpPr>
          <p:nvPr/>
        </p:nvSpPr>
        <p:spPr>
          <a:xfrm xmlns:a="http://schemas.openxmlformats.org/drawingml/2006/main">
            <a:off x="3359604" y="19621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6" name="">
            <a:extLst xmlns:a="http://schemas.openxmlformats.org/drawingml/2006/main">
              <a:ext uri="{FF2B5EF4-FFF2-40B4-BE49-F238E27FC236}">
                <a16:creationId xmlns:a16="http://schemas.microsoft.com/office/drawing/2014/main" id="{DA0AF5F6-77B5-4CD1-AAE1-EA0B7A0C1FA6}"/>
              </a:ext>
            </a:extLst>
          </p:cNvPr>
          <p:cNvSpPr>
            <a:spLocks xmlns:a="http://schemas.openxmlformats.org/drawingml/2006/main" noGrp="1"/>
          </p:cNvSpPr>
          <p:nvPr/>
        </p:nvSpPr>
        <p:spPr>
          <a:xfrm xmlns:a="http://schemas.openxmlformats.org/drawingml/2006/main">
            <a:off x="6136821" y="19621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7" name="">
            <a:extLst xmlns:a="http://schemas.openxmlformats.org/drawingml/2006/main">
              <a:ext uri="{FF2B5EF4-FFF2-40B4-BE49-F238E27FC236}">
                <a16:creationId xmlns:a16="http://schemas.microsoft.com/office/drawing/2014/main" id="{E54F568A-2D39-4794-926B-CE58A9EF69D9}"/>
              </a:ext>
            </a:extLst>
          </p:cNvPr>
          <p:cNvSpPr>
            <a:spLocks xmlns:a="http://schemas.openxmlformats.org/drawingml/2006/main" noGrp="1"/>
          </p:cNvSpPr>
          <p:nvPr/>
        </p:nvSpPr>
        <p:spPr>
          <a:xfrm xmlns:a="http://schemas.openxmlformats.org/drawingml/2006/main">
            <a:off x="4681538" y="1981200"/>
            <a:ext cx="152400" cy="15240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18" name="">
            <a:extLst xmlns:a="http://schemas.openxmlformats.org/drawingml/2006/main">
              <a:ext uri="{FF2B5EF4-FFF2-40B4-BE49-F238E27FC236}">
                <a16:creationId xmlns:a16="http://schemas.microsoft.com/office/drawing/2014/main" id="{350BB792-3F2B-4CA0-A0B6-181B0121679C}"/>
              </a:ext>
            </a:extLst>
          </p:cNvPr>
          <p:cNvSpPr>
            <a:spLocks xmlns:a="http://schemas.openxmlformats.org/drawingml/2006/main" noGrp="1"/>
          </p:cNvSpPr>
          <p:nvPr/>
        </p:nvSpPr>
        <p:spPr>
          <a:xfrm xmlns:a="http://schemas.openxmlformats.org/drawingml/2006/main">
            <a:off x="6572250" y="18669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+0.131  [-0.026, +0.288]</a:t>
            </a:r>
          </a:p>
        </p:txBody>
      </p:sp>
      <p:sp>
        <p:nvSpPr>
          <p:cNvPr id="19" name="">
            <a:extLst xmlns:a="http://schemas.openxmlformats.org/drawingml/2006/main">
              <a:ext uri="{FF2B5EF4-FFF2-40B4-BE49-F238E27FC236}">
                <a16:creationId xmlns:a16="http://schemas.microsoft.com/office/drawing/2014/main" id="{D4C6C028-D07B-452C-9665-2434A2005D7F}"/>
              </a:ext>
            </a:extLst>
          </p:cNvPr>
          <p:cNvSpPr>
            <a:spLocks xmlns:a="http://schemas.openxmlformats.org/drawingml/2006/main" noGrp="1"/>
          </p:cNvSpPr>
          <p:nvPr/>
        </p:nvSpPr>
        <p:spPr>
          <a:xfrm xmlns:a="http://schemas.openxmlformats.org/drawingml/2006/main">
            <a:off x="476250" y="2847975"/>
            <a:ext cx="20669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Mean RMG service</a:t>
            </a:r>
          </a:p>
        </p:txBody>
      </p:sp>
      <p:sp>
        <p:nvSpPr>
          <p:cNvPr id="20" name="">
            <a:extLst xmlns:a="http://schemas.openxmlformats.org/drawingml/2006/main">
              <a:ext uri="{FF2B5EF4-FFF2-40B4-BE49-F238E27FC236}">
                <a16:creationId xmlns:a16="http://schemas.microsoft.com/office/drawing/2014/main" id="{3FF46BBC-B8DB-4D37-A7D0-FAB8985AD283}"/>
              </a:ext>
            </a:extLst>
          </p:cNvPr>
          <p:cNvSpPr>
            <a:spLocks xmlns:a="http://schemas.openxmlformats.org/drawingml/2006/main" noGrp="1"/>
          </p:cNvSpPr>
          <p:nvPr/>
        </p:nvSpPr>
        <p:spPr>
          <a:xfrm xmlns:a="http://schemas.openxmlformats.org/drawingml/2006/main">
            <a:off x="3103789" y="3067050"/>
            <a:ext cx="1760084" cy="381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21" name="">
            <a:extLst xmlns:a="http://schemas.openxmlformats.org/drawingml/2006/main">
              <a:ext uri="{FF2B5EF4-FFF2-40B4-BE49-F238E27FC236}">
                <a16:creationId xmlns:a16="http://schemas.microsoft.com/office/drawing/2014/main" id="{4CCEC5B2-3BD7-4065-AC4E-EFD92038710E}"/>
              </a:ext>
            </a:extLst>
          </p:cNvPr>
          <p:cNvSpPr>
            <a:spLocks xmlns:a="http://schemas.openxmlformats.org/drawingml/2006/main" noGrp="1"/>
          </p:cNvSpPr>
          <p:nvPr/>
        </p:nvSpPr>
        <p:spPr>
          <a:xfrm xmlns:a="http://schemas.openxmlformats.org/drawingml/2006/main">
            <a:off x="3094264" y="29908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22" name="">
            <a:extLst xmlns:a="http://schemas.openxmlformats.org/drawingml/2006/main">
              <a:ext uri="{FF2B5EF4-FFF2-40B4-BE49-F238E27FC236}">
                <a16:creationId xmlns:a16="http://schemas.microsoft.com/office/drawing/2014/main" id="{2F429440-073A-41C0-8D4D-B284BAF16292}"/>
              </a:ext>
            </a:extLst>
          </p:cNvPr>
          <p:cNvSpPr>
            <a:spLocks xmlns:a="http://schemas.openxmlformats.org/drawingml/2006/main" noGrp="1"/>
          </p:cNvSpPr>
          <p:nvPr/>
        </p:nvSpPr>
        <p:spPr>
          <a:xfrm xmlns:a="http://schemas.openxmlformats.org/drawingml/2006/main">
            <a:off x="4854348" y="2990850"/>
            <a:ext cx="19050" cy="1905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23" name="">
            <a:extLst xmlns:a="http://schemas.openxmlformats.org/drawingml/2006/main">
              <a:ext uri="{FF2B5EF4-FFF2-40B4-BE49-F238E27FC236}">
                <a16:creationId xmlns:a16="http://schemas.microsoft.com/office/drawing/2014/main" id="{A39B2F15-D762-4613-9396-FF0376BA5473}"/>
              </a:ext>
            </a:extLst>
          </p:cNvPr>
          <p:cNvSpPr>
            <a:spLocks xmlns:a="http://schemas.openxmlformats.org/drawingml/2006/main" noGrp="1"/>
          </p:cNvSpPr>
          <p:nvPr/>
        </p:nvSpPr>
        <p:spPr>
          <a:xfrm xmlns:a="http://schemas.openxmlformats.org/drawingml/2006/main">
            <a:off x="3903209" y="3009900"/>
            <a:ext cx="152400" cy="15240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24" name="">
            <a:extLst xmlns:a="http://schemas.openxmlformats.org/drawingml/2006/main">
              <a:ext uri="{FF2B5EF4-FFF2-40B4-BE49-F238E27FC236}">
                <a16:creationId xmlns:a16="http://schemas.microsoft.com/office/drawing/2014/main" id="{DA7BB82F-51F5-4E05-B892-8DF51F2AB378}"/>
              </a:ext>
            </a:extLst>
          </p:cNvPr>
          <p:cNvSpPr>
            <a:spLocks xmlns:a="http://schemas.openxmlformats.org/drawingml/2006/main" noGrp="1"/>
          </p:cNvSpPr>
          <p:nvPr/>
        </p:nvSpPr>
        <p:spPr>
          <a:xfrm xmlns:a="http://schemas.openxmlformats.org/drawingml/2006/main">
            <a:off x="6572250" y="28956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0" i="0">
                <a:solidFill>
                  <a:srgbClr val="5F6B7A"/>
                </a:solidFill>
                <a:latin typeface="Aptos"/>
                <a:ea typeface="Aptos"/>
                <a:cs typeface="Aptos"/>
              </a:defRPr>
            </a:pPr>
            <a:r>
              <a:rPr sz="1350" b="0" i="0">
                <a:solidFill>
                  <a:srgbClr val="5F6B7A"/>
                </a:solidFill>
                <a:latin typeface="Aptos"/>
                <a:ea typeface="Aptos"/>
                <a:cs typeface="Aptos"/>
              </a:rPr>
              <a:t>+0.043  [-0.056, +0.143]</a:t>
            </a:r>
          </a:p>
        </p:txBody>
      </p:sp>
      <p:sp>
        <p:nvSpPr>
          <p:cNvPr id="25" name="">
            <a:extLst xmlns:a="http://schemas.openxmlformats.org/drawingml/2006/main">
              <a:ext uri="{FF2B5EF4-FFF2-40B4-BE49-F238E27FC236}">
                <a16:creationId xmlns:a16="http://schemas.microsoft.com/office/drawing/2014/main" id="{5F89C7BD-ED88-4368-BC04-168CFF55F6CC}"/>
              </a:ext>
            </a:extLst>
          </p:cNvPr>
          <p:cNvSpPr>
            <a:spLocks xmlns:a="http://schemas.openxmlformats.org/drawingml/2006/main" noGrp="1"/>
          </p:cNvSpPr>
          <p:nvPr/>
        </p:nvSpPr>
        <p:spPr>
          <a:xfrm xmlns:a="http://schemas.openxmlformats.org/drawingml/2006/main">
            <a:off x="476250" y="3876675"/>
            <a:ext cx="20669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Delivery pre-service</a:t>
            </a:r>
          </a:p>
        </p:txBody>
      </p:sp>
      <p:sp>
        <p:nvSpPr>
          <p:cNvPr id="26" name="">
            <a:extLst xmlns:a="http://schemas.openxmlformats.org/drawingml/2006/main">
              <a:ext uri="{FF2B5EF4-FFF2-40B4-BE49-F238E27FC236}">
                <a16:creationId xmlns:a16="http://schemas.microsoft.com/office/drawing/2014/main" id="{540230E1-4D34-469A-A245-4697E91C5F2A}"/>
              </a:ext>
            </a:extLst>
          </p:cNvPr>
          <p:cNvSpPr>
            <a:spLocks xmlns:a="http://schemas.openxmlformats.org/drawingml/2006/main" noGrp="1"/>
          </p:cNvSpPr>
          <p:nvPr/>
        </p:nvSpPr>
        <p:spPr>
          <a:xfrm xmlns:a="http://schemas.openxmlformats.org/drawingml/2006/main">
            <a:off x="3961720" y="4095750"/>
            <a:ext cx="1981200" cy="381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7" name="">
            <a:extLst xmlns:a="http://schemas.openxmlformats.org/drawingml/2006/main">
              <a:ext uri="{FF2B5EF4-FFF2-40B4-BE49-F238E27FC236}">
                <a16:creationId xmlns:a16="http://schemas.microsoft.com/office/drawing/2014/main" id="{79F8D216-77FF-427C-9F3D-351A02AE0231}"/>
              </a:ext>
            </a:extLst>
          </p:cNvPr>
          <p:cNvSpPr>
            <a:spLocks xmlns:a="http://schemas.openxmlformats.org/drawingml/2006/main" noGrp="1"/>
          </p:cNvSpPr>
          <p:nvPr/>
        </p:nvSpPr>
        <p:spPr>
          <a:xfrm xmlns:a="http://schemas.openxmlformats.org/drawingml/2006/main">
            <a:off x="3952195" y="4019550"/>
            <a:ext cx="19050" cy="1905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8" name="">
            <a:extLst xmlns:a="http://schemas.openxmlformats.org/drawingml/2006/main">
              <a:ext uri="{FF2B5EF4-FFF2-40B4-BE49-F238E27FC236}">
                <a16:creationId xmlns:a16="http://schemas.microsoft.com/office/drawing/2014/main" id="{4722C6E7-AC31-49B6-AEF6-F4B3F55FD495}"/>
              </a:ext>
            </a:extLst>
          </p:cNvPr>
          <p:cNvSpPr>
            <a:spLocks xmlns:a="http://schemas.openxmlformats.org/drawingml/2006/main" noGrp="1"/>
          </p:cNvSpPr>
          <p:nvPr/>
        </p:nvSpPr>
        <p:spPr>
          <a:xfrm xmlns:a="http://schemas.openxmlformats.org/drawingml/2006/main">
            <a:off x="5933395" y="4019550"/>
            <a:ext cx="19050" cy="190500"/>
          </a:xfrm>
          <a:prstGeom xmlns:a="http://schemas.openxmlformats.org/drawingml/2006/main" prst="rect">
            <a:avLst/>
          </a:prstGeom>
          <a:solidFill xmlns:a="http://schemas.openxmlformats.org/drawingml/2006/main">
            <a:srgbClr val="C8102E"/>
          </a:solidFill>
          <a:ln xmlns:a="http://schemas.openxmlformats.org/drawingml/2006/main" w="0">
            <a:solidFill>
              <a:srgbClr val="C8102E"/>
            </a:solidFill>
            <a:prstDash val="solid"/>
          </a:ln>
        </p:spPr>
      </p:sp>
      <p:sp>
        <p:nvSpPr>
          <p:cNvPr id="29" name="">
            <a:extLst xmlns:a="http://schemas.openxmlformats.org/drawingml/2006/main">
              <a:ext uri="{FF2B5EF4-FFF2-40B4-BE49-F238E27FC236}">
                <a16:creationId xmlns:a16="http://schemas.microsoft.com/office/drawing/2014/main" id="{3ECA3E33-F7F9-4E7A-9A94-2CB439FA50F4}"/>
              </a:ext>
            </a:extLst>
          </p:cNvPr>
          <p:cNvSpPr>
            <a:spLocks xmlns:a="http://schemas.openxmlformats.org/drawingml/2006/main" noGrp="1"/>
          </p:cNvSpPr>
          <p:nvPr/>
        </p:nvSpPr>
        <p:spPr>
          <a:xfrm xmlns:a="http://schemas.openxmlformats.org/drawingml/2006/main">
            <a:off x="4876120" y="4038600"/>
            <a:ext cx="152400" cy="15240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30" name="">
            <a:extLst xmlns:a="http://schemas.openxmlformats.org/drawingml/2006/main">
              <a:ext uri="{FF2B5EF4-FFF2-40B4-BE49-F238E27FC236}">
                <a16:creationId xmlns:a16="http://schemas.microsoft.com/office/drawing/2014/main" id="{204C518D-1CE0-4FB5-9DD1-EDC4F199179E}"/>
              </a:ext>
            </a:extLst>
          </p:cNvPr>
          <p:cNvSpPr>
            <a:spLocks xmlns:a="http://schemas.openxmlformats.org/drawingml/2006/main" noGrp="1"/>
          </p:cNvSpPr>
          <p:nvPr/>
        </p:nvSpPr>
        <p:spPr>
          <a:xfrm xmlns:a="http://schemas.openxmlformats.org/drawingml/2006/main">
            <a:off x="6572250" y="3924300"/>
            <a:ext cx="1666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350" b="1" i="0">
                <a:solidFill>
                  <a:srgbClr val="C8102E"/>
                </a:solidFill>
                <a:latin typeface="Aptos"/>
                <a:ea typeface="Aptos"/>
                <a:cs typeface="Aptos"/>
              </a:defRPr>
            </a:pPr>
            <a:r>
              <a:rPr sz="1350" b="1" i="0">
                <a:solidFill>
                  <a:srgbClr val="C8102E"/>
                </a:solidFill>
                <a:latin typeface="Aptos"/>
                <a:ea typeface="Aptos"/>
                <a:cs typeface="Aptos"/>
              </a:rPr>
              <a:t>+0.153  [+0.041, +0.265]</a:t>
            </a:r>
          </a:p>
        </p:txBody>
      </p:sp>
      <p:sp>
        <p:nvSpPr>
          <p:cNvPr id="31" name="">
            <a:extLst xmlns:a="http://schemas.openxmlformats.org/drawingml/2006/main">
              <a:ext uri="{FF2B5EF4-FFF2-40B4-BE49-F238E27FC236}">
                <a16:creationId xmlns:a16="http://schemas.microsoft.com/office/drawing/2014/main" id="{A9DA0E9E-3E61-4A16-8E34-849601EC7CE4}"/>
              </a:ext>
            </a:extLst>
          </p:cNvPr>
          <p:cNvSpPr>
            <a:spLocks xmlns:a="http://schemas.openxmlformats.org/drawingml/2006/main" noGrp="1"/>
          </p:cNvSpPr>
          <p:nvPr/>
        </p:nvSpPr>
        <p:spPr>
          <a:xfrm xmlns:a="http://schemas.openxmlformats.org/drawingml/2006/main">
            <a:off x="8477250" y="1352550"/>
            <a:ext cx="3181350" cy="4324350"/>
          </a:xfrm>
          <a:prstGeom xmlns:a="http://schemas.openxmlformats.org/drawingml/2006/main" prst="roundRect">
            <a:avLst>
              <a:gd name="adj" fmla="val 3593"/>
            </a:avLst>
          </a:prstGeom>
          <a:solidFill xmlns:a="http://schemas.openxmlformats.org/drawingml/2006/main">
            <a:srgbClr val="F8FAFC"/>
          </a:solidFill>
          <a:ln xmlns:a="http://schemas.openxmlformats.org/drawingml/2006/main" w="9525">
            <a:solidFill>
              <a:srgbClr val="D0D5DD"/>
            </a:solidFill>
            <a:prstDash val="solid"/>
          </a:ln>
        </p:spPr>
      </p:sp>
      <p:sp>
        <p:nvSpPr>
          <p:cNvPr id="32" name="">
            <a:extLst xmlns:a="http://schemas.openxmlformats.org/drawingml/2006/main">
              <a:ext uri="{FF2B5EF4-FFF2-40B4-BE49-F238E27FC236}">
                <a16:creationId xmlns:a16="http://schemas.microsoft.com/office/drawing/2014/main" id="{82F7B81A-CA39-4BF6-BB74-6D0920A6326A}"/>
              </a:ext>
            </a:extLst>
          </p:cNvPr>
          <p:cNvSpPr>
            <a:spLocks xmlns:a="http://schemas.openxmlformats.org/drawingml/2006/main" noGrp="1"/>
          </p:cNvSpPr>
          <p:nvPr/>
        </p:nvSpPr>
        <p:spPr>
          <a:xfrm xmlns:a="http://schemas.openxmlformats.org/drawingml/2006/main">
            <a:off x="8743950" y="16002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16876A"/>
                </a:solidFill>
                <a:latin typeface="Aptos"/>
                <a:ea typeface="Aptos"/>
                <a:cs typeface="Aptos"/>
              </a:defRPr>
            </a:pPr>
            <a:r>
              <a:rPr sz="1500" b="1" i="0">
                <a:solidFill>
                  <a:srgbClr val="16876A"/>
                </a:solidFill>
                <a:latin typeface="Aptos"/>
                <a:ea typeface="Aptos"/>
                <a:cs typeface="Aptos"/>
              </a:rPr>
              <a:t>Intervention check</a:t>
            </a:r>
          </a:p>
        </p:txBody>
      </p:sp>
      <p:sp>
        <p:nvSpPr>
          <p:cNvPr id="33" name="">
            <a:extLst xmlns:a="http://schemas.openxmlformats.org/drawingml/2006/main">
              <a:ext uri="{FF2B5EF4-FFF2-40B4-BE49-F238E27FC236}">
                <a16:creationId xmlns:a16="http://schemas.microsoft.com/office/drawing/2014/main" id="{F3F679A3-260E-41B5-8655-2780F80EE29A}"/>
              </a:ext>
            </a:extLst>
          </p:cNvPr>
          <p:cNvSpPr>
            <a:spLocks xmlns:a="http://schemas.openxmlformats.org/drawingml/2006/main" noGrp="1"/>
          </p:cNvSpPr>
          <p:nvPr/>
        </p:nvSpPr>
        <p:spPr>
          <a:xfrm xmlns:a="http://schemas.openxmlformats.org/drawingml/2006/main">
            <a:off x="8743950" y="1971675"/>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i="0">
                <a:solidFill>
                  <a:srgbClr val="16876A"/>
                </a:solidFill>
                <a:latin typeface="Aptos"/>
                <a:ea typeface="Aptos"/>
                <a:cs typeface="Aptos"/>
              </a:defRPr>
            </a:pPr>
            <a:r>
              <a:rPr sz="3000" b="1" i="0">
                <a:solidFill>
                  <a:srgbClr val="16876A"/>
                </a:solidFill>
                <a:latin typeface="Aptos"/>
                <a:ea typeface="Aptos"/>
                <a:cs typeface="Aptos"/>
              </a:rPr>
              <a:t>+20.0%</a:t>
            </a:r>
          </a:p>
        </p:txBody>
      </p:sp>
      <p:sp>
        <p:nvSpPr>
          <p:cNvPr id="34" name="">
            <a:extLst xmlns:a="http://schemas.openxmlformats.org/drawingml/2006/main">
              <a:ext uri="{FF2B5EF4-FFF2-40B4-BE49-F238E27FC236}">
                <a16:creationId xmlns:a16="http://schemas.microsoft.com/office/drawing/2014/main" id="{4F67A8AD-8BA1-45AB-858E-E6985D2246BA}"/>
              </a:ext>
            </a:extLst>
          </p:cNvPr>
          <p:cNvSpPr>
            <a:spLocks xmlns:a="http://schemas.openxmlformats.org/drawingml/2006/main" noGrp="1"/>
          </p:cNvSpPr>
          <p:nvPr/>
        </p:nvSpPr>
        <p:spPr>
          <a:xfrm xmlns:a="http://schemas.openxmlformats.org/drawingml/2006/main">
            <a:off x="8743950" y="2543175"/>
            <a:ext cx="266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i="0">
                <a:solidFill>
                  <a:srgbClr val="5F6B7A"/>
                </a:solidFill>
                <a:latin typeface="Aptos"/>
                <a:ea typeface="Aptos"/>
                <a:cs typeface="Aptos"/>
              </a:defRPr>
            </a:pPr>
            <a:r>
              <a:rPr sz="1500" b="0" i="0">
                <a:solidFill>
                  <a:srgbClr val="5F6B7A"/>
                </a:solidFill>
                <a:latin typeface="Aptos"/>
                <a:ea typeface="Aptos"/>
                <a:cs typeface="Aptos"/>
              </a:rPr>
              <a:t>working-time arrival intensity</a:t>
            </a:r>
          </a:p>
        </p:txBody>
      </p:sp>
      <p:sp>
        <p:nvSpPr>
          <p:cNvPr id="35" name="">
            <a:extLst xmlns:a="http://schemas.openxmlformats.org/drawingml/2006/main">
              <a:ext uri="{FF2B5EF4-FFF2-40B4-BE49-F238E27FC236}">
                <a16:creationId xmlns:a16="http://schemas.microsoft.com/office/drawing/2014/main" id="{E8DBEA1A-C948-4D90-BE0C-7C9FF587419B}"/>
              </a:ext>
            </a:extLst>
          </p:cNvPr>
          <p:cNvSpPr>
            <a:spLocks xmlns:a="http://schemas.openxmlformats.org/drawingml/2006/main" noGrp="1"/>
          </p:cNvSpPr>
          <p:nvPr/>
        </p:nvSpPr>
        <p:spPr>
          <a:xfrm xmlns:a="http://schemas.openxmlformats.org/drawingml/2006/main">
            <a:off x="8743950" y="3124200"/>
            <a:ext cx="2381250" cy="19050"/>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6" name="">
            <a:extLst xmlns:a="http://schemas.openxmlformats.org/drawingml/2006/main">
              <a:ext uri="{FF2B5EF4-FFF2-40B4-BE49-F238E27FC236}">
                <a16:creationId xmlns:a16="http://schemas.microsoft.com/office/drawing/2014/main" id="{E5DCD306-E4F3-49B2-994B-B0F864F60E43}"/>
              </a:ext>
            </a:extLst>
          </p:cNvPr>
          <p:cNvSpPr>
            <a:spLocks xmlns:a="http://schemas.openxmlformats.org/drawingml/2006/main" noGrp="1"/>
          </p:cNvSpPr>
          <p:nvPr/>
        </p:nvSpPr>
        <p:spPr>
          <a:xfrm xmlns:a="http://schemas.openxmlformats.org/drawingml/2006/main">
            <a:off x="8743950" y="3390900"/>
            <a:ext cx="266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Diagnostic result</a:t>
            </a:r>
          </a:p>
        </p:txBody>
      </p:sp>
      <p:sp>
        <p:nvSpPr>
          <p:cNvPr id="37" name="">
            <a:extLst xmlns:a="http://schemas.openxmlformats.org/drawingml/2006/main">
              <a:ext uri="{FF2B5EF4-FFF2-40B4-BE49-F238E27FC236}">
                <a16:creationId xmlns:a16="http://schemas.microsoft.com/office/drawing/2014/main" id="{43D7BC95-86D0-4337-B6BF-DBD8C8ED9E8F}"/>
              </a:ext>
            </a:extLst>
          </p:cNvPr>
          <p:cNvSpPr>
            <a:spLocks xmlns:a="http://schemas.openxmlformats.org/drawingml/2006/main" noGrp="1"/>
          </p:cNvSpPr>
          <p:nvPr/>
        </p:nvSpPr>
        <p:spPr>
          <a:xfrm xmlns:a="http://schemas.openxmlformats.org/drawingml/2006/main">
            <a:off x="8743950" y="3905250"/>
            <a:ext cx="2571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Arrivals change, but limited queueing and spatial interaction prevent a strong end-to-end delay response.</a:t>
            </a:r>
          </a:p>
        </p:txBody>
      </p:sp>
      <p:sp>
        <p:nvSpPr>
          <p:cNvPr id="38" name="">
            <a:extLst xmlns:a="http://schemas.openxmlformats.org/drawingml/2006/main">
              <a:ext uri="{FF2B5EF4-FFF2-40B4-BE49-F238E27FC236}">
                <a16:creationId xmlns:a16="http://schemas.microsoft.com/office/drawing/2014/main" id="{C7A6EEBB-30AD-4955-B4EF-D3192F6E9791}"/>
              </a:ext>
            </a:extLst>
          </p:cNvPr>
          <p:cNvSpPr>
            <a:spLocks xmlns:a="http://schemas.openxmlformats.org/drawingml/2006/main" noGrp="1"/>
          </p:cNvSpPr>
          <p:nvPr/>
        </p:nvSpPr>
        <p:spPr>
          <a:xfrm xmlns:a="http://schemas.openxmlformats.org/drawingml/2006/main">
            <a:off x="8743950" y="5143500"/>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C8102E"/>
                </a:solidFill>
                <a:latin typeface="Aptos"/>
                <a:ea typeface="Aptos"/>
                <a:cs typeface="Aptos"/>
              </a:defRPr>
            </a:pPr>
            <a:r>
              <a:rPr sz="1500" b="1" i="0">
                <a:solidFill>
                  <a:srgbClr val="C8102E"/>
                </a:solidFill>
                <a:latin typeface="Aptos"/>
                <a:ea typeface="Aptos"/>
                <a:cs typeface="Aptos"/>
              </a:rPr>
              <a:t>Turnaround CI includes zero.</a:t>
            </a:r>
          </a:p>
        </p:txBody>
      </p:sp>
    </p:spTree>
    <p:extLst>
      <p:ext uri="{BB962C8B-B14F-4D97-AF65-F5344CB8AC3E}">
        <p14:creationId xmlns:p14="http://schemas.microsoft.com/office/powerpoint/2010/main" val="4804838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4F29EC3-8A2B-40B5-9C54-0DB065DC44D7}"/>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The scenarios are stress tests of model semantics</a:t>
            </a:r>
          </a:p>
        </p:txBody>
      </p:sp>
      <p:sp>
        <p:nvSpPr>
          <p:cNvPr id="2" name="">
            <a:extLst xmlns:a="http://schemas.openxmlformats.org/drawingml/2006/main">
              <a:ext uri="{FF2B5EF4-FFF2-40B4-BE49-F238E27FC236}">
                <a16:creationId xmlns:a16="http://schemas.microsoft.com/office/drawing/2014/main" id="{3A6AF927-B80C-4E19-8E10-7089D14B1347}"/>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F98B2D0F-9DCF-474A-9ADF-237F0BEBB97E}"/>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A947EBB7-501D-4881-BC2A-BBF84179AC4F}"/>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13</a:t>
            </a:r>
          </a:p>
        </p:txBody>
      </p:sp>
      <p:sp>
        <p:nvSpPr>
          <p:cNvPr id="5" name="">
            <a:extLst xmlns:a="http://schemas.openxmlformats.org/drawingml/2006/main">
              <a:ext uri="{FF2B5EF4-FFF2-40B4-BE49-F238E27FC236}">
                <a16:creationId xmlns:a16="http://schemas.microsoft.com/office/drawing/2014/main" id="{F9D823C2-5D4E-4248-890E-28586D5FE39A}"/>
              </a:ext>
            </a:extLst>
          </p:cNvPr>
          <p:cNvSpPr>
            <a:spLocks xmlns:a="http://schemas.openxmlformats.org/drawingml/2006/main" noGrp="1"/>
          </p:cNvSpPr>
          <p:nvPr/>
        </p:nvSpPr>
        <p:spPr>
          <a:xfrm xmlns:a="http://schemas.openxmlformats.org/drawingml/2006/main">
            <a:off x="742950" y="1714500"/>
            <a:ext cx="3238500" cy="2686050"/>
          </a:xfrm>
          <a:prstGeom xmlns:a="http://schemas.openxmlformats.org/drawingml/2006/main" prst="roundRect">
            <a:avLst>
              <a:gd name="adj" fmla="val 4255"/>
            </a:avLst>
          </a:prstGeom>
          <a:solidFill xmlns:a="http://schemas.openxmlformats.org/drawingml/2006/main">
            <a:srgbClr val="F8FAFC"/>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3AF226D7-D390-49E2-9FBC-2A2148B7D8F1}"/>
              </a:ext>
            </a:extLst>
          </p:cNvPr>
          <p:cNvSpPr>
            <a:spLocks xmlns:a="http://schemas.openxmlformats.org/drawingml/2006/main" noGrp="1"/>
          </p:cNvSpPr>
          <p:nvPr/>
        </p:nvSpPr>
        <p:spPr>
          <a:xfrm xmlns:a="http://schemas.openxmlformats.org/drawingml/2006/main">
            <a:off x="990600" y="1981200"/>
            <a:ext cx="457200" cy="45720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7" name="">
            <a:extLst xmlns:a="http://schemas.openxmlformats.org/drawingml/2006/main">
              <a:ext uri="{FF2B5EF4-FFF2-40B4-BE49-F238E27FC236}">
                <a16:creationId xmlns:a16="http://schemas.microsoft.com/office/drawing/2014/main" id="{A440FE06-D1E0-4BDA-A169-A1C59A1AC865}"/>
              </a:ext>
            </a:extLst>
          </p:cNvPr>
          <p:cNvSpPr>
            <a:spLocks xmlns:a="http://schemas.openxmlformats.org/drawingml/2006/main" noGrp="1"/>
          </p:cNvSpPr>
          <p:nvPr/>
        </p:nvSpPr>
        <p:spPr>
          <a:xfrm xmlns:a="http://schemas.openxmlformats.org/drawingml/2006/main">
            <a:off x="990600" y="20859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i="0">
                <a:solidFill>
                  <a:srgbClr val="FFFFFF"/>
                </a:solidFill>
                <a:latin typeface="Aptos"/>
                <a:ea typeface="Aptos"/>
                <a:cs typeface="Aptos"/>
              </a:defRPr>
            </a:pPr>
            <a:r>
              <a:rPr sz="1500" b="1" i="0">
                <a:solidFill>
                  <a:srgbClr val="FFFF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6CE11EE4-9D77-407F-A771-E0CA34DCBA13}"/>
              </a:ext>
            </a:extLst>
          </p:cNvPr>
          <p:cNvSpPr>
            <a:spLocks xmlns:a="http://schemas.openxmlformats.org/drawingml/2006/main" noGrp="1"/>
          </p:cNvSpPr>
          <p:nvPr/>
        </p:nvSpPr>
        <p:spPr>
          <a:xfrm xmlns:a="http://schemas.openxmlformats.org/drawingml/2006/main">
            <a:off x="990600" y="2724150"/>
            <a:ext cx="2743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Intervention executes</a:t>
            </a:r>
          </a:p>
        </p:txBody>
      </p:sp>
      <p:sp>
        <p:nvSpPr>
          <p:cNvPr id="9" name="">
            <a:extLst xmlns:a="http://schemas.openxmlformats.org/drawingml/2006/main">
              <a:ext uri="{FF2B5EF4-FFF2-40B4-BE49-F238E27FC236}">
                <a16:creationId xmlns:a16="http://schemas.microsoft.com/office/drawing/2014/main" id="{ED67466B-4C1F-47FE-A6EA-064E0AECF59E}"/>
              </a:ext>
            </a:extLst>
          </p:cNvPr>
          <p:cNvSpPr>
            <a:spLocks xmlns:a="http://schemas.openxmlformats.org/drawingml/2006/main" noGrp="1"/>
          </p:cNvSpPr>
          <p:nvPr/>
        </p:nvSpPr>
        <p:spPr>
          <a:xfrm xmlns:a="http://schemas.openxmlformats.org/drawingml/2006/main">
            <a:off x="990600" y="3543300"/>
            <a:ext cx="2743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T22 assignments vanish; the arrival parameter rises exactly 20%.</a:t>
            </a:r>
          </a:p>
        </p:txBody>
      </p:sp>
      <p:sp>
        <p:nvSpPr>
          <p:cNvPr id="10" name="">
            <a:extLst xmlns:a="http://schemas.openxmlformats.org/drawingml/2006/main">
              <a:ext uri="{FF2B5EF4-FFF2-40B4-BE49-F238E27FC236}">
                <a16:creationId xmlns:a16="http://schemas.microsoft.com/office/drawing/2014/main" id="{17F72F4A-FB78-4661-AFAE-BE06E09B2738}"/>
              </a:ext>
            </a:extLst>
          </p:cNvPr>
          <p:cNvSpPr>
            <a:spLocks xmlns:a="http://schemas.openxmlformats.org/drawingml/2006/main" noGrp="1"/>
          </p:cNvSpPr>
          <p:nvPr/>
        </p:nvSpPr>
        <p:spPr>
          <a:xfrm xmlns:a="http://schemas.openxmlformats.org/drawingml/2006/main">
            <a:off x="3981450" y="2800350"/>
            <a:ext cx="3905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F7C27F85-427B-45D9-8AB2-47489128D80D}"/>
              </a:ext>
            </a:extLst>
          </p:cNvPr>
          <p:cNvSpPr>
            <a:spLocks xmlns:a="http://schemas.openxmlformats.org/drawingml/2006/main" noGrp="1"/>
          </p:cNvSpPr>
          <p:nvPr/>
        </p:nvSpPr>
        <p:spPr>
          <a:xfrm xmlns:a="http://schemas.openxmlformats.org/drawingml/2006/main">
            <a:off x="4371975" y="1714500"/>
            <a:ext cx="3238500" cy="2686050"/>
          </a:xfrm>
          <a:prstGeom xmlns:a="http://schemas.openxmlformats.org/drawingml/2006/main" prst="roundRect">
            <a:avLst>
              <a:gd name="adj" fmla="val 4255"/>
            </a:avLst>
          </a:prstGeom>
          <a:solidFill xmlns:a="http://schemas.openxmlformats.org/drawingml/2006/main">
            <a:srgbClr val="F8FAFC"/>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AE7A77EB-868E-4574-854A-6913C6BDF34A}"/>
              </a:ext>
            </a:extLst>
          </p:cNvPr>
          <p:cNvSpPr>
            <a:spLocks xmlns:a="http://schemas.openxmlformats.org/drawingml/2006/main" noGrp="1"/>
          </p:cNvSpPr>
          <p:nvPr/>
        </p:nvSpPr>
        <p:spPr>
          <a:xfrm xmlns:a="http://schemas.openxmlformats.org/drawingml/2006/main">
            <a:off x="4619625" y="1981200"/>
            <a:ext cx="457200" cy="45720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13" name="">
            <a:extLst xmlns:a="http://schemas.openxmlformats.org/drawingml/2006/main">
              <a:ext uri="{FF2B5EF4-FFF2-40B4-BE49-F238E27FC236}">
                <a16:creationId xmlns:a16="http://schemas.microsoft.com/office/drawing/2014/main" id="{321CDABA-FD7F-447A-920A-95BD2D991A8B}"/>
              </a:ext>
            </a:extLst>
          </p:cNvPr>
          <p:cNvSpPr>
            <a:spLocks xmlns:a="http://schemas.openxmlformats.org/drawingml/2006/main" noGrp="1"/>
          </p:cNvSpPr>
          <p:nvPr/>
        </p:nvSpPr>
        <p:spPr>
          <a:xfrm xmlns:a="http://schemas.openxmlformats.org/drawingml/2006/main">
            <a:off x="4619625" y="20859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i="0">
                <a:solidFill>
                  <a:srgbClr val="FFFFFF"/>
                </a:solidFill>
                <a:latin typeface="Aptos"/>
                <a:ea typeface="Aptos"/>
                <a:cs typeface="Aptos"/>
              </a:defRPr>
            </a:pPr>
            <a:r>
              <a:rPr sz="1500" b="1" i="0">
                <a:solidFill>
                  <a:srgbClr val="FFFFFF"/>
                </a:solidFill>
                <a:latin typeface="Aptos"/>
                <a:ea typeface="Aptos"/>
                <a:cs typeface="Aptos"/>
              </a:rPr>
              <a:t>2</a:t>
            </a:r>
          </a:p>
        </p:txBody>
      </p:sp>
      <p:sp>
        <p:nvSpPr>
          <p:cNvPr id="14" name="">
            <a:extLst xmlns:a="http://schemas.openxmlformats.org/drawingml/2006/main">
              <a:ext uri="{FF2B5EF4-FFF2-40B4-BE49-F238E27FC236}">
                <a16:creationId xmlns:a16="http://schemas.microsoft.com/office/drawing/2014/main" id="{B08C790F-5787-4C06-BA56-4660981D94D4}"/>
              </a:ext>
            </a:extLst>
          </p:cNvPr>
          <p:cNvSpPr>
            <a:spLocks xmlns:a="http://schemas.openxmlformats.org/drawingml/2006/main" noGrp="1"/>
          </p:cNvSpPr>
          <p:nvPr/>
        </p:nvSpPr>
        <p:spPr>
          <a:xfrm xmlns:a="http://schemas.openxmlformats.org/drawingml/2006/main">
            <a:off x="4619625" y="2724150"/>
            <a:ext cx="2743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Outputs are reproducible</a:t>
            </a:r>
          </a:p>
        </p:txBody>
      </p:sp>
      <p:sp>
        <p:nvSpPr>
          <p:cNvPr id="15" name="">
            <a:extLst xmlns:a="http://schemas.openxmlformats.org/drawingml/2006/main">
              <a:ext uri="{FF2B5EF4-FFF2-40B4-BE49-F238E27FC236}">
                <a16:creationId xmlns:a16="http://schemas.microsoft.com/office/drawing/2014/main" id="{C5B8F684-C9E0-4786-B836-1265783F9F14}"/>
              </a:ext>
            </a:extLst>
          </p:cNvPr>
          <p:cNvSpPr>
            <a:spLocks xmlns:a="http://schemas.openxmlformats.org/drawingml/2006/main" noGrp="1"/>
          </p:cNvSpPr>
          <p:nvPr/>
        </p:nvSpPr>
        <p:spPr>
          <a:xfrm xmlns:a="http://schemas.openxmlformats.org/drawingml/2006/main">
            <a:off x="4619625" y="3543300"/>
            <a:ext cx="2743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Matched seeds resolve small model-internal changes.</a:t>
            </a:r>
          </a:p>
        </p:txBody>
      </p:sp>
      <p:sp>
        <p:nvSpPr>
          <p:cNvPr id="16" name="">
            <a:extLst xmlns:a="http://schemas.openxmlformats.org/drawingml/2006/main">
              <a:ext uri="{FF2B5EF4-FFF2-40B4-BE49-F238E27FC236}">
                <a16:creationId xmlns:a16="http://schemas.microsoft.com/office/drawing/2014/main" id="{256CEE6C-041B-41D6-B6EA-D5D8DF7B987E}"/>
              </a:ext>
            </a:extLst>
          </p:cNvPr>
          <p:cNvSpPr>
            <a:spLocks xmlns:a="http://schemas.openxmlformats.org/drawingml/2006/main" noGrp="1"/>
          </p:cNvSpPr>
          <p:nvPr/>
        </p:nvSpPr>
        <p:spPr>
          <a:xfrm xmlns:a="http://schemas.openxmlformats.org/drawingml/2006/main">
            <a:off x="7610475" y="2800350"/>
            <a:ext cx="3905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846A16CC-2C97-4B2B-AFA4-C4DBE558BAD1}"/>
              </a:ext>
            </a:extLst>
          </p:cNvPr>
          <p:cNvSpPr>
            <a:spLocks xmlns:a="http://schemas.openxmlformats.org/drawingml/2006/main" noGrp="1"/>
          </p:cNvSpPr>
          <p:nvPr/>
        </p:nvSpPr>
        <p:spPr>
          <a:xfrm xmlns:a="http://schemas.openxmlformats.org/drawingml/2006/main">
            <a:off x="8001000" y="1714500"/>
            <a:ext cx="3238500" cy="2686050"/>
          </a:xfrm>
          <a:prstGeom xmlns:a="http://schemas.openxmlformats.org/drawingml/2006/main" prst="roundRect">
            <a:avLst>
              <a:gd name="adj" fmla="val 4255"/>
            </a:avLst>
          </a:prstGeom>
          <a:solidFill xmlns:a="http://schemas.openxmlformats.org/drawingml/2006/main">
            <a:srgbClr val="F8FAFC"/>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0BD2860F-08A7-4DBE-85E4-4F9782B5BCC7}"/>
              </a:ext>
            </a:extLst>
          </p:cNvPr>
          <p:cNvSpPr>
            <a:spLocks xmlns:a="http://schemas.openxmlformats.org/drawingml/2006/main" noGrp="1"/>
          </p:cNvSpPr>
          <p:nvPr/>
        </p:nvSpPr>
        <p:spPr>
          <a:xfrm xmlns:a="http://schemas.openxmlformats.org/drawingml/2006/main">
            <a:off x="8248650" y="1981200"/>
            <a:ext cx="457200" cy="45720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19" name="">
            <a:extLst xmlns:a="http://schemas.openxmlformats.org/drawingml/2006/main">
              <a:ext uri="{FF2B5EF4-FFF2-40B4-BE49-F238E27FC236}">
                <a16:creationId xmlns:a16="http://schemas.microsoft.com/office/drawing/2014/main" id="{368170E6-A018-4E3C-B7CB-411A04447905}"/>
              </a:ext>
            </a:extLst>
          </p:cNvPr>
          <p:cNvSpPr>
            <a:spLocks xmlns:a="http://schemas.openxmlformats.org/drawingml/2006/main" noGrp="1"/>
          </p:cNvSpPr>
          <p:nvPr/>
        </p:nvSpPr>
        <p:spPr>
          <a:xfrm xmlns:a="http://schemas.openxmlformats.org/drawingml/2006/main">
            <a:off x="8248650" y="2085975"/>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i="0">
                <a:solidFill>
                  <a:srgbClr val="FFFFFF"/>
                </a:solidFill>
                <a:latin typeface="Aptos"/>
                <a:ea typeface="Aptos"/>
                <a:cs typeface="Aptos"/>
              </a:defRPr>
            </a:pPr>
            <a:r>
              <a:rPr sz="1500" b="1" i="0">
                <a:solidFill>
                  <a:srgbClr val="FFFFFF"/>
                </a:solidFill>
                <a:latin typeface="Aptos"/>
                <a:ea typeface="Aptos"/>
                <a:cs typeface="Aptos"/>
              </a:rPr>
              <a:t>3</a:t>
            </a:r>
          </a:p>
        </p:txBody>
      </p:sp>
      <p:sp>
        <p:nvSpPr>
          <p:cNvPr id="20" name="">
            <a:extLst xmlns:a="http://schemas.openxmlformats.org/drawingml/2006/main">
              <a:ext uri="{FF2B5EF4-FFF2-40B4-BE49-F238E27FC236}">
                <a16:creationId xmlns:a16="http://schemas.microsoft.com/office/drawing/2014/main" id="{605868A7-5814-46CB-994D-345417758EC4}"/>
              </a:ext>
            </a:extLst>
          </p:cNvPr>
          <p:cNvSpPr>
            <a:spLocks xmlns:a="http://schemas.openxmlformats.org/drawingml/2006/main" noGrp="1"/>
          </p:cNvSpPr>
          <p:nvPr/>
        </p:nvSpPr>
        <p:spPr>
          <a:xfrm xmlns:a="http://schemas.openxmlformats.org/drawingml/2006/main">
            <a:off x="8248650" y="2724150"/>
            <a:ext cx="2743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Physical response is absent</a:t>
            </a:r>
          </a:p>
        </p:txBody>
      </p:sp>
      <p:sp>
        <p:nvSpPr>
          <p:cNvPr id="21" name="">
            <a:extLst xmlns:a="http://schemas.openxmlformats.org/drawingml/2006/main">
              <a:ext uri="{FF2B5EF4-FFF2-40B4-BE49-F238E27FC236}">
                <a16:creationId xmlns:a16="http://schemas.microsoft.com/office/drawing/2014/main" id="{2CDD1D4E-C5ED-49D0-A7CF-39E7A2EB7BCC}"/>
              </a:ext>
            </a:extLst>
          </p:cNvPr>
          <p:cNvSpPr>
            <a:spLocks xmlns:a="http://schemas.openxmlformats.org/drawingml/2006/main" noGrp="1"/>
          </p:cNvSpPr>
          <p:nvPr/>
        </p:nvSpPr>
        <p:spPr>
          <a:xfrm xmlns:a="http://schemas.openxmlformats.org/drawingml/2006/main">
            <a:off x="8248650" y="3543300"/>
            <a:ext cx="2743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Near-null turnaround exposes missing propagation mechanisms.</a:t>
            </a:r>
          </a:p>
        </p:txBody>
      </p:sp>
      <p:sp>
        <p:nvSpPr>
          <p:cNvPr id="22" name="">
            <a:extLst xmlns:a="http://schemas.openxmlformats.org/drawingml/2006/main">
              <a:ext uri="{FF2B5EF4-FFF2-40B4-BE49-F238E27FC236}">
                <a16:creationId xmlns:a16="http://schemas.microsoft.com/office/drawing/2014/main" id="{F8EBF2A1-6AA9-4A9F-AAF1-7D7359BC8D63}"/>
              </a:ext>
            </a:extLst>
          </p:cNvPr>
          <p:cNvSpPr>
            <a:spLocks xmlns:a="http://schemas.openxmlformats.org/drawingml/2006/main" noGrp="1"/>
          </p:cNvSpPr>
          <p:nvPr/>
        </p:nvSpPr>
        <p:spPr>
          <a:xfrm xmlns:a="http://schemas.openxmlformats.org/drawingml/2006/main">
            <a:off x="1352550" y="4895850"/>
            <a:ext cx="9486900" cy="1000125"/>
          </a:xfrm>
          <a:prstGeom xmlns:a="http://schemas.openxmlformats.org/drawingml/2006/main" prst="roundRect">
            <a:avLst>
              <a:gd name="adj" fmla="val 11429"/>
            </a:avLst>
          </a:prstGeom>
          <a:solidFill xmlns:a="http://schemas.openxmlformats.org/drawingml/2006/main">
            <a:srgbClr val="FDECE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921D8B8-D89F-4F74-BA95-9597699E45DB}"/>
              </a:ext>
            </a:extLst>
          </p:cNvPr>
          <p:cNvSpPr>
            <a:spLocks xmlns:a="http://schemas.openxmlformats.org/drawingml/2006/main" noGrp="1"/>
          </p:cNvSpPr>
          <p:nvPr/>
        </p:nvSpPr>
        <p:spPr>
          <a:xfrm xmlns:a="http://schemas.openxmlformats.org/drawingml/2006/main">
            <a:off x="1657350" y="5095875"/>
            <a:ext cx="8877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i="0">
                <a:solidFill>
                  <a:srgbClr val="0B1220"/>
                </a:solidFill>
                <a:latin typeface="Aptos"/>
                <a:ea typeface="Aptos"/>
                <a:cs typeface="Aptos"/>
              </a:defRPr>
            </a:pPr>
            <a:r>
              <a:rPr sz="1950" b="1" i="0">
                <a:solidFill>
                  <a:srgbClr val="0B1220"/>
                </a:solidFill>
                <a:latin typeface="Aptos"/>
                <a:ea typeface="Aptos"/>
                <a:cs typeface="Aptos"/>
              </a:rPr>
              <a:t>A null effect is operationally meaningful only when the mechanisms that should propagate the intervention are represented and validated.</a:t>
            </a:r>
          </a:p>
        </p:txBody>
      </p:sp>
    </p:spTree>
    <p:extLst>
      <p:ext uri="{BB962C8B-B14F-4D97-AF65-F5344CB8AC3E}">
        <p14:creationId xmlns:p14="http://schemas.microsoft.com/office/powerpoint/2010/main" val="3018448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ADC7419-633E-4C49-8B84-5654931E142A}"/>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Decision support requires three distinct levels of evidence</a:t>
            </a:r>
          </a:p>
        </p:txBody>
      </p:sp>
      <p:sp>
        <p:nvSpPr>
          <p:cNvPr id="2" name="">
            <a:extLst xmlns:a="http://schemas.openxmlformats.org/drawingml/2006/main">
              <a:ext uri="{FF2B5EF4-FFF2-40B4-BE49-F238E27FC236}">
                <a16:creationId xmlns:a16="http://schemas.microsoft.com/office/drawing/2014/main" id="{866CEAC9-23CD-4728-9357-6F33F246C43B}"/>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8D450EA4-FBE3-45CC-896F-514CC6AA751B}"/>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C0CA12AA-F704-4790-B551-4B0DF566CE47}"/>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14</a:t>
            </a:r>
          </a:p>
        </p:txBody>
      </p:sp>
      <p:sp>
        <p:nvSpPr>
          <p:cNvPr id="5" name="">
            <a:extLst xmlns:a="http://schemas.openxmlformats.org/drawingml/2006/main">
              <a:ext uri="{FF2B5EF4-FFF2-40B4-BE49-F238E27FC236}">
                <a16:creationId xmlns:a16="http://schemas.microsoft.com/office/drawing/2014/main" id="{FE198AD3-4F3A-4F7A-8BD6-A50AF230206B}"/>
              </a:ext>
            </a:extLst>
          </p:cNvPr>
          <p:cNvSpPr>
            <a:spLocks xmlns:a="http://schemas.openxmlformats.org/drawingml/2006/main" noGrp="1"/>
          </p:cNvSpPr>
          <p:nvPr/>
        </p:nvSpPr>
        <p:spPr>
          <a:xfrm xmlns:a="http://schemas.openxmlformats.org/drawingml/2006/main">
            <a:off x="704850" y="1428750"/>
            <a:ext cx="10429875" cy="1219200"/>
          </a:xfrm>
          <a:prstGeom xmlns:a="http://schemas.openxmlformats.org/drawingml/2006/main" prst="roundRect">
            <a:avLst>
              <a:gd name="adj" fmla="val 9375"/>
            </a:avLst>
          </a:prstGeom>
          <a:solidFill xmlns:a="http://schemas.openxmlformats.org/drawingml/2006/main">
            <a:srgbClr val="FFF4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D147A0-5669-4FDF-9BEA-B83ACBDC2CF8}"/>
              </a:ext>
            </a:extLst>
          </p:cNvPr>
          <p:cNvSpPr>
            <a:spLocks xmlns:a="http://schemas.openxmlformats.org/drawingml/2006/main" noGrp="1"/>
          </p:cNvSpPr>
          <p:nvPr/>
        </p:nvSpPr>
        <p:spPr>
          <a:xfrm xmlns:a="http://schemas.openxmlformats.org/drawingml/2006/main">
            <a:off x="933450" y="1752600"/>
            <a:ext cx="533400" cy="533400"/>
          </a:xfrm>
          <a:prstGeom xmlns:a="http://schemas.openxmlformats.org/drawingml/2006/main" prst="ellipse">
            <a:avLst/>
          </a:prstGeom>
          <a:solidFill xmlns:a="http://schemas.openxmlformats.org/drawingml/2006/main">
            <a:srgbClr val="C98200"/>
          </a:solidFill>
          <a:ln xmlns:a="http://schemas.openxmlformats.org/drawingml/2006/main" w="9525">
            <a:solidFill>
              <a:srgbClr val="C98200"/>
            </a:solidFill>
            <a:prstDash val="solid"/>
          </a:ln>
        </p:spPr>
      </p:sp>
      <p:sp>
        <p:nvSpPr>
          <p:cNvPr id="7" name="">
            <a:extLst xmlns:a="http://schemas.openxmlformats.org/drawingml/2006/main">
              <a:ext uri="{FF2B5EF4-FFF2-40B4-BE49-F238E27FC236}">
                <a16:creationId xmlns:a16="http://schemas.microsoft.com/office/drawing/2014/main" id="{147C4BE2-8AD6-4ECB-9080-FC4061854FC7}"/>
              </a:ext>
            </a:extLst>
          </p:cNvPr>
          <p:cNvSpPr>
            <a:spLocks xmlns:a="http://schemas.openxmlformats.org/drawingml/2006/main" noGrp="1"/>
          </p:cNvSpPr>
          <p:nvPr/>
        </p:nvSpPr>
        <p:spPr>
          <a:xfrm xmlns:a="http://schemas.openxmlformats.org/drawingml/2006/main">
            <a:off x="933450" y="1885950"/>
            <a:ext cx="533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6E89B64A-DCD3-483E-BF21-81E3FB7204EF}"/>
              </a:ext>
            </a:extLst>
          </p:cNvPr>
          <p:cNvSpPr>
            <a:spLocks xmlns:a="http://schemas.openxmlformats.org/drawingml/2006/main" noGrp="1"/>
          </p:cNvSpPr>
          <p:nvPr/>
        </p:nvSpPr>
        <p:spPr>
          <a:xfrm xmlns:a="http://schemas.openxmlformats.org/drawingml/2006/main">
            <a:off x="1714500" y="1657350"/>
            <a:ext cx="390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Historical reproduction</a:t>
            </a:r>
          </a:p>
        </p:txBody>
      </p:sp>
      <p:sp>
        <p:nvSpPr>
          <p:cNvPr id="9" name="">
            <a:extLst xmlns:a="http://schemas.openxmlformats.org/drawingml/2006/main">
              <a:ext uri="{FF2B5EF4-FFF2-40B4-BE49-F238E27FC236}">
                <a16:creationId xmlns:a16="http://schemas.microsoft.com/office/drawing/2014/main" id="{122E71F5-57C0-4036-9E58-B50E63FC4D08}"/>
              </a:ext>
            </a:extLst>
          </p:cNvPr>
          <p:cNvSpPr>
            <a:spLocks xmlns:a="http://schemas.openxmlformats.org/drawingml/2006/main" noGrp="1"/>
          </p:cNvSpPr>
          <p:nvPr/>
        </p:nvSpPr>
        <p:spPr>
          <a:xfrm xmlns:a="http://schemas.openxmlformats.org/drawingml/2006/main">
            <a:off x="8334375" y="16764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725" b="1" i="0">
                <a:solidFill>
                  <a:srgbClr val="C98200"/>
                </a:solidFill>
                <a:latin typeface="Aptos"/>
                <a:ea typeface="Aptos"/>
                <a:cs typeface="Aptos"/>
              </a:defRPr>
            </a:pPr>
            <a:r>
              <a:rPr sz="1725" b="1" i="0">
                <a:solidFill>
                  <a:srgbClr val="C98200"/>
                </a:solidFill>
                <a:latin typeface="Aptos"/>
                <a:ea typeface="Aptos"/>
                <a:cs typeface="Aptos"/>
              </a:rPr>
              <a:t>PARTIAL</a:t>
            </a:r>
          </a:p>
        </p:txBody>
      </p:sp>
      <p:sp>
        <p:nvSpPr>
          <p:cNvPr id="10" name="">
            <a:extLst xmlns:a="http://schemas.openxmlformats.org/drawingml/2006/main">
              <a:ext uri="{FF2B5EF4-FFF2-40B4-BE49-F238E27FC236}">
                <a16:creationId xmlns:a16="http://schemas.microsoft.com/office/drawing/2014/main" id="{B0A7FEDC-1C24-4A3C-B591-CBA25DCDC95E}"/>
              </a:ext>
            </a:extLst>
          </p:cNvPr>
          <p:cNvSpPr>
            <a:spLocks xmlns:a="http://schemas.openxmlformats.org/drawingml/2006/main" noGrp="1"/>
          </p:cNvSpPr>
          <p:nvPr/>
        </p:nvSpPr>
        <p:spPr>
          <a:xfrm xmlns:a="http://schemas.openxmlformats.org/drawingml/2006/main">
            <a:off x="1714500" y="2114550"/>
            <a:ext cx="752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Arrivals and common service times are close; turnaround is biased.</a:t>
            </a:r>
          </a:p>
        </p:txBody>
      </p:sp>
      <p:sp>
        <p:nvSpPr>
          <p:cNvPr id="11" name="">
            <a:extLst xmlns:a="http://schemas.openxmlformats.org/drawingml/2006/main">
              <a:ext uri="{FF2B5EF4-FFF2-40B4-BE49-F238E27FC236}">
                <a16:creationId xmlns:a16="http://schemas.microsoft.com/office/drawing/2014/main" id="{C0704FBA-100A-420B-9BB4-5CAF98A8765C}"/>
              </a:ext>
            </a:extLst>
          </p:cNvPr>
          <p:cNvSpPr>
            <a:spLocks xmlns:a="http://schemas.openxmlformats.org/drawingml/2006/main" noGrp="1"/>
          </p:cNvSpPr>
          <p:nvPr/>
        </p:nvSpPr>
        <p:spPr>
          <a:xfrm xmlns:a="http://schemas.openxmlformats.org/drawingml/2006/main">
            <a:off x="1228725" y="2952750"/>
            <a:ext cx="9382125" cy="1219200"/>
          </a:xfrm>
          <a:prstGeom xmlns:a="http://schemas.openxmlformats.org/drawingml/2006/main" prst="roundRect">
            <a:avLst>
              <a:gd name="adj" fmla="val 9375"/>
            </a:avLst>
          </a:prstGeom>
          <a:solidFill xmlns:a="http://schemas.openxmlformats.org/drawingml/2006/main">
            <a:srgbClr val="EAF8F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8C86213-4E87-45F5-8818-E96B1835D7B4}"/>
              </a:ext>
            </a:extLst>
          </p:cNvPr>
          <p:cNvSpPr>
            <a:spLocks xmlns:a="http://schemas.openxmlformats.org/drawingml/2006/main" noGrp="1"/>
          </p:cNvSpPr>
          <p:nvPr/>
        </p:nvSpPr>
        <p:spPr>
          <a:xfrm xmlns:a="http://schemas.openxmlformats.org/drawingml/2006/main">
            <a:off x="1457325" y="3276600"/>
            <a:ext cx="533400" cy="53340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13" name="">
            <a:extLst xmlns:a="http://schemas.openxmlformats.org/drawingml/2006/main">
              <a:ext uri="{FF2B5EF4-FFF2-40B4-BE49-F238E27FC236}">
                <a16:creationId xmlns:a16="http://schemas.microsoft.com/office/drawing/2014/main" id="{BFA7AE8F-AE86-4A64-B4B6-E0E54E49F3D3}"/>
              </a:ext>
            </a:extLst>
          </p:cNvPr>
          <p:cNvSpPr>
            <a:spLocks xmlns:a="http://schemas.openxmlformats.org/drawingml/2006/main" noGrp="1"/>
          </p:cNvSpPr>
          <p:nvPr/>
        </p:nvSpPr>
        <p:spPr>
          <a:xfrm xmlns:a="http://schemas.openxmlformats.org/drawingml/2006/main">
            <a:off x="1457325" y="3409950"/>
            <a:ext cx="533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14" name="">
            <a:extLst xmlns:a="http://schemas.openxmlformats.org/drawingml/2006/main">
              <a:ext uri="{FF2B5EF4-FFF2-40B4-BE49-F238E27FC236}">
                <a16:creationId xmlns:a16="http://schemas.microsoft.com/office/drawing/2014/main" id="{3BFB55FB-33B2-4A86-AD9D-9466290F50DD}"/>
              </a:ext>
            </a:extLst>
          </p:cNvPr>
          <p:cNvSpPr>
            <a:spLocks xmlns:a="http://schemas.openxmlformats.org/drawingml/2006/main" noGrp="1"/>
          </p:cNvSpPr>
          <p:nvPr/>
        </p:nvSpPr>
        <p:spPr>
          <a:xfrm xmlns:a="http://schemas.openxmlformats.org/drawingml/2006/main">
            <a:off x="2238375" y="3181350"/>
            <a:ext cx="390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Executable white-box scenarios</a:t>
            </a:r>
          </a:p>
        </p:txBody>
      </p:sp>
      <p:sp>
        <p:nvSpPr>
          <p:cNvPr id="15" name="">
            <a:extLst xmlns:a="http://schemas.openxmlformats.org/drawingml/2006/main">
              <a:ext uri="{FF2B5EF4-FFF2-40B4-BE49-F238E27FC236}">
                <a16:creationId xmlns:a16="http://schemas.microsoft.com/office/drawing/2014/main" id="{BD12485A-C91D-495D-BB1B-618A12F5C356}"/>
              </a:ext>
            </a:extLst>
          </p:cNvPr>
          <p:cNvSpPr>
            <a:spLocks xmlns:a="http://schemas.openxmlformats.org/drawingml/2006/main" noGrp="1"/>
          </p:cNvSpPr>
          <p:nvPr/>
        </p:nvSpPr>
        <p:spPr>
          <a:xfrm xmlns:a="http://schemas.openxmlformats.org/drawingml/2006/main">
            <a:off x="8191500" y="32004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725" b="1" i="0">
                <a:solidFill>
                  <a:srgbClr val="16876A"/>
                </a:solidFill>
                <a:latin typeface="Aptos"/>
                <a:ea typeface="Aptos"/>
                <a:cs typeface="Aptos"/>
              </a:defRPr>
            </a:pPr>
            <a:r>
              <a:rPr sz="1725" b="1" i="0">
                <a:solidFill>
                  <a:srgbClr val="16876A"/>
                </a:solidFill>
                <a:latin typeface="Aptos"/>
                <a:ea typeface="Aptos"/>
                <a:cs typeface="Aptos"/>
              </a:rPr>
              <a:t>YES</a:t>
            </a:r>
          </a:p>
        </p:txBody>
      </p:sp>
      <p:sp>
        <p:nvSpPr>
          <p:cNvPr id="16" name="">
            <a:extLst xmlns:a="http://schemas.openxmlformats.org/drawingml/2006/main">
              <a:ext uri="{FF2B5EF4-FFF2-40B4-BE49-F238E27FC236}">
                <a16:creationId xmlns:a16="http://schemas.microsoft.com/office/drawing/2014/main" id="{504A4223-3F96-40C8-98F5-0CBEE0A35E0A}"/>
              </a:ext>
            </a:extLst>
          </p:cNvPr>
          <p:cNvSpPr>
            <a:spLocks xmlns:a="http://schemas.openxmlformats.org/drawingml/2006/main" noGrp="1"/>
          </p:cNvSpPr>
          <p:nvPr/>
        </p:nvSpPr>
        <p:spPr>
          <a:xfrm xmlns:a="http://schemas.openxmlformats.org/drawingml/2006/main">
            <a:off x="2238375" y="3638550"/>
            <a:ext cx="676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Rules and arrival parameters can be changed, inspected and repeated.</a:t>
            </a:r>
          </a:p>
        </p:txBody>
      </p:sp>
      <p:sp>
        <p:nvSpPr>
          <p:cNvPr id="17" name="">
            <a:extLst xmlns:a="http://schemas.openxmlformats.org/drawingml/2006/main">
              <a:ext uri="{FF2B5EF4-FFF2-40B4-BE49-F238E27FC236}">
                <a16:creationId xmlns:a16="http://schemas.microsoft.com/office/drawing/2014/main" id="{9C9B3A3E-8A41-4C1B-8CF9-4766939B8DA5}"/>
              </a:ext>
            </a:extLst>
          </p:cNvPr>
          <p:cNvSpPr>
            <a:spLocks xmlns:a="http://schemas.openxmlformats.org/drawingml/2006/main" noGrp="1"/>
          </p:cNvSpPr>
          <p:nvPr/>
        </p:nvSpPr>
        <p:spPr>
          <a:xfrm xmlns:a="http://schemas.openxmlformats.org/drawingml/2006/main">
            <a:off x="1752600" y="4476750"/>
            <a:ext cx="8334375" cy="1219200"/>
          </a:xfrm>
          <a:prstGeom xmlns:a="http://schemas.openxmlformats.org/drawingml/2006/main" prst="roundRect">
            <a:avLst>
              <a:gd name="adj" fmla="val 9375"/>
            </a:avLst>
          </a:prstGeom>
          <a:solidFill xmlns:a="http://schemas.openxmlformats.org/drawingml/2006/main">
            <a:srgbClr val="FDECEF"/>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261D78F-73FD-4A04-96DB-6001F5FCE05E}"/>
              </a:ext>
            </a:extLst>
          </p:cNvPr>
          <p:cNvSpPr>
            <a:spLocks xmlns:a="http://schemas.openxmlformats.org/drawingml/2006/main" noGrp="1"/>
          </p:cNvSpPr>
          <p:nvPr/>
        </p:nvSpPr>
        <p:spPr>
          <a:xfrm xmlns:a="http://schemas.openxmlformats.org/drawingml/2006/main">
            <a:off x="1981200" y="4800600"/>
            <a:ext cx="533400" cy="53340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19" name="">
            <a:extLst xmlns:a="http://schemas.openxmlformats.org/drawingml/2006/main">
              <a:ext uri="{FF2B5EF4-FFF2-40B4-BE49-F238E27FC236}">
                <a16:creationId xmlns:a16="http://schemas.microsoft.com/office/drawing/2014/main" id="{EE9F58BA-CB52-4AEE-9A57-D6B5F6404B99}"/>
              </a:ext>
            </a:extLst>
          </p:cNvPr>
          <p:cNvSpPr>
            <a:spLocks xmlns:a="http://schemas.openxmlformats.org/drawingml/2006/main" noGrp="1"/>
          </p:cNvSpPr>
          <p:nvPr/>
        </p:nvSpPr>
        <p:spPr>
          <a:xfrm xmlns:a="http://schemas.openxmlformats.org/drawingml/2006/main">
            <a:off x="1981200" y="4933950"/>
            <a:ext cx="533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20" name="">
            <a:extLst xmlns:a="http://schemas.openxmlformats.org/drawingml/2006/main">
              <a:ext uri="{FF2B5EF4-FFF2-40B4-BE49-F238E27FC236}">
                <a16:creationId xmlns:a16="http://schemas.microsoft.com/office/drawing/2014/main" id="{1616E1B2-17CD-4E8F-9FD6-8F698A40B719}"/>
              </a:ext>
            </a:extLst>
          </p:cNvPr>
          <p:cNvSpPr>
            <a:spLocks xmlns:a="http://schemas.openxmlformats.org/drawingml/2006/main" noGrp="1"/>
          </p:cNvSpPr>
          <p:nvPr/>
        </p:nvSpPr>
        <p:spPr>
          <a:xfrm xmlns:a="http://schemas.openxmlformats.org/drawingml/2006/main">
            <a:off x="2762250" y="4705350"/>
            <a:ext cx="3905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0B1220"/>
                </a:solidFill>
                <a:latin typeface="Aptos"/>
                <a:ea typeface="Aptos"/>
                <a:cs typeface="Aptos"/>
              </a:defRPr>
            </a:pPr>
            <a:r>
              <a:rPr sz="2175" b="1" i="0">
                <a:solidFill>
                  <a:srgbClr val="0B1220"/>
                </a:solidFill>
                <a:latin typeface="Aptos"/>
                <a:ea typeface="Aptos"/>
                <a:cs typeface="Aptos"/>
              </a:rPr>
              <a:t>Credible physical counterfactual</a:t>
            </a:r>
          </a:p>
        </p:txBody>
      </p:sp>
      <p:sp>
        <p:nvSpPr>
          <p:cNvPr id="21" name="">
            <a:extLst xmlns:a="http://schemas.openxmlformats.org/drawingml/2006/main">
              <a:ext uri="{FF2B5EF4-FFF2-40B4-BE49-F238E27FC236}">
                <a16:creationId xmlns:a16="http://schemas.microsoft.com/office/drawing/2014/main" id="{F107E146-BA66-4199-B6EF-3104D7AD3FA7}"/>
              </a:ext>
            </a:extLst>
          </p:cNvPr>
          <p:cNvSpPr>
            <a:spLocks xmlns:a="http://schemas.openxmlformats.org/drawingml/2006/main" noGrp="1"/>
          </p:cNvSpPr>
          <p:nvPr/>
        </p:nvSpPr>
        <p:spPr>
          <a:xfrm xmlns:a="http://schemas.openxmlformats.org/drawingml/2006/main">
            <a:off x="8048625" y="47244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725" b="1" i="0">
                <a:solidFill>
                  <a:srgbClr val="C8102E"/>
                </a:solidFill>
                <a:latin typeface="Aptos"/>
                <a:ea typeface="Aptos"/>
                <a:cs typeface="Aptos"/>
              </a:defRPr>
            </a:pPr>
            <a:r>
              <a:rPr sz="1725" b="1" i="0">
                <a:solidFill>
                  <a:srgbClr val="C8102E"/>
                </a:solidFill>
                <a:latin typeface="Aptos"/>
                <a:ea typeface="Aptos"/>
                <a:cs typeface="Aptos"/>
              </a:rPr>
              <a:t>NOT YET</a:t>
            </a:r>
          </a:p>
        </p:txBody>
      </p:sp>
      <p:sp>
        <p:nvSpPr>
          <p:cNvPr id="22" name="">
            <a:extLst xmlns:a="http://schemas.openxmlformats.org/drawingml/2006/main">
              <a:ext uri="{FF2B5EF4-FFF2-40B4-BE49-F238E27FC236}">
                <a16:creationId xmlns:a16="http://schemas.microsoft.com/office/drawing/2014/main" id="{509F4644-9414-472C-9092-8DAF0BDD09A2}"/>
              </a:ext>
            </a:extLst>
          </p:cNvPr>
          <p:cNvSpPr>
            <a:spLocks xmlns:a="http://schemas.openxmlformats.org/drawingml/2006/main" noGrp="1"/>
          </p:cNvSpPr>
          <p:nvPr/>
        </p:nvSpPr>
        <p:spPr>
          <a:xfrm xmlns:a="http://schemas.openxmlformats.org/drawingml/2006/main">
            <a:off x="2762250" y="5162550"/>
            <a:ext cx="600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Spatial state, queue dynamics and equipment movement are missing.</a:t>
            </a:r>
          </a:p>
        </p:txBody>
      </p:sp>
    </p:spTree>
    <p:extLst>
      <p:ext uri="{BB962C8B-B14F-4D97-AF65-F5344CB8AC3E}">
        <p14:creationId xmlns:p14="http://schemas.microsoft.com/office/powerpoint/2010/main" val="14001046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CE28C1E-4D5B-4AD9-A7DA-B355B934E6F7}"/>
              </a:ext>
            </a:extLst>
          </p:cNvPr>
          <p:cNvSpPr>
            <a:spLocks xmlns:a="http://schemas.openxmlformats.org/drawingml/2006/main" noGrp="1"/>
          </p:cNvSpPr>
          <p:nvPr/>
        </p:nvSpPr>
        <p:spPr>
          <a:xfrm xmlns:a="http://schemas.openxmlformats.org/drawingml/2006/main">
            <a:off x="457200" y="323850"/>
            <a:ext cx="112776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0B1220"/>
                </a:solidFill>
                <a:latin typeface="Aptos"/>
                <a:ea typeface="Aptos"/>
                <a:cs typeface="Aptos"/>
              </a:defRPr>
            </a:pPr>
            <a:r>
              <a:rPr sz="3450" b="1" i="0">
                <a:solidFill>
                  <a:srgbClr val="0B1220"/>
                </a:solidFill>
                <a:latin typeface="Aptos"/>
                <a:ea typeface="Aptos"/>
                <a:cs typeface="Aptos"/>
              </a:rPr>
              <a:t>The value is knowing where the model stops</a:t>
            </a:r>
          </a:p>
        </p:txBody>
      </p:sp>
      <p:sp>
        <p:nvSpPr>
          <p:cNvPr id="2" name="">
            <a:extLst xmlns:a="http://schemas.openxmlformats.org/drawingml/2006/main">
              <a:ext uri="{FF2B5EF4-FFF2-40B4-BE49-F238E27FC236}">
                <a16:creationId xmlns:a16="http://schemas.microsoft.com/office/drawing/2014/main" id="{4E2094B7-ECC5-4B93-AA60-C4E88DC39A00}"/>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3" name="">
            <a:extLst xmlns:a="http://schemas.openxmlformats.org/drawingml/2006/main">
              <a:ext uri="{FF2B5EF4-FFF2-40B4-BE49-F238E27FC236}">
                <a16:creationId xmlns:a16="http://schemas.microsoft.com/office/drawing/2014/main" id="{A1FA94A3-4A2E-4F1F-AF66-F50D3A085C1B}"/>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4" name="">
            <a:extLst xmlns:a="http://schemas.openxmlformats.org/drawingml/2006/main">
              <a:ext uri="{FF2B5EF4-FFF2-40B4-BE49-F238E27FC236}">
                <a16:creationId xmlns:a16="http://schemas.microsoft.com/office/drawing/2014/main" id="{2AD658F4-7502-4B08-9D9E-B296B4D3370F}"/>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15</a:t>
            </a:r>
          </a:p>
        </p:txBody>
      </p:sp>
      <p:sp>
        <p:nvSpPr>
          <p:cNvPr id="5" name="">
            <a:extLst xmlns:a="http://schemas.openxmlformats.org/drawingml/2006/main">
              <a:ext uri="{FF2B5EF4-FFF2-40B4-BE49-F238E27FC236}">
                <a16:creationId xmlns:a16="http://schemas.microsoft.com/office/drawing/2014/main" id="{286D1D6A-1DC4-4A14-9823-1CE6B827F4EC}"/>
              </a:ext>
            </a:extLst>
          </p:cNvPr>
          <p:cNvSpPr>
            <a:spLocks xmlns:a="http://schemas.openxmlformats.org/drawingml/2006/main" noGrp="1"/>
          </p:cNvSpPr>
          <p:nvPr/>
        </p:nvSpPr>
        <p:spPr>
          <a:xfrm xmlns:a="http://schemas.openxmlformats.org/drawingml/2006/main">
            <a:off x="609600" y="1438275"/>
            <a:ext cx="3486150" cy="2400300"/>
          </a:xfrm>
          <a:prstGeom xmlns:a="http://schemas.openxmlformats.org/drawingml/2006/main" prst="roundRect">
            <a:avLst>
              <a:gd name="adj" fmla="val 4762"/>
            </a:avLst>
          </a:prstGeom>
          <a:solidFill xmlns:a="http://schemas.openxmlformats.org/drawingml/2006/main">
            <a:srgbClr val="F8FAFC"/>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71834458-FBF5-445D-A0AF-053EF269C541}"/>
              </a:ext>
            </a:extLst>
          </p:cNvPr>
          <p:cNvSpPr>
            <a:spLocks xmlns:a="http://schemas.openxmlformats.org/drawingml/2006/main" noGrp="1"/>
          </p:cNvSpPr>
          <p:nvPr/>
        </p:nvSpPr>
        <p:spPr>
          <a:xfrm xmlns:a="http://schemas.openxmlformats.org/drawingml/2006/main">
            <a:off x="838200" y="1666875"/>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7" name="">
            <a:extLst xmlns:a="http://schemas.openxmlformats.org/drawingml/2006/main">
              <a:ext uri="{FF2B5EF4-FFF2-40B4-BE49-F238E27FC236}">
                <a16:creationId xmlns:a16="http://schemas.microsoft.com/office/drawing/2014/main" id="{CC12B887-441E-4651-ABE7-EC7B388DB457}"/>
              </a:ext>
            </a:extLst>
          </p:cNvPr>
          <p:cNvSpPr>
            <a:spLocks xmlns:a="http://schemas.openxmlformats.org/drawingml/2006/main" noGrp="1"/>
          </p:cNvSpPr>
          <p:nvPr/>
        </p:nvSpPr>
        <p:spPr>
          <a:xfrm xmlns:a="http://schemas.openxmlformats.org/drawingml/2006/main">
            <a:off x="838200" y="17145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E2AE7324-A414-4F10-93C8-D95854E45EE0}"/>
              </a:ext>
            </a:extLst>
          </p:cNvPr>
          <p:cNvSpPr>
            <a:spLocks xmlns:a="http://schemas.openxmlformats.org/drawingml/2006/main" noGrp="1"/>
          </p:cNvSpPr>
          <p:nvPr/>
        </p:nvSpPr>
        <p:spPr>
          <a:xfrm xmlns:a="http://schemas.openxmlformats.org/drawingml/2006/main">
            <a:off x="1409700" y="1628775"/>
            <a:ext cx="24574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Structure transfers</a:t>
            </a:r>
          </a:p>
        </p:txBody>
      </p:sp>
      <p:sp>
        <p:nvSpPr>
          <p:cNvPr id="9" name="">
            <a:extLst xmlns:a="http://schemas.openxmlformats.org/drawingml/2006/main">
              <a:ext uri="{FF2B5EF4-FFF2-40B4-BE49-F238E27FC236}">
                <a16:creationId xmlns:a16="http://schemas.microsoft.com/office/drawing/2014/main" id="{3A537993-A6F8-4E09-B31E-42F9270E5CBA}"/>
              </a:ext>
            </a:extLst>
          </p:cNvPr>
          <p:cNvSpPr>
            <a:spLocks xmlns:a="http://schemas.openxmlformats.org/drawingml/2006/main" noGrp="1"/>
          </p:cNvSpPr>
          <p:nvPr/>
        </p:nvSpPr>
        <p:spPr>
          <a:xfrm xmlns:a="http://schemas.openxmlformats.org/drawingml/2006/main">
            <a:off x="1409700" y="2276475"/>
            <a:ext cx="24574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The sequential process model generalises well when event order is protected.</a:t>
            </a:r>
          </a:p>
        </p:txBody>
      </p:sp>
      <p:sp>
        <p:nvSpPr>
          <p:cNvPr id="10" name="">
            <a:extLst xmlns:a="http://schemas.openxmlformats.org/drawingml/2006/main">
              <a:ext uri="{FF2B5EF4-FFF2-40B4-BE49-F238E27FC236}">
                <a16:creationId xmlns:a16="http://schemas.microsoft.com/office/drawing/2014/main" id="{84B621B8-DA7C-4802-835B-B2DD11E3A353}"/>
              </a:ext>
            </a:extLst>
          </p:cNvPr>
          <p:cNvSpPr>
            <a:spLocks xmlns:a="http://schemas.openxmlformats.org/drawingml/2006/main" noGrp="1"/>
          </p:cNvSpPr>
          <p:nvPr/>
        </p:nvSpPr>
        <p:spPr>
          <a:xfrm xmlns:a="http://schemas.openxmlformats.org/drawingml/2006/main">
            <a:off x="4352925" y="1438275"/>
            <a:ext cx="3486150" cy="2400300"/>
          </a:xfrm>
          <a:prstGeom xmlns:a="http://schemas.openxmlformats.org/drawingml/2006/main" prst="roundRect">
            <a:avLst>
              <a:gd name="adj" fmla="val 4762"/>
            </a:avLst>
          </a:prstGeom>
          <a:solidFill xmlns:a="http://schemas.openxmlformats.org/drawingml/2006/main">
            <a:srgbClr val="F8FAFC"/>
          </a:solidFill>
          <a:ln xmlns:a="http://schemas.openxmlformats.org/drawingml/2006/main" w="9525">
            <a:solidFill>
              <a:srgbClr val="D0D5DD"/>
            </a:solidFill>
            <a:prstDash val="solid"/>
          </a:ln>
        </p:spPr>
      </p:sp>
      <p:sp>
        <p:nvSpPr>
          <p:cNvPr id="11" name="">
            <a:extLst xmlns:a="http://schemas.openxmlformats.org/drawingml/2006/main">
              <a:ext uri="{FF2B5EF4-FFF2-40B4-BE49-F238E27FC236}">
                <a16:creationId xmlns:a16="http://schemas.microsoft.com/office/drawing/2014/main" id="{94B4F72F-36B2-4A63-B48A-94B15805292E}"/>
              </a:ext>
            </a:extLst>
          </p:cNvPr>
          <p:cNvSpPr>
            <a:spLocks xmlns:a="http://schemas.openxmlformats.org/drawingml/2006/main" noGrp="1"/>
          </p:cNvSpPr>
          <p:nvPr/>
        </p:nvSpPr>
        <p:spPr>
          <a:xfrm xmlns:a="http://schemas.openxmlformats.org/drawingml/2006/main">
            <a:off x="4581525" y="1666875"/>
            <a:ext cx="400050" cy="400050"/>
          </a:xfrm>
          <a:prstGeom xmlns:a="http://schemas.openxmlformats.org/drawingml/2006/main" prst="ellipse">
            <a:avLst/>
          </a:prstGeom>
          <a:solidFill xmlns:a="http://schemas.openxmlformats.org/drawingml/2006/main">
            <a:srgbClr val="C98200"/>
          </a:solidFill>
          <a:ln xmlns:a="http://schemas.openxmlformats.org/drawingml/2006/main" w="9525">
            <a:solidFill>
              <a:srgbClr val="C98200"/>
            </a:solidFill>
            <a:prstDash val="solid"/>
          </a:ln>
        </p:spPr>
      </p:sp>
      <p:sp>
        <p:nvSpPr>
          <p:cNvPr id="12" name="">
            <a:extLst xmlns:a="http://schemas.openxmlformats.org/drawingml/2006/main">
              <a:ext uri="{FF2B5EF4-FFF2-40B4-BE49-F238E27FC236}">
                <a16:creationId xmlns:a16="http://schemas.microsoft.com/office/drawing/2014/main" id="{22266646-D666-47C2-8516-1FB5FC7FF95A}"/>
              </a:ext>
            </a:extLst>
          </p:cNvPr>
          <p:cNvSpPr>
            <a:spLocks xmlns:a="http://schemas.openxmlformats.org/drawingml/2006/main" noGrp="1"/>
          </p:cNvSpPr>
          <p:nvPr/>
        </p:nvSpPr>
        <p:spPr>
          <a:xfrm xmlns:a="http://schemas.openxmlformats.org/drawingml/2006/main">
            <a:off x="4581525" y="17145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13" name="">
            <a:extLst xmlns:a="http://schemas.openxmlformats.org/drawingml/2006/main">
              <a:ext uri="{FF2B5EF4-FFF2-40B4-BE49-F238E27FC236}">
                <a16:creationId xmlns:a16="http://schemas.microsoft.com/office/drawing/2014/main" id="{2CB56700-1BFD-400A-8741-629E0DFED01E}"/>
              </a:ext>
            </a:extLst>
          </p:cNvPr>
          <p:cNvSpPr>
            <a:spLocks xmlns:a="http://schemas.openxmlformats.org/drawingml/2006/main" noGrp="1"/>
          </p:cNvSpPr>
          <p:nvPr/>
        </p:nvSpPr>
        <p:spPr>
          <a:xfrm xmlns:a="http://schemas.openxmlformats.org/drawingml/2006/main">
            <a:off x="5153025" y="1628775"/>
            <a:ext cx="24574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Fidelity is multidimensional</a:t>
            </a:r>
          </a:p>
        </p:txBody>
      </p:sp>
      <p:sp>
        <p:nvSpPr>
          <p:cNvPr id="14" name="">
            <a:extLst xmlns:a="http://schemas.openxmlformats.org/drawingml/2006/main">
              <a:ext uri="{FF2B5EF4-FFF2-40B4-BE49-F238E27FC236}">
                <a16:creationId xmlns:a16="http://schemas.microsoft.com/office/drawing/2014/main" id="{11C0852C-A4B7-44E1-8C78-A3F69B6F8159}"/>
              </a:ext>
            </a:extLst>
          </p:cNvPr>
          <p:cNvSpPr>
            <a:spLocks xmlns:a="http://schemas.openxmlformats.org/drawingml/2006/main" noGrp="1"/>
          </p:cNvSpPr>
          <p:nvPr/>
        </p:nvSpPr>
        <p:spPr>
          <a:xfrm xmlns:a="http://schemas.openxmlformats.org/drawingml/2006/main">
            <a:off x="5153025" y="2276475"/>
            <a:ext cx="24574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Strong local fits coexist with an 8.17-minute mean turnaround deficit.</a:t>
            </a:r>
          </a:p>
        </p:txBody>
      </p:sp>
      <p:sp>
        <p:nvSpPr>
          <p:cNvPr id="15" name="">
            <a:extLst xmlns:a="http://schemas.openxmlformats.org/drawingml/2006/main">
              <a:ext uri="{FF2B5EF4-FFF2-40B4-BE49-F238E27FC236}">
                <a16:creationId xmlns:a16="http://schemas.microsoft.com/office/drawing/2014/main" id="{5BC4FD2B-6C56-4D72-82BB-9B186588DFD8}"/>
              </a:ext>
            </a:extLst>
          </p:cNvPr>
          <p:cNvSpPr>
            <a:spLocks xmlns:a="http://schemas.openxmlformats.org/drawingml/2006/main" noGrp="1"/>
          </p:cNvSpPr>
          <p:nvPr/>
        </p:nvSpPr>
        <p:spPr>
          <a:xfrm xmlns:a="http://schemas.openxmlformats.org/drawingml/2006/main">
            <a:off x="8096250" y="1438275"/>
            <a:ext cx="3486150" cy="2400300"/>
          </a:xfrm>
          <a:prstGeom xmlns:a="http://schemas.openxmlformats.org/drawingml/2006/main" prst="roundRect">
            <a:avLst>
              <a:gd name="adj" fmla="val 4762"/>
            </a:avLst>
          </a:prstGeom>
          <a:solidFill xmlns:a="http://schemas.openxmlformats.org/drawingml/2006/main">
            <a:srgbClr val="F8FAFC"/>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93F0FBCE-A4AF-4C8A-9029-106758DBDCF8}"/>
              </a:ext>
            </a:extLst>
          </p:cNvPr>
          <p:cNvSpPr>
            <a:spLocks xmlns:a="http://schemas.openxmlformats.org/drawingml/2006/main" noGrp="1"/>
          </p:cNvSpPr>
          <p:nvPr/>
        </p:nvSpPr>
        <p:spPr>
          <a:xfrm xmlns:a="http://schemas.openxmlformats.org/drawingml/2006/main">
            <a:off x="8324850" y="1666875"/>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17" name="">
            <a:extLst xmlns:a="http://schemas.openxmlformats.org/drawingml/2006/main">
              <a:ext uri="{FF2B5EF4-FFF2-40B4-BE49-F238E27FC236}">
                <a16:creationId xmlns:a16="http://schemas.microsoft.com/office/drawing/2014/main" id="{51D3170A-7E13-412D-9676-B725DE4F108C}"/>
              </a:ext>
            </a:extLst>
          </p:cNvPr>
          <p:cNvSpPr>
            <a:spLocks xmlns:a="http://schemas.openxmlformats.org/drawingml/2006/main" noGrp="1"/>
          </p:cNvSpPr>
          <p:nvPr/>
        </p:nvSpPr>
        <p:spPr>
          <a:xfrm xmlns:a="http://schemas.openxmlformats.org/drawingml/2006/main">
            <a:off x="8324850" y="17145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18" name="">
            <a:extLst xmlns:a="http://schemas.openxmlformats.org/drawingml/2006/main">
              <a:ext uri="{FF2B5EF4-FFF2-40B4-BE49-F238E27FC236}">
                <a16:creationId xmlns:a16="http://schemas.microsoft.com/office/drawing/2014/main" id="{3E1AAC16-804E-4EBB-94A1-645F87C9297E}"/>
              </a:ext>
            </a:extLst>
          </p:cNvPr>
          <p:cNvSpPr>
            <a:spLocks xmlns:a="http://schemas.openxmlformats.org/drawingml/2006/main" noGrp="1"/>
          </p:cNvSpPr>
          <p:nvPr/>
        </p:nvSpPr>
        <p:spPr>
          <a:xfrm xmlns:a="http://schemas.openxmlformats.org/drawingml/2006/main">
            <a:off x="8896350" y="1628775"/>
            <a:ext cx="24574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Executability is not causality</a:t>
            </a:r>
          </a:p>
        </p:txBody>
      </p:sp>
      <p:sp>
        <p:nvSpPr>
          <p:cNvPr id="19" name="">
            <a:extLst xmlns:a="http://schemas.openxmlformats.org/drawingml/2006/main">
              <a:ext uri="{FF2B5EF4-FFF2-40B4-BE49-F238E27FC236}">
                <a16:creationId xmlns:a16="http://schemas.microsoft.com/office/drawing/2014/main" id="{DE1FB228-967B-43E4-9EBD-2FDA50766710}"/>
              </a:ext>
            </a:extLst>
          </p:cNvPr>
          <p:cNvSpPr>
            <a:spLocks xmlns:a="http://schemas.openxmlformats.org/drawingml/2006/main" noGrp="1"/>
          </p:cNvSpPr>
          <p:nvPr/>
        </p:nvSpPr>
        <p:spPr>
          <a:xfrm xmlns:a="http://schemas.openxmlformats.org/drawingml/2006/main">
            <a:off x="8896350" y="2276475"/>
            <a:ext cx="24574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Transparent scenarios reveal missing mechanisms; they do not prove terminal effects.</a:t>
            </a:r>
          </a:p>
        </p:txBody>
      </p:sp>
      <p:sp>
        <p:nvSpPr>
          <p:cNvPr id="20" name="">
            <a:extLst xmlns:a="http://schemas.openxmlformats.org/drawingml/2006/main">
              <a:ext uri="{FF2B5EF4-FFF2-40B4-BE49-F238E27FC236}">
                <a16:creationId xmlns:a16="http://schemas.microsoft.com/office/drawing/2014/main" id="{207428BF-F1B2-4449-A7C4-315B79D06229}"/>
              </a:ext>
            </a:extLst>
          </p:cNvPr>
          <p:cNvSpPr>
            <a:spLocks xmlns:a="http://schemas.openxmlformats.org/drawingml/2006/main" noGrp="1"/>
          </p:cNvSpPr>
          <p:nvPr/>
        </p:nvSpPr>
        <p:spPr>
          <a:xfrm xmlns:a="http://schemas.openxmlformats.org/drawingml/2006/main">
            <a:off x="1104900" y="4438650"/>
            <a:ext cx="99822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75" b="1" i="0">
                <a:solidFill>
                  <a:srgbClr val="0B1220"/>
                </a:solidFill>
                <a:latin typeface="Aptos"/>
                <a:ea typeface="Aptos"/>
                <a:cs typeface="Aptos"/>
              </a:defRPr>
            </a:pPr>
            <a:r>
              <a:rPr sz="2475" b="1" i="0">
                <a:solidFill>
                  <a:srgbClr val="0B1220"/>
                </a:solidFill>
                <a:latin typeface="Aptos"/>
                <a:ea typeface="Aptos"/>
                <a:cs typeface="Aptos"/>
              </a:rPr>
              <a:t>Data-aware simulation is a useful, auditable diagnostic—</a:t>
            </a:r>
          </a:p>
          <a:p xmlns:a="http://schemas.openxmlformats.org/drawingml/2006/main">
            <a:pPr algn="ctr">
              <a:defRPr sz="2475" b="1" i="0">
                <a:solidFill>
                  <a:srgbClr val="0B1220"/>
                </a:solidFill>
                <a:latin typeface="Aptos"/>
                <a:ea typeface="Aptos"/>
                <a:cs typeface="Aptos"/>
              </a:defRPr>
            </a:pPr>
            <a:r>
              <a:rPr sz="2475" b="1" i="0">
                <a:solidFill>
                  <a:srgbClr val="0B1220"/>
                </a:solidFill>
                <a:latin typeface="Aptos"/>
                <a:ea typeface="Aptos"/>
                <a:cs typeface="Aptos"/>
              </a:rPr>
              <a:t>but physical decision support needs richer state and hybrid mechanisms.</a:t>
            </a:r>
          </a:p>
        </p:txBody>
      </p:sp>
      <p:sp>
        <p:nvSpPr>
          <p:cNvPr id="21" name="">
            <a:extLst xmlns:a="http://schemas.openxmlformats.org/drawingml/2006/main">
              <a:ext uri="{FF2B5EF4-FFF2-40B4-BE49-F238E27FC236}">
                <a16:creationId xmlns:a16="http://schemas.microsoft.com/office/drawing/2014/main" id="{0F51FB34-F681-42F1-9497-0171C000F38E}"/>
              </a:ext>
            </a:extLst>
          </p:cNvPr>
          <p:cNvSpPr>
            <a:spLocks xmlns:a="http://schemas.openxmlformats.org/drawingml/2006/main" noGrp="1"/>
          </p:cNvSpPr>
          <p:nvPr/>
        </p:nvSpPr>
        <p:spPr>
          <a:xfrm xmlns:a="http://schemas.openxmlformats.org/drawingml/2006/main">
            <a:off x="4629150" y="5619750"/>
            <a:ext cx="2933700" cy="552450"/>
          </a:xfrm>
          <a:prstGeom xmlns:a="http://schemas.openxmlformats.org/drawingml/2006/main" prst="roundRect">
            <a:avLst>
              <a:gd name="adj" fmla="val 20690"/>
            </a:avLst>
          </a:prstGeom>
          <a:solidFill xmlns:a="http://schemas.openxmlformats.org/drawingml/2006/main">
            <a:srgbClr val="0B12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4469AF4-B27B-4742-AADF-75DB5B1495D7}"/>
              </a:ext>
            </a:extLst>
          </p:cNvPr>
          <p:cNvSpPr>
            <a:spLocks xmlns:a="http://schemas.openxmlformats.org/drawingml/2006/main" noGrp="1"/>
          </p:cNvSpPr>
          <p:nvPr/>
        </p:nvSpPr>
        <p:spPr>
          <a:xfrm xmlns:a="http://schemas.openxmlformats.org/drawingml/2006/main">
            <a:off x="4629150" y="5734050"/>
            <a:ext cx="2933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75" b="1" i="0">
                <a:solidFill>
                  <a:srgbClr val="FFFFFF"/>
                </a:solidFill>
                <a:latin typeface="Aptos"/>
                <a:ea typeface="Aptos"/>
                <a:cs typeface="Aptos"/>
              </a:defRPr>
            </a:pPr>
            <a:r>
              <a:rPr sz="1875" b="1" i="0">
                <a:solidFill>
                  <a:srgbClr val="FFFFFF"/>
                </a:solidFill>
                <a:latin typeface="Aptos"/>
                <a:ea typeface="Aptos"/>
                <a:cs typeface="Aptos"/>
              </a:rPr>
              <a:t>Questions</a:t>
            </a:r>
          </a:p>
        </p:txBody>
      </p:sp>
    </p:spTree>
    <p:extLst>
      <p:ext uri="{BB962C8B-B14F-4D97-AF65-F5344CB8AC3E}">
        <p14:creationId xmlns:p14="http://schemas.microsoft.com/office/powerpoint/2010/main" val="5524761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5F73D77-0F7E-4D67-9149-226127DEB859}"/>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65D12554-EBED-4D8D-92C3-D8033AA5A3C9}"/>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Research questions and one-sentence answers</a:t>
            </a:r>
          </a:p>
        </p:txBody>
      </p:sp>
      <p:sp>
        <p:nvSpPr>
          <p:cNvPr id="3" name="">
            <a:extLst xmlns:a="http://schemas.openxmlformats.org/drawingml/2006/main">
              <a:ext uri="{FF2B5EF4-FFF2-40B4-BE49-F238E27FC236}">
                <a16:creationId xmlns:a16="http://schemas.microsoft.com/office/drawing/2014/main" id="{C260D176-697F-4AEB-92CD-BEABA7AC1D1B}"/>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AAB97705-AD2A-4008-A4E2-583CCF2BE15C}"/>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F031EADF-7F55-49C5-B9BC-216490A6A78E}"/>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16</a:t>
            </a:r>
          </a:p>
        </p:txBody>
      </p:sp>
      <p:sp>
        <p:nvSpPr>
          <p:cNvPr id="6" name="">
            <a:extLst xmlns:a="http://schemas.openxmlformats.org/drawingml/2006/main">
              <a:ext uri="{FF2B5EF4-FFF2-40B4-BE49-F238E27FC236}">
                <a16:creationId xmlns:a16="http://schemas.microsoft.com/office/drawing/2014/main" id="{9D5E66DD-2E74-454A-AF55-54A547E68145}"/>
              </a:ext>
            </a:extLst>
          </p:cNvPr>
          <p:cNvSpPr>
            <a:spLocks xmlns:a="http://schemas.openxmlformats.org/drawingml/2006/main" noGrp="1"/>
          </p:cNvSpPr>
          <p:nvPr/>
        </p:nvSpPr>
        <p:spPr>
          <a:xfrm xmlns:a="http://schemas.openxmlformats.org/drawingml/2006/main">
            <a:off x="628650" y="1257300"/>
            <a:ext cx="10934700" cy="971550"/>
          </a:xfrm>
          <a:prstGeom xmlns:a="http://schemas.openxmlformats.org/drawingml/2006/main" prst="roundRect">
            <a:avLst>
              <a:gd name="adj" fmla="val 11765"/>
            </a:avLst>
          </a:prstGeom>
          <a:solidFill xmlns:a="http://schemas.openxmlformats.org/drawingml/2006/main">
            <a:srgbClr val="F8FAFC"/>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969A1D27-603D-4424-AAEA-7F8380293027}"/>
              </a:ext>
            </a:extLst>
          </p:cNvPr>
          <p:cNvSpPr>
            <a:spLocks xmlns:a="http://schemas.openxmlformats.org/drawingml/2006/main" noGrp="1"/>
          </p:cNvSpPr>
          <p:nvPr/>
        </p:nvSpPr>
        <p:spPr>
          <a:xfrm xmlns:a="http://schemas.openxmlformats.org/drawingml/2006/main">
            <a:off x="838200" y="1485900"/>
            <a:ext cx="800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2F80ED"/>
                </a:solidFill>
                <a:latin typeface="Aptos"/>
                <a:ea typeface="Aptos"/>
                <a:cs typeface="Aptos"/>
              </a:defRPr>
            </a:pPr>
            <a:r>
              <a:rPr sz="1725" b="1" i="0">
                <a:solidFill>
                  <a:srgbClr val="2F80ED"/>
                </a:solidFill>
                <a:latin typeface="Aptos"/>
                <a:ea typeface="Aptos"/>
                <a:cs typeface="Aptos"/>
              </a:rPr>
              <a:t>RQ1</a:t>
            </a:r>
          </a:p>
        </p:txBody>
      </p:sp>
      <p:sp>
        <p:nvSpPr>
          <p:cNvPr id="8" name="">
            <a:extLst xmlns:a="http://schemas.openxmlformats.org/drawingml/2006/main">
              <a:ext uri="{FF2B5EF4-FFF2-40B4-BE49-F238E27FC236}">
                <a16:creationId xmlns:a16="http://schemas.microsoft.com/office/drawing/2014/main" id="{F72469EA-A670-4FEA-8819-2065E49EBCD5}"/>
              </a:ext>
            </a:extLst>
          </p:cNvPr>
          <p:cNvSpPr>
            <a:spLocks xmlns:a="http://schemas.openxmlformats.org/drawingml/2006/main" noGrp="1"/>
          </p:cNvSpPr>
          <p:nvPr/>
        </p:nvSpPr>
        <p:spPr>
          <a:xfrm xmlns:a="http://schemas.openxmlformats.org/drawingml/2006/main">
            <a:off x="1790700" y="14478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i="0">
                <a:solidFill>
                  <a:srgbClr val="0B1220"/>
                </a:solidFill>
                <a:latin typeface="Aptos"/>
                <a:ea typeface="Aptos"/>
                <a:cs typeface="Aptos"/>
              </a:defRPr>
            </a:pPr>
            <a:r>
              <a:rPr sz="1950" b="1" i="0">
                <a:solidFill>
                  <a:srgbClr val="0B1220"/>
                </a:solidFill>
                <a:latin typeface="Aptos"/>
                <a:ea typeface="Aptos"/>
                <a:cs typeface="Aptos"/>
              </a:rPr>
              <a:t>Historical fidelity</a:t>
            </a:r>
          </a:p>
        </p:txBody>
      </p:sp>
      <p:sp>
        <p:nvSpPr>
          <p:cNvPr id="9" name="">
            <a:extLst xmlns:a="http://schemas.openxmlformats.org/drawingml/2006/main">
              <a:ext uri="{FF2B5EF4-FFF2-40B4-BE49-F238E27FC236}">
                <a16:creationId xmlns:a16="http://schemas.microsoft.com/office/drawing/2014/main" id="{4A38285D-6572-4163-9F01-FBCD08576D2D}"/>
              </a:ext>
            </a:extLst>
          </p:cNvPr>
          <p:cNvSpPr>
            <a:spLocks xmlns:a="http://schemas.openxmlformats.org/drawingml/2006/main" noGrp="1"/>
          </p:cNvSpPr>
          <p:nvPr/>
        </p:nvSpPr>
        <p:spPr>
          <a:xfrm xmlns:a="http://schemas.openxmlformats.org/drawingml/2006/main">
            <a:off x="5067300" y="1447800"/>
            <a:ext cx="611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Partial: arrivals and service timing transfer better than full turnaround.</a:t>
            </a:r>
          </a:p>
        </p:txBody>
      </p:sp>
      <p:sp>
        <p:nvSpPr>
          <p:cNvPr id="10" name="">
            <a:extLst xmlns:a="http://schemas.openxmlformats.org/drawingml/2006/main">
              <a:ext uri="{FF2B5EF4-FFF2-40B4-BE49-F238E27FC236}">
                <a16:creationId xmlns:a16="http://schemas.microsoft.com/office/drawing/2014/main" id="{DE802DA5-0672-4194-9BFB-18ADCEA19CAE}"/>
              </a:ext>
            </a:extLst>
          </p:cNvPr>
          <p:cNvSpPr>
            <a:spLocks xmlns:a="http://schemas.openxmlformats.org/drawingml/2006/main" noGrp="1"/>
          </p:cNvSpPr>
          <p:nvPr/>
        </p:nvSpPr>
        <p:spPr>
          <a:xfrm xmlns:a="http://schemas.openxmlformats.org/drawingml/2006/main">
            <a:off x="628650" y="2457450"/>
            <a:ext cx="109347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0D5DD"/>
            </a:solidFill>
            <a:prstDash val="solid"/>
          </a:ln>
        </p:spPr>
      </p:sp>
      <p:sp>
        <p:nvSpPr>
          <p:cNvPr id="11" name="">
            <a:extLst xmlns:a="http://schemas.openxmlformats.org/drawingml/2006/main">
              <a:ext uri="{FF2B5EF4-FFF2-40B4-BE49-F238E27FC236}">
                <a16:creationId xmlns:a16="http://schemas.microsoft.com/office/drawing/2014/main" id="{D7C64D75-BA1D-4A71-948C-E7DAC2572F6A}"/>
              </a:ext>
            </a:extLst>
          </p:cNvPr>
          <p:cNvSpPr>
            <a:spLocks xmlns:a="http://schemas.openxmlformats.org/drawingml/2006/main" noGrp="1"/>
          </p:cNvSpPr>
          <p:nvPr/>
        </p:nvSpPr>
        <p:spPr>
          <a:xfrm xmlns:a="http://schemas.openxmlformats.org/drawingml/2006/main">
            <a:off x="838200" y="2686050"/>
            <a:ext cx="800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2F80ED"/>
                </a:solidFill>
                <a:latin typeface="Aptos"/>
                <a:ea typeface="Aptos"/>
                <a:cs typeface="Aptos"/>
              </a:defRPr>
            </a:pPr>
            <a:r>
              <a:rPr sz="1725" b="1" i="0">
                <a:solidFill>
                  <a:srgbClr val="2F80ED"/>
                </a:solidFill>
                <a:latin typeface="Aptos"/>
                <a:ea typeface="Aptos"/>
                <a:cs typeface="Aptos"/>
              </a:rPr>
              <a:t>RQ2</a:t>
            </a:r>
          </a:p>
        </p:txBody>
      </p:sp>
      <p:sp>
        <p:nvSpPr>
          <p:cNvPr id="12" name="">
            <a:extLst xmlns:a="http://schemas.openxmlformats.org/drawingml/2006/main">
              <a:ext uri="{FF2B5EF4-FFF2-40B4-BE49-F238E27FC236}">
                <a16:creationId xmlns:a16="http://schemas.microsoft.com/office/drawing/2014/main" id="{1B25B374-6DAF-4FDF-BEA8-3EEAE691083D}"/>
              </a:ext>
            </a:extLst>
          </p:cNvPr>
          <p:cNvSpPr>
            <a:spLocks xmlns:a="http://schemas.openxmlformats.org/drawingml/2006/main" noGrp="1"/>
          </p:cNvSpPr>
          <p:nvPr/>
        </p:nvSpPr>
        <p:spPr>
          <a:xfrm xmlns:a="http://schemas.openxmlformats.org/drawingml/2006/main">
            <a:off x="1790700" y="26479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i="0">
                <a:solidFill>
                  <a:srgbClr val="0B1220"/>
                </a:solidFill>
                <a:latin typeface="Aptos"/>
                <a:ea typeface="Aptos"/>
                <a:cs typeface="Aptos"/>
              </a:defRPr>
            </a:pPr>
            <a:r>
              <a:rPr sz="1950" b="1" i="0">
                <a:solidFill>
                  <a:srgbClr val="0B1220"/>
                </a:solidFill>
                <a:latin typeface="Aptos"/>
                <a:ea typeface="Aptos"/>
                <a:cs typeface="Aptos"/>
              </a:rPr>
              <a:t>Process structure</a:t>
            </a:r>
          </a:p>
        </p:txBody>
      </p:sp>
      <p:sp>
        <p:nvSpPr>
          <p:cNvPr id="13" name="">
            <a:extLst xmlns:a="http://schemas.openxmlformats.org/drawingml/2006/main">
              <a:ext uri="{FF2B5EF4-FFF2-40B4-BE49-F238E27FC236}">
                <a16:creationId xmlns:a16="http://schemas.microsoft.com/office/drawing/2014/main" id="{1E96D6DC-63E8-42A1-97F4-605CC7AF755A}"/>
              </a:ext>
            </a:extLst>
          </p:cNvPr>
          <p:cNvSpPr>
            <a:spLocks xmlns:a="http://schemas.openxmlformats.org/drawingml/2006/main" noGrp="1"/>
          </p:cNvSpPr>
          <p:nvPr/>
        </p:nvSpPr>
        <p:spPr>
          <a:xfrm xmlns:a="http://schemas.openxmlformats.org/drawingml/2006/main">
            <a:off x="5067300" y="2647950"/>
            <a:ext cx="611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Suitable backbone after event-order protection; no parallel operator.</a:t>
            </a:r>
          </a:p>
        </p:txBody>
      </p:sp>
      <p:sp>
        <p:nvSpPr>
          <p:cNvPr id="14" name="">
            <a:extLst xmlns:a="http://schemas.openxmlformats.org/drawingml/2006/main">
              <a:ext uri="{FF2B5EF4-FFF2-40B4-BE49-F238E27FC236}">
                <a16:creationId xmlns:a16="http://schemas.microsoft.com/office/drawing/2014/main" id="{4452D4BA-A94A-4220-A9C8-EB94EE943070}"/>
              </a:ext>
            </a:extLst>
          </p:cNvPr>
          <p:cNvSpPr>
            <a:spLocks xmlns:a="http://schemas.openxmlformats.org/drawingml/2006/main" noGrp="1"/>
          </p:cNvSpPr>
          <p:nvPr/>
        </p:nvSpPr>
        <p:spPr>
          <a:xfrm xmlns:a="http://schemas.openxmlformats.org/drawingml/2006/main">
            <a:off x="628650" y="3657600"/>
            <a:ext cx="10934700" cy="971550"/>
          </a:xfrm>
          <a:prstGeom xmlns:a="http://schemas.openxmlformats.org/drawingml/2006/main" prst="roundRect">
            <a:avLst>
              <a:gd name="adj" fmla="val 11765"/>
            </a:avLst>
          </a:prstGeom>
          <a:solidFill xmlns:a="http://schemas.openxmlformats.org/drawingml/2006/main">
            <a:srgbClr val="F8FAFC"/>
          </a:solidFill>
          <a:ln xmlns:a="http://schemas.openxmlformats.org/drawingml/2006/main" w="9525">
            <a:solidFill>
              <a:srgbClr val="D0D5DD"/>
            </a:solidFill>
            <a:prstDash val="solid"/>
          </a:ln>
        </p:spPr>
      </p:sp>
      <p:sp>
        <p:nvSpPr>
          <p:cNvPr id="15" name="">
            <a:extLst xmlns:a="http://schemas.openxmlformats.org/drawingml/2006/main">
              <a:ext uri="{FF2B5EF4-FFF2-40B4-BE49-F238E27FC236}">
                <a16:creationId xmlns:a16="http://schemas.microsoft.com/office/drawing/2014/main" id="{C25BB46F-952E-4F29-839E-E0D43DBAEE64}"/>
              </a:ext>
            </a:extLst>
          </p:cNvPr>
          <p:cNvSpPr>
            <a:spLocks xmlns:a="http://schemas.openxmlformats.org/drawingml/2006/main" noGrp="1"/>
          </p:cNvSpPr>
          <p:nvPr/>
        </p:nvSpPr>
        <p:spPr>
          <a:xfrm xmlns:a="http://schemas.openxmlformats.org/drawingml/2006/main">
            <a:off x="838200" y="3886200"/>
            <a:ext cx="800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2F80ED"/>
                </a:solidFill>
                <a:latin typeface="Aptos"/>
                <a:ea typeface="Aptos"/>
                <a:cs typeface="Aptos"/>
              </a:defRPr>
            </a:pPr>
            <a:r>
              <a:rPr sz="1725" b="1" i="0">
                <a:solidFill>
                  <a:srgbClr val="2F80ED"/>
                </a:solidFill>
                <a:latin typeface="Aptos"/>
                <a:ea typeface="Aptos"/>
                <a:cs typeface="Aptos"/>
              </a:rPr>
              <a:t>RQ3</a:t>
            </a:r>
          </a:p>
        </p:txBody>
      </p:sp>
      <p:sp>
        <p:nvSpPr>
          <p:cNvPr id="16" name="">
            <a:extLst xmlns:a="http://schemas.openxmlformats.org/drawingml/2006/main">
              <a:ext uri="{FF2B5EF4-FFF2-40B4-BE49-F238E27FC236}">
                <a16:creationId xmlns:a16="http://schemas.microsoft.com/office/drawing/2014/main" id="{B019E938-27E6-4880-8396-C438C5F48C48}"/>
              </a:ext>
            </a:extLst>
          </p:cNvPr>
          <p:cNvSpPr>
            <a:spLocks xmlns:a="http://schemas.openxmlformats.org/drawingml/2006/main" noGrp="1"/>
          </p:cNvSpPr>
          <p:nvPr/>
        </p:nvSpPr>
        <p:spPr>
          <a:xfrm xmlns:a="http://schemas.openxmlformats.org/drawingml/2006/main">
            <a:off x="1790700" y="384810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i="0">
                <a:solidFill>
                  <a:srgbClr val="0B1220"/>
                </a:solidFill>
                <a:latin typeface="Aptos"/>
                <a:ea typeface="Aptos"/>
                <a:cs typeface="Aptos"/>
              </a:defRPr>
            </a:pPr>
            <a:r>
              <a:rPr sz="1950" b="1" i="0">
                <a:solidFill>
                  <a:srgbClr val="0B1220"/>
                </a:solidFill>
                <a:latin typeface="Aptos"/>
                <a:ea typeface="Aptos"/>
                <a:cs typeface="Aptos"/>
              </a:rPr>
              <a:t>Contextual expressiveness</a:t>
            </a:r>
          </a:p>
        </p:txBody>
      </p:sp>
      <p:sp>
        <p:nvSpPr>
          <p:cNvPr id="17" name="">
            <a:extLst xmlns:a="http://schemas.openxmlformats.org/drawingml/2006/main">
              <a:ext uri="{FF2B5EF4-FFF2-40B4-BE49-F238E27FC236}">
                <a16:creationId xmlns:a16="http://schemas.microsoft.com/office/drawing/2014/main" id="{44B36C6A-1F71-4282-8A42-56C6392C7F03}"/>
              </a:ext>
            </a:extLst>
          </p:cNvPr>
          <p:cNvSpPr>
            <a:spLocks xmlns:a="http://schemas.openxmlformats.org/drawingml/2006/main" noGrp="1"/>
          </p:cNvSpPr>
          <p:nvPr/>
        </p:nvSpPr>
        <p:spPr>
          <a:xfrm xmlns:a="http://schemas.openxmlformats.org/drawingml/2006/main">
            <a:off x="5067300" y="3848100"/>
            <a:ext cx="611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Changes fidelity dimensions in different directions; no uniform improvement.</a:t>
            </a:r>
          </a:p>
        </p:txBody>
      </p:sp>
      <p:sp>
        <p:nvSpPr>
          <p:cNvPr id="18" name="">
            <a:extLst xmlns:a="http://schemas.openxmlformats.org/drawingml/2006/main">
              <a:ext uri="{FF2B5EF4-FFF2-40B4-BE49-F238E27FC236}">
                <a16:creationId xmlns:a16="http://schemas.microsoft.com/office/drawing/2014/main" id="{B0955560-8EA3-4BE3-AFDD-133610524745}"/>
              </a:ext>
            </a:extLst>
          </p:cNvPr>
          <p:cNvSpPr>
            <a:spLocks xmlns:a="http://schemas.openxmlformats.org/drawingml/2006/main" noGrp="1"/>
          </p:cNvSpPr>
          <p:nvPr/>
        </p:nvSpPr>
        <p:spPr>
          <a:xfrm xmlns:a="http://schemas.openxmlformats.org/drawingml/2006/main">
            <a:off x="628650" y="4857750"/>
            <a:ext cx="109347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0445B230-A02B-4D74-B27D-19C328AD089E}"/>
              </a:ext>
            </a:extLst>
          </p:cNvPr>
          <p:cNvSpPr>
            <a:spLocks xmlns:a="http://schemas.openxmlformats.org/drawingml/2006/main" noGrp="1"/>
          </p:cNvSpPr>
          <p:nvPr/>
        </p:nvSpPr>
        <p:spPr>
          <a:xfrm xmlns:a="http://schemas.openxmlformats.org/drawingml/2006/main">
            <a:off x="838200" y="5086350"/>
            <a:ext cx="800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i="0">
                <a:solidFill>
                  <a:srgbClr val="C8102E"/>
                </a:solidFill>
                <a:latin typeface="Aptos"/>
                <a:ea typeface="Aptos"/>
                <a:cs typeface="Aptos"/>
              </a:defRPr>
            </a:pPr>
            <a:r>
              <a:rPr sz="1725" b="1" i="0">
                <a:solidFill>
                  <a:srgbClr val="C8102E"/>
                </a:solidFill>
                <a:latin typeface="Aptos"/>
                <a:ea typeface="Aptos"/>
                <a:cs typeface="Aptos"/>
              </a:rPr>
              <a:t>RQ4</a:t>
            </a:r>
          </a:p>
        </p:txBody>
      </p:sp>
      <p:sp>
        <p:nvSpPr>
          <p:cNvPr id="20" name="">
            <a:extLst xmlns:a="http://schemas.openxmlformats.org/drawingml/2006/main">
              <a:ext uri="{FF2B5EF4-FFF2-40B4-BE49-F238E27FC236}">
                <a16:creationId xmlns:a16="http://schemas.microsoft.com/office/drawing/2014/main" id="{8050AC3E-7B11-4CF7-8BD3-2901F4BE7245}"/>
              </a:ext>
            </a:extLst>
          </p:cNvPr>
          <p:cNvSpPr>
            <a:spLocks xmlns:a="http://schemas.openxmlformats.org/drawingml/2006/main" noGrp="1"/>
          </p:cNvSpPr>
          <p:nvPr/>
        </p:nvSpPr>
        <p:spPr>
          <a:xfrm xmlns:a="http://schemas.openxmlformats.org/drawingml/2006/main">
            <a:off x="1790700" y="5048250"/>
            <a:ext cx="3143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i="0">
                <a:solidFill>
                  <a:srgbClr val="0B1220"/>
                </a:solidFill>
                <a:latin typeface="Aptos"/>
                <a:ea typeface="Aptos"/>
                <a:cs typeface="Aptos"/>
              </a:defRPr>
            </a:pPr>
            <a:r>
              <a:rPr sz="1950" b="1" i="0">
                <a:solidFill>
                  <a:srgbClr val="0B1220"/>
                </a:solidFill>
                <a:latin typeface="Aptos"/>
                <a:ea typeface="Aptos"/>
                <a:cs typeface="Aptos"/>
              </a:rPr>
              <a:t>What-if decision support</a:t>
            </a:r>
          </a:p>
        </p:txBody>
      </p:sp>
      <p:sp>
        <p:nvSpPr>
          <p:cNvPr id="21" name="">
            <a:extLst xmlns:a="http://schemas.openxmlformats.org/drawingml/2006/main">
              <a:ext uri="{FF2B5EF4-FFF2-40B4-BE49-F238E27FC236}">
                <a16:creationId xmlns:a16="http://schemas.microsoft.com/office/drawing/2014/main" id="{6C2D0F48-E0B6-4C9A-B7D7-B81FE476E642}"/>
              </a:ext>
            </a:extLst>
          </p:cNvPr>
          <p:cNvSpPr>
            <a:spLocks xmlns:a="http://schemas.openxmlformats.org/drawingml/2006/main" noGrp="1"/>
          </p:cNvSpPr>
          <p:nvPr/>
        </p:nvSpPr>
        <p:spPr>
          <a:xfrm xmlns:a="http://schemas.openxmlformats.org/drawingml/2006/main">
            <a:off x="5067300" y="5048250"/>
            <a:ext cx="611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Experiments are transparent, but physical counterfactuals are not established.</a:t>
            </a:r>
          </a:p>
        </p:txBody>
      </p:sp>
    </p:spTree>
    <p:extLst>
      <p:ext uri="{BB962C8B-B14F-4D97-AF65-F5344CB8AC3E}">
        <p14:creationId xmlns:p14="http://schemas.microsoft.com/office/powerpoint/2010/main" val="153643304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EB95F83-2762-4817-B01D-8DB5AE7920CC}"/>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2F6DB072-EBAF-4CAD-AEAA-1F9E90D69BF1}"/>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What exactly is represented in the event log?</a:t>
            </a:r>
          </a:p>
        </p:txBody>
      </p:sp>
      <p:sp>
        <p:nvSpPr>
          <p:cNvPr id="3" name="">
            <a:extLst xmlns:a="http://schemas.openxmlformats.org/drawingml/2006/main">
              <a:ext uri="{FF2B5EF4-FFF2-40B4-BE49-F238E27FC236}">
                <a16:creationId xmlns:a16="http://schemas.microsoft.com/office/drawing/2014/main" id="{04488D1A-D78E-4BD9-85A7-4355FEEA28BA}"/>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CCB7EF12-D991-4D84-93BF-2475232862DC}"/>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E91D38EB-5CC5-4DE2-A06A-416B245DE096}"/>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17</a:t>
            </a:r>
          </a:p>
        </p:txBody>
      </p:sp>
      <p:sp>
        <p:nvSpPr>
          <p:cNvPr id="6" name="">
            <a:extLst xmlns:a="http://schemas.openxmlformats.org/drawingml/2006/main">
              <a:ext uri="{FF2B5EF4-FFF2-40B4-BE49-F238E27FC236}">
                <a16:creationId xmlns:a16="http://schemas.microsoft.com/office/drawing/2014/main" id="{6A317D90-56EF-4B4D-88ED-51829C3C7194}"/>
              </a:ext>
            </a:extLst>
          </p:cNvPr>
          <p:cNvSpPr>
            <a:spLocks xmlns:a="http://schemas.openxmlformats.org/drawingml/2006/main" noGrp="1"/>
          </p:cNvSpPr>
          <p:nvPr/>
        </p:nvSpPr>
        <p:spPr>
          <a:xfrm xmlns:a="http://schemas.openxmlformats.org/drawingml/2006/main">
            <a:off x="552450" y="1276350"/>
            <a:ext cx="3352800" cy="1638300"/>
          </a:xfrm>
          <a:prstGeom xmlns:a="http://schemas.openxmlformats.org/drawingml/2006/main" prst="roundRect">
            <a:avLst>
              <a:gd name="adj" fmla="val 6977"/>
            </a:avLst>
          </a:prstGeom>
          <a:solidFill xmlns:a="http://schemas.openxmlformats.org/drawingml/2006/main">
            <a:srgbClr val="EAF3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97A1D43-6C06-4A2C-9A4D-166D25F510C3}"/>
              </a:ext>
            </a:extLst>
          </p:cNvPr>
          <p:cNvSpPr>
            <a:spLocks xmlns:a="http://schemas.openxmlformats.org/drawingml/2006/main" noGrp="1"/>
          </p:cNvSpPr>
          <p:nvPr/>
        </p:nvSpPr>
        <p:spPr>
          <a:xfrm xmlns:a="http://schemas.openxmlformats.org/drawingml/2006/main">
            <a:off x="552450" y="1276350"/>
            <a:ext cx="66675" cy="1638300"/>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8" name="">
            <a:extLst xmlns:a="http://schemas.openxmlformats.org/drawingml/2006/main">
              <a:ext uri="{FF2B5EF4-FFF2-40B4-BE49-F238E27FC236}">
                <a16:creationId xmlns:a16="http://schemas.microsoft.com/office/drawing/2014/main" id="{3FCD9519-E1C8-4396-9BDE-5608705357DD}"/>
              </a:ext>
            </a:extLst>
          </p:cNvPr>
          <p:cNvSpPr>
            <a:spLocks xmlns:a="http://schemas.openxmlformats.org/drawingml/2006/main" noGrp="1"/>
          </p:cNvSpPr>
          <p:nvPr/>
        </p:nvSpPr>
        <p:spPr>
          <a:xfrm xmlns:a="http://schemas.openxmlformats.org/drawingml/2006/main">
            <a:off x="800100" y="14668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2F80ED"/>
                </a:solidFill>
                <a:latin typeface="Aptos"/>
                <a:ea typeface="Aptos"/>
                <a:cs typeface="Aptos"/>
              </a:defRPr>
            </a:pPr>
            <a:r>
              <a:rPr sz="3450" b="1" i="0">
                <a:solidFill>
                  <a:srgbClr val="2F80ED"/>
                </a:solidFill>
                <a:latin typeface="Aptos"/>
                <a:ea typeface="Aptos"/>
                <a:cs typeface="Aptos"/>
              </a:rPr>
              <a:t>89,460</a:t>
            </a:r>
          </a:p>
        </p:txBody>
      </p:sp>
      <p:sp>
        <p:nvSpPr>
          <p:cNvPr id="9" name="">
            <a:extLst xmlns:a="http://schemas.openxmlformats.org/drawingml/2006/main">
              <a:ext uri="{FF2B5EF4-FFF2-40B4-BE49-F238E27FC236}">
                <a16:creationId xmlns:a16="http://schemas.microsoft.com/office/drawing/2014/main" id="{2B83C282-1FE6-4F09-99C3-349E54419F5E}"/>
              </a:ext>
            </a:extLst>
          </p:cNvPr>
          <p:cNvSpPr>
            <a:spLocks xmlns:a="http://schemas.openxmlformats.org/drawingml/2006/main" noGrp="1"/>
          </p:cNvSpPr>
          <p:nvPr/>
        </p:nvSpPr>
        <p:spPr>
          <a:xfrm xmlns:a="http://schemas.openxmlformats.org/drawingml/2006/main">
            <a:off x="800100" y="2076450"/>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truck visits = cases</a:t>
            </a:r>
          </a:p>
        </p:txBody>
      </p:sp>
      <p:sp>
        <p:nvSpPr>
          <p:cNvPr id="10" name="">
            <a:extLst xmlns:a="http://schemas.openxmlformats.org/drawingml/2006/main">
              <a:ext uri="{FF2B5EF4-FFF2-40B4-BE49-F238E27FC236}">
                <a16:creationId xmlns:a16="http://schemas.microsoft.com/office/drawing/2014/main" id="{A3825E98-AF82-4019-9E08-33D6C98CD96F}"/>
              </a:ext>
            </a:extLst>
          </p:cNvPr>
          <p:cNvSpPr>
            <a:spLocks xmlns:a="http://schemas.openxmlformats.org/drawingml/2006/main" noGrp="1"/>
          </p:cNvSpPr>
          <p:nvPr/>
        </p:nvSpPr>
        <p:spPr>
          <a:xfrm xmlns:a="http://schemas.openxmlformats.org/drawingml/2006/main">
            <a:off x="4419600" y="1276350"/>
            <a:ext cx="3352800" cy="1638300"/>
          </a:xfrm>
          <a:prstGeom xmlns:a="http://schemas.openxmlformats.org/drawingml/2006/main" prst="roundRect">
            <a:avLst>
              <a:gd name="adj" fmla="val 6977"/>
            </a:avLst>
          </a:prstGeom>
          <a:solidFill xmlns:a="http://schemas.openxmlformats.org/drawingml/2006/main">
            <a:srgbClr val="EAF8F3"/>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0A02C89-B775-4739-8FFD-BA8F6D44E51A}"/>
              </a:ext>
            </a:extLst>
          </p:cNvPr>
          <p:cNvSpPr>
            <a:spLocks xmlns:a="http://schemas.openxmlformats.org/drawingml/2006/main" noGrp="1"/>
          </p:cNvSpPr>
          <p:nvPr/>
        </p:nvSpPr>
        <p:spPr>
          <a:xfrm xmlns:a="http://schemas.openxmlformats.org/drawingml/2006/main">
            <a:off x="4419600" y="1276350"/>
            <a:ext cx="66675" cy="1638300"/>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12" name="">
            <a:extLst xmlns:a="http://schemas.openxmlformats.org/drawingml/2006/main">
              <a:ext uri="{FF2B5EF4-FFF2-40B4-BE49-F238E27FC236}">
                <a16:creationId xmlns:a16="http://schemas.microsoft.com/office/drawing/2014/main" id="{05F56C77-4648-45C1-9C58-9CB6EAA45300}"/>
              </a:ext>
            </a:extLst>
          </p:cNvPr>
          <p:cNvSpPr>
            <a:spLocks xmlns:a="http://schemas.openxmlformats.org/drawingml/2006/main" noGrp="1"/>
          </p:cNvSpPr>
          <p:nvPr/>
        </p:nvSpPr>
        <p:spPr>
          <a:xfrm xmlns:a="http://schemas.openxmlformats.org/drawingml/2006/main">
            <a:off x="4667250" y="14668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16876A"/>
                </a:solidFill>
                <a:latin typeface="Aptos"/>
                <a:ea typeface="Aptos"/>
                <a:cs typeface="Aptos"/>
              </a:defRPr>
            </a:pPr>
            <a:r>
              <a:rPr sz="3450" b="1" i="0">
                <a:solidFill>
                  <a:srgbClr val="16876A"/>
                </a:solidFill>
                <a:latin typeface="Aptos"/>
                <a:ea typeface="Aptos"/>
                <a:cs typeface="Aptos"/>
              </a:rPr>
              <a:t>275,408</a:t>
            </a:r>
          </a:p>
        </p:txBody>
      </p:sp>
      <p:sp>
        <p:nvSpPr>
          <p:cNvPr id="13" name="">
            <a:extLst xmlns:a="http://schemas.openxmlformats.org/drawingml/2006/main">
              <a:ext uri="{FF2B5EF4-FFF2-40B4-BE49-F238E27FC236}">
                <a16:creationId xmlns:a16="http://schemas.microsoft.com/office/drawing/2014/main" id="{CC554614-9051-41DA-83F4-BDAE9125B9BB}"/>
              </a:ext>
            </a:extLst>
          </p:cNvPr>
          <p:cNvSpPr>
            <a:spLocks xmlns:a="http://schemas.openxmlformats.org/drawingml/2006/main" noGrp="1"/>
          </p:cNvSpPr>
          <p:nvPr/>
        </p:nvSpPr>
        <p:spPr>
          <a:xfrm xmlns:a="http://schemas.openxmlformats.org/drawingml/2006/main">
            <a:off x="4667250" y="2076450"/>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activity events</a:t>
            </a:r>
          </a:p>
        </p:txBody>
      </p:sp>
      <p:sp>
        <p:nvSpPr>
          <p:cNvPr id="14" name="">
            <a:extLst xmlns:a="http://schemas.openxmlformats.org/drawingml/2006/main">
              <a:ext uri="{FF2B5EF4-FFF2-40B4-BE49-F238E27FC236}">
                <a16:creationId xmlns:a16="http://schemas.microsoft.com/office/drawing/2014/main" id="{0638AAAB-04BE-43BC-8F6C-CFCC34EE6279}"/>
              </a:ext>
            </a:extLst>
          </p:cNvPr>
          <p:cNvSpPr>
            <a:spLocks xmlns:a="http://schemas.openxmlformats.org/drawingml/2006/main" noGrp="1"/>
          </p:cNvSpPr>
          <p:nvPr/>
        </p:nvSpPr>
        <p:spPr>
          <a:xfrm xmlns:a="http://schemas.openxmlformats.org/drawingml/2006/main">
            <a:off x="8286750" y="1276350"/>
            <a:ext cx="3352800" cy="1638300"/>
          </a:xfrm>
          <a:prstGeom xmlns:a="http://schemas.openxmlformats.org/drawingml/2006/main" prst="roundRect">
            <a:avLst>
              <a:gd name="adj" fmla="val 6977"/>
            </a:avLst>
          </a:prstGeom>
          <a:solidFill xmlns:a="http://schemas.openxmlformats.org/drawingml/2006/main">
            <a:srgbClr val="FFF4D8"/>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1C8F54-7792-4E49-B02C-78CC6579E2A9}"/>
              </a:ext>
            </a:extLst>
          </p:cNvPr>
          <p:cNvSpPr>
            <a:spLocks xmlns:a="http://schemas.openxmlformats.org/drawingml/2006/main" noGrp="1"/>
          </p:cNvSpPr>
          <p:nvPr/>
        </p:nvSpPr>
        <p:spPr>
          <a:xfrm xmlns:a="http://schemas.openxmlformats.org/drawingml/2006/main">
            <a:off x="8286750" y="1276350"/>
            <a:ext cx="66675" cy="1638300"/>
          </a:xfrm>
          <a:prstGeom xmlns:a="http://schemas.openxmlformats.org/drawingml/2006/main" prst="rect">
            <a:avLst/>
          </a:prstGeom>
          <a:solidFill xmlns:a="http://schemas.openxmlformats.org/drawingml/2006/main">
            <a:srgbClr val="C98200"/>
          </a:solidFill>
          <a:ln xmlns:a="http://schemas.openxmlformats.org/drawingml/2006/main" w="0">
            <a:solidFill>
              <a:srgbClr val="C98200"/>
            </a:solidFill>
            <a:prstDash val="solid"/>
          </a:ln>
        </p:spPr>
      </p:sp>
      <p:sp>
        <p:nvSpPr>
          <p:cNvPr id="16" name="">
            <a:extLst xmlns:a="http://schemas.openxmlformats.org/drawingml/2006/main">
              <a:ext uri="{FF2B5EF4-FFF2-40B4-BE49-F238E27FC236}">
                <a16:creationId xmlns:a16="http://schemas.microsoft.com/office/drawing/2014/main" id="{ECB57F90-1C44-463C-88CD-91146B85C5CE}"/>
              </a:ext>
            </a:extLst>
          </p:cNvPr>
          <p:cNvSpPr>
            <a:spLocks xmlns:a="http://schemas.openxmlformats.org/drawingml/2006/main" noGrp="1"/>
          </p:cNvSpPr>
          <p:nvPr/>
        </p:nvSpPr>
        <p:spPr>
          <a:xfrm xmlns:a="http://schemas.openxmlformats.org/drawingml/2006/main">
            <a:off x="8534400" y="14668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98200"/>
                </a:solidFill>
                <a:latin typeface="Aptos"/>
                <a:ea typeface="Aptos"/>
                <a:cs typeface="Aptos"/>
              </a:defRPr>
            </a:pPr>
            <a:r>
              <a:rPr sz="3450" b="1" i="0">
                <a:solidFill>
                  <a:srgbClr val="C98200"/>
                </a:solidFill>
                <a:latin typeface="Aptos"/>
                <a:ea typeface="Aptos"/>
                <a:cs typeface="Aptos"/>
              </a:rPr>
              <a:t>2 months</a:t>
            </a:r>
          </a:p>
        </p:txBody>
      </p:sp>
      <p:sp>
        <p:nvSpPr>
          <p:cNvPr id="17" name="">
            <a:extLst xmlns:a="http://schemas.openxmlformats.org/drawingml/2006/main">
              <a:ext uri="{FF2B5EF4-FFF2-40B4-BE49-F238E27FC236}">
                <a16:creationId xmlns:a16="http://schemas.microsoft.com/office/drawing/2014/main" id="{345A75B8-8288-4F8A-8AF4-C7A56033FDE1}"/>
              </a:ext>
            </a:extLst>
          </p:cNvPr>
          <p:cNvSpPr>
            <a:spLocks xmlns:a="http://schemas.openxmlformats.org/drawingml/2006/main" noGrp="1"/>
          </p:cNvSpPr>
          <p:nvPr/>
        </p:nvSpPr>
        <p:spPr>
          <a:xfrm xmlns:a="http://schemas.openxmlformats.org/drawingml/2006/main">
            <a:off x="8534400" y="2076450"/>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continuous CTB data</a:t>
            </a:r>
          </a:p>
        </p:txBody>
      </p:sp>
      <p:sp>
        <p:nvSpPr>
          <p:cNvPr id="18" name="">
            <a:extLst xmlns:a="http://schemas.openxmlformats.org/drawingml/2006/main">
              <a:ext uri="{FF2B5EF4-FFF2-40B4-BE49-F238E27FC236}">
                <a16:creationId xmlns:a16="http://schemas.microsoft.com/office/drawing/2014/main" id="{D954D883-D15D-4B17-9DA5-D816F8E8B00B}"/>
              </a:ext>
            </a:extLst>
          </p:cNvPr>
          <p:cNvSpPr>
            <a:spLocks xmlns:a="http://schemas.openxmlformats.org/drawingml/2006/main" noGrp="1"/>
          </p:cNvSpPr>
          <p:nvPr/>
        </p:nvSpPr>
        <p:spPr>
          <a:xfrm xmlns:a="http://schemas.openxmlformats.org/drawingml/2006/main">
            <a:off x="552450" y="3257550"/>
            <a:ext cx="7124700" cy="2533650"/>
          </a:xfrm>
          <a:prstGeom xmlns:a="http://schemas.openxmlformats.org/drawingml/2006/main" prst="roundRect">
            <a:avLst>
              <a:gd name="adj" fmla="val 4511"/>
            </a:avLst>
          </a:prstGeom>
          <a:solidFill xmlns:a="http://schemas.openxmlformats.org/drawingml/2006/main">
            <a:srgbClr val="F8FAFC"/>
          </a:solidFill>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9CF3EB49-2345-4C50-AD74-C3CC917D9C2C}"/>
              </a:ext>
            </a:extLst>
          </p:cNvPr>
          <p:cNvSpPr>
            <a:spLocks xmlns:a="http://schemas.openxmlformats.org/drawingml/2006/main" noGrp="1"/>
          </p:cNvSpPr>
          <p:nvPr/>
        </p:nvSpPr>
        <p:spPr>
          <a:xfrm xmlns:a="http://schemas.openxmlformats.org/drawingml/2006/main">
            <a:off x="800100" y="352425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i="0">
                <a:solidFill>
                  <a:srgbClr val="0B1220"/>
                </a:solidFill>
                <a:latin typeface="Aptos"/>
                <a:ea typeface="Aptos"/>
                <a:cs typeface="Aptos"/>
              </a:defRPr>
            </a:pPr>
            <a:r>
              <a:rPr sz="2025" b="1" i="0">
                <a:solidFill>
                  <a:srgbClr val="0B1220"/>
                </a:solidFill>
                <a:latin typeface="Aptos"/>
                <a:ea typeface="Aptos"/>
                <a:cs typeface="Aptos"/>
              </a:rPr>
              <a:t>Case semantics</a:t>
            </a:r>
          </a:p>
        </p:txBody>
      </p:sp>
      <p:sp>
        <p:nvSpPr>
          <p:cNvPr id="20" name="">
            <a:extLst xmlns:a="http://schemas.openxmlformats.org/drawingml/2006/main">
              <a:ext uri="{FF2B5EF4-FFF2-40B4-BE49-F238E27FC236}">
                <a16:creationId xmlns:a16="http://schemas.microsoft.com/office/drawing/2014/main" id="{84D909DD-13EE-4FAE-A3DE-F0E7973CE8A6}"/>
              </a:ext>
            </a:extLst>
          </p:cNvPr>
          <p:cNvSpPr>
            <a:spLocks xmlns:a="http://schemas.openxmlformats.org/drawingml/2006/main" noGrp="1"/>
          </p:cNvSpPr>
          <p:nvPr/>
        </p:nvSpPr>
        <p:spPr>
          <a:xfrm xmlns:a="http://schemas.openxmlformats.org/drawingml/2006/main">
            <a:off x="952500" y="4238625"/>
            <a:ext cx="123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725" b="1" i="0">
                <a:solidFill>
                  <a:srgbClr val="0B1220"/>
                </a:solidFill>
                <a:latin typeface="Aptos"/>
                <a:ea typeface="Aptos"/>
                <a:cs typeface="Aptos"/>
              </a:defRPr>
            </a:pPr>
            <a:r>
              <a:rPr sz="1725" b="1" i="0">
                <a:solidFill>
                  <a:srgbClr val="0B1220"/>
                </a:solidFill>
                <a:latin typeface="Aptos"/>
                <a:ea typeface="Aptos"/>
                <a:cs typeface="Aptos"/>
              </a:rPr>
              <a:t>Gate In</a:t>
            </a:r>
          </a:p>
        </p:txBody>
      </p:sp>
      <p:sp>
        <p:nvSpPr>
          <p:cNvPr id="21" name="">
            <a:extLst xmlns:a="http://schemas.openxmlformats.org/drawingml/2006/main">
              <a:ext uri="{FF2B5EF4-FFF2-40B4-BE49-F238E27FC236}">
                <a16:creationId xmlns:a16="http://schemas.microsoft.com/office/drawing/2014/main" id="{01E7D305-10FA-430A-87D5-C9146B032B1A}"/>
              </a:ext>
            </a:extLst>
          </p:cNvPr>
          <p:cNvSpPr>
            <a:spLocks xmlns:a="http://schemas.openxmlformats.org/drawingml/2006/main" noGrp="1"/>
          </p:cNvSpPr>
          <p:nvPr/>
        </p:nvSpPr>
        <p:spPr>
          <a:xfrm xmlns:a="http://schemas.openxmlformats.org/drawingml/2006/main">
            <a:off x="2209800" y="4257675"/>
            <a:ext cx="47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276C8E1A-36B4-4699-9C93-734533309393}"/>
              </a:ext>
            </a:extLst>
          </p:cNvPr>
          <p:cNvSpPr>
            <a:spLocks xmlns:a="http://schemas.openxmlformats.org/drawingml/2006/main" noGrp="1"/>
          </p:cNvSpPr>
          <p:nvPr/>
        </p:nvSpPr>
        <p:spPr>
          <a:xfrm xmlns:a="http://schemas.openxmlformats.org/drawingml/2006/main">
            <a:off x="2781300" y="4238625"/>
            <a:ext cx="209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725" b="1" i="0">
                <a:solidFill>
                  <a:srgbClr val="0B1220"/>
                </a:solidFill>
                <a:latin typeface="Aptos"/>
                <a:ea typeface="Aptos"/>
                <a:cs typeface="Aptos"/>
              </a:defRPr>
            </a:pPr>
            <a:r>
              <a:rPr sz="1725" b="1" i="0">
                <a:solidFill>
                  <a:srgbClr val="0B1220"/>
                </a:solidFill>
                <a:latin typeface="Aptos"/>
                <a:ea typeface="Aptos"/>
                <a:cs typeface="Aptos"/>
              </a:rPr>
              <a:t>1+ yard activities</a:t>
            </a:r>
          </a:p>
        </p:txBody>
      </p:sp>
      <p:sp>
        <p:nvSpPr>
          <p:cNvPr id="23" name="">
            <a:extLst xmlns:a="http://schemas.openxmlformats.org/drawingml/2006/main">
              <a:ext uri="{FF2B5EF4-FFF2-40B4-BE49-F238E27FC236}">
                <a16:creationId xmlns:a16="http://schemas.microsoft.com/office/drawing/2014/main" id="{862625A6-4C63-470D-889E-DE1ED52B9C68}"/>
              </a:ext>
            </a:extLst>
          </p:cNvPr>
          <p:cNvSpPr>
            <a:spLocks xmlns:a="http://schemas.openxmlformats.org/drawingml/2006/main" noGrp="1"/>
          </p:cNvSpPr>
          <p:nvPr/>
        </p:nvSpPr>
        <p:spPr>
          <a:xfrm xmlns:a="http://schemas.openxmlformats.org/drawingml/2006/main">
            <a:off x="4905375" y="4257675"/>
            <a:ext cx="47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700" b="1" i="0">
                <a:solidFill>
                  <a:srgbClr val="98A2B3"/>
                </a:solidFill>
                <a:latin typeface="Aptos"/>
                <a:ea typeface="Aptos"/>
                <a:cs typeface="Aptos"/>
              </a:defRPr>
            </a:pPr>
            <a:r>
              <a:rPr sz="2700" b="1" i="0">
                <a:solidFill>
                  <a:srgbClr val="98A2B3"/>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5ADF1197-8951-4E04-8296-7170F9379A36}"/>
              </a:ext>
            </a:extLst>
          </p:cNvPr>
          <p:cNvSpPr>
            <a:spLocks xmlns:a="http://schemas.openxmlformats.org/drawingml/2006/main" noGrp="1"/>
          </p:cNvSpPr>
          <p:nvPr/>
        </p:nvSpPr>
        <p:spPr>
          <a:xfrm xmlns:a="http://schemas.openxmlformats.org/drawingml/2006/main">
            <a:off x="5476875" y="4238625"/>
            <a:ext cx="123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725" b="1" i="0">
                <a:solidFill>
                  <a:srgbClr val="0B1220"/>
                </a:solidFill>
                <a:latin typeface="Aptos"/>
                <a:ea typeface="Aptos"/>
                <a:cs typeface="Aptos"/>
              </a:defRPr>
            </a:pPr>
            <a:r>
              <a:rPr sz="1725" b="1" i="0">
                <a:solidFill>
                  <a:srgbClr val="0B1220"/>
                </a:solidFill>
                <a:latin typeface="Aptos"/>
                <a:ea typeface="Aptos"/>
                <a:cs typeface="Aptos"/>
              </a:rPr>
              <a:t>Gate Out</a:t>
            </a:r>
          </a:p>
        </p:txBody>
      </p:sp>
      <p:sp>
        <p:nvSpPr>
          <p:cNvPr id="25" name="">
            <a:extLst xmlns:a="http://schemas.openxmlformats.org/drawingml/2006/main">
              <a:ext uri="{FF2B5EF4-FFF2-40B4-BE49-F238E27FC236}">
                <a16:creationId xmlns:a16="http://schemas.microsoft.com/office/drawing/2014/main" id="{9A15CE53-CD46-4CD0-943C-91A53045157D}"/>
              </a:ext>
            </a:extLst>
          </p:cNvPr>
          <p:cNvSpPr>
            <a:spLocks xmlns:a="http://schemas.openxmlformats.org/drawingml/2006/main" noGrp="1"/>
          </p:cNvSpPr>
          <p:nvPr/>
        </p:nvSpPr>
        <p:spPr>
          <a:xfrm xmlns:a="http://schemas.openxmlformats.org/drawingml/2006/main">
            <a:off x="952500" y="5048250"/>
            <a:ext cx="577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0" i="0">
                <a:solidFill>
                  <a:srgbClr val="5F6B7A"/>
                </a:solidFill>
                <a:latin typeface="Aptos"/>
                <a:ea typeface="Aptos"/>
                <a:cs typeface="Aptos"/>
              </a:defRPr>
            </a:pPr>
            <a:r>
              <a:rPr sz="1575" b="0" i="0">
                <a:solidFill>
                  <a:srgbClr val="5F6B7A"/>
                </a:solidFill>
                <a:latin typeface="Aptos"/>
                <a:ea typeface="Aptos"/>
                <a:cs typeface="Aptos"/>
              </a:rPr>
              <a:t>A case is one truck visit; its authoritative XES order is sequential.</a:t>
            </a:r>
          </a:p>
        </p:txBody>
      </p:sp>
      <p:sp>
        <p:nvSpPr>
          <p:cNvPr id="26" name="">
            <a:extLst xmlns:a="http://schemas.openxmlformats.org/drawingml/2006/main">
              <a:ext uri="{FF2B5EF4-FFF2-40B4-BE49-F238E27FC236}">
                <a16:creationId xmlns:a16="http://schemas.microsoft.com/office/drawing/2014/main" id="{2A8A931B-8B40-49DA-A887-2DBED8A9F26F}"/>
              </a:ext>
            </a:extLst>
          </p:cNvPr>
          <p:cNvSpPr>
            <a:spLocks xmlns:a="http://schemas.openxmlformats.org/drawingml/2006/main" noGrp="1"/>
          </p:cNvSpPr>
          <p:nvPr/>
        </p:nvSpPr>
        <p:spPr>
          <a:xfrm xmlns:a="http://schemas.openxmlformats.org/drawingml/2006/main">
            <a:off x="7981950" y="3257550"/>
            <a:ext cx="3657600" cy="2533650"/>
          </a:xfrm>
          <a:prstGeom xmlns:a="http://schemas.openxmlformats.org/drawingml/2006/main" prst="roundRect">
            <a:avLst>
              <a:gd name="adj" fmla="val 4511"/>
            </a:avLst>
          </a:prstGeom>
          <a:solidFill xmlns:a="http://schemas.openxmlformats.org/drawingml/2006/main">
            <a:srgbClr val="FDECE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302CCF6-B7C3-45A2-BDD4-D369706B2FB1}"/>
              </a:ext>
            </a:extLst>
          </p:cNvPr>
          <p:cNvSpPr>
            <a:spLocks xmlns:a="http://schemas.openxmlformats.org/drawingml/2006/main" noGrp="1"/>
          </p:cNvSpPr>
          <p:nvPr/>
        </p:nvSpPr>
        <p:spPr>
          <a:xfrm xmlns:a="http://schemas.openxmlformats.org/drawingml/2006/main">
            <a:off x="8239125" y="35242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C8102E"/>
                </a:solidFill>
                <a:latin typeface="Aptos"/>
                <a:ea typeface="Aptos"/>
                <a:cs typeface="Aptos"/>
              </a:defRPr>
            </a:pPr>
            <a:r>
              <a:rPr sz="1875" b="1" i="0">
                <a:solidFill>
                  <a:srgbClr val="C8102E"/>
                </a:solidFill>
                <a:latin typeface="Aptos"/>
                <a:ea typeface="Aptos"/>
                <a:cs typeface="Aptos"/>
              </a:rPr>
              <a:t>Important timestamp limit</a:t>
            </a:r>
          </a:p>
        </p:txBody>
      </p:sp>
      <p:sp>
        <p:nvSpPr>
          <p:cNvPr id="28" name="">
            <a:extLst xmlns:a="http://schemas.openxmlformats.org/drawingml/2006/main">
              <a:ext uri="{FF2B5EF4-FFF2-40B4-BE49-F238E27FC236}">
                <a16:creationId xmlns:a16="http://schemas.microsoft.com/office/drawing/2014/main" id="{A63051E2-08DC-4D2B-8856-478C8D0E36FA}"/>
              </a:ext>
            </a:extLst>
          </p:cNvPr>
          <p:cNvSpPr>
            <a:spLocks xmlns:a="http://schemas.openxmlformats.org/drawingml/2006/main" noGrp="1"/>
          </p:cNvSpPr>
          <p:nvPr/>
        </p:nvSpPr>
        <p:spPr>
          <a:xfrm xmlns:a="http://schemas.openxmlformats.org/drawingml/2006/main">
            <a:off x="8239125" y="4143375"/>
            <a:ext cx="3048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0B1220"/>
                </a:solidFill>
                <a:latin typeface="Aptos"/>
                <a:ea typeface="Aptos"/>
                <a:cs typeface="Aptos"/>
              </a:defRPr>
            </a:pPr>
            <a:r>
              <a:rPr sz="1650" b="0" i="0">
                <a:solidFill>
                  <a:srgbClr val="0B1220"/>
                </a:solidFill>
                <a:latin typeface="Aptos"/>
                <a:ea typeface="Aptos"/>
                <a:cs typeface="Aptos"/>
              </a:rPr>
              <a:t>The real log has start and complete timestamps, but no enablement timestamp. Simulated pre-service delay is therefore not validated real queueing time.</a:t>
            </a:r>
          </a:p>
        </p:txBody>
      </p:sp>
    </p:spTree>
    <p:extLst>
      <p:ext uri="{BB962C8B-B14F-4D97-AF65-F5344CB8AC3E}">
        <p14:creationId xmlns:p14="http://schemas.microsoft.com/office/powerpoint/2010/main" val="174366569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326056A-2EE3-430A-8AA0-B6B2DD5D6359}"/>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1ED7DD53-08D0-496B-9DD3-0743E23AE5E5}"/>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Why temporal validation and ten seeds?</a:t>
            </a:r>
          </a:p>
        </p:txBody>
      </p:sp>
      <p:sp>
        <p:nvSpPr>
          <p:cNvPr id="3" name="">
            <a:extLst xmlns:a="http://schemas.openxmlformats.org/drawingml/2006/main">
              <a:ext uri="{FF2B5EF4-FFF2-40B4-BE49-F238E27FC236}">
                <a16:creationId xmlns:a16="http://schemas.microsoft.com/office/drawing/2014/main" id="{FCECD525-7037-4A35-BF3A-612889C0ACDF}"/>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F5FE76B9-2E34-4B38-A400-D98328430678}"/>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AF5B8FF4-2FAC-4DAB-ADB5-0FDE3EA4D396}"/>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18</a:t>
            </a:r>
          </a:p>
        </p:txBody>
      </p:sp>
      <p:sp>
        <p:nvSpPr>
          <p:cNvPr id="6" name="">
            <a:extLst xmlns:a="http://schemas.openxmlformats.org/drawingml/2006/main">
              <a:ext uri="{FF2B5EF4-FFF2-40B4-BE49-F238E27FC236}">
                <a16:creationId xmlns:a16="http://schemas.microsoft.com/office/drawing/2014/main" id="{E4EC110B-3F06-4E0D-8E92-95CC18155132}"/>
              </a:ext>
            </a:extLst>
          </p:cNvPr>
          <p:cNvSpPr>
            <a:spLocks xmlns:a="http://schemas.openxmlformats.org/drawingml/2006/main" noGrp="1"/>
          </p:cNvSpPr>
          <p:nvPr/>
        </p:nvSpPr>
        <p:spPr>
          <a:xfrm xmlns:a="http://schemas.openxmlformats.org/drawingml/2006/main">
            <a:off x="609600" y="1314450"/>
            <a:ext cx="5219700" cy="1885950"/>
          </a:xfrm>
          <a:prstGeom xmlns:a="http://schemas.openxmlformats.org/drawingml/2006/main" prst="roundRect">
            <a:avLst>
              <a:gd name="adj" fmla="val 6061"/>
            </a:avLst>
          </a:prstGeom>
          <a:solidFill xmlns:a="http://schemas.openxmlformats.org/drawingml/2006/main">
            <a:srgbClr val="F8FAFC"/>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977C47FE-8739-4BEE-AC52-A84D33CB2223}"/>
              </a:ext>
            </a:extLst>
          </p:cNvPr>
          <p:cNvSpPr>
            <a:spLocks xmlns:a="http://schemas.openxmlformats.org/drawingml/2006/main" noGrp="1"/>
          </p:cNvSpPr>
          <p:nvPr/>
        </p:nvSpPr>
        <p:spPr>
          <a:xfrm xmlns:a="http://schemas.openxmlformats.org/drawingml/2006/main">
            <a:off x="838200" y="1543050"/>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8" name="">
            <a:extLst xmlns:a="http://schemas.openxmlformats.org/drawingml/2006/main">
              <a:ext uri="{FF2B5EF4-FFF2-40B4-BE49-F238E27FC236}">
                <a16:creationId xmlns:a16="http://schemas.microsoft.com/office/drawing/2014/main" id="{16722403-3FA7-40E8-8E1B-853FC3C7ADC8}"/>
              </a:ext>
            </a:extLst>
          </p:cNvPr>
          <p:cNvSpPr>
            <a:spLocks xmlns:a="http://schemas.openxmlformats.org/drawingml/2006/main" noGrp="1"/>
          </p:cNvSpPr>
          <p:nvPr/>
        </p:nvSpPr>
        <p:spPr>
          <a:xfrm xmlns:a="http://schemas.openxmlformats.org/drawingml/2006/main">
            <a:off x="838200" y="15906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9" name="">
            <a:extLst xmlns:a="http://schemas.openxmlformats.org/drawingml/2006/main">
              <a:ext uri="{FF2B5EF4-FFF2-40B4-BE49-F238E27FC236}">
                <a16:creationId xmlns:a16="http://schemas.microsoft.com/office/drawing/2014/main" id="{BBD9C901-E2AA-4874-8E45-A7567215645E}"/>
              </a:ext>
            </a:extLst>
          </p:cNvPr>
          <p:cNvSpPr>
            <a:spLocks xmlns:a="http://schemas.openxmlformats.org/drawingml/2006/main" noGrp="1"/>
          </p:cNvSpPr>
          <p:nvPr/>
        </p:nvSpPr>
        <p:spPr>
          <a:xfrm xmlns:a="http://schemas.openxmlformats.org/drawingml/2006/main">
            <a:off x="1409700" y="1504950"/>
            <a:ext cx="4191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Temporal 80/20 split</a:t>
            </a:r>
          </a:p>
        </p:txBody>
      </p:sp>
      <p:sp>
        <p:nvSpPr>
          <p:cNvPr id="10" name="">
            <a:extLst xmlns:a="http://schemas.openxmlformats.org/drawingml/2006/main">
              <a:ext uri="{FF2B5EF4-FFF2-40B4-BE49-F238E27FC236}">
                <a16:creationId xmlns:a16="http://schemas.microsoft.com/office/drawing/2014/main" id="{8EA0C592-3908-4CCE-B255-F3A696E398B3}"/>
              </a:ext>
            </a:extLst>
          </p:cNvPr>
          <p:cNvSpPr>
            <a:spLocks xmlns:a="http://schemas.openxmlformats.org/drawingml/2006/main" noGrp="1"/>
          </p:cNvSpPr>
          <p:nvPr/>
        </p:nvSpPr>
        <p:spPr>
          <a:xfrm xmlns:a="http://schemas.openxmlformats.org/drawingml/2006/main">
            <a:off x="1409700" y="2152650"/>
            <a:ext cx="4191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Preserves later-period shifts; a random split would leak them into both partitions.</a:t>
            </a:r>
          </a:p>
        </p:txBody>
      </p:sp>
      <p:sp>
        <p:nvSpPr>
          <p:cNvPr id="11" name="">
            <a:extLst xmlns:a="http://schemas.openxmlformats.org/drawingml/2006/main">
              <a:ext uri="{FF2B5EF4-FFF2-40B4-BE49-F238E27FC236}">
                <a16:creationId xmlns:a16="http://schemas.microsoft.com/office/drawing/2014/main" id="{22A07D8C-2E54-4B18-981C-E9135EE4C220}"/>
              </a:ext>
            </a:extLst>
          </p:cNvPr>
          <p:cNvSpPr>
            <a:spLocks xmlns:a="http://schemas.openxmlformats.org/drawingml/2006/main" noGrp="1"/>
          </p:cNvSpPr>
          <p:nvPr/>
        </p:nvSpPr>
        <p:spPr>
          <a:xfrm xmlns:a="http://schemas.openxmlformats.org/drawingml/2006/main">
            <a:off x="6248400" y="1314450"/>
            <a:ext cx="5219700" cy="1885950"/>
          </a:xfrm>
          <a:prstGeom xmlns:a="http://schemas.openxmlformats.org/drawingml/2006/main" prst="roundRect">
            <a:avLst>
              <a:gd name="adj" fmla="val 6061"/>
            </a:avLst>
          </a:prstGeom>
          <a:solidFill xmlns:a="http://schemas.openxmlformats.org/drawingml/2006/main">
            <a:srgbClr val="F8FAFC"/>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0464F31-25C2-4D3D-B458-3CEEA14D43AF}"/>
              </a:ext>
            </a:extLst>
          </p:cNvPr>
          <p:cNvSpPr>
            <a:spLocks xmlns:a="http://schemas.openxmlformats.org/drawingml/2006/main" noGrp="1"/>
          </p:cNvSpPr>
          <p:nvPr/>
        </p:nvSpPr>
        <p:spPr>
          <a:xfrm xmlns:a="http://schemas.openxmlformats.org/drawingml/2006/main">
            <a:off x="6477000" y="1543050"/>
            <a:ext cx="400050" cy="400050"/>
          </a:xfrm>
          <a:prstGeom xmlns:a="http://schemas.openxmlformats.org/drawingml/2006/main" prst="ellipse">
            <a:avLst/>
          </a:prstGeom>
          <a:solidFill xmlns:a="http://schemas.openxmlformats.org/drawingml/2006/main">
            <a:srgbClr val="2F80ED"/>
          </a:solidFill>
          <a:ln xmlns:a="http://schemas.openxmlformats.org/drawingml/2006/main" w="9525">
            <a:solidFill>
              <a:srgbClr val="2F80ED"/>
            </a:solidFill>
            <a:prstDash val="solid"/>
          </a:ln>
        </p:spPr>
      </p:sp>
      <p:sp>
        <p:nvSpPr>
          <p:cNvPr id="13" name="">
            <a:extLst xmlns:a="http://schemas.openxmlformats.org/drawingml/2006/main">
              <a:ext uri="{FF2B5EF4-FFF2-40B4-BE49-F238E27FC236}">
                <a16:creationId xmlns:a16="http://schemas.microsoft.com/office/drawing/2014/main" id="{571E9DE4-77F9-415F-B545-6C6C8604FDEB}"/>
              </a:ext>
            </a:extLst>
          </p:cNvPr>
          <p:cNvSpPr>
            <a:spLocks xmlns:a="http://schemas.openxmlformats.org/drawingml/2006/main" noGrp="1"/>
          </p:cNvSpPr>
          <p:nvPr/>
        </p:nvSpPr>
        <p:spPr>
          <a:xfrm xmlns:a="http://schemas.openxmlformats.org/drawingml/2006/main">
            <a:off x="6477000" y="15906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14" name="">
            <a:extLst xmlns:a="http://schemas.openxmlformats.org/drawingml/2006/main">
              <a:ext uri="{FF2B5EF4-FFF2-40B4-BE49-F238E27FC236}">
                <a16:creationId xmlns:a16="http://schemas.microsoft.com/office/drawing/2014/main" id="{4D8B63C5-6747-4A68-AF4C-B6530375FD82}"/>
              </a:ext>
            </a:extLst>
          </p:cNvPr>
          <p:cNvSpPr>
            <a:spLocks xmlns:a="http://schemas.openxmlformats.org/drawingml/2006/main" noGrp="1"/>
          </p:cNvSpPr>
          <p:nvPr/>
        </p:nvSpPr>
        <p:spPr>
          <a:xfrm xmlns:a="http://schemas.openxmlformats.org/drawingml/2006/main">
            <a:off x="7048500" y="1504950"/>
            <a:ext cx="4191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Training-only calibration</a:t>
            </a:r>
          </a:p>
        </p:txBody>
      </p:sp>
      <p:sp>
        <p:nvSpPr>
          <p:cNvPr id="15" name="">
            <a:extLst xmlns:a="http://schemas.openxmlformats.org/drawingml/2006/main">
              <a:ext uri="{FF2B5EF4-FFF2-40B4-BE49-F238E27FC236}">
                <a16:creationId xmlns:a16="http://schemas.microsoft.com/office/drawing/2014/main" id="{972515DE-CA42-4CA2-9C36-92D5BDD0A0DB}"/>
              </a:ext>
            </a:extLst>
          </p:cNvPr>
          <p:cNvSpPr>
            <a:spLocks xmlns:a="http://schemas.openxmlformats.org/drawingml/2006/main" noGrp="1"/>
          </p:cNvSpPr>
          <p:nvPr/>
        </p:nvSpPr>
        <p:spPr>
          <a:xfrm xmlns:a="http://schemas.openxmlformats.org/drawingml/2006/main">
            <a:off x="7048500" y="2152650"/>
            <a:ext cx="4191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The final resource cap and simulator choices are fixed before hold-out evaluation.</a:t>
            </a:r>
          </a:p>
        </p:txBody>
      </p:sp>
      <p:sp>
        <p:nvSpPr>
          <p:cNvPr id="16" name="">
            <a:extLst xmlns:a="http://schemas.openxmlformats.org/drawingml/2006/main">
              <a:ext uri="{FF2B5EF4-FFF2-40B4-BE49-F238E27FC236}">
                <a16:creationId xmlns:a16="http://schemas.microsoft.com/office/drawing/2014/main" id="{1813E9ED-EDCA-4AEA-9D7B-2475722A41FA}"/>
              </a:ext>
            </a:extLst>
          </p:cNvPr>
          <p:cNvSpPr>
            <a:spLocks xmlns:a="http://schemas.openxmlformats.org/drawingml/2006/main" noGrp="1"/>
          </p:cNvSpPr>
          <p:nvPr/>
        </p:nvSpPr>
        <p:spPr>
          <a:xfrm xmlns:a="http://schemas.openxmlformats.org/drawingml/2006/main">
            <a:off x="609600" y="3581400"/>
            <a:ext cx="5219700" cy="1885950"/>
          </a:xfrm>
          <a:prstGeom xmlns:a="http://schemas.openxmlformats.org/drawingml/2006/main" prst="roundRect">
            <a:avLst>
              <a:gd name="adj" fmla="val 6061"/>
            </a:avLst>
          </a:prstGeom>
          <a:solidFill xmlns:a="http://schemas.openxmlformats.org/drawingml/2006/main">
            <a:srgbClr val="F8FAFC"/>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427A6098-7650-4F67-AC31-886B249BFD14}"/>
              </a:ext>
            </a:extLst>
          </p:cNvPr>
          <p:cNvSpPr>
            <a:spLocks xmlns:a="http://schemas.openxmlformats.org/drawingml/2006/main" noGrp="1"/>
          </p:cNvSpPr>
          <p:nvPr/>
        </p:nvSpPr>
        <p:spPr>
          <a:xfrm xmlns:a="http://schemas.openxmlformats.org/drawingml/2006/main">
            <a:off x="838200" y="3810000"/>
            <a:ext cx="400050" cy="400050"/>
          </a:xfrm>
          <a:prstGeom xmlns:a="http://schemas.openxmlformats.org/drawingml/2006/main" prst="ellipse">
            <a:avLst/>
          </a:prstGeom>
          <a:solidFill xmlns:a="http://schemas.openxmlformats.org/drawingml/2006/main">
            <a:srgbClr val="C98200"/>
          </a:solidFill>
          <a:ln xmlns:a="http://schemas.openxmlformats.org/drawingml/2006/main" w="9525">
            <a:solidFill>
              <a:srgbClr val="C98200"/>
            </a:solidFill>
            <a:prstDash val="solid"/>
          </a:ln>
        </p:spPr>
      </p:sp>
      <p:sp>
        <p:nvSpPr>
          <p:cNvPr id="18" name="">
            <a:extLst xmlns:a="http://schemas.openxmlformats.org/drawingml/2006/main">
              <a:ext uri="{FF2B5EF4-FFF2-40B4-BE49-F238E27FC236}">
                <a16:creationId xmlns:a16="http://schemas.microsoft.com/office/drawing/2014/main" id="{9C530B44-732A-4448-985A-CC3C58EF2916}"/>
              </a:ext>
            </a:extLst>
          </p:cNvPr>
          <p:cNvSpPr>
            <a:spLocks xmlns:a="http://schemas.openxmlformats.org/drawingml/2006/main" noGrp="1"/>
          </p:cNvSpPr>
          <p:nvPr/>
        </p:nvSpPr>
        <p:spPr>
          <a:xfrm xmlns:a="http://schemas.openxmlformats.org/drawingml/2006/main">
            <a:off x="838200" y="3857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19" name="">
            <a:extLst xmlns:a="http://schemas.openxmlformats.org/drawingml/2006/main">
              <a:ext uri="{FF2B5EF4-FFF2-40B4-BE49-F238E27FC236}">
                <a16:creationId xmlns:a16="http://schemas.microsoft.com/office/drawing/2014/main" id="{AEC42867-2AE8-48D2-965C-CC62DB2A05B1}"/>
              </a:ext>
            </a:extLst>
          </p:cNvPr>
          <p:cNvSpPr>
            <a:spLocks xmlns:a="http://schemas.openxmlformats.org/drawingml/2006/main" noGrp="1"/>
          </p:cNvSpPr>
          <p:nvPr/>
        </p:nvSpPr>
        <p:spPr>
          <a:xfrm xmlns:a="http://schemas.openxmlformats.org/drawingml/2006/main">
            <a:off x="1409700" y="3771900"/>
            <a:ext cx="4191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10 seeds (42–51)</a:t>
            </a:r>
          </a:p>
        </p:txBody>
      </p:sp>
      <p:sp>
        <p:nvSpPr>
          <p:cNvPr id="20" name="">
            <a:extLst xmlns:a="http://schemas.openxmlformats.org/drawingml/2006/main">
              <a:ext uri="{FF2B5EF4-FFF2-40B4-BE49-F238E27FC236}">
                <a16:creationId xmlns:a16="http://schemas.microsoft.com/office/drawing/2014/main" id="{7160A0B0-F569-482E-9952-C41EBE088F8E}"/>
              </a:ext>
            </a:extLst>
          </p:cNvPr>
          <p:cNvSpPr>
            <a:spLocks xmlns:a="http://schemas.openxmlformats.org/drawingml/2006/main" noGrp="1"/>
          </p:cNvSpPr>
          <p:nvPr/>
        </p:nvSpPr>
        <p:spPr>
          <a:xfrm xmlns:a="http://schemas.openxmlformats.org/drawingml/2006/main">
            <a:off x="1409700" y="4419600"/>
            <a:ext cx="4191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Quantifies Monte-Carlo variation for one frozen model and one hold-out.</a:t>
            </a:r>
          </a:p>
        </p:txBody>
      </p:sp>
      <p:sp>
        <p:nvSpPr>
          <p:cNvPr id="21" name="">
            <a:extLst xmlns:a="http://schemas.openxmlformats.org/drawingml/2006/main">
              <a:ext uri="{FF2B5EF4-FFF2-40B4-BE49-F238E27FC236}">
                <a16:creationId xmlns:a16="http://schemas.microsoft.com/office/drawing/2014/main" id="{4DD66416-34C6-4F6B-82E0-E7FE73212FE2}"/>
              </a:ext>
            </a:extLst>
          </p:cNvPr>
          <p:cNvSpPr>
            <a:spLocks xmlns:a="http://schemas.openxmlformats.org/drawingml/2006/main" noGrp="1"/>
          </p:cNvSpPr>
          <p:nvPr/>
        </p:nvSpPr>
        <p:spPr>
          <a:xfrm xmlns:a="http://schemas.openxmlformats.org/drawingml/2006/main">
            <a:off x="6248400" y="3581400"/>
            <a:ext cx="5219700" cy="1885950"/>
          </a:xfrm>
          <a:prstGeom xmlns:a="http://schemas.openxmlformats.org/drawingml/2006/main" prst="roundRect">
            <a:avLst>
              <a:gd name="adj" fmla="val 6061"/>
            </a:avLst>
          </a:prstGeom>
          <a:solidFill xmlns:a="http://schemas.openxmlformats.org/drawingml/2006/main">
            <a:srgbClr val="F8FAFC"/>
          </a:solidFill>
          <a:ln xmlns:a="http://schemas.openxmlformats.org/drawingml/2006/main" w="9525">
            <a:solidFill>
              <a:srgbClr val="D0D5DD"/>
            </a:solidFill>
            <a:prstDash val="solid"/>
          </a:ln>
        </p:spPr>
      </p:sp>
      <p:sp>
        <p:nvSpPr>
          <p:cNvPr id="22" name="">
            <a:extLst xmlns:a="http://schemas.openxmlformats.org/drawingml/2006/main">
              <a:ext uri="{FF2B5EF4-FFF2-40B4-BE49-F238E27FC236}">
                <a16:creationId xmlns:a16="http://schemas.microsoft.com/office/drawing/2014/main" id="{460CA80C-2ACC-49C7-A0AC-738FC0EED1FE}"/>
              </a:ext>
            </a:extLst>
          </p:cNvPr>
          <p:cNvSpPr>
            <a:spLocks xmlns:a="http://schemas.openxmlformats.org/drawingml/2006/main" noGrp="1"/>
          </p:cNvSpPr>
          <p:nvPr/>
        </p:nvSpPr>
        <p:spPr>
          <a:xfrm xmlns:a="http://schemas.openxmlformats.org/drawingml/2006/main">
            <a:off x="6477000" y="3810000"/>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23" name="">
            <a:extLst xmlns:a="http://schemas.openxmlformats.org/drawingml/2006/main">
              <a:ext uri="{FF2B5EF4-FFF2-40B4-BE49-F238E27FC236}">
                <a16:creationId xmlns:a16="http://schemas.microsoft.com/office/drawing/2014/main" id="{0E503107-9941-41A2-8DF0-D171F9A8FE3B}"/>
              </a:ext>
            </a:extLst>
          </p:cNvPr>
          <p:cNvSpPr>
            <a:spLocks xmlns:a="http://schemas.openxmlformats.org/drawingml/2006/main" noGrp="1"/>
          </p:cNvSpPr>
          <p:nvPr/>
        </p:nvSpPr>
        <p:spPr>
          <a:xfrm xmlns:a="http://schemas.openxmlformats.org/drawingml/2006/main">
            <a:off x="6477000" y="38576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4</a:t>
            </a:r>
          </a:p>
        </p:txBody>
      </p:sp>
      <p:sp>
        <p:nvSpPr>
          <p:cNvPr id="24" name="">
            <a:extLst xmlns:a="http://schemas.openxmlformats.org/drawingml/2006/main">
              <a:ext uri="{FF2B5EF4-FFF2-40B4-BE49-F238E27FC236}">
                <a16:creationId xmlns:a16="http://schemas.microsoft.com/office/drawing/2014/main" id="{35C81E02-4CCC-41D1-95BA-47F620D2D3BB}"/>
              </a:ext>
            </a:extLst>
          </p:cNvPr>
          <p:cNvSpPr>
            <a:spLocks xmlns:a="http://schemas.openxmlformats.org/drawingml/2006/main" noGrp="1"/>
          </p:cNvSpPr>
          <p:nvPr/>
        </p:nvSpPr>
        <p:spPr>
          <a:xfrm xmlns:a="http://schemas.openxmlformats.org/drawingml/2006/main">
            <a:off x="7048500" y="3771900"/>
            <a:ext cx="4191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i="0">
                <a:solidFill>
                  <a:srgbClr val="0B1220"/>
                </a:solidFill>
                <a:latin typeface="Aptos"/>
                <a:ea typeface="Aptos"/>
                <a:cs typeface="Aptos"/>
              </a:defRPr>
            </a:pPr>
            <a:r>
              <a:rPr sz="1875" b="1" i="0">
                <a:solidFill>
                  <a:srgbClr val="0B1220"/>
                </a:solidFill>
                <a:latin typeface="Aptos"/>
                <a:ea typeface="Aptos"/>
                <a:cs typeface="Aptos"/>
              </a:rPr>
              <a:t>Matched scenario seeds</a:t>
            </a:r>
          </a:p>
        </p:txBody>
      </p:sp>
      <p:sp>
        <p:nvSpPr>
          <p:cNvPr id="25" name="">
            <a:extLst xmlns:a="http://schemas.openxmlformats.org/drawingml/2006/main">
              <a:ext uri="{FF2B5EF4-FFF2-40B4-BE49-F238E27FC236}">
                <a16:creationId xmlns:a16="http://schemas.microsoft.com/office/drawing/2014/main" id="{15F42F39-C767-41EF-9B97-EDC1B64F0BEC}"/>
              </a:ext>
            </a:extLst>
          </p:cNvPr>
          <p:cNvSpPr>
            <a:spLocks xmlns:a="http://schemas.openxmlformats.org/drawingml/2006/main" noGrp="1"/>
          </p:cNvSpPr>
          <p:nvPr/>
        </p:nvSpPr>
        <p:spPr>
          <a:xfrm xmlns:a="http://schemas.openxmlformats.org/drawingml/2006/main">
            <a:off x="7048500" y="4419600"/>
            <a:ext cx="4191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Reduces noise in scenario-minus-baseline changes.</a:t>
            </a:r>
          </a:p>
        </p:txBody>
      </p:sp>
      <p:sp>
        <p:nvSpPr>
          <p:cNvPr id="26" name="">
            <a:extLst xmlns:a="http://schemas.openxmlformats.org/drawingml/2006/main">
              <a:ext uri="{FF2B5EF4-FFF2-40B4-BE49-F238E27FC236}">
                <a16:creationId xmlns:a16="http://schemas.microsoft.com/office/drawing/2014/main" id="{52DAEE77-35C6-4C77-9511-23C96A817A5B}"/>
              </a:ext>
            </a:extLst>
          </p:cNvPr>
          <p:cNvSpPr>
            <a:spLocks xmlns:a="http://schemas.openxmlformats.org/drawingml/2006/main" noGrp="1"/>
          </p:cNvSpPr>
          <p:nvPr/>
        </p:nvSpPr>
        <p:spPr>
          <a:xfrm xmlns:a="http://schemas.openxmlformats.org/drawingml/2006/main">
            <a:off x="2257425" y="5943600"/>
            <a:ext cx="7677150" cy="381000"/>
          </a:xfrm>
          <a:prstGeom xmlns:a="http://schemas.openxmlformats.org/drawingml/2006/main" prst="roundRect">
            <a:avLst>
              <a:gd name="adj" fmla="val 30000"/>
            </a:avLst>
          </a:prstGeom>
          <a:solidFill xmlns:a="http://schemas.openxmlformats.org/drawingml/2006/main">
            <a:srgbClr val="F8FAF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0D6B80A-46A5-4676-B198-CF64ED03ACA8}"/>
              </a:ext>
            </a:extLst>
          </p:cNvPr>
          <p:cNvSpPr>
            <a:spLocks xmlns:a="http://schemas.openxmlformats.org/drawingml/2006/main" noGrp="1"/>
          </p:cNvSpPr>
          <p:nvPr/>
        </p:nvSpPr>
        <p:spPr>
          <a:xfrm xmlns:a="http://schemas.openxmlformats.org/drawingml/2006/main">
            <a:off x="2400300" y="6019800"/>
            <a:ext cx="73914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i="0">
                <a:solidFill>
                  <a:srgbClr val="C8102E"/>
                </a:solidFill>
                <a:latin typeface="Aptos"/>
                <a:ea typeface="Aptos"/>
                <a:cs typeface="Aptos"/>
              </a:defRPr>
            </a:pPr>
            <a:r>
              <a:rPr sz="1500" b="1" i="0">
                <a:solidFill>
                  <a:srgbClr val="C8102E"/>
                </a:solidFill>
                <a:latin typeface="Aptos"/>
                <a:ea typeface="Aptos"/>
                <a:cs typeface="Aptos"/>
              </a:rPr>
              <a:t>The confidence intervals do not include discovery, period or structural uncertainty.</a:t>
            </a:r>
          </a:p>
        </p:txBody>
      </p:sp>
    </p:spTree>
    <p:extLst>
      <p:ext uri="{BB962C8B-B14F-4D97-AF65-F5344CB8AC3E}">
        <p14:creationId xmlns:p14="http://schemas.microsoft.com/office/powerpoint/2010/main" val="434653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ACAEE40-A2D6-4EB4-88F1-A97F42AF8E80}"/>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AE5A22A3-5B76-481F-9C01-EEE93AA81275}"/>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How to interpret the validation metrics</a:t>
            </a:r>
          </a:p>
        </p:txBody>
      </p:sp>
      <p:sp>
        <p:nvSpPr>
          <p:cNvPr id="3" name="">
            <a:extLst xmlns:a="http://schemas.openxmlformats.org/drawingml/2006/main">
              <a:ext uri="{FF2B5EF4-FFF2-40B4-BE49-F238E27FC236}">
                <a16:creationId xmlns:a16="http://schemas.microsoft.com/office/drawing/2014/main" id="{FA1D1CAB-5454-4DE5-8613-2871926C7666}"/>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0B061AD7-A9B4-431D-AB02-73B70DB1ACBC}"/>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9BE26D8A-F251-4634-9724-8DAEB2755F60}"/>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19</a:t>
            </a:r>
          </a:p>
        </p:txBody>
      </p:sp>
      <p:sp>
        <p:nvSpPr>
          <p:cNvPr id="6" name="">
            <a:extLst xmlns:a="http://schemas.openxmlformats.org/drawingml/2006/main">
              <a:ext uri="{FF2B5EF4-FFF2-40B4-BE49-F238E27FC236}">
                <a16:creationId xmlns:a16="http://schemas.microsoft.com/office/drawing/2014/main" id="{3E1A3B9C-7378-4673-8134-A111E7F21AAA}"/>
              </a:ext>
            </a:extLst>
          </p:cNvPr>
          <p:cNvSpPr>
            <a:spLocks xmlns:a="http://schemas.openxmlformats.org/drawingml/2006/main" noGrp="1"/>
          </p:cNvSpPr>
          <p:nvPr/>
        </p:nvSpPr>
        <p:spPr>
          <a:xfrm xmlns:a="http://schemas.openxmlformats.org/drawingml/2006/main">
            <a:off x="571500" y="1200150"/>
            <a:ext cx="11049000" cy="628650"/>
          </a:xfrm>
          <a:prstGeom xmlns:a="http://schemas.openxmlformats.org/drawingml/2006/main" prst="roundRect">
            <a:avLst>
              <a:gd name="adj" fmla="val 18182"/>
            </a:avLst>
          </a:prstGeom>
          <a:solidFill xmlns:a="http://schemas.openxmlformats.org/drawingml/2006/main">
            <a:srgbClr val="F8FAF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97F3B36-41F8-498B-B735-BF151A3E73CF}"/>
              </a:ext>
            </a:extLst>
          </p:cNvPr>
          <p:cNvSpPr>
            <a:spLocks xmlns:a="http://schemas.openxmlformats.org/drawingml/2006/main" noGrp="1"/>
          </p:cNvSpPr>
          <p:nvPr/>
        </p:nvSpPr>
        <p:spPr>
          <a:xfrm xmlns:a="http://schemas.openxmlformats.org/drawingml/2006/main">
            <a:off x="781050" y="1362075"/>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EMD / Wasserstein</a:t>
            </a:r>
          </a:p>
        </p:txBody>
      </p:sp>
      <p:sp>
        <p:nvSpPr>
          <p:cNvPr id="8" name="">
            <a:extLst xmlns:a="http://schemas.openxmlformats.org/drawingml/2006/main">
              <a:ext uri="{FF2B5EF4-FFF2-40B4-BE49-F238E27FC236}">
                <a16:creationId xmlns:a16="http://schemas.microsoft.com/office/drawing/2014/main" id="{C83A052E-4BB7-4467-87FA-6271A5395009}"/>
              </a:ext>
            </a:extLst>
          </p:cNvPr>
          <p:cNvSpPr>
            <a:spLocks xmlns:a="http://schemas.openxmlformats.org/drawingml/2006/main" noGrp="1"/>
          </p:cNvSpPr>
          <p:nvPr/>
        </p:nvSpPr>
        <p:spPr>
          <a:xfrm xmlns:a="http://schemas.openxmlformats.org/drawingml/2006/main">
            <a:off x="3676650" y="13430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Average distributional shift in the metric’s units; lower is better.</a:t>
            </a:r>
          </a:p>
        </p:txBody>
      </p:sp>
      <p:sp>
        <p:nvSpPr>
          <p:cNvPr id="9" name="">
            <a:extLst xmlns:a="http://schemas.openxmlformats.org/drawingml/2006/main">
              <a:ext uri="{FF2B5EF4-FFF2-40B4-BE49-F238E27FC236}">
                <a16:creationId xmlns:a16="http://schemas.microsoft.com/office/drawing/2014/main" id="{BEAE82D1-4A50-451A-BF71-42EA259E1FB8}"/>
              </a:ext>
            </a:extLst>
          </p:cNvPr>
          <p:cNvSpPr>
            <a:spLocks xmlns:a="http://schemas.openxmlformats.org/drawingml/2006/main" noGrp="1"/>
          </p:cNvSpPr>
          <p:nvPr/>
        </p:nvSpPr>
        <p:spPr>
          <a:xfrm xmlns:a="http://schemas.openxmlformats.org/drawingml/2006/main">
            <a:off x="571500" y="2000250"/>
            <a:ext cx="11049000" cy="62865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DF7436-DB4C-470D-89A6-A422104E90CA}"/>
              </a:ext>
            </a:extLst>
          </p:cNvPr>
          <p:cNvSpPr>
            <a:spLocks xmlns:a="http://schemas.openxmlformats.org/drawingml/2006/main" noGrp="1"/>
          </p:cNvSpPr>
          <p:nvPr/>
        </p:nvSpPr>
        <p:spPr>
          <a:xfrm xmlns:a="http://schemas.openxmlformats.org/drawingml/2006/main">
            <a:off x="781050" y="2162175"/>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KS statistic</a:t>
            </a:r>
          </a:p>
        </p:txBody>
      </p:sp>
      <p:sp>
        <p:nvSpPr>
          <p:cNvPr id="11" name="">
            <a:extLst xmlns:a="http://schemas.openxmlformats.org/drawingml/2006/main">
              <a:ext uri="{FF2B5EF4-FFF2-40B4-BE49-F238E27FC236}">
                <a16:creationId xmlns:a16="http://schemas.microsoft.com/office/drawing/2014/main" id="{B005E610-5066-430F-BB5E-CD8CB575BCB1}"/>
              </a:ext>
            </a:extLst>
          </p:cNvPr>
          <p:cNvSpPr>
            <a:spLocks xmlns:a="http://schemas.openxmlformats.org/drawingml/2006/main" noGrp="1"/>
          </p:cNvSpPr>
          <p:nvPr/>
        </p:nvSpPr>
        <p:spPr>
          <a:xfrm xmlns:a="http://schemas.openxmlformats.org/drawingml/2006/main">
            <a:off x="3676650" y="21431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Maximum CDF separation; lower is better, but it has no time unit.</a:t>
            </a:r>
          </a:p>
        </p:txBody>
      </p:sp>
      <p:sp>
        <p:nvSpPr>
          <p:cNvPr id="12" name="">
            <a:extLst xmlns:a="http://schemas.openxmlformats.org/drawingml/2006/main">
              <a:ext uri="{FF2B5EF4-FFF2-40B4-BE49-F238E27FC236}">
                <a16:creationId xmlns:a16="http://schemas.microsoft.com/office/drawing/2014/main" id="{475AE948-E83E-46A2-89CD-BD017B990770}"/>
              </a:ext>
            </a:extLst>
          </p:cNvPr>
          <p:cNvSpPr>
            <a:spLocks xmlns:a="http://schemas.openxmlformats.org/drawingml/2006/main" noGrp="1"/>
          </p:cNvSpPr>
          <p:nvPr/>
        </p:nvSpPr>
        <p:spPr>
          <a:xfrm xmlns:a="http://schemas.openxmlformats.org/drawingml/2006/main">
            <a:off x="571500" y="2800350"/>
            <a:ext cx="11049000" cy="628650"/>
          </a:xfrm>
          <a:prstGeom xmlns:a="http://schemas.openxmlformats.org/drawingml/2006/main" prst="roundRect">
            <a:avLst>
              <a:gd name="adj" fmla="val 18182"/>
            </a:avLst>
          </a:prstGeom>
          <a:solidFill xmlns:a="http://schemas.openxmlformats.org/drawingml/2006/main">
            <a:srgbClr val="F8FAF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385E192-8723-41E6-A796-751500606FC8}"/>
              </a:ext>
            </a:extLst>
          </p:cNvPr>
          <p:cNvSpPr>
            <a:spLocks xmlns:a="http://schemas.openxmlformats.org/drawingml/2006/main" noGrp="1"/>
          </p:cNvSpPr>
          <p:nvPr/>
        </p:nvSpPr>
        <p:spPr>
          <a:xfrm xmlns:a="http://schemas.openxmlformats.org/drawingml/2006/main">
            <a:off x="781050" y="2962275"/>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Fitness</a:t>
            </a:r>
          </a:p>
        </p:txBody>
      </p:sp>
      <p:sp>
        <p:nvSpPr>
          <p:cNvPr id="14" name="">
            <a:extLst xmlns:a="http://schemas.openxmlformats.org/drawingml/2006/main">
              <a:ext uri="{FF2B5EF4-FFF2-40B4-BE49-F238E27FC236}">
                <a16:creationId xmlns:a16="http://schemas.microsoft.com/office/drawing/2014/main" id="{023E6063-20A4-46D0-9E29-8ECDC8439AAF}"/>
              </a:ext>
            </a:extLst>
          </p:cNvPr>
          <p:cNvSpPr>
            <a:spLocks xmlns:a="http://schemas.openxmlformats.org/drawingml/2006/main" noGrp="1"/>
          </p:cNvSpPr>
          <p:nvPr/>
        </p:nvSpPr>
        <p:spPr>
          <a:xfrm xmlns:a="http://schemas.openxmlformats.org/drawingml/2006/main">
            <a:off x="3676650" y="29432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Can the model replay observed traces? High fitness does not imply precise timing.</a:t>
            </a:r>
          </a:p>
        </p:txBody>
      </p:sp>
      <p:sp>
        <p:nvSpPr>
          <p:cNvPr id="15" name="">
            <a:extLst xmlns:a="http://schemas.openxmlformats.org/drawingml/2006/main">
              <a:ext uri="{FF2B5EF4-FFF2-40B4-BE49-F238E27FC236}">
                <a16:creationId xmlns:a16="http://schemas.microsoft.com/office/drawing/2014/main" id="{CF97C841-A894-4A50-ACF1-F3C3D01277CE}"/>
              </a:ext>
            </a:extLst>
          </p:cNvPr>
          <p:cNvSpPr>
            <a:spLocks xmlns:a="http://schemas.openxmlformats.org/drawingml/2006/main" noGrp="1"/>
          </p:cNvSpPr>
          <p:nvPr/>
        </p:nvSpPr>
        <p:spPr>
          <a:xfrm xmlns:a="http://schemas.openxmlformats.org/drawingml/2006/main">
            <a:off x="571500" y="3600450"/>
            <a:ext cx="11049000" cy="62865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B43874F-FB9F-41A5-930B-AF6691C39A65}"/>
              </a:ext>
            </a:extLst>
          </p:cNvPr>
          <p:cNvSpPr>
            <a:spLocks xmlns:a="http://schemas.openxmlformats.org/drawingml/2006/main" noGrp="1"/>
          </p:cNvSpPr>
          <p:nvPr/>
        </p:nvSpPr>
        <p:spPr>
          <a:xfrm xmlns:a="http://schemas.openxmlformats.org/drawingml/2006/main">
            <a:off x="781050" y="3762375"/>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Precision</a:t>
            </a:r>
          </a:p>
        </p:txBody>
      </p:sp>
      <p:sp>
        <p:nvSpPr>
          <p:cNvPr id="17" name="">
            <a:extLst xmlns:a="http://schemas.openxmlformats.org/drawingml/2006/main">
              <a:ext uri="{FF2B5EF4-FFF2-40B4-BE49-F238E27FC236}">
                <a16:creationId xmlns:a16="http://schemas.microsoft.com/office/drawing/2014/main" id="{4E1495D8-EBE6-419E-BC87-55CD5E1716FE}"/>
              </a:ext>
            </a:extLst>
          </p:cNvPr>
          <p:cNvSpPr>
            <a:spLocks xmlns:a="http://schemas.openxmlformats.org/drawingml/2006/main" noGrp="1"/>
          </p:cNvSpPr>
          <p:nvPr/>
        </p:nvSpPr>
        <p:spPr>
          <a:xfrm xmlns:a="http://schemas.openxmlformats.org/drawingml/2006/main">
            <a:off x="3676650" y="37433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How much extra behaviour does the model allow? Lower precision can reflect deliberate generalisation.</a:t>
            </a:r>
          </a:p>
        </p:txBody>
      </p:sp>
      <p:sp>
        <p:nvSpPr>
          <p:cNvPr id="18" name="">
            <a:extLst xmlns:a="http://schemas.openxmlformats.org/drawingml/2006/main">
              <a:ext uri="{FF2B5EF4-FFF2-40B4-BE49-F238E27FC236}">
                <a16:creationId xmlns:a16="http://schemas.microsoft.com/office/drawing/2014/main" id="{76190D99-C914-49F8-B939-3EB76B4E8885}"/>
              </a:ext>
            </a:extLst>
          </p:cNvPr>
          <p:cNvSpPr>
            <a:spLocks xmlns:a="http://schemas.openxmlformats.org/drawingml/2006/main" noGrp="1"/>
          </p:cNvSpPr>
          <p:nvPr/>
        </p:nvSpPr>
        <p:spPr>
          <a:xfrm xmlns:a="http://schemas.openxmlformats.org/drawingml/2006/main">
            <a:off x="571500" y="4400550"/>
            <a:ext cx="11049000" cy="628650"/>
          </a:xfrm>
          <a:prstGeom xmlns:a="http://schemas.openxmlformats.org/drawingml/2006/main" prst="roundRect">
            <a:avLst>
              <a:gd name="adj" fmla="val 18182"/>
            </a:avLst>
          </a:prstGeom>
          <a:solidFill xmlns:a="http://schemas.openxmlformats.org/drawingml/2006/main">
            <a:srgbClr val="F8FAFC"/>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010939-B950-4221-AA8C-ADC0A5120805}"/>
              </a:ext>
            </a:extLst>
          </p:cNvPr>
          <p:cNvSpPr>
            <a:spLocks xmlns:a="http://schemas.openxmlformats.org/drawingml/2006/main" noGrp="1"/>
          </p:cNvSpPr>
          <p:nvPr/>
        </p:nvSpPr>
        <p:spPr>
          <a:xfrm xmlns:a="http://schemas.openxmlformats.org/drawingml/2006/main">
            <a:off x="781050" y="4562475"/>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Generalisation</a:t>
            </a:r>
          </a:p>
        </p:txBody>
      </p:sp>
      <p:sp>
        <p:nvSpPr>
          <p:cNvPr id="20" name="">
            <a:extLst xmlns:a="http://schemas.openxmlformats.org/drawingml/2006/main">
              <a:ext uri="{FF2B5EF4-FFF2-40B4-BE49-F238E27FC236}">
                <a16:creationId xmlns:a16="http://schemas.microsoft.com/office/drawing/2014/main" id="{CE142809-5387-4035-9DC4-1733508BCE3B}"/>
              </a:ext>
            </a:extLst>
          </p:cNvPr>
          <p:cNvSpPr>
            <a:spLocks xmlns:a="http://schemas.openxmlformats.org/drawingml/2006/main" noGrp="1"/>
          </p:cNvSpPr>
          <p:nvPr/>
        </p:nvSpPr>
        <p:spPr>
          <a:xfrm xmlns:a="http://schemas.openxmlformats.org/drawingml/2006/main">
            <a:off x="3676650" y="45434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Does the model support plausible unseen combinations rather than memorising variants?</a:t>
            </a:r>
          </a:p>
        </p:txBody>
      </p:sp>
      <p:sp>
        <p:nvSpPr>
          <p:cNvPr id="21" name="">
            <a:extLst xmlns:a="http://schemas.openxmlformats.org/drawingml/2006/main">
              <a:ext uri="{FF2B5EF4-FFF2-40B4-BE49-F238E27FC236}">
                <a16:creationId xmlns:a16="http://schemas.microsoft.com/office/drawing/2014/main" id="{9E00C05D-CDF4-4D9E-A770-80E51F6B5E2C}"/>
              </a:ext>
            </a:extLst>
          </p:cNvPr>
          <p:cNvSpPr>
            <a:spLocks xmlns:a="http://schemas.openxmlformats.org/drawingml/2006/main" noGrp="1"/>
          </p:cNvSpPr>
          <p:nvPr/>
        </p:nvSpPr>
        <p:spPr>
          <a:xfrm xmlns:a="http://schemas.openxmlformats.org/drawingml/2006/main">
            <a:off x="571500" y="5200650"/>
            <a:ext cx="11049000" cy="62865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F53B21E-20B7-4737-96B9-EBC8B86AF6D3}"/>
              </a:ext>
            </a:extLst>
          </p:cNvPr>
          <p:cNvSpPr>
            <a:spLocks xmlns:a="http://schemas.openxmlformats.org/drawingml/2006/main" noGrp="1"/>
          </p:cNvSpPr>
          <p:nvPr/>
        </p:nvSpPr>
        <p:spPr>
          <a:xfrm xmlns:a="http://schemas.openxmlformats.org/drawingml/2006/main">
            <a:off x="781050" y="5362575"/>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Activity-rate L1</a:t>
            </a:r>
          </a:p>
        </p:txBody>
      </p:sp>
      <p:sp>
        <p:nvSpPr>
          <p:cNvPr id="23" name="">
            <a:extLst xmlns:a="http://schemas.openxmlformats.org/drawingml/2006/main">
              <a:ext uri="{FF2B5EF4-FFF2-40B4-BE49-F238E27FC236}">
                <a16:creationId xmlns:a16="http://schemas.microsoft.com/office/drawing/2014/main" id="{E688328A-1A57-4721-9E96-7B53BCA8FCB6}"/>
              </a:ext>
            </a:extLst>
          </p:cNvPr>
          <p:cNvSpPr>
            <a:spLocks xmlns:a="http://schemas.openxmlformats.org/drawingml/2006/main" noGrp="1"/>
          </p:cNvSpPr>
          <p:nvPr/>
        </p:nvSpPr>
        <p:spPr>
          <a:xfrm xmlns:a="http://schemas.openxmlformats.org/drawingml/2006/main">
            <a:off x="3676650" y="53435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Absolute mismatch in yard-activity incidence per case; lower is better.</a:t>
            </a:r>
          </a:p>
        </p:txBody>
      </p:sp>
    </p:spTree>
    <p:extLst>
      <p:ext uri="{BB962C8B-B14F-4D97-AF65-F5344CB8AC3E}">
        <p14:creationId xmlns:p14="http://schemas.microsoft.com/office/powerpoint/2010/main" val="19292506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17C2C77-4053-4444-BCE6-81B2CC1D7080}"/>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C41BFBBA-B4B4-42A6-AC3C-A0AAD00EA68E}"/>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Control-flow evidence: fitness is not the whole argument</a:t>
            </a:r>
          </a:p>
        </p:txBody>
      </p:sp>
      <p:sp>
        <p:nvSpPr>
          <p:cNvPr id="3" name="">
            <a:extLst xmlns:a="http://schemas.openxmlformats.org/drawingml/2006/main">
              <a:ext uri="{FF2B5EF4-FFF2-40B4-BE49-F238E27FC236}">
                <a16:creationId xmlns:a16="http://schemas.microsoft.com/office/drawing/2014/main" id="{A991A801-2EA3-4F40-B0DF-76BA59DEDAF4}"/>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A23F0C6E-8A5C-4013-947B-D97E7A15CEA4}"/>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58C46CEF-C5ED-472E-8E31-07B8AB420F17}"/>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20</a:t>
            </a:r>
          </a:p>
        </p:txBody>
      </p:sp>
      <p:sp>
        <p:nvSpPr>
          <p:cNvPr id="6" name="">
            <a:extLst xmlns:a="http://schemas.openxmlformats.org/drawingml/2006/main">
              <a:ext uri="{FF2B5EF4-FFF2-40B4-BE49-F238E27FC236}">
                <a16:creationId xmlns:a16="http://schemas.microsoft.com/office/drawing/2014/main" id="{202DD7C0-A9B6-4502-9B2F-4DA9746A0CDD}"/>
              </a:ext>
            </a:extLst>
          </p:cNvPr>
          <p:cNvSpPr>
            <a:spLocks xmlns:a="http://schemas.openxmlformats.org/drawingml/2006/main" noGrp="1"/>
          </p:cNvSpPr>
          <p:nvPr/>
        </p:nvSpPr>
        <p:spPr>
          <a:xfrm xmlns:a="http://schemas.openxmlformats.org/drawingml/2006/main">
            <a:off x="590550" y="1304925"/>
            <a:ext cx="3352800" cy="1743075"/>
          </a:xfrm>
          <a:prstGeom xmlns:a="http://schemas.openxmlformats.org/drawingml/2006/main" prst="roundRect">
            <a:avLst>
              <a:gd name="adj" fmla="val 6557"/>
            </a:avLst>
          </a:prstGeom>
          <a:solidFill xmlns:a="http://schemas.openxmlformats.org/drawingml/2006/main">
            <a:srgbClr val="EAF8F3"/>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555788EC-6E77-447A-BFE7-34B25FB31041}"/>
              </a:ext>
            </a:extLst>
          </p:cNvPr>
          <p:cNvSpPr>
            <a:spLocks xmlns:a="http://schemas.openxmlformats.org/drawingml/2006/main" noGrp="1"/>
          </p:cNvSpPr>
          <p:nvPr/>
        </p:nvSpPr>
        <p:spPr>
          <a:xfrm xmlns:a="http://schemas.openxmlformats.org/drawingml/2006/main">
            <a:off x="590550" y="1304925"/>
            <a:ext cx="66675" cy="1743075"/>
          </a:xfrm>
          <a:prstGeom xmlns:a="http://schemas.openxmlformats.org/drawingml/2006/main" prst="rect">
            <a:avLst/>
          </a:prstGeom>
          <a:solidFill xmlns:a="http://schemas.openxmlformats.org/drawingml/2006/main">
            <a:srgbClr val="16876A"/>
          </a:solidFill>
          <a:ln xmlns:a="http://schemas.openxmlformats.org/drawingml/2006/main" w="0">
            <a:solidFill>
              <a:srgbClr val="16876A"/>
            </a:solidFill>
            <a:prstDash val="solid"/>
          </a:ln>
        </p:spPr>
      </p:sp>
      <p:sp>
        <p:nvSpPr>
          <p:cNvPr id="8" name="">
            <a:extLst xmlns:a="http://schemas.openxmlformats.org/drawingml/2006/main">
              <a:ext uri="{FF2B5EF4-FFF2-40B4-BE49-F238E27FC236}">
                <a16:creationId xmlns:a16="http://schemas.microsoft.com/office/drawing/2014/main" id="{D9F7918F-FC54-433A-B97C-4ADB65D2FE00}"/>
              </a:ext>
            </a:extLst>
          </p:cNvPr>
          <p:cNvSpPr>
            <a:spLocks xmlns:a="http://schemas.openxmlformats.org/drawingml/2006/main" noGrp="1"/>
          </p:cNvSpPr>
          <p:nvPr/>
        </p:nvSpPr>
        <p:spPr>
          <a:xfrm xmlns:a="http://schemas.openxmlformats.org/drawingml/2006/main">
            <a:off x="838200" y="1495425"/>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16876A"/>
                </a:solidFill>
                <a:latin typeface="Aptos"/>
                <a:ea typeface="Aptos"/>
                <a:cs typeface="Aptos"/>
              </a:defRPr>
            </a:pPr>
            <a:r>
              <a:rPr sz="3450" b="1" i="0">
                <a:solidFill>
                  <a:srgbClr val="16876A"/>
                </a:solidFill>
                <a:latin typeface="Aptos"/>
                <a:ea typeface="Aptos"/>
                <a:cs typeface="Aptos"/>
              </a:rPr>
              <a:t>0.999992</a:t>
            </a:r>
          </a:p>
        </p:txBody>
      </p:sp>
      <p:sp>
        <p:nvSpPr>
          <p:cNvPr id="9" name="">
            <a:extLst xmlns:a="http://schemas.openxmlformats.org/drawingml/2006/main">
              <a:ext uri="{FF2B5EF4-FFF2-40B4-BE49-F238E27FC236}">
                <a16:creationId xmlns:a16="http://schemas.microsoft.com/office/drawing/2014/main" id="{63394E62-11E9-4367-B94D-503FC16F8200}"/>
              </a:ext>
            </a:extLst>
          </p:cNvPr>
          <p:cNvSpPr>
            <a:spLocks xmlns:a="http://schemas.openxmlformats.org/drawingml/2006/main" noGrp="1"/>
          </p:cNvSpPr>
          <p:nvPr/>
        </p:nvSpPr>
        <p:spPr>
          <a:xfrm xmlns:a="http://schemas.openxmlformats.org/drawingml/2006/main">
            <a:off x="838200" y="2105025"/>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held-out fitness</a:t>
            </a:r>
          </a:p>
        </p:txBody>
      </p:sp>
      <p:sp>
        <p:nvSpPr>
          <p:cNvPr id="10" name="">
            <a:extLst xmlns:a="http://schemas.openxmlformats.org/drawingml/2006/main">
              <a:ext uri="{FF2B5EF4-FFF2-40B4-BE49-F238E27FC236}">
                <a16:creationId xmlns:a16="http://schemas.microsoft.com/office/drawing/2014/main" id="{D50FB42A-7195-4637-B915-AAAB6F7496DA}"/>
              </a:ext>
            </a:extLst>
          </p:cNvPr>
          <p:cNvSpPr>
            <a:spLocks xmlns:a="http://schemas.openxmlformats.org/drawingml/2006/main" noGrp="1"/>
          </p:cNvSpPr>
          <p:nvPr/>
        </p:nvSpPr>
        <p:spPr>
          <a:xfrm xmlns:a="http://schemas.openxmlformats.org/drawingml/2006/main">
            <a:off x="4419600" y="1304925"/>
            <a:ext cx="3352800" cy="1743075"/>
          </a:xfrm>
          <a:prstGeom xmlns:a="http://schemas.openxmlformats.org/drawingml/2006/main" prst="roundRect">
            <a:avLst>
              <a:gd name="adj" fmla="val 6557"/>
            </a:avLst>
          </a:prstGeom>
          <a:solidFill xmlns:a="http://schemas.openxmlformats.org/drawingml/2006/main">
            <a:srgbClr val="FFF4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0297254-8649-491C-849B-784B9B726B71}"/>
              </a:ext>
            </a:extLst>
          </p:cNvPr>
          <p:cNvSpPr>
            <a:spLocks xmlns:a="http://schemas.openxmlformats.org/drawingml/2006/main" noGrp="1"/>
          </p:cNvSpPr>
          <p:nvPr/>
        </p:nvSpPr>
        <p:spPr>
          <a:xfrm xmlns:a="http://schemas.openxmlformats.org/drawingml/2006/main">
            <a:off x="4419600" y="1304925"/>
            <a:ext cx="66675" cy="1743075"/>
          </a:xfrm>
          <a:prstGeom xmlns:a="http://schemas.openxmlformats.org/drawingml/2006/main" prst="rect">
            <a:avLst/>
          </a:prstGeom>
          <a:solidFill xmlns:a="http://schemas.openxmlformats.org/drawingml/2006/main">
            <a:srgbClr val="C98200"/>
          </a:solidFill>
          <a:ln xmlns:a="http://schemas.openxmlformats.org/drawingml/2006/main" w="0">
            <a:solidFill>
              <a:srgbClr val="C98200"/>
            </a:solidFill>
            <a:prstDash val="solid"/>
          </a:ln>
        </p:spPr>
      </p:sp>
      <p:sp>
        <p:nvSpPr>
          <p:cNvPr id="12" name="">
            <a:extLst xmlns:a="http://schemas.openxmlformats.org/drawingml/2006/main">
              <a:ext uri="{FF2B5EF4-FFF2-40B4-BE49-F238E27FC236}">
                <a16:creationId xmlns:a16="http://schemas.microsoft.com/office/drawing/2014/main" id="{B0A6CDDB-D2EA-49A8-88B2-80B75467D053}"/>
              </a:ext>
            </a:extLst>
          </p:cNvPr>
          <p:cNvSpPr>
            <a:spLocks xmlns:a="http://schemas.openxmlformats.org/drawingml/2006/main" noGrp="1"/>
          </p:cNvSpPr>
          <p:nvPr/>
        </p:nvSpPr>
        <p:spPr>
          <a:xfrm xmlns:a="http://schemas.openxmlformats.org/drawingml/2006/main">
            <a:off x="4667250" y="1495425"/>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C98200"/>
                </a:solidFill>
                <a:latin typeface="Aptos"/>
                <a:ea typeface="Aptos"/>
                <a:cs typeface="Aptos"/>
              </a:defRPr>
            </a:pPr>
            <a:r>
              <a:rPr sz="3450" b="1" i="0">
                <a:solidFill>
                  <a:srgbClr val="C98200"/>
                </a:solidFill>
                <a:latin typeface="Aptos"/>
                <a:ea typeface="Aptos"/>
                <a:cs typeface="Aptos"/>
              </a:rPr>
              <a:t>0.7558</a:t>
            </a:r>
          </a:p>
        </p:txBody>
      </p:sp>
      <p:sp>
        <p:nvSpPr>
          <p:cNvPr id="13" name="">
            <a:extLst xmlns:a="http://schemas.openxmlformats.org/drawingml/2006/main">
              <a:ext uri="{FF2B5EF4-FFF2-40B4-BE49-F238E27FC236}">
                <a16:creationId xmlns:a16="http://schemas.microsoft.com/office/drawing/2014/main" id="{4C722A49-2A85-44B9-968E-5BBE64BB91C5}"/>
              </a:ext>
            </a:extLst>
          </p:cNvPr>
          <p:cNvSpPr>
            <a:spLocks xmlns:a="http://schemas.openxmlformats.org/drawingml/2006/main" noGrp="1"/>
          </p:cNvSpPr>
          <p:nvPr/>
        </p:nvSpPr>
        <p:spPr>
          <a:xfrm xmlns:a="http://schemas.openxmlformats.org/drawingml/2006/main">
            <a:off x="4667250" y="2105025"/>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held-out precision</a:t>
            </a:r>
          </a:p>
        </p:txBody>
      </p:sp>
      <p:sp>
        <p:nvSpPr>
          <p:cNvPr id="14" name="">
            <a:extLst xmlns:a="http://schemas.openxmlformats.org/drawingml/2006/main">
              <a:ext uri="{FF2B5EF4-FFF2-40B4-BE49-F238E27FC236}">
                <a16:creationId xmlns:a16="http://schemas.microsoft.com/office/drawing/2014/main" id="{15E38099-D835-431E-8656-2198D2100910}"/>
              </a:ext>
            </a:extLst>
          </p:cNvPr>
          <p:cNvSpPr>
            <a:spLocks xmlns:a="http://schemas.openxmlformats.org/drawingml/2006/main" noGrp="1"/>
          </p:cNvSpPr>
          <p:nvPr/>
        </p:nvSpPr>
        <p:spPr>
          <a:xfrm xmlns:a="http://schemas.openxmlformats.org/drawingml/2006/main">
            <a:off x="8248650" y="1304925"/>
            <a:ext cx="3352800" cy="1743075"/>
          </a:xfrm>
          <a:prstGeom xmlns:a="http://schemas.openxmlformats.org/drawingml/2006/main" prst="roundRect">
            <a:avLst>
              <a:gd name="adj" fmla="val 6557"/>
            </a:avLst>
          </a:prstGeom>
          <a:solidFill xmlns:a="http://schemas.openxmlformats.org/drawingml/2006/main">
            <a:srgbClr val="EAF3F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83EC92F-2183-4A83-AE03-00D6BAEB0DBE}"/>
              </a:ext>
            </a:extLst>
          </p:cNvPr>
          <p:cNvSpPr>
            <a:spLocks xmlns:a="http://schemas.openxmlformats.org/drawingml/2006/main" noGrp="1"/>
          </p:cNvSpPr>
          <p:nvPr/>
        </p:nvSpPr>
        <p:spPr>
          <a:xfrm xmlns:a="http://schemas.openxmlformats.org/drawingml/2006/main">
            <a:off x="8248650" y="1304925"/>
            <a:ext cx="66675" cy="1743075"/>
          </a:xfrm>
          <a:prstGeom xmlns:a="http://schemas.openxmlformats.org/drawingml/2006/main" prst="rect">
            <a:avLst/>
          </a:prstGeom>
          <a:solidFill xmlns:a="http://schemas.openxmlformats.org/drawingml/2006/main">
            <a:srgbClr val="2F80ED"/>
          </a:solidFill>
          <a:ln xmlns:a="http://schemas.openxmlformats.org/drawingml/2006/main" w="0">
            <a:solidFill>
              <a:srgbClr val="2F80ED"/>
            </a:solidFill>
            <a:prstDash val="solid"/>
          </a:ln>
        </p:spPr>
      </p:sp>
      <p:sp>
        <p:nvSpPr>
          <p:cNvPr id="16" name="">
            <a:extLst xmlns:a="http://schemas.openxmlformats.org/drawingml/2006/main">
              <a:ext uri="{FF2B5EF4-FFF2-40B4-BE49-F238E27FC236}">
                <a16:creationId xmlns:a16="http://schemas.microsoft.com/office/drawing/2014/main" id="{B255F9D2-A9E0-46B6-A0C2-12D7536C83F3}"/>
              </a:ext>
            </a:extLst>
          </p:cNvPr>
          <p:cNvSpPr>
            <a:spLocks xmlns:a="http://schemas.openxmlformats.org/drawingml/2006/main" noGrp="1"/>
          </p:cNvSpPr>
          <p:nvPr/>
        </p:nvSpPr>
        <p:spPr>
          <a:xfrm xmlns:a="http://schemas.openxmlformats.org/drawingml/2006/main">
            <a:off x="8496300" y="1495425"/>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450" b="1" i="0">
                <a:solidFill>
                  <a:srgbClr val="2F80ED"/>
                </a:solidFill>
                <a:latin typeface="Aptos"/>
                <a:ea typeface="Aptos"/>
                <a:cs typeface="Aptos"/>
              </a:defRPr>
            </a:pPr>
            <a:r>
              <a:rPr sz="3450" b="1" i="0">
                <a:solidFill>
                  <a:srgbClr val="2F80ED"/>
                </a:solidFill>
                <a:latin typeface="Aptos"/>
                <a:ea typeface="Aptos"/>
                <a:cs typeface="Aptos"/>
              </a:rPr>
              <a:t>0.9413</a:t>
            </a:r>
          </a:p>
        </p:txBody>
      </p:sp>
      <p:sp>
        <p:nvSpPr>
          <p:cNvPr id="17" name="">
            <a:extLst xmlns:a="http://schemas.openxmlformats.org/drawingml/2006/main">
              <a:ext uri="{FF2B5EF4-FFF2-40B4-BE49-F238E27FC236}">
                <a16:creationId xmlns:a16="http://schemas.microsoft.com/office/drawing/2014/main" id="{4E6C27EC-D436-4462-A4C5-6BB61B5A0921}"/>
              </a:ext>
            </a:extLst>
          </p:cNvPr>
          <p:cNvSpPr>
            <a:spLocks xmlns:a="http://schemas.openxmlformats.org/drawingml/2006/main" noGrp="1"/>
          </p:cNvSpPr>
          <p:nvPr/>
        </p:nvSpPr>
        <p:spPr>
          <a:xfrm xmlns:a="http://schemas.openxmlformats.org/drawingml/2006/main">
            <a:off x="8496300" y="2105025"/>
            <a:ext cx="285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i="0">
                <a:solidFill>
                  <a:srgbClr val="0B1220"/>
                </a:solidFill>
                <a:latin typeface="Aptos"/>
                <a:ea typeface="Aptos"/>
                <a:cs typeface="Aptos"/>
              </a:defRPr>
            </a:pPr>
            <a:r>
              <a:rPr sz="1800" b="1" i="0">
                <a:solidFill>
                  <a:srgbClr val="0B1220"/>
                </a:solidFill>
                <a:latin typeface="Aptos"/>
                <a:ea typeface="Aptos"/>
                <a:cs typeface="Aptos"/>
              </a:rPr>
              <a:t>held-out generalisation</a:t>
            </a:r>
          </a:p>
        </p:txBody>
      </p:sp>
      <p:sp>
        <p:nvSpPr>
          <p:cNvPr id="18" name="">
            <a:extLst xmlns:a="http://schemas.openxmlformats.org/drawingml/2006/main">
              <a:ext uri="{FF2B5EF4-FFF2-40B4-BE49-F238E27FC236}">
                <a16:creationId xmlns:a16="http://schemas.microsoft.com/office/drawing/2014/main" id="{F0C712E3-826B-47E3-9198-3C9F717DB17D}"/>
              </a:ext>
            </a:extLst>
          </p:cNvPr>
          <p:cNvSpPr>
            <a:spLocks xmlns:a="http://schemas.openxmlformats.org/drawingml/2006/main" noGrp="1"/>
          </p:cNvSpPr>
          <p:nvPr/>
        </p:nvSpPr>
        <p:spPr>
          <a:xfrm xmlns:a="http://schemas.openxmlformats.org/drawingml/2006/main">
            <a:off x="590550" y="3429000"/>
            <a:ext cx="52197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D0D5DD"/>
            </a:solidFill>
            <a:prstDash val="solid"/>
          </a:ln>
        </p:spPr>
      </p:sp>
      <p:sp>
        <p:nvSpPr>
          <p:cNvPr id="19" name="">
            <a:extLst xmlns:a="http://schemas.openxmlformats.org/drawingml/2006/main">
              <a:ext uri="{FF2B5EF4-FFF2-40B4-BE49-F238E27FC236}">
                <a16:creationId xmlns:a16="http://schemas.microsoft.com/office/drawing/2014/main" id="{053B136B-9631-4712-AA56-ED7FE3001ED1}"/>
              </a:ext>
            </a:extLst>
          </p:cNvPr>
          <p:cNvSpPr>
            <a:spLocks xmlns:a="http://schemas.openxmlformats.org/drawingml/2006/main" noGrp="1"/>
          </p:cNvSpPr>
          <p:nvPr/>
        </p:nvSpPr>
        <p:spPr>
          <a:xfrm xmlns:a="http://schemas.openxmlformats.org/drawingml/2006/main">
            <a:off x="857250" y="3695700"/>
            <a:ext cx="4667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i="0">
                <a:solidFill>
                  <a:srgbClr val="0B1220"/>
                </a:solidFill>
                <a:latin typeface="Aptos"/>
                <a:ea typeface="Aptos"/>
                <a:cs typeface="Aptos"/>
              </a:defRPr>
            </a:pPr>
            <a:r>
              <a:rPr sz="1950" b="1" i="0">
                <a:solidFill>
                  <a:srgbClr val="0B1220"/>
                </a:solidFill>
                <a:latin typeface="Aptos"/>
                <a:ea typeface="Aptos"/>
                <a:cs typeface="Aptos"/>
              </a:rPr>
              <a:t>Why lower precision is acceptable here</a:t>
            </a:r>
          </a:p>
        </p:txBody>
      </p:sp>
      <p:sp>
        <p:nvSpPr>
          <p:cNvPr id="20" name="">
            <a:extLst xmlns:a="http://schemas.openxmlformats.org/drawingml/2006/main">
              <a:ext uri="{FF2B5EF4-FFF2-40B4-BE49-F238E27FC236}">
                <a16:creationId xmlns:a16="http://schemas.microsoft.com/office/drawing/2014/main" id="{DA090644-33E3-425C-90A7-F920FBBA85DB}"/>
              </a:ext>
            </a:extLst>
          </p:cNvPr>
          <p:cNvSpPr>
            <a:spLocks xmlns:a="http://schemas.openxmlformats.org/drawingml/2006/main" noGrp="1"/>
          </p:cNvSpPr>
          <p:nvPr/>
        </p:nvSpPr>
        <p:spPr>
          <a:xfrm xmlns:a="http://schemas.openxmlformats.org/drawingml/2006/main">
            <a:off x="857250" y="4295775"/>
            <a:ext cx="45720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i="0">
                <a:solidFill>
                  <a:srgbClr val="5F6B7A"/>
                </a:solidFill>
                <a:latin typeface="Aptos"/>
                <a:ea typeface="Aptos"/>
                <a:cs typeface="Aptos"/>
              </a:defRPr>
            </a:pPr>
            <a:r>
              <a:rPr sz="1650" b="0" i="0">
                <a:solidFill>
                  <a:srgbClr val="5F6B7A"/>
                </a:solidFill>
                <a:latin typeface="Aptos"/>
                <a:ea typeface="Aptos"/>
                <a:cs typeface="Aptos"/>
              </a:rPr>
              <a:t>The yard loop permits unseen sequential combinations and repetitions. The domain forbids concurrency—not every unseen order.</a:t>
            </a:r>
          </a:p>
        </p:txBody>
      </p:sp>
      <p:sp>
        <p:nvSpPr>
          <p:cNvPr id="21" name="">
            <a:extLst xmlns:a="http://schemas.openxmlformats.org/drawingml/2006/main">
              <a:ext uri="{FF2B5EF4-FFF2-40B4-BE49-F238E27FC236}">
                <a16:creationId xmlns:a16="http://schemas.microsoft.com/office/drawing/2014/main" id="{4D8A815F-F9D4-4A18-8817-05DA549140BB}"/>
              </a:ext>
            </a:extLst>
          </p:cNvPr>
          <p:cNvSpPr>
            <a:spLocks xmlns:a="http://schemas.openxmlformats.org/drawingml/2006/main" noGrp="1"/>
          </p:cNvSpPr>
          <p:nvPr/>
        </p:nvSpPr>
        <p:spPr>
          <a:xfrm xmlns:a="http://schemas.openxmlformats.org/drawingml/2006/main">
            <a:off x="6305550" y="3429000"/>
            <a:ext cx="5295900" cy="2343150"/>
          </a:xfrm>
          <a:prstGeom xmlns:a="http://schemas.openxmlformats.org/drawingml/2006/main" prst="roundRect">
            <a:avLst>
              <a:gd name="adj" fmla="val 4878"/>
            </a:avLst>
          </a:prstGeom>
          <a:solidFill xmlns:a="http://schemas.openxmlformats.org/drawingml/2006/main">
            <a:srgbClr val="FDECE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6ACBC86-20B1-412F-ABC1-9D02A74A07C3}"/>
              </a:ext>
            </a:extLst>
          </p:cNvPr>
          <p:cNvSpPr>
            <a:spLocks xmlns:a="http://schemas.openxmlformats.org/drawingml/2006/main" noGrp="1"/>
          </p:cNvSpPr>
          <p:nvPr/>
        </p:nvSpPr>
        <p:spPr>
          <a:xfrm xmlns:a="http://schemas.openxmlformats.org/drawingml/2006/main">
            <a:off x="6572250" y="36957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i="0">
                <a:solidFill>
                  <a:srgbClr val="C8102E"/>
                </a:solidFill>
                <a:latin typeface="Aptos"/>
                <a:ea typeface="Aptos"/>
                <a:cs typeface="Aptos"/>
              </a:defRPr>
            </a:pPr>
            <a:r>
              <a:rPr sz="1950" b="1" i="0">
                <a:solidFill>
                  <a:srgbClr val="C8102E"/>
                </a:solidFill>
                <a:latin typeface="Aptos"/>
                <a:ea typeface="Aptos"/>
                <a:cs typeface="Aptos"/>
              </a:rPr>
              <a:t>Disclosed overgeneralisation</a:t>
            </a:r>
          </a:p>
        </p:txBody>
      </p:sp>
      <p:sp>
        <p:nvSpPr>
          <p:cNvPr id="23" name="">
            <a:extLst xmlns:a="http://schemas.openxmlformats.org/drawingml/2006/main">
              <a:ext uri="{FF2B5EF4-FFF2-40B4-BE49-F238E27FC236}">
                <a16:creationId xmlns:a16="http://schemas.microsoft.com/office/drawing/2014/main" id="{294457BE-3492-4DAA-853F-7E503A75F068}"/>
              </a:ext>
            </a:extLst>
          </p:cNvPr>
          <p:cNvSpPr>
            <a:spLocks xmlns:a="http://schemas.openxmlformats.org/drawingml/2006/main" noGrp="1"/>
          </p:cNvSpPr>
          <p:nvPr/>
        </p:nvSpPr>
        <p:spPr>
          <a:xfrm xmlns:a="http://schemas.openxmlformats.org/drawingml/2006/main">
            <a:off x="6572250" y="4257675"/>
            <a:ext cx="46482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0B1220"/>
                </a:solidFill>
                <a:latin typeface="Aptos"/>
                <a:ea typeface="Aptos"/>
                <a:cs typeface="Aptos"/>
              </a:defRPr>
            </a:pPr>
            <a:r>
              <a:rPr sz="1575" b="0" i="0">
                <a:solidFill>
                  <a:srgbClr val="0B1220"/>
                </a:solidFill>
                <a:latin typeface="Aptos"/>
                <a:ea typeface="Aptos"/>
                <a:cs typeface="Aptos"/>
              </a:rPr>
              <a:t>A silent gate-only path remains formally possible. It appears in 0.067% of no-rules runs and in none of the context-aware runs; it is reported rather than hidden by an undocumented guard.</a:t>
            </a:r>
          </a:p>
        </p:txBody>
      </p:sp>
    </p:spTree>
    <p:extLst>
      <p:ext uri="{BB962C8B-B14F-4D97-AF65-F5344CB8AC3E}">
        <p14:creationId xmlns:p14="http://schemas.microsoft.com/office/powerpoint/2010/main" val="193909837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6D33ADE9-61DB-47CB-9A06-A7A829FDDE9E}"/>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8B81E705-3417-4BF6-BBB7-060F35909AE8}"/>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Full held-out configuration screening</a:t>
            </a:r>
          </a:p>
        </p:txBody>
      </p:sp>
      <p:sp>
        <p:nvSpPr>
          <p:cNvPr id="3" name="">
            <a:extLst xmlns:a="http://schemas.openxmlformats.org/drawingml/2006/main">
              <a:ext uri="{FF2B5EF4-FFF2-40B4-BE49-F238E27FC236}">
                <a16:creationId xmlns:a16="http://schemas.microsoft.com/office/drawing/2014/main" id="{F53D7F63-0997-4730-BFF4-A6231B94B904}"/>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BAAB7CC4-B926-4388-B30F-ECC849BB198F}"/>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04316358-D0FA-43C0-A30F-F6FBECD0F033}"/>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21</a:t>
            </a:r>
          </a:p>
        </p:txBody>
      </p:sp>
      <p:sp>
        <p:nvSpPr>
          <p:cNvPr id="6" name="">
            <a:extLst xmlns:a="http://schemas.openxmlformats.org/drawingml/2006/main">
              <a:ext uri="{FF2B5EF4-FFF2-40B4-BE49-F238E27FC236}">
                <a16:creationId xmlns:a16="http://schemas.microsoft.com/office/drawing/2014/main" id="{75E011A2-20A6-451F-86B1-4011CF4CF71F}"/>
              </a:ext>
            </a:extLst>
          </p:cNvPr>
          <p:cNvSpPr>
            <a:spLocks xmlns:a="http://schemas.openxmlformats.org/drawingml/2006/main" noGrp="1"/>
          </p:cNvSpPr>
          <p:nvPr/>
        </p:nvSpPr>
        <p:spPr>
          <a:xfrm xmlns:a="http://schemas.openxmlformats.org/drawingml/2006/main">
            <a:off x="666750" y="11620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i="0">
                <a:solidFill>
                  <a:srgbClr val="5F6B7A"/>
                </a:solidFill>
                <a:latin typeface="Aptos"/>
                <a:ea typeface="Aptos"/>
                <a:cs typeface="Aptos"/>
              </a:defRPr>
            </a:pPr>
            <a:r>
              <a:rPr sz="1575" b="1" i="0">
                <a:solidFill>
                  <a:srgbClr val="5F6B7A"/>
                </a:solidFill>
                <a:latin typeface="Aptos"/>
                <a:ea typeface="Aptos"/>
                <a:cs typeface="Aptos"/>
              </a:rPr>
              <a:t>Metric</a:t>
            </a:r>
          </a:p>
        </p:txBody>
      </p:sp>
      <p:sp>
        <p:nvSpPr>
          <p:cNvPr id="7" name="">
            <a:extLst xmlns:a="http://schemas.openxmlformats.org/drawingml/2006/main">
              <a:ext uri="{FF2B5EF4-FFF2-40B4-BE49-F238E27FC236}">
                <a16:creationId xmlns:a16="http://schemas.microsoft.com/office/drawing/2014/main" id="{D1CEB790-4338-470C-AFB3-0F94FF9351B8}"/>
              </a:ext>
            </a:extLst>
          </p:cNvPr>
          <p:cNvSpPr>
            <a:spLocks xmlns:a="http://schemas.openxmlformats.org/drawingml/2006/main" noGrp="1"/>
          </p:cNvSpPr>
          <p:nvPr/>
        </p:nvSpPr>
        <p:spPr>
          <a:xfrm xmlns:a="http://schemas.openxmlformats.org/drawingml/2006/main">
            <a:off x="5257800" y="11620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i="0">
                <a:solidFill>
                  <a:srgbClr val="5F6B7A"/>
                </a:solidFill>
                <a:latin typeface="Aptos"/>
                <a:ea typeface="Aptos"/>
                <a:cs typeface="Aptos"/>
              </a:defRPr>
            </a:pPr>
            <a:r>
              <a:rPr sz="1575" b="1" i="0">
                <a:solidFill>
                  <a:srgbClr val="5F6B7A"/>
                </a:solidFill>
                <a:latin typeface="Aptos"/>
                <a:ea typeface="Aptos"/>
                <a:cs typeface="Aptos"/>
              </a:rPr>
              <a:t>no-rules</a:t>
            </a:r>
          </a:p>
        </p:txBody>
      </p:sp>
      <p:sp>
        <p:nvSpPr>
          <p:cNvPr id="8" name="">
            <a:extLst xmlns:a="http://schemas.openxmlformats.org/drawingml/2006/main">
              <a:ext uri="{FF2B5EF4-FFF2-40B4-BE49-F238E27FC236}">
                <a16:creationId xmlns:a16="http://schemas.microsoft.com/office/drawing/2014/main" id="{6741737D-1619-489D-B25C-350B2C1AB1AE}"/>
              </a:ext>
            </a:extLst>
          </p:cNvPr>
          <p:cNvSpPr>
            <a:spLocks xmlns:a="http://schemas.openxmlformats.org/drawingml/2006/main" noGrp="1"/>
          </p:cNvSpPr>
          <p:nvPr/>
        </p:nvSpPr>
        <p:spPr>
          <a:xfrm xmlns:a="http://schemas.openxmlformats.org/drawingml/2006/main">
            <a:off x="8020050" y="11620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i="0">
                <a:solidFill>
                  <a:srgbClr val="2F80ED"/>
                </a:solidFill>
                <a:latin typeface="Aptos"/>
                <a:ea typeface="Aptos"/>
                <a:cs typeface="Aptos"/>
              </a:defRPr>
            </a:pPr>
            <a:r>
              <a:rPr sz="1575" b="1" i="0">
                <a:solidFill>
                  <a:srgbClr val="2F80ED"/>
                </a:solidFill>
                <a:latin typeface="Aptos"/>
                <a:ea typeface="Aptos"/>
                <a:cs typeface="Aptos"/>
              </a:rPr>
              <a:t>rules + workload</a:t>
            </a:r>
          </a:p>
        </p:txBody>
      </p:sp>
      <p:sp>
        <p:nvSpPr>
          <p:cNvPr id="9" name="">
            <a:extLst xmlns:a="http://schemas.openxmlformats.org/drawingml/2006/main">
              <a:ext uri="{FF2B5EF4-FFF2-40B4-BE49-F238E27FC236}">
                <a16:creationId xmlns:a16="http://schemas.microsoft.com/office/drawing/2014/main" id="{6AC3FD55-EB2F-48A8-8BCB-989A5001DFD7}"/>
              </a:ext>
            </a:extLst>
          </p:cNvPr>
          <p:cNvSpPr>
            <a:spLocks xmlns:a="http://schemas.openxmlformats.org/drawingml/2006/main" noGrp="1"/>
          </p:cNvSpPr>
          <p:nvPr/>
        </p:nvSpPr>
        <p:spPr>
          <a:xfrm xmlns:a="http://schemas.openxmlformats.org/drawingml/2006/main">
            <a:off x="552450" y="1533525"/>
            <a:ext cx="11087100" cy="457200"/>
          </a:xfrm>
          <a:prstGeom xmlns:a="http://schemas.openxmlformats.org/drawingml/2006/main" prst="roundRect">
            <a:avLst>
              <a:gd name="adj" fmla="val 25000"/>
            </a:avLst>
          </a:prstGeom>
          <a:solidFill xmlns:a="http://schemas.openxmlformats.org/drawingml/2006/main">
            <a:srgbClr val="F8FAF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8C5031-948A-4B8B-A021-2B9EFCDE9497}"/>
              </a:ext>
            </a:extLst>
          </p:cNvPr>
          <p:cNvSpPr>
            <a:spLocks xmlns:a="http://schemas.openxmlformats.org/drawingml/2006/main" noGrp="1"/>
          </p:cNvSpPr>
          <p:nvPr/>
        </p:nvSpPr>
        <p:spPr>
          <a:xfrm xmlns:a="http://schemas.openxmlformats.org/drawingml/2006/main">
            <a:off x="723900" y="16287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Turnaround EMD (min)</a:t>
            </a:r>
          </a:p>
        </p:txBody>
      </p:sp>
      <p:sp>
        <p:nvSpPr>
          <p:cNvPr id="11" name="">
            <a:extLst xmlns:a="http://schemas.openxmlformats.org/drawingml/2006/main">
              <a:ext uri="{FF2B5EF4-FFF2-40B4-BE49-F238E27FC236}">
                <a16:creationId xmlns:a16="http://schemas.microsoft.com/office/drawing/2014/main" id="{B3A79166-B687-4519-AD0E-19A9AB0D620A}"/>
              </a:ext>
            </a:extLst>
          </p:cNvPr>
          <p:cNvSpPr>
            <a:spLocks xmlns:a="http://schemas.openxmlformats.org/drawingml/2006/main" noGrp="1"/>
          </p:cNvSpPr>
          <p:nvPr/>
        </p:nvSpPr>
        <p:spPr>
          <a:xfrm xmlns:a="http://schemas.openxmlformats.org/drawingml/2006/main">
            <a:off x="4686300" y="16287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7.996 [7.878, 8.114]</a:t>
            </a:r>
          </a:p>
        </p:txBody>
      </p:sp>
      <p:sp>
        <p:nvSpPr>
          <p:cNvPr id="12" name="">
            <a:extLst xmlns:a="http://schemas.openxmlformats.org/drawingml/2006/main">
              <a:ext uri="{FF2B5EF4-FFF2-40B4-BE49-F238E27FC236}">
                <a16:creationId xmlns:a16="http://schemas.microsoft.com/office/drawing/2014/main" id="{05BDA8AB-A2DE-45D8-B5AB-32FEE2D84BDF}"/>
              </a:ext>
            </a:extLst>
          </p:cNvPr>
          <p:cNvSpPr>
            <a:spLocks xmlns:a="http://schemas.openxmlformats.org/drawingml/2006/main" noGrp="1"/>
          </p:cNvSpPr>
          <p:nvPr/>
        </p:nvSpPr>
        <p:spPr>
          <a:xfrm xmlns:a="http://schemas.openxmlformats.org/drawingml/2006/main">
            <a:off x="7829550" y="16287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8.131 [8.063, 8.198]</a:t>
            </a:r>
          </a:p>
        </p:txBody>
      </p:sp>
      <p:sp>
        <p:nvSpPr>
          <p:cNvPr id="13" name="">
            <a:extLst xmlns:a="http://schemas.openxmlformats.org/drawingml/2006/main">
              <a:ext uri="{FF2B5EF4-FFF2-40B4-BE49-F238E27FC236}">
                <a16:creationId xmlns:a16="http://schemas.microsoft.com/office/drawing/2014/main" id="{47529D03-1871-48A6-A058-40B61040FE0D}"/>
              </a:ext>
            </a:extLst>
          </p:cNvPr>
          <p:cNvSpPr>
            <a:spLocks xmlns:a="http://schemas.openxmlformats.org/drawingml/2006/main" noGrp="1"/>
          </p:cNvSpPr>
          <p:nvPr/>
        </p:nvSpPr>
        <p:spPr>
          <a:xfrm xmlns:a="http://schemas.openxmlformats.org/drawingml/2006/main">
            <a:off x="552450" y="2066925"/>
            <a:ext cx="11087100" cy="4572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EA7A5BE-1145-460B-8EFD-557D71277A42}"/>
              </a:ext>
            </a:extLst>
          </p:cNvPr>
          <p:cNvSpPr>
            <a:spLocks xmlns:a="http://schemas.openxmlformats.org/drawingml/2006/main" noGrp="1"/>
          </p:cNvSpPr>
          <p:nvPr/>
        </p:nvSpPr>
        <p:spPr>
          <a:xfrm xmlns:a="http://schemas.openxmlformats.org/drawingml/2006/main">
            <a:off x="723900" y="21621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Turnaround KS</a:t>
            </a:r>
          </a:p>
        </p:txBody>
      </p:sp>
      <p:sp>
        <p:nvSpPr>
          <p:cNvPr id="15" name="">
            <a:extLst xmlns:a="http://schemas.openxmlformats.org/drawingml/2006/main">
              <a:ext uri="{FF2B5EF4-FFF2-40B4-BE49-F238E27FC236}">
                <a16:creationId xmlns:a16="http://schemas.microsoft.com/office/drawing/2014/main" id="{F0FD0188-905F-418A-8DC3-366F897200AF}"/>
              </a:ext>
            </a:extLst>
          </p:cNvPr>
          <p:cNvSpPr>
            <a:spLocks xmlns:a="http://schemas.openxmlformats.org/drawingml/2006/main" noGrp="1"/>
          </p:cNvSpPr>
          <p:nvPr/>
        </p:nvSpPr>
        <p:spPr>
          <a:xfrm xmlns:a="http://schemas.openxmlformats.org/drawingml/2006/main">
            <a:off x="4686300" y="21621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0.1276 [0.1238, 0.1314]</a:t>
            </a:r>
          </a:p>
        </p:txBody>
      </p:sp>
      <p:sp>
        <p:nvSpPr>
          <p:cNvPr id="16" name="">
            <a:extLst xmlns:a="http://schemas.openxmlformats.org/drawingml/2006/main">
              <a:ext uri="{FF2B5EF4-FFF2-40B4-BE49-F238E27FC236}">
                <a16:creationId xmlns:a16="http://schemas.microsoft.com/office/drawing/2014/main" id="{00C836BB-592A-486E-A977-EA6564217604}"/>
              </a:ext>
            </a:extLst>
          </p:cNvPr>
          <p:cNvSpPr>
            <a:spLocks xmlns:a="http://schemas.openxmlformats.org/drawingml/2006/main" noGrp="1"/>
          </p:cNvSpPr>
          <p:nvPr/>
        </p:nvSpPr>
        <p:spPr>
          <a:xfrm xmlns:a="http://schemas.openxmlformats.org/drawingml/2006/main">
            <a:off x="7829550" y="21621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0.1331 [0.1298, 0.1363]</a:t>
            </a:r>
          </a:p>
        </p:txBody>
      </p:sp>
      <p:sp>
        <p:nvSpPr>
          <p:cNvPr id="17" name="">
            <a:extLst xmlns:a="http://schemas.openxmlformats.org/drawingml/2006/main">
              <a:ext uri="{FF2B5EF4-FFF2-40B4-BE49-F238E27FC236}">
                <a16:creationId xmlns:a16="http://schemas.microsoft.com/office/drawing/2014/main" id="{3768C512-28D6-41F4-8398-257AA20A5D0A}"/>
              </a:ext>
            </a:extLst>
          </p:cNvPr>
          <p:cNvSpPr>
            <a:spLocks xmlns:a="http://schemas.openxmlformats.org/drawingml/2006/main" noGrp="1"/>
          </p:cNvSpPr>
          <p:nvPr/>
        </p:nvSpPr>
        <p:spPr>
          <a:xfrm xmlns:a="http://schemas.openxmlformats.org/drawingml/2006/main">
            <a:off x="552450" y="2600325"/>
            <a:ext cx="11087100" cy="457200"/>
          </a:xfrm>
          <a:prstGeom xmlns:a="http://schemas.openxmlformats.org/drawingml/2006/main" prst="roundRect">
            <a:avLst>
              <a:gd name="adj" fmla="val 25000"/>
            </a:avLst>
          </a:prstGeom>
          <a:solidFill xmlns:a="http://schemas.openxmlformats.org/drawingml/2006/main">
            <a:srgbClr val="F8FAF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12B83EA-B6AB-4D21-ACC7-DBC043E28C79}"/>
              </a:ext>
            </a:extLst>
          </p:cNvPr>
          <p:cNvSpPr>
            <a:spLocks xmlns:a="http://schemas.openxmlformats.org/drawingml/2006/main" noGrp="1"/>
          </p:cNvSpPr>
          <p:nvPr/>
        </p:nvSpPr>
        <p:spPr>
          <a:xfrm xmlns:a="http://schemas.openxmlformats.org/drawingml/2006/main">
            <a:off x="723900" y="26955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turnaround (min)</a:t>
            </a:r>
          </a:p>
        </p:txBody>
      </p:sp>
      <p:sp>
        <p:nvSpPr>
          <p:cNvPr id="19" name="">
            <a:extLst xmlns:a="http://schemas.openxmlformats.org/drawingml/2006/main">
              <a:ext uri="{FF2B5EF4-FFF2-40B4-BE49-F238E27FC236}">
                <a16:creationId xmlns:a16="http://schemas.microsoft.com/office/drawing/2014/main" id="{39D67C42-13ED-40A5-A151-5356830B1ECD}"/>
              </a:ext>
            </a:extLst>
          </p:cNvPr>
          <p:cNvSpPr>
            <a:spLocks xmlns:a="http://schemas.openxmlformats.org/drawingml/2006/main" noGrp="1"/>
          </p:cNvSpPr>
          <p:nvPr/>
        </p:nvSpPr>
        <p:spPr>
          <a:xfrm xmlns:a="http://schemas.openxmlformats.org/drawingml/2006/main">
            <a:off x="4686300" y="26955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31.747 [31.629, 31.865]</a:t>
            </a:r>
          </a:p>
        </p:txBody>
      </p:sp>
      <p:sp>
        <p:nvSpPr>
          <p:cNvPr id="20" name="">
            <a:extLst xmlns:a="http://schemas.openxmlformats.org/drawingml/2006/main">
              <a:ext uri="{FF2B5EF4-FFF2-40B4-BE49-F238E27FC236}">
                <a16:creationId xmlns:a16="http://schemas.microsoft.com/office/drawing/2014/main" id="{CB4A4000-3E12-42BD-96CB-7E6AA4BA213E}"/>
              </a:ext>
            </a:extLst>
          </p:cNvPr>
          <p:cNvSpPr>
            <a:spLocks xmlns:a="http://schemas.openxmlformats.org/drawingml/2006/main" noGrp="1"/>
          </p:cNvSpPr>
          <p:nvPr/>
        </p:nvSpPr>
        <p:spPr>
          <a:xfrm xmlns:a="http://schemas.openxmlformats.org/drawingml/2006/main">
            <a:off x="7829550" y="26955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31.617 [31.550, 31.685]</a:t>
            </a:r>
          </a:p>
        </p:txBody>
      </p:sp>
      <p:sp>
        <p:nvSpPr>
          <p:cNvPr id="21" name="">
            <a:extLst xmlns:a="http://schemas.openxmlformats.org/drawingml/2006/main">
              <a:ext uri="{FF2B5EF4-FFF2-40B4-BE49-F238E27FC236}">
                <a16:creationId xmlns:a16="http://schemas.microsoft.com/office/drawing/2014/main" id="{005DF5E7-A6ED-4928-8018-583F18C24469}"/>
              </a:ext>
            </a:extLst>
          </p:cNvPr>
          <p:cNvSpPr>
            <a:spLocks xmlns:a="http://schemas.openxmlformats.org/drawingml/2006/main" noGrp="1"/>
          </p:cNvSpPr>
          <p:nvPr/>
        </p:nvSpPr>
        <p:spPr>
          <a:xfrm xmlns:a="http://schemas.openxmlformats.org/drawingml/2006/main">
            <a:off x="552450" y="3133725"/>
            <a:ext cx="11087100" cy="4572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8DDE394-F73D-4CB8-8F0E-F3EC9BA6597A}"/>
              </a:ext>
            </a:extLst>
          </p:cNvPr>
          <p:cNvSpPr>
            <a:spLocks xmlns:a="http://schemas.openxmlformats.org/drawingml/2006/main" noGrp="1"/>
          </p:cNvSpPr>
          <p:nvPr/>
        </p:nvSpPr>
        <p:spPr>
          <a:xfrm xmlns:a="http://schemas.openxmlformats.org/drawingml/2006/main">
            <a:off x="723900" y="32289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P90 turnaround (min)</a:t>
            </a:r>
          </a:p>
        </p:txBody>
      </p:sp>
      <p:sp>
        <p:nvSpPr>
          <p:cNvPr id="23" name="">
            <a:extLst xmlns:a="http://schemas.openxmlformats.org/drawingml/2006/main">
              <a:ext uri="{FF2B5EF4-FFF2-40B4-BE49-F238E27FC236}">
                <a16:creationId xmlns:a16="http://schemas.microsoft.com/office/drawing/2014/main" id="{07FFB014-EE1E-498A-B32B-E28ECAF4BE23}"/>
              </a:ext>
            </a:extLst>
          </p:cNvPr>
          <p:cNvSpPr>
            <a:spLocks xmlns:a="http://schemas.openxmlformats.org/drawingml/2006/main" noGrp="1"/>
          </p:cNvSpPr>
          <p:nvPr/>
        </p:nvSpPr>
        <p:spPr>
          <a:xfrm xmlns:a="http://schemas.openxmlformats.org/drawingml/2006/main">
            <a:off x="4686300" y="32289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54.400 [54.031, 54.769]</a:t>
            </a:r>
          </a:p>
        </p:txBody>
      </p:sp>
      <p:sp>
        <p:nvSpPr>
          <p:cNvPr id="24" name="">
            <a:extLst xmlns:a="http://schemas.openxmlformats.org/drawingml/2006/main">
              <a:ext uri="{FF2B5EF4-FFF2-40B4-BE49-F238E27FC236}">
                <a16:creationId xmlns:a16="http://schemas.microsoft.com/office/drawing/2014/main" id="{CFC68CC6-9007-4DA9-9A56-4D3C14248397}"/>
              </a:ext>
            </a:extLst>
          </p:cNvPr>
          <p:cNvSpPr>
            <a:spLocks xmlns:a="http://schemas.openxmlformats.org/drawingml/2006/main" noGrp="1"/>
          </p:cNvSpPr>
          <p:nvPr/>
        </p:nvSpPr>
        <p:spPr>
          <a:xfrm xmlns:a="http://schemas.openxmlformats.org/drawingml/2006/main">
            <a:off x="7829550" y="32289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53.600 [53.231, 53.969]</a:t>
            </a:r>
          </a:p>
        </p:txBody>
      </p:sp>
      <p:sp>
        <p:nvSpPr>
          <p:cNvPr id="25" name="">
            <a:extLst xmlns:a="http://schemas.openxmlformats.org/drawingml/2006/main">
              <a:ext uri="{FF2B5EF4-FFF2-40B4-BE49-F238E27FC236}">
                <a16:creationId xmlns:a16="http://schemas.microsoft.com/office/drawing/2014/main" id="{E3512D21-5BA6-43C8-B213-845642B66075}"/>
              </a:ext>
            </a:extLst>
          </p:cNvPr>
          <p:cNvSpPr>
            <a:spLocks xmlns:a="http://schemas.openxmlformats.org/drawingml/2006/main" noGrp="1"/>
          </p:cNvSpPr>
          <p:nvPr/>
        </p:nvSpPr>
        <p:spPr>
          <a:xfrm xmlns:a="http://schemas.openxmlformats.org/drawingml/2006/main">
            <a:off x="552450" y="3667125"/>
            <a:ext cx="11087100" cy="457200"/>
          </a:xfrm>
          <a:prstGeom xmlns:a="http://schemas.openxmlformats.org/drawingml/2006/main" prst="roundRect">
            <a:avLst>
              <a:gd name="adj" fmla="val 25000"/>
            </a:avLst>
          </a:prstGeom>
          <a:solidFill xmlns:a="http://schemas.openxmlformats.org/drawingml/2006/main">
            <a:srgbClr val="F8FAFC"/>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F128918-8B49-4649-BD22-E6678532FAB8}"/>
              </a:ext>
            </a:extLst>
          </p:cNvPr>
          <p:cNvSpPr>
            <a:spLocks xmlns:a="http://schemas.openxmlformats.org/drawingml/2006/main" noGrp="1"/>
          </p:cNvSpPr>
          <p:nvPr/>
        </p:nvSpPr>
        <p:spPr>
          <a:xfrm xmlns:a="http://schemas.openxmlformats.org/drawingml/2006/main">
            <a:off x="723900" y="37623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Inter-arrival EMD (min)</a:t>
            </a:r>
          </a:p>
        </p:txBody>
      </p:sp>
      <p:sp>
        <p:nvSpPr>
          <p:cNvPr id="27" name="">
            <a:extLst xmlns:a="http://schemas.openxmlformats.org/drawingml/2006/main">
              <a:ext uri="{FF2B5EF4-FFF2-40B4-BE49-F238E27FC236}">
                <a16:creationId xmlns:a16="http://schemas.microsoft.com/office/drawing/2014/main" id="{CD1FBCC8-A008-46E8-8192-54D38F35CB1C}"/>
              </a:ext>
            </a:extLst>
          </p:cNvPr>
          <p:cNvSpPr>
            <a:spLocks xmlns:a="http://schemas.openxmlformats.org/drawingml/2006/main" noGrp="1"/>
          </p:cNvSpPr>
          <p:nvPr/>
        </p:nvSpPr>
        <p:spPr>
          <a:xfrm xmlns:a="http://schemas.openxmlformats.org/drawingml/2006/main">
            <a:off x="4686300" y="37623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0.0765 [0.0696, 0.0835]</a:t>
            </a:r>
          </a:p>
        </p:txBody>
      </p:sp>
      <p:sp>
        <p:nvSpPr>
          <p:cNvPr id="28" name="">
            <a:extLst xmlns:a="http://schemas.openxmlformats.org/drawingml/2006/main">
              <a:ext uri="{FF2B5EF4-FFF2-40B4-BE49-F238E27FC236}">
                <a16:creationId xmlns:a16="http://schemas.microsoft.com/office/drawing/2014/main" id="{FA1421EB-7757-4CE9-9688-9A875F21271B}"/>
              </a:ext>
            </a:extLst>
          </p:cNvPr>
          <p:cNvSpPr>
            <a:spLocks xmlns:a="http://schemas.openxmlformats.org/drawingml/2006/main" noGrp="1"/>
          </p:cNvSpPr>
          <p:nvPr/>
        </p:nvSpPr>
        <p:spPr>
          <a:xfrm xmlns:a="http://schemas.openxmlformats.org/drawingml/2006/main">
            <a:off x="7829550" y="37623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0.0724 [0.0674, 0.0774]</a:t>
            </a:r>
          </a:p>
        </p:txBody>
      </p:sp>
      <p:sp>
        <p:nvSpPr>
          <p:cNvPr id="29" name="">
            <a:extLst xmlns:a="http://schemas.openxmlformats.org/drawingml/2006/main">
              <a:ext uri="{FF2B5EF4-FFF2-40B4-BE49-F238E27FC236}">
                <a16:creationId xmlns:a16="http://schemas.microsoft.com/office/drawing/2014/main" id="{4F7854F6-207A-43CA-8E0F-2525F537E6D5}"/>
              </a:ext>
            </a:extLst>
          </p:cNvPr>
          <p:cNvSpPr>
            <a:spLocks xmlns:a="http://schemas.openxmlformats.org/drawingml/2006/main" noGrp="1"/>
          </p:cNvSpPr>
          <p:nvPr/>
        </p:nvSpPr>
        <p:spPr>
          <a:xfrm xmlns:a="http://schemas.openxmlformats.org/drawingml/2006/main">
            <a:off x="552450" y="4200525"/>
            <a:ext cx="11087100" cy="4572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626A240B-6655-4D67-B6FF-63AC564BAAC3}"/>
              </a:ext>
            </a:extLst>
          </p:cNvPr>
          <p:cNvSpPr>
            <a:spLocks xmlns:a="http://schemas.openxmlformats.org/drawingml/2006/main" noGrp="1"/>
          </p:cNvSpPr>
          <p:nvPr/>
        </p:nvSpPr>
        <p:spPr>
          <a:xfrm xmlns:a="http://schemas.openxmlformats.org/drawingml/2006/main">
            <a:off x="723900" y="42957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Weighted service EMD (min)</a:t>
            </a:r>
          </a:p>
        </p:txBody>
      </p:sp>
      <p:sp>
        <p:nvSpPr>
          <p:cNvPr id="31" name="">
            <a:extLst xmlns:a="http://schemas.openxmlformats.org/drawingml/2006/main">
              <a:ext uri="{FF2B5EF4-FFF2-40B4-BE49-F238E27FC236}">
                <a16:creationId xmlns:a16="http://schemas.microsoft.com/office/drawing/2014/main" id="{7046D9B4-67BF-4A3C-8D85-1A0440566E77}"/>
              </a:ext>
            </a:extLst>
          </p:cNvPr>
          <p:cNvSpPr>
            <a:spLocks xmlns:a="http://schemas.openxmlformats.org/drawingml/2006/main" noGrp="1"/>
          </p:cNvSpPr>
          <p:nvPr/>
        </p:nvSpPr>
        <p:spPr>
          <a:xfrm xmlns:a="http://schemas.openxmlformats.org/drawingml/2006/main">
            <a:off x="4686300" y="42957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2.360 [2.318, 2.401]</a:t>
            </a:r>
          </a:p>
        </p:txBody>
      </p:sp>
      <p:sp>
        <p:nvSpPr>
          <p:cNvPr id="32" name="">
            <a:extLst xmlns:a="http://schemas.openxmlformats.org/drawingml/2006/main">
              <a:ext uri="{FF2B5EF4-FFF2-40B4-BE49-F238E27FC236}">
                <a16:creationId xmlns:a16="http://schemas.microsoft.com/office/drawing/2014/main" id="{2F9A97A6-D561-484B-8294-4E51D36D16CC}"/>
              </a:ext>
            </a:extLst>
          </p:cNvPr>
          <p:cNvSpPr>
            <a:spLocks xmlns:a="http://schemas.openxmlformats.org/drawingml/2006/main" noGrp="1"/>
          </p:cNvSpPr>
          <p:nvPr/>
        </p:nvSpPr>
        <p:spPr>
          <a:xfrm xmlns:a="http://schemas.openxmlformats.org/drawingml/2006/main">
            <a:off x="7829550" y="42957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2.354 [2.312, 2.396]</a:t>
            </a:r>
          </a:p>
        </p:txBody>
      </p:sp>
      <p:sp>
        <p:nvSpPr>
          <p:cNvPr id="33" name="">
            <a:extLst xmlns:a="http://schemas.openxmlformats.org/drawingml/2006/main">
              <a:ext uri="{FF2B5EF4-FFF2-40B4-BE49-F238E27FC236}">
                <a16:creationId xmlns:a16="http://schemas.microsoft.com/office/drawing/2014/main" id="{A06F4FCD-DCE8-4C50-B9A7-B9C20BB7ABD4}"/>
              </a:ext>
            </a:extLst>
          </p:cNvPr>
          <p:cNvSpPr>
            <a:spLocks xmlns:a="http://schemas.openxmlformats.org/drawingml/2006/main" noGrp="1"/>
          </p:cNvSpPr>
          <p:nvPr/>
        </p:nvSpPr>
        <p:spPr>
          <a:xfrm xmlns:a="http://schemas.openxmlformats.org/drawingml/2006/main">
            <a:off x="552450" y="4733925"/>
            <a:ext cx="11087100" cy="457200"/>
          </a:xfrm>
          <a:prstGeom xmlns:a="http://schemas.openxmlformats.org/drawingml/2006/main" prst="roundRect">
            <a:avLst>
              <a:gd name="adj" fmla="val 25000"/>
            </a:avLst>
          </a:prstGeom>
          <a:solidFill xmlns:a="http://schemas.openxmlformats.org/drawingml/2006/main">
            <a:srgbClr val="F8FAFC"/>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2FFF48F8-85D8-4935-8CC5-E79FB99A786B}"/>
              </a:ext>
            </a:extLst>
          </p:cNvPr>
          <p:cNvSpPr>
            <a:spLocks xmlns:a="http://schemas.openxmlformats.org/drawingml/2006/main" noGrp="1"/>
          </p:cNvSpPr>
          <p:nvPr/>
        </p:nvSpPr>
        <p:spPr>
          <a:xfrm xmlns:a="http://schemas.openxmlformats.org/drawingml/2006/main">
            <a:off x="723900" y="48291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Yard-activity-rate L1</a:t>
            </a:r>
          </a:p>
        </p:txBody>
      </p:sp>
      <p:sp>
        <p:nvSpPr>
          <p:cNvPr id="35" name="">
            <a:extLst xmlns:a="http://schemas.openxmlformats.org/drawingml/2006/main">
              <a:ext uri="{FF2B5EF4-FFF2-40B4-BE49-F238E27FC236}">
                <a16:creationId xmlns:a16="http://schemas.microsoft.com/office/drawing/2014/main" id="{F80D56CA-3730-4F06-A8E5-CB536D3E4F58}"/>
              </a:ext>
            </a:extLst>
          </p:cNvPr>
          <p:cNvSpPr>
            <a:spLocks xmlns:a="http://schemas.openxmlformats.org/drawingml/2006/main" noGrp="1"/>
          </p:cNvSpPr>
          <p:nvPr/>
        </p:nvSpPr>
        <p:spPr>
          <a:xfrm xmlns:a="http://schemas.openxmlformats.org/drawingml/2006/main">
            <a:off x="4686300" y="48291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0.1753 [0.1710, 0.1795]</a:t>
            </a:r>
          </a:p>
        </p:txBody>
      </p:sp>
      <p:sp>
        <p:nvSpPr>
          <p:cNvPr id="36" name="">
            <a:extLst xmlns:a="http://schemas.openxmlformats.org/drawingml/2006/main">
              <a:ext uri="{FF2B5EF4-FFF2-40B4-BE49-F238E27FC236}">
                <a16:creationId xmlns:a16="http://schemas.microsoft.com/office/drawing/2014/main" id="{177D1EA2-3D89-42BE-8D7F-A1E0104A8975}"/>
              </a:ext>
            </a:extLst>
          </p:cNvPr>
          <p:cNvSpPr>
            <a:spLocks xmlns:a="http://schemas.openxmlformats.org/drawingml/2006/main" noGrp="1"/>
          </p:cNvSpPr>
          <p:nvPr/>
        </p:nvSpPr>
        <p:spPr>
          <a:xfrm xmlns:a="http://schemas.openxmlformats.org/drawingml/2006/main">
            <a:off x="7829550" y="48291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0.2264 [0.2215, 0.2313]</a:t>
            </a:r>
          </a:p>
        </p:txBody>
      </p:sp>
      <p:sp>
        <p:nvSpPr>
          <p:cNvPr id="37" name="">
            <a:extLst xmlns:a="http://schemas.openxmlformats.org/drawingml/2006/main">
              <a:ext uri="{FF2B5EF4-FFF2-40B4-BE49-F238E27FC236}">
                <a16:creationId xmlns:a16="http://schemas.microsoft.com/office/drawing/2014/main" id="{2997B065-9347-4C11-826A-1D04FD83EF37}"/>
              </a:ext>
            </a:extLst>
          </p:cNvPr>
          <p:cNvSpPr>
            <a:spLocks xmlns:a="http://schemas.openxmlformats.org/drawingml/2006/main" noGrp="1"/>
          </p:cNvSpPr>
          <p:nvPr/>
        </p:nvSpPr>
        <p:spPr>
          <a:xfrm xmlns:a="http://schemas.openxmlformats.org/drawingml/2006/main">
            <a:off x="552450" y="5267325"/>
            <a:ext cx="11087100" cy="4572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2853308-F3C1-42E2-8B12-F6B57D860460}"/>
              </a:ext>
            </a:extLst>
          </p:cNvPr>
          <p:cNvSpPr>
            <a:spLocks xmlns:a="http://schemas.openxmlformats.org/drawingml/2006/main" noGrp="1"/>
          </p:cNvSpPr>
          <p:nvPr/>
        </p:nvSpPr>
        <p:spPr>
          <a:xfrm xmlns:a="http://schemas.openxmlformats.org/drawingml/2006/main">
            <a:off x="723900" y="5362575"/>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Gate-only cases / 17,892</a:t>
            </a:r>
          </a:p>
        </p:txBody>
      </p:sp>
      <p:sp>
        <p:nvSpPr>
          <p:cNvPr id="39" name="">
            <a:extLst xmlns:a="http://schemas.openxmlformats.org/drawingml/2006/main">
              <a:ext uri="{FF2B5EF4-FFF2-40B4-BE49-F238E27FC236}">
                <a16:creationId xmlns:a16="http://schemas.microsoft.com/office/drawing/2014/main" id="{B21AA1DE-1AA3-4EB3-AED8-943B0F532CB0}"/>
              </a:ext>
            </a:extLst>
          </p:cNvPr>
          <p:cNvSpPr>
            <a:spLocks xmlns:a="http://schemas.openxmlformats.org/drawingml/2006/main" noGrp="1"/>
          </p:cNvSpPr>
          <p:nvPr/>
        </p:nvSpPr>
        <p:spPr>
          <a:xfrm xmlns:a="http://schemas.openxmlformats.org/drawingml/2006/main">
            <a:off x="4686300" y="5362575"/>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5F6B7A"/>
                </a:solidFill>
                <a:latin typeface="Aptos"/>
                <a:ea typeface="Aptos"/>
                <a:cs typeface="Aptos"/>
              </a:defRPr>
            </a:pPr>
            <a:r>
              <a:rPr sz="1425" b="0" i="0">
                <a:solidFill>
                  <a:srgbClr val="5F6B7A"/>
                </a:solidFill>
                <a:latin typeface="Aptos"/>
                <a:ea typeface="Aptos"/>
                <a:cs typeface="Aptos"/>
              </a:rPr>
              <a:t>11.9 [9.6, 14.2]</a:t>
            </a:r>
          </a:p>
        </p:txBody>
      </p:sp>
      <p:sp>
        <p:nvSpPr>
          <p:cNvPr id="40" name="">
            <a:extLst xmlns:a="http://schemas.openxmlformats.org/drawingml/2006/main">
              <a:ext uri="{FF2B5EF4-FFF2-40B4-BE49-F238E27FC236}">
                <a16:creationId xmlns:a16="http://schemas.microsoft.com/office/drawing/2014/main" id="{F15D7FE3-9D22-4601-AB6D-DF4CC713A9AC}"/>
              </a:ext>
            </a:extLst>
          </p:cNvPr>
          <p:cNvSpPr>
            <a:spLocks xmlns:a="http://schemas.openxmlformats.org/drawingml/2006/main" noGrp="1"/>
          </p:cNvSpPr>
          <p:nvPr/>
        </p:nvSpPr>
        <p:spPr>
          <a:xfrm xmlns:a="http://schemas.openxmlformats.org/drawingml/2006/main">
            <a:off x="7829550" y="5362575"/>
            <a:ext cx="360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i="0">
                <a:solidFill>
                  <a:srgbClr val="2F80ED"/>
                </a:solidFill>
                <a:latin typeface="Aptos"/>
                <a:ea typeface="Aptos"/>
                <a:cs typeface="Aptos"/>
              </a:defRPr>
            </a:pPr>
            <a:r>
              <a:rPr sz="1425" b="0" i="0">
                <a:solidFill>
                  <a:srgbClr val="2F80ED"/>
                </a:solidFill>
                <a:latin typeface="Aptos"/>
                <a:ea typeface="Aptos"/>
                <a:cs typeface="Aptos"/>
              </a:rPr>
              <a:t>0.0 [0.0, 0.0]</a:t>
            </a:r>
          </a:p>
        </p:txBody>
      </p:sp>
      <p:sp>
        <p:nvSpPr>
          <p:cNvPr id="41" name="">
            <a:extLst xmlns:a="http://schemas.openxmlformats.org/drawingml/2006/main">
              <a:ext uri="{FF2B5EF4-FFF2-40B4-BE49-F238E27FC236}">
                <a16:creationId xmlns:a16="http://schemas.microsoft.com/office/drawing/2014/main" id="{3305E7C9-DC17-4EE3-A0D1-964940F44DD1}"/>
              </a:ext>
            </a:extLst>
          </p:cNvPr>
          <p:cNvSpPr>
            <a:spLocks xmlns:a="http://schemas.openxmlformats.org/drawingml/2006/main" noGrp="1"/>
          </p:cNvSpPr>
          <p:nvPr/>
        </p:nvSpPr>
        <p:spPr>
          <a:xfrm xmlns:a="http://schemas.openxmlformats.org/drawingml/2006/main">
            <a:off x="2762250" y="596265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i="0">
                <a:solidFill>
                  <a:srgbClr val="C8102E"/>
                </a:solidFill>
                <a:latin typeface="Aptos"/>
                <a:ea typeface="Aptos"/>
                <a:cs typeface="Aptos"/>
              </a:defRPr>
            </a:pPr>
            <a:r>
              <a:rPr sz="1500" b="1" i="0">
                <a:solidFill>
                  <a:srgbClr val="C8102E"/>
                </a:solidFill>
                <a:latin typeface="Aptos"/>
                <a:ea typeface="Aptos"/>
                <a:cs typeface="Aptos"/>
              </a:rPr>
              <a:t>No rules-only endpoint is available; the workload effect cannot be isolated.</a:t>
            </a:r>
          </a:p>
        </p:txBody>
      </p:sp>
    </p:spTree>
    <p:extLst>
      <p:ext uri="{BB962C8B-B14F-4D97-AF65-F5344CB8AC3E}">
        <p14:creationId xmlns:p14="http://schemas.microsoft.com/office/powerpoint/2010/main" val="28684240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29C9466C-0D47-4E87-90E8-6A01C9A4FD45}"/>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3391B3F6-9E66-4253-AD92-AFC9BCCF33B6}"/>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Scenario details: paired changes and intervals</a:t>
            </a:r>
          </a:p>
        </p:txBody>
      </p:sp>
      <p:sp>
        <p:nvSpPr>
          <p:cNvPr id="3" name="">
            <a:extLst xmlns:a="http://schemas.openxmlformats.org/drawingml/2006/main">
              <a:ext uri="{FF2B5EF4-FFF2-40B4-BE49-F238E27FC236}">
                <a16:creationId xmlns:a16="http://schemas.microsoft.com/office/drawing/2014/main" id="{0C623C5B-08C8-433B-9597-407B320C844B}"/>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9F6C9198-758D-4679-8E4C-FE09C641693C}"/>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8FB99ED8-22E7-493C-93B2-F15BEA055E27}"/>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22</a:t>
            </a:r>
          </a:p>
        </p:txBody>
      </p:sp>
      <p:sp>
        <p:nvSpPr>
          <p:cNvPr id="6" name="">
            <a:extLst xmlns:a="http://schemas.openxmlformats.org/drawingml/2006/main">
              <a:ext uri="{FF2B5EF4-FFF2-40B4-BE49-F238E27FC236}">
                <a16:creationId xmlns:a16="http://schemas.microsoft.com/office/drawing/2014/main" id="{6D390739-3249-4E79-AFA0-D87577B0FB92}"/>
              </a:ext>
            </a:extLst>
          </p:cNvPr>
          <p:cNvSpPr>
            <a:spLocks xmlns:a="http://schemas.openxmlformats.org/drawingml/2006/main" noGrp="1"/>
          </p:cNvSpPr>
          <p:nvPr/>
        </p:nvSpPr>
        <p:spPr>
          <a:xfrm xmlns:a="http://schemas.openxmlformats.org/drawingml/2006/main">
            <a:off x="552450" y="1200150"/>
            <a:ext cx="5334000" cy="4686300"/>
          </a:xfrm>
          <a:prstGeom xmlns:a="http://schemas.openxmlformats.org/drawingml/2006/main" prst="roundRect">
            <a:avLst>
              <a:gd name="adj" fmla="val 2439"/>
            </a:avLst>
          </a:prstGeom>
          <a:solidFill xmlns:a="http://schemas.openxmlformats.org/drawingml/2006/main">
            <a:srgbClr val="F8FAFC"/>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4D146504-5E6B-4D0B-AF0D-473869914A62}"/>
              </a:ext>
            </a:extLst>
          </p:cNvPr>
          <p:cNvSpPr>
            <a:spLocks xmlns:a="http://schemas.openxmlformats.org/drawingml/2006/main" noGrp="1"/>
          </p:cNvSpPr>
          <p:nvPr/>
        </p:nvSpPr>
        <p:spPr>
          <a:xfrm xmlns:a="http://schemas.openxmlformats.org/drawingml/2006/main">
            <a:off x="800100" y="14478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i="0">
                <a:solidFill>
                  <a:srgbClr val="0B1220"/>
                </a:solidFill>
                <a:latin typeface="Aptos"/>
                <a:ea typeface="Aptos"/>
                <a:cs typeface="Aptos"/>
              </a:defRPr>
            </a:pPr>
            <a:r>
              <a:rPr sz="2100" b="1" i="0">
                <a:solidFill>
                  <a:srgbClr val="0B1220"/>
                </a:solidFill>
                <a:latin typeface="Aptos"/>
                <a:ea typeface="Aptos"/>
                <a:cs typeface="Aptos"/>
              </a:rPr>
              <a:t>A · Remove T22 from RMG pool</a:t>
            </a:r>
          </a:p>
        </p:txBody>
      </p:sp>
      <p:sp>
        <p:nvSpPr>
          <p:cNvPr id="8" name="">
            <a:extLst xmlns:a="http://schemas.openxmlformats.org/drawingml/2006/main">
              <a:ext uri="{FF2B5EF4-FFF2-40B4-BE49-F238E27FC236}">
                <a16:creationId xmlns:a16="http://schemas.microsoft.com/office/drawing/2014/main" id="{EBA4F505-A229-464D-BC3A-ECEF17362963}"/>
              </a:ext>
            </a:extLst>
          </p:cNvPr>
          <p:cNvSpPr>
            <a:spLocks xmlns:a="http://schemas.openxmlformats.org/drawingml/2006/main" noGrp="1"/>
          </p:cNvSpPr>
          <p:nvPr/>
        </p:nvSpPr>
        <p:spPr>
          <a:xfrm xmlns:a="http://schemas.openxmlformats.org/drawingml/2006/main">
            <a:off x="819150" y="21145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turnaround</a:t>
            </a:r>
          </a:p>
        </p:txBody>
      </p:sp>
      <p:sp>
        <p:nvSpPr>
          <p:cNvPr id="9" name="">
            <a:extLst xmlns:a="http://schemas.openxmlformats.org/drawingml/2006/main">
              <a:ext uri="{FF2B5EF4-FFF2-40B4-BE49-F238E27FC236}">
                <a16:creationId xmlns:a16="http://schemas.microsoft.com/office/drawing/2014/main" id="{ED4E065B-B16E-41F0-A3EB-0180D09EF2CF}"/>
              </a:ext>
            </a:extLst>
          </p:cNvPr>
          <p:cNvSpPr>
            <a:spLocks xmlns:a="http://schemas.openxmlformats.org/drawingml/2006/main" noGrp="1"/>
          </p:cNvSpPr>
          <p:nvPr/>
        </p:nvSpPr>
        <p:spPr>
          <a:xfrm xmlns:a="http://schemas.openxmlformats.org/drawingml/2006/main">
            <a:off x="3067050" y="21145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+0.092 [−0.016, +0.200]</a:t>
            </a:r>
          </a:p>
        </p:txBody>
      </p:sp>
      <p:sp>
        <p:nvSpPr>
          <p:cNvPr id="10" name="">
            <a:extLst xmlns:a="http://schemas.openxmlformats.org/drawingml/2006/main">
              <a:ext uri="{FF2B5EF4-FFF2-40B4-BE49-F238E27FC236}">
                <a16:creationId xmlns:a16="http://schemas.microsoft.com/office/drawing/2014/main" id="{87E4F5D8-F497-49FD-AB97-07B650433E29}"/>
              </a:ext>
            </a:extLst>
          </p:cNvPr>
          <p:cNvSpPr>
            <a:spLocks xmlns:a="http://schemas.openxmlformats.org/drawingml/2006/main" noGrp="1"/>
          </p:cNvSpPr>
          <p:nvPr/>
        </p:nvSpPr>
        <p:spPr>
          <a:xfrm xmlns:a="http://schemas.openxmlformats.org/drawingml/2006/main">
            <a:off x="819150" y="26479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P90 turnaround</a:t>
            </a:r>
          </a:p>
        </p:txBody>
      </p:sp>
      <p:sp>
        <p:nvSpPr>
          <p:cNvPr id="11" name="">
            <a:extLst xmlns:a="http://schemas.openxmlformats.org/drawingml/2006/main">
              <a:ext uri="{FF2B5EF4-FFF2-40B4-BE49-F238E27FC236}">
                <a16:creationId xmlns:a16="http://schemas.microsoft.com/office/drawing/2014/main" id="{43A12DCA-8215-4C29-A9D4-3E883950D6DB}"/>
              </a:ext>
            </a:extLst>
          </p:cNvPr>
          <p:cNvSpPr>
            <a:spLocks xmlns:a="http://schemas.openxmlformats.org/drawingml/2006/main" noGrp="1"/>
          </p:cNvSpPr>
          <p:nvPr/>
        </p:nvSpPr>
        <p:spPr>
          <a:xfrm xmlns:a="http://schemas.openxmlformats.org/drawingml/2006/main">
            <a:off x="3067050" y="26479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0.000 [−0.337, +0.337]</a:t>
            </a:r>
          </a:p>
        </p:txBody>
      </p:sp>
      <p:sp>
        <p:nvSpPr>
          <p:cNvPr id="12" name="">
            <a:extLst xmlns:a="http://schemas.openxmlformats.org/drawingml/2006/main">
              <a:ext uri="{FF2B5EF4-FFF2-40B4-BE49-F238E27FC236}">
                <a16:creationId xmlns:a16="http://schemas.microsoft.com/office/drawing/2014/main" id="{0CE13ECF-9E1A-450B-B1B9-30CB21201123}"/>
              </a:ext>
            </a:extLst>
          </p:cNvPr>
          <p:cNvSpPr>
            <a:spLocks xmlns:a="http://schemas.openxmlformats.org/drawingml/2006/main" noGrp="1"/>
          </p:cNvSpPr>
          <p:nvPr/>
        </p:nvSpPr>
        <p:spPr>
          <a:xfrm xmlns:a="http://schemas.openxmlformats.org/drawingml/2006/main">
            <a:off x="819150" y="31813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RMG service</a:t>
            </a:r>
          </a:p>
        </p:txBody>
      </p:sp>
      <p:sp>
        <p:nvSpPr>
          <p:cNvPr id="13" name="">
            <a:extLst xmlns:a="http://schemas.openxmlformats.org/drawingml/2006/main">
              <a:ext uri="{FF2B5EF4-FFF2-40B4-BE49-F238E27FC236}">
                <a16:creationId xmlns:a16="http://schemas.microsoft.com/office/drawing/2014/main" id="{0F995699-02E2-4C72-9A70-B8B387452212}"/>
              </a:ext>
            </a:extLst>
          </p:cNvPr>
          <p:cNvSpPr>
            <a:spLocks xmlns:a="http://schemas.openxmlformats.org/drawingml/2006/main" noGrp="1"/>
          </p:cNvSpPr>
          <p:nvPr/>
        </p:nvSpPr>
        <p:spPr>
          <a:xfrm xmlns:a="http://schemas.openxmlformats.org/drawingml/2006/main">
            <a:off x="3067050" y="31813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−0.019 [−0.101, +0.063]</a:t>
            </a:r>
          </a:p>
        </p:txBody>
      </p:sp>
      <p:sp>
        <p:nvSpPr>
          <p:cNvPr id="14" name="">
            <a:extLst xmlns:a="http://schemas.openxmlformats.org/drawingml/2006/main">
              <a:ext uri="{FF2B5EF4-FFF2-40B4-BE49-F238E27FC236}">
                <a16:creationId xmlns:a16="http://schemas.microsoft.com/office/drawing/2014/main" id="{47515727-B621-42C6-AFB6-4904CB9AD9E8}"/>
              </a:ext>
            </a:extLst>
          </p:cNvPr>
          <p:cNvSpPr>
            <a:spLocks xmlns:a="http://schemas.openxmlformats.org/drawingml/2006/main" noGrp="1"/>
          </p:cNvSpPr>
          <p:nvPr/>
        </p:nvSpPr>
        <p:spPr>
          <a:xfrm xmlns:a="http://schemas.openxmlformats.org/drawingml/2006/main">
            <a:off x="819150" y="37147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RMG pre-service</a:t>
            </a:r>
          </a:p>
        </p:txBody>
      </p:sp>
      <p:sp>
        <p:nvSpPr>
          <p:cNvPr id="15" name="">
            <a:extLst xmlns:a="http://schemas.openxmlformats.org/drawingml/2006/main">
              <a:ext uri="{FF2B5EF4-FFF2-40B4-BE49-F238E27FC236}">
                <a16:creationId xmlns:a16="http://schemas.microsoft.com/office/drawing/2014/main" id="{09426C34-7F89-4062-B09E-4D005B513E39}"/>
              </a:ext>
            </a:extLst>
          </p:cNvPr>
          <p:cNvSpPr>
            <a:spLocks xmlns:a="http://schemas.openxmlformats.org/drawingml/2006/main" noGrp="1"/>
          </p:cNvSpPr>
          <p:nvPr/>
        </p:nvSpPr>
        <p:spPr>
          <a:xfrm xmlns:a="http://schemas.openxmlformats.org/drawingml/2006/main">
            <a:off x="3067050" y="37147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C8102E"/>
                </a:solidFill>
                <a:latin typeface="Aptos"/>
                <a:ea typeface="Aptos"/>
                <a:cs typeface="Aptos"/>
              </a:defRPr>
            </a:pPr>
            <a:r>
              <a:rPr sz="1425" b="0" i="0">
                <a:solidFill>
                  <a:srgbClr val="C8102E"/>
                </a:solidFill>
                <a:latin typeface="Aptos"/>
                <a:ea typeface="Aptos"/>
                <a:cs typeface="Aptos"/>
              </a:rPr>
              <a:t>+0.065 [+0.019, +0.112]</a:t>
            </a:r>
          </a:p>
        </p:txBody>
      </p:sp>
      <p:sp>
        <p:nvSpPr>
          <p:cNvPr id="16" name="">
            <a:extLst xmlns:a="http://schemas.openxmlformats.org/drawingml/2006/main">
              <a:ext uri="{FF2B5EF4-FFF2-40B4-BE49-F238E27FC236}">
                <a16:creationId xmlns:a16="http://schemas.microsoft.com/office/drawing/2014/main" id="{3DBA1B17-D9EC-4BF9-9703-350EC6A1CC5C}"/>
              </a:ext>
            </a:extLst>
          </p:cNvPr>
          <p:cNvSpPr>
            <a:spLocks xmlns:a="http://schemas.openxmlformats.org/drawingml/2006/main" noGrp="1"/>
          </p:cNvSpPr>
          <p:nvPr/>
        </p:nvSpPr>
        <p:spPr>
          <a:xfrm xmlns:a="http://schemas.openxmlformats.org/drawingml/2006/main">
            <a:off x="819150" y="42481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Delivery pre-service</a:t>
            </a:r>
          </a:p>
        </p:txBody>
      </p:sp>
      <p:sp>
        <p:nvSpPr>
          <p:cNvPr id="17" name="">
            <a:extLst xmlns:a="http://schemas.openxmlformats.org/drawingml/2006/main">
              <a:ext uri="{FF2B5EF4-FFF2-40B4-BE49-F238E27FC236}">
                <a16:creationId xmlns:a16="http://schemas.microsoft.com/office/drawing/2014/main" id="{77C6B0C1-2FBA-4E7C-9C34-1514E56CA8C6}"/>
              </a:ext>
            </a:extLst>
          </p:cNvPr>
          <p:cNvSpPr>
            <a:spLocks xmlns:a="http://schemas.openxmlformats.org/drawingml/2006/main" noGrp="1"/>
          </p:cNvSpPr>
          <p:nvPr/>
        </p:nvSpPr>
        <p:spPr>
          <a:xfrm xmlns:a="http://schemas.openxmlformats.org/drawingml/2006/main">
            <a:off x="3067050" y="42481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C8102E"/>
                </a:solidFill>
                <a:latin typeface="Aptos"/>
                <a:ea typeface="Aptos"/>
                <a:cs typeface="Aptos"/>
              </a:defRPr>
            </a:pPr>
            <a:r>
              <a:rPr sz="1425" b="0" i="0">
                <a:solidFill>
                  <a:srgbClr val="C8102E"/>
                </a:solidFill>
                <a:latin typeface="Aptos"/>
                <a:ea typeface="Aptos"/>
                <a:cs typeface="Aptos"/>
              </a:rPr>
              <a:t>+0.094 [+0.027, +0.160]</a:t>
            </a:r>
          </a:p>
        </p:txBody>
      </p:sp>
      <p:sp>
        <p:nvSpPr>
          <p:cNvPr id="18" name="">
            <a:extLst xmlns:a="http://schemas.openxmlformats.org/drawingml/2006/main">
              <a:ext uri="{FF2B5EF4-FFF2-40B4-BE49-F238E27FC236}">
                <a16:creationId xmlns:a16="http://schemas.microsoft.com/office/drawing/2014/main" id="{C8163DD8-68EF-40C0-A25B-E45B1658F728}"/>
              </a:ext>
            </a:extLst>
          </p:cNvPr>
          <p:cNvSpPr>
            <a:spLocks xmlns:a="http://schemas.openxmlformats.org/drawingml/2006/main" noGrp="1"/>
          </p:cNvSpPr>
          <p:nvPr/>
        </p:nvSpPr>
        <p:spPr>
          <a:xfrm xmlns:a="http://schemas.openxmlformats.org/drawingml/2006/main">
            <a:off x="819150" y="47815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T22 assignments</a:t>
            </a:r>
          </a:p>
        </p:txBody>
      </p:sp>
      <p:sp>
        <p:nvSpPr>
          <p:cNvPr id="19" name="">
            <a:extLst xmlns:a="http://schemas.openxmlformats.org/drawingml/2006/main">
              <a:ext uri="{FF2B5EF4-FFF2-40B4-BE49-F238E27FC236}">
                <a16:creationId xmlns:a16="http://schemas.microsoft.com/office/drawing/2014/main" id="{85F7A1FC-BD66-42CF-8B36-EB1E4FA49677}"/>
              </a:ext>
            </a:extLst>
          </p:cNvPr>
          <p:cNvSpPr>
            <a:spLocks xmlns:a="http://schemas.openxmlformats.org/drawingml/2006/main" noGrp="1"/>
          </p:cNvSpPr>
          <p:nvPr/>
        </p:nvSpPr>
        <p:spPr>
          <a:xfrm xmlns:a="http://schemas.openxmlformats.org/drawingml/2006/main">
            <a:off x="3067050" y="47815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C8102E"/>
                </a:solidFill>
                <a:latin typeface="Aptos"/>
                <a:ea typeface="Aptos"/>
                <a:cs typeface="Aptos"/>
              </a:defRPr>
            </a:pPr>
            <a:r>
              <a:rPr sz="1425" b="0" i="0">
                <a:solidFill>
                  <a:srgbClr val="C8102E"/>
                </a:solidFill>
                <a:latin typeface="Aptos"/>
                <a:ea typeface="Aptos"/>
                <a:cs typeface="Aptos"/>
              </a:rPr>
              <a:t>591.5 → 0.0 (exact)</a:t>
            </a:r>
          </a:p>
        </p:txBody>
      </p:sp>
      <p:sp>
        <p:nvSpPr>
          <p:cNvPr id="20" name="">
            <a:extLst xmlns:a="http://schemas.openxmlformats.org/drawingml/2006/main">
              <a:ext uri="{FF2B5EF4-FFF2-40B4-BE49-F238E27FC236}">
                <a16:creationId xmlns:a16="http://schemas.microsoft.com/office/drawing/2014/main" id="{60C1713E-BE31-4075-B95A-95E4590B3618}"/>
              </a:ext>
            </a:extLst>
          </p:cNvPr>
          <p:cNvSpPr>
            <a:spLocks xmlns:a="http://schemas.openxmlformats.org/drawingml/2006/main" noGrp="1"/>
          </p:cNvSpPr>
          <p:nvPr/>
        </p:nvSpPr>
        <p:spPr>
          <a:xfrm xmlns:a="http://schemas.openxmlformats.org/drawingml/2006/main">
            <a:off x="6305550" y="1200150"/>
            <a:ext cx="5334000" cy="4686300"/>
          </a:xfrm>
          <a:prstGeom xmlns:a="http://schemas.openxmlformats.org/drawingml/2006/main" prst="roundRect">
            <a:avLst>
              <a:gd name="adj" fmla="val 2439"/>
            </a:avLst>
          </a:prstGeom>
          <a:solidFill xmlns:a="http://schemas.openxmlformats.org/drawingml/2006/main">
            <a:srgbClr val="F8FAFC"/>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3C32A678-3DA9-465F-BEFE-89A104CFAA70}"/>
              </a:ext>
            </a:extLst>
          </p:cNvPr>
          <p:cNvSpPr>
            <a:spLocks xmlns:a="http://schemas.openxmlformats.org/drawingml/2006/main" noGrp="1"/>
          </p:cNvSpPr>
          <p:nvPr/>
        </p:nvSpPr>
        <p:spPr>
          <a:xfrm xmlns:a="http://schemas.openxmlformats.org/drawingml/2006/main">
            <a:off x="6553200" y="14478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i="0">
                <a:solidFill>
                  <a:srgbClr val="0B1220"/>
                </a:solidFill>
                <a:latin typeface="Aptos"/>
                <a:ea typeface="Aptos"/>
                <a:cs typeface="Aptos"/>
              </a:defRPr>
            </a:pPr>
            <a:r>
              <a:rPr sz="2100" b="1" i="0">
                <a:solidFill>
                  <a:srgbClr val="0B1220"/>
                </a:solidFill>
                <a:latin typeface="Aptos"/>
                <a:ea typeface="Aptos"/>
                <a:cs typeface="Aptos"/>
              </a:rPr>
              <a:t>B · +20% working-time demand</a:t>
            </a:r>
          </a:p>
        </p:txBody>
      </p:sp>
      <p:sp>
        <p:nvSpPr>
          <p:cNvPr id="22" name="">
            <a:extLst xmlns:a="http://schemas.openxmlformats.org/drawingml/2006/main">
              <a:ext uri="{FF2B5EF4-FFF2-40B4-BE49-F238E27FC236}">
                <a16:creationId xmlns:a16="http://schemas.microsoft.com/office/drawing/2014/main" id="{7572BC38-3BB9-4DCA-AA60-10CF6AE87DA0}"/>
              </a:ext>
            </a:extLst>
          </p:cNvPr>
          <p:cNvSpPr>
            <a:spLocks xmlns:a="http://schemas.openxmlformats.org/drawingml/2006/main" noGrp="1"/>
          </p:cNvSpPr>
          <p:nvPr/>
        </p:nvSpPr>
        <p:spPr>
          <a:xfrm xmlns:a="http://schemas.openxmlformats.org/drawingml/2006/main">
            <a:off x="6572250" y="21145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Working arrival rate</a:t>
            </a:r>
          </a:p>
        </p:txBody>
      </p:sp>
      <p:sp>
        <p:nvSpPr>
          <p:cNvPr id="23" name="">
            <a:extLst xmlns:a="http://schemas.openxmlformats.org/drawingml/2006/main">
              <a:ext uri="{FF2B5EF4-FFF2-40B4-BE49-F238E27FC236}">
                <a16:creationId xmlns:a16="http://schemas.microsoft.com/office/drawing/2014/main" id="{A7F74AB5-E1B3-4C6A-9CFF-F895B782A3E1}"/>
              </a:ext>
            </a:extLst>
          </p:cNvPr>
          <p:cNvSpPr>
            <a:spLocks xmlns:a="http://schemas.openxmlformats.org/drawingml/2006/main" noGrp="1"/>
          </p:cNvSpPr>
          <p:nvPr/>
        </p:nvSpPr>
        <p:spPr>
          <a:xfrm xmlns:a="http://schemas.openxmlformats.org/drawingml/2006/main">
            <a:off x="8820150" y="21145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+20.000% (exact)</a:t>
            </a:r>
          </a:p>
        </p:txBody>
      </p:sp>
      <p:sp>
        <p:nvSpPr>
          <p:cNvPr id="24" name="">
            <a:extLst xmlns:a="http://schemas.openxmlformats.org/drawingml/2006/main">
              <a:ext uri="{FF2B5EF4-FFF2-40B4-BE49-F238E27FC236}">
                <a16:creationId xmlns:a16="http://schemas.microsoft.com/office/drawing/2014/main" id="{97A3077A-DAAB-4367-9221-FF4BF50242E9}"/>
              </a:ext>
            </a:extLst>
          </p:cNvPr>
          <p:cNvSpPr>
            <a:spLocks xmlns:a="http://schemas.openxmlformats.org/drawingml/2006/main" noGrp="1"/>
          </p:cNvSpPr>
          <p:nvPr/>
        </p:nvSpPr>
        <p:spPr>
          <a:xfrm xmlns:a="http://schemas.openxmlformats.org/drawingml/2006/main">
            <a:off x="6572250" y="26479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Elapsed-hour arrivals</a:t>
            </a:r>
          </a:p>
        </p:txBody>
      </p:sp>
      <p:sp>
        <p:nvSpPr>
          <p:cNvPr id="25" name="">
            <a:extLst xmlns:a="http://schemas.openxmlformats.org/drawingml/2006/main">
              <a:ext uri="{FF2B5EF4-FFF2-40B4-BE49-F238E27FC236}">
                <a16:creationId xmlns:a16="http://schemas.microsoft.com/office/drawing/2014/main" id="{408C2873-2BEE-4689-912C-14FDF869353D}"/>
              </a:ext>
            </a:extLst>
          </p:cNvPr>
          <p:cNvSpPr>
            <a:spLocks xmlns:a="http://schemas.openxmlformats.org/drawingml/2006/main" noGrp="1"/>
          </p:cNvSpPr>
          <p:nvPr/>
        </p:nvSpPr>
        <p:spPr>
          <a:xfrm xmlns:a="http://schemas.openxmlformats.org/drawingml/2006/main">
            <a:off x="8820150" y="26479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+15.910%</a:t>
            </a:r>
          </a:p>
        </p:txBody>
      </p:sp>
      <p:sp>
        <p:nvSpPr>
          <p:cNvPr id="26" name="">
            <a:extLst xmlns:a="http://schemas.openxmlformats.org/drawingml/2006/main">
              <a:ext uri="{FF2B5EF4-FFF2-40B4-BE49-F238E27FC236}">
                <a16:creationId xmlns:a16="http://schemas.microsoft.com/office/drawing/2014/main" id="{084E8B9D-82EF-4453-8E93-880C5F256F07}"/>
              </a:ext>
            </a:extLst>
          </p:cNvPr>
          <p:cNvSpPr>
            <a:spLocks xmlns:a="http://schemas.openxmlformats.org/drawingml/2006/main" noGrp="1"/>
          </p:cNvSpPr>
          <p:nvPr/>
        </p:nvSpPr>
        <p:spPr>
          <a:xfrm xmlns:a="http://schemas.openxmlformats.org/drawingml/2006/main">
            <a:off x="6572250" y="31813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turnaround</a:t>
            </a:r>
          </a:p>
        </p:txBody>
      </p:sp>
      <p:sp>
        <p:nvSpPr>
          <p:cNvPr id="27" name="">
            <a:extLst xmlns:a="http://schemas.openxmlformats.org/drawingml/2006/main">
              <a:ext uri="{FF2B5EF4-FFF2-40B4-BE49-F238E27FC236}">
                <a16:creationId xmlns:a16="http://schemas.microsoft.com/office/drawing/2014/main" id="{22AB79EB-674B-4674-9FE1-D448910F69FD}"/>
              </a:ext>
            </a:extLst>
          </p:cNvPr>
          <p:cNvSpPr>
            <a:spLocks xmlns:a="http://schemas.openxmlformats.org/drawingml/2006/main" noGrp="1"/>
          </p:cNvSpPr>
          <p:nvPr/>
        </p:nvSpPr>
        <p:spPr>
          <a:xfrm xmlns:a="http://schemas.openxmlformats.org/drawingml/2006/main">
            <a:off x="8820150" y="31813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+0.131 [−0.026, +0.288]</a:t>
            </a:r>
          </a:p>
        </p:txBody>
      </p:sp>
      <p:sp>
        <p:nvSpPr>
          <p:cNvPr id="28" name="">
            <a:extLst xmlns:a="http://schemas.openxmlformats.org/drawingml/2006/main">
              <a:ext uri="{FF2B5EF4-FFF2-40B4-BE49-F238E27FC236}">
                <a16:creationId xmlns:a16="http://schemas.microsoft.com/office/drawing/2014/main" id="{63B75424-EDCE-4DA6-860A-A5C0BCCCE4BA}"/>
              </a:ext>
            </a:extLst>
          </p:cNvPr>
          <p:cNvSpPr>
            <a:spLocks xmlns:a="http://schemas.openxmlformats.org/drawingml/2006/main" noGrp="1"/>
          </p:cNvSpPr>
          <p:nvPr/>
        </p:nvSpPr>
        <p:spPr>
          <a:xfrm xmlns:a="http://schemas.openxmlformats.org/drawingml/2006/main">
            <a:off x="6572250" y="37147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RMG service</a:t>
            </a:r>
          </a:p>
        </p:txBody>
      </p:sp>
      <p:sp>
        <p:nvSpPr>
          <p:cNvPr id="29" name="">
            <a:extLst xmlns:a="http://schemas.openxmlformats.org/drawingml/2006/main">
              <a:ext uri="{FF2B5EF4-FFF2-40B4-BE49-F238E27FC236}">
                <a16:creationId xmlns:a16="http://schemas.microsoft.com/office/drawing/2014/main" id="{DC7742C2-E8B0-47AB-8C44-3BB255808AB6}"/>
              </a:ext>
            </a:extLst>
          </p:cNvPr>
          <p:cNvSpPr>
            <a:spLocks xmlns:a="http://schemas.openxmlformats.org/drawingml/2006/main" noGrp="1"/>
          </p:cNvSpPr>
          <p:nvPr/>
        </p:nvSpPr>
        <p:spPr>
          <a:xfrm xmlns:a="http://schemas.openxmlformats.org/drawingml/2006/main">
            <a:off x="8820150" y="37147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+0.043 [−0.056, +0.143]</a:t>
            </a:r>
          </a:p>
        </p:txBody>
      </p:sp>
      <p:sp>
        <p:nvSpPr>
          <p:cNvPr id="30" name="">
            <a:extLst xmlns:a="http://schemas.openxmlformats.org/drawingml/2006/main">
              <a:ext uri="{FF2B5EF4-FFF2-40B4-BE49-F238E27FC236}">
                <a16:creationId xmlns:a16="http://schemas.microsoft.com/office/drawing/2014/main" id="{39635F08-CA1B-40F5-BD26-C15190D3D44E}"/>
              </a:ext>
            </a:extLst>
          </p:cNvPr>
          <p:cNvSpPr>
            <a:spLocks xmlns:a="http://schemas.openxmlformats.org/drawingml/2006/main" noGrp="1"/>
          </p:cNvSpPr>
          <p:nvPr/>
        </p:nvSpPr>
        <p:spPr>
          <a:xfrm xmlns:a="http://schemas.openxmlformats.org/drawingml/2006/main">
            <a:off x="6572250" y="42481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Mean RMG pre-service</a:t>
            </a:r>
          </a:p>
        </p:txBody>
      </p:sp>
      <p:sp>
        <p:nvSpPr>
          <p:cNvPr id="31" name="">
            <a:extLst xmlns:a="http://schemas.openxmlformats.org/drawingml/2006/main">
              <a:ext uri="{FF2B5EF4-FFF2-40B4-BE49-F238E27FC236}">
                <a16:creationId xmlns:a16="http://schemas.microsoft.com/office/drawing/2014/main" id="{29310C10-1697-4D68-8C35-86CEFCD66DD8}"/>
              </a:ext>
            </a:extLst>
          </p:cNvPr>
          <p:cNvSpPr>
            <a:spLocks xmlns:a="http://schemas.openxmlformats.org/drawingml/2006/main" noGrp="1"/>
          </p:cNvSpPr>
          <p:nvPr/>
        </p:nvSpPr>
        <p:spPr>
          <a:xfrm xmlns:a="http://schemas.openxmlformats.org/drawingml/2006/main">
            <a:off x="8820150" y="42481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5F6B7A"/>
                </a:solidFill>
                <a:latin typeface="Aptos"/>
                <a:ea typeface="Aptos"/>
                <a:cs typeface="Aptos"/>
              </a:defRPr>
            </a:pPr>
            <a:r>
              <a:rPr sz="1425" b="0" i="0">
                <a:solidFill>
                  <a:srgbClr val="5F6B7A"/>
                </a:solidFill>
                <a:latin typeface="Aptos"/>
                <a:ea typeface="Aptos"/>
                <a:cs typeface="Aptos"/>
              </a:rPr>
              <a:t>+0.043 [−0.056, +0.142]</a:t>
            </a:r>
          </a:p>
        </p:txBody>
      </p:sp>
      <p:sp>
        <p:nvSpPr>
          <p:cNvPr id="32" name="">
            <a:extLst xmlns:a="http://schemas.openxmlformats.org/drawingml/2006/main">
              <a:ext uri="{FF2B5EF4-FFF2-40B4-BE49-F238E27FC236}">
                <a16:creationId xmlns:a16="http://schemas.microsoft.com/office/drawing/2014/main" id="{C3AFF1F8-46AB-4BEC-BF24-8AF5E637069F}"/>
              </a:ext>
            </a:extLst>
          </p:cNvPr>
          <p:cNvSpPr>
            <a:spLocks xmlns:a="http://schemas.openxmlformats.org/drawingml/2006/main" noGrp="1"/>
          </p:cNvSpPr>
          <p:nvPr/>
        </p:nvSpPr>
        <p:spPr>
          <a:xfrm xmlns:a="http://schemas.openxmlformats.org/drawingml/2006/main">
            <a:off x="6572250" y="4781550"/>
            <a:ext cx="2238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i="0">
                <a:solidFill>
                  <a:srgbClr val="0B1220"/>
                </a:solidFill>
                <a:latin typeface="Aptos"/>
                <a:ea typeface="Aptos"/>
                <a:cs typeface="Aptos"/>
              </a:defRPr>
            </a:pPr>
            <a:r>
              <a:rPr sz="1500" b="1" i="0">
                <a:solidFill>
                  <a:srgbClr val="0B1220"/>
                </a:solidFill>
                <a:latin typeface="Aptos"/>
                <a:ea typeface="Aptos"/>
                <a:cs typeface="Aptos"/>
              </a:rPr>
              <a:t>Delivery pre-service</a:t>
            </a:r>
          </a:p>
        </p:txBody>
      </p:sp>
      <p:sp>
        <p:nvSpPr>
          <p:cNvPr id="33" name="">
            <a:extLst xmlns:a="http://schemas.openxmlformats.org/drawingml/2006/main">
              <a:ext uri="{FF2B5EF4-FFF2-40B4-BE49-F238E27FC236}">
                <a16:creationId xmlns:a16="http://schemas.microsoft.com/office/drawing/2014/main" id="{449D58EB-5651-4FC0-AF6D-2FF601CDEBA4}"/>
              </a:ext>
            </a:extLst>
          </p:cNvPr>
          <p:cNvSpPr>
            <a:spLocks xmlns:a="http://schemas.openxmlformats.org/drawingml/2006/main" noGrp="1"/>
          </p:cNvSpPr>
          <p:nvPr/>
        </p:nvSpPr>
        <p:spPr>
          <a:xfrm xmlns:a="http://schemas.openxmlformats.org/drawingml/2006/main">
            <a:off x="8820150" y="47815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425" b="0" i="0">
                <a:solidFill>
                  <a:srgbClr val="C8102E"/>
                </a:solidFill>
                <a:latin typeface="Aptos"/>
                <a:ea typeface="Aptos"/>
                <a:cs typeface="Aptos"/>
              </a:defRPr>
            </a:pPr>
            <a:r>
              <a:rPr sz="1425" b="0" i="0">
                <a:solidFill>
                  <a:srgbClr val="C8102E"/>
                </a:solidFill>
                <a:latin typeface="Aptos"/>
                <a:ea typeface="Aptos"/>
                <a:cs typeface="Aptos"/>
              </a:rPr>
              <a:t>+0.153 [+0.041, +0.265]</a:t>
            </a:r>
          </a:p>
        </p:txBody>
      </p:sp>
      <p:sp>
        <p:nvSpPr>
          <p:cNvPr id="34" name="">
            <a:extLst xmlns:a="http://schemas.openxmlformats.org/drawingml/2006/main">
              <a:ext uri="{FF2B5EF4-FFF2-40B4-BE49-F238E27FC236}">
                <a16:creationId xmlns:a16="http://schemas.microsoft.com/office/drawing/2014/main" id="{9F7E70B8-5C01-4052-ADDD-9A064ED69070}"/>
              </a:ext>
            </a:extLst>
          </p:cNvPr>
          <p:cNvSpPr>
            <a:spLocks xmlns:a="http://schemas.openxmlformats.org/drawingml/2006/main" noGrp="1"/>
          </p:cNvSpPr>
          <p:nvPr/>
        </p:nvSpPr>
        <p:spPr>
          <a:xfrm xmlns:a="http://schemas.openxmlformats.org/drawingml/2006/main">
            <a:off x="2362200" y="6048375"/>
            <a:ext cx="7467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0" i="0">
                <a:solidFill>
                  <a:srgbClr val="5F6B7A"/>
                </a:solidFill>
                <a:latin typeface="Aptos"/>
                <a:ea typeface="Aptos"/>
                <a:cs typeface="Aptos"/>
              </a:defRPr>
            </a:pPr>
            <a:r>
              <a:rPr sz="1500" b="0" i="0">
                <a:solidFill>
                  <a:srgbClr val="5F6B7A"/>
                </a:solidFill>
                <a:latin typeface="Aptos"/>
                <a:ea typeface="Aptos"/>
                <a:cs typeface="Aptos"/>
              </a:rPr>
              <a:t>Intervals cover matched simulation-seed variation conditional on the frozen model.</a:t>
            </a:r>
          </a:p>
        </p:txBody>
      </p:sp>
    </p:spTree>
    <p:extLst>
      <p:ext uri="{BB962C8B-B14F-4D97-AF65-F5344CB8AC3E}">
        <p14:creationId xmlns:p14="http://schemas.microsoft.com/office/powerpoint/2010/main" val="209820729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AE367172-6B50-4CAD-A977-2AE3B79F8967}"/>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728CB58C-79F6-4FC5-82B1-411AA5928AE0}"/>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Threats to validity—and the path forward</a:t>
            </a:r>
          </a:p>
        </p:txBody>
      </p:sp>
      <p:sp>
        <p:nvSpPr>
          <p:cNvPr id="3" name="">
            <a:extLst xmlns:a="http://schemas.openxmlformats.org/drawingml/2006/main">
              <a:ext uri="{FF2B5EF4-FFF2-40B4-BE49-F238E27FC236}">
                <a16:creationId xmlns:a16="http://schemas.microsoft.com/office/drawing/2014/main" id="{912F4A15-025D-4B62-9736-115446269E93}"/>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91390D92-D64E-4E30-A815-D65D2E1515FD}"/>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46FF3FA5-24A2-4D2B-BE17-7AF20E4E6208}"/>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23</a:t>
            </a:r>
          </a:p>
        </p:txBody>
      </p:sp>
      <p:sp>
        <p:nvSpPr>
          <p:cNvPr id="6" name="">
            <a:extLst xmlns:a="http://schemas.openxmlformats.org/drawingml/2006/main">
              <a:ext uri="{FF2B5EF4-FFF2-40B4-BE49-F238E27FC236}">
                <a16:creationId xmlns:a16="http://schemas.microsoft.com/office/drawing/2014/main" id="{CF2FC9C3-9445-4CD6-9000-02409E72F646}"/>
              </a:ext>
            </a:extLst>
          </p:cNvPr>
          <p:cNvSpPr>
            <a:spLocks xmlns:a="http://schemas.openxmlformats.org/drawingml/2006/main" noGrp="1"/>
          </p:cNvSpPr>
          <p:nvPr/>
        </p:nvSpPr>
        <p:spPr>
          <a:xfrm xmlns:a="http://schemas.openxmlformats.org/drawingml/2006/main">
            <a:off x="762000" y="1228725"/>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C8102E"/>
                </a:solidFill>
                <a:latin typeface="Aptos"/>
                <a:ea typeface="Aptos"/>
                <a:cs typeface="Aptos"/>
              </a:defRPr>
            </a:pPr>
            <a:r>
              <a:rPr sz="2175" b="1" i="0">
                <a:solidFill>
                  <a:srgbClr val="C8102E"/>
                </a:solidFill>
                <a:latin typeface="Aptos"/>
                <a:ea typeface="Aptos"/>
                <a:cs typeface="Aptos"/>
              </a:rPr>
              <a:t>Current boundary</a:t>
            </a:r>
          </a:p>
        </p:txBody>
      </p:sp>
      <p:sp>
        <p:nvSpPr>
          <p:cNvPr id="7" name="">
            <a:extLst xmlns:a="http://schemas.openxmlformats.org/drawingml/2006/main">
              <a:ext uri="{FF2B5EF4-FFF2-40B4-BE49-F238E27FC236}">
                <a16:creationId xmlns:a16="http://schemas.microsoft.com/office/drawing/2014/main" id="{5C79FB59-70AD-498A-AC9C-E1A4F47F8EB3}"/>
              </a:ext>
            </a:extLst>
          </p:cNvPr>
          <p:cNvSpPr>
            <a:spLocks xmlns:a="http://schemas.openxmlformats.org/drawingml/2006/main" noGrp="1"/>
          </p:cNvSpPr>
          <p:nvPr/>
        </p:nvSpPr>
        <p:spPr>
          <a:xfrm xmlns:a="http://schemas.openxmlformats.org/drawingml/2006/main">
            <a:off x="6858000" y="1228725"/>
            <a:ext cx="4572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i="0">
                <a:solidFill>
                  <a:srgbClr val="16876A"/>
                </a:solidFill>
                <a:latin typeface="Aptos"/>
                <a:ea typeface="Aptos"/>
                <a:cs typeface="Aptos"/>
              </a:defRPr>
            </a:pPr>
            <a:r>
              <a:rPr sz="2175" b="1" i="0">
                <a:solidFill>
                  <a:srgbClr val="16876A"/>
                </a:solidFill>
                <a:latin typeface="Aptos"/>
                <a:ea typeface="Aptos"/>
                <a:cs typeface="Aptos"/>
              </a:rPr>
              <a:t>Required extension</a:t>
            </a:r>
          </a:p>
        </p:txBody>
      </p:sp>
      <p:sp>
        <p:nvSpPr>
          <p:cNvPr id="8" name="">
            <a:extLst xmlns:a="http://schemas.openxmlformats.org/drawingml/2006/main">
              <a:ext uri="{FF2B5EF4-FFF2-40B4-BE49-F238E27FC236}">
                <a16:creationId xmlns:a16="http://schemas.microsoft.com/office/drawing/2014/main" id="{22B13689-4A0D-4225-A702-486375026C97}"/>
              </a:ext>
            </a:extLst>
          </p:cNvPr>
          <p:cNvSpPr>
            <a:spLocks xmlns:a="http://schemas.openxmlformats.org/drawingml/2006/main" noGrp="1"/>
          </p:cNvSpPr>
          <p:nvPr/>
        </p:nvSpPr>
        <p:spPr>
          <a:xfrm xmlns:a="http://schemas.openxmlformats.org/drawingml/2006/main">
            <a:off x="619125" y="1809750"/>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9" name="">
            <a:extLst xmlns:a="http://schemas.openxmlformats.org/drawingml/2006/main">
              <a:ext uri="{FF2B5EF4-FFF2-40B4-BE49-F238E27FC236}">
                <a16:creationId xmlns:a16="http://schemas.microsoft.com/office/drawing/2014/main" id="{37377902-19FB-412B-B4F0-76973E33B2D7}"/>
              </a:ext>
            </a:extLst>
          </p:cNvPr>
          <p:cNvSpPr>
            <a:spLocks xmlns:a="http://schemas.openxmlformats.org/drawingml/2006/main" noGrp="1"/>
          </p:cNvSpPr>
          <p:nvPr/>
        </p:nvSpPr>
        <p:spPr>
          <a:xfrm xmlns:a="http://schemas.openxmlformats.org/drawingml/2006/main">
            <a:off x="847725" y="2038350"/>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10" name="">
            <a:extLst xmlns:a="http://schemas.openxmlformats.org/drawingml/2006/main">
              <a:ext uri="{FF2B5EF4-FFF2-40B4-BE49-F238E27FC236}">
                <a16:creationId xmlns:a16="http://schemas.microsoft.com/office/drawing/2014/main" id="{FFB31C05-EB8C-4E7A-A436-0285C430F9C9}"/>
              </a:ext>
            </a:extLst>
          </p:cNvPr>
          <p:cNvSpPr>
            <a:spLocks xmlns:a="http://schemas.openxmlformats.org/drawingml/2006/main" noGrp="1"/>
          </p:cNvSpPr>
          <p:nvPr/>
        </p:nvSpPr>
        <p:spPr>
          <a:xfrm xmlns:a="http://schemas.openxmlformats.org/drawingml/2006/main">
            <a:off x="847725" y="20859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11" name="">
            <a:extLst xmlns:a="http://schemas.openxmlformats.org/drawingml/2006/main">
              <a:ext uri="{FF2B5EF4-FFF2-40B4-BE49-F238E27FC236}">
                <a16:creationId xmlns:a16="http://schemas.microsoft.com/office/drawing/2014/main" id="{CC63A35C-F4C2-40BC-8EFA-2CDCEE8EBE12}"/>
              </a:ext>
            </a:extLst>
          </p:cNvPr>
          <p:cNvSpPr>
            <a:spLocks xmlns:a="http://schemas.openxmlformats.org/drawingml/2006/main" noGrp="1"/>
          </p:cNvSpPr>
          <p:nvPr/>
        </p:nvSpPr>
        <p:spPr>
          <a:xfrm xmlns:a="http://schemas.openxmlformats.org/drawingml/2006/main">
            <a:off x="1419225" y="1905000"/>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One terminal and one two-month window</a:t>
            </a:r>
          </a:p>
        </p:txBody>
      </p:sp>
      <p:sp>
        <p:nvSpPr>
          <p:cNvPr id="12" name="">
            <a:extLst xmlns:a="http://schemas.openxmlformats.org/drawingml/2006/main">
              <a:ext uri="{FF2B5EF4-FFF2-40B4-BE49-F238E27FC236}">
                <a16:creationId xmlns:a16="http://schemas.microsoft.com/office/drawing/2014/main" id="{69625B52-1C19-4243-AAFB-62E171D7151C}"/>
              </a:ext>
            </a:extLst>
          </p:cNvPr>
          <p:cNvSpPr>
            <a:spLocks xmlns:a="http://schemas.openxmlformats.org/drawingml/2006/main" noGrp="1"/>
          </p:cNvSpPr>
          <p:nvPr/>
        </p:nvSpPr>
        <p:spPr>
          <a:xfrm xmlns:a="http://schemas.openxmlformats.org/drawingml/2006/main">
            <a:off x="619125" y="2790825"/>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13" name="">
            <a:extLst xmlns:a="http://schemas.openxmlformats.org/drawingml/2006/main">
              <a:ext uri="{FF2B5EF4-FFF2-40B4-BE49-F238E27FC236}">
                <a16:creationId xmlns:a16="http://schemas.microsoft.com/office/drawing/2014/main" id="{2A3EB3ED-7009-4A25-95EF-CED53D822189}"/>
              </a:ext>
            </a:extLst>
          </p:cNvPr>
          <p:cNvSpPr>
            <a:spLocks xmlns:a="http://schemas.openxmlformats.org/drawingml/2006/main" noGrp="1"/>
          </p:cNvSpPr>
          <p:nvPr/>
        </p:nvSpPr>
        <p:spPr>
          <a:xfrm xmlns:a="http://schemas.openxmlformats.org/drawingml/2006/main">
            <a:off x="847725" y="3019425"/>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14" name="">
            <a:extLst xmlns:a="http://schemas.openxmlformats.org/drawingml/2006/main">
              <a:ext uri="{FF2B5EF4-FFF2-40B4-BE49-F238E27FC236}">
                <a16:creationId xmlns:a16="http://schemas.microsoft.com/office/drawing/2014/main" id="{17C213C8-33DE-418B-981B-538657357B8C}"/>
              </a:ext>
            </a:extLst>
          </p:cNvPr>
          <p:cNvSpPr>
            <a:spLocks xmlns:a="http://schemas.openxmlformats.org/drawingml/2006/main" noGrp="1"/>
          </p:cNvSpPr>
          <p:nvPr/>
        </p:nvSpPr>
        <p:spPr>
          <a:xfrm xmlns:a="http://schemas.openxmlformats.org/drawingml/2006/main">
            <a:off x="847725" y="30670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15" name="">
            <a:extLst xmlns:a="http://schemas.openxmlformats.org/drawingml/2006/main">
              <a:ext uri="{FF2B5EF4-FFF2-40B4-BE49-F238E27FC236}">
                <a16:creationId xmlns:a16="http://schemas.microsoft.com/office/drawing/2014/main" id="{B9CCE928-02FC-42C3-BB2C-AA39EDA1FB4A}"/>
              </a:ext>
            </a:extLst>
          </p:cNvPr>
          <p:cNvSpPr>
            <a:spLocks xmlns:a="http://schemas.openxmlformats.org/drawingml/2006/main" noGrp="1"/>
          </p:cNvSpPr>
          <p:nvPr/>
        </p:nvSpPr>
        <p:spPr>
          <a:xfrm xmlns:a="http://schemas.openxmlformats.org/drawingml/2006/main">
            <a:off x="1419225" y="2886075"/>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No observed enablement / queue timestamp</a:t>
            </a:r>
          </a:p>
        </p:txBody>
      </p:sp>
      <p:sp>
        <p:nvSpPr>
          <p:cNvPr id="16" name="">
            <a:extLst xmlns:a="http://schemas.openxmlformats.org/drawingml/2006/main">
              <a:ext uri="{FF2B5EF4-FFF2-40B4-BE49-F238E27FC236}">
                <a16:creationId xmlns:a16="http://schemas.microsoft.com/office/drawing/2014/main" id="{0FF03332-1A21-423B-968D-957038F594E1}"/>
              </a:ext>
            </a:extLst>
          </p:cNvPr>
          <p:cNvSpPr>
            <a:spLocks xmlns:a="http://schemas.openxmlformats.org/drawingml/2006/main" noGrp="1"/>
          </p:cNvSpPr>
          <p:nvPr/>
        </p:nvSpPr>
        <p:spPr>
          <a:xfrm xmlns:a="http://schemas.openxmlformats.org/drawingml/2006/main">
            <a:off x="619125" y="3771900"/>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D98BE584-66A4-4A90-8C15-6BC76EFC4011}"/>
              </a:ext>
            </a:extLst>
          </p:cNvPr>
          <p:cNvSpPr>
            <a:spLocks xmlns:a="http://schemas.openxmlformats.org/drawingml/2006/main" noGrp="1"/>
          </p:cNvSpPr>
          <p:nvPr/>
        </p:nvSpPr>
        <p:spPr>
          <a:xfrm xmlns:a="http://schemas.openxmlformats.org/drawingml/2006/main">
            <a:off x="847725" y="4000500"/>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18" name="">
            <a:extLst xmlns:a="http://schemas.openxmlformats.org/drawingml/2006/main">
              <a:ext uri="{FF2B5EF4-FFF2-40B4-BE49-F238E27FC236}">
                <a16:creationId xmlns:a16="http://schemas.microsoft.com/office/drawing/2014/main" id="{D84D72D5-6EFA-45D5-B4E7-022D95CBB33F}"/>
              </a:ext>
            </a:extLst>
          </p:cNvPr>
          <p:cNvSpPr>
            <a:spLocks xmlns:a="http://schemas.openxmlformats.org/drawingml/2006/main" noGrp="1"/>
          </p:cNvSpPr>
          <p:nvPr/>
        </p:nvSpPr>
        <p:spPr>
          <a:xfrm xmlns:a="http://schemas.openxmlformats.org/drawingml/2006/main">
            <a:off x="847725" y="40481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19" name="">
            <a:extLst xmlns:a="http://schemas.openxmlformats.org/drawingml/2006/main">
              <a:ext uri="{FF2B5EF4-FFF2-40B4-BE49-F238E27FC236}">
                <a16:creationId xmlns:a16="http://schemas.microsoft.com/office/drawing/2014/main" id="{8D11C5AE-529D-4D0D-88B2-36FCB361BC45}"/>
              </a:ext>
            </a:extLst>
          </p:cNvPr>
          <p:cNvSpPr>
            <a:spLocks xmlns:a="http://schemas.openxmlformats.org/drawingml/2006/main" noGrp="1"/>
          </p:cNvSpPr>
          <p:nvPr/>
        </p:nvSpPr>
        <p:spPr>
          <a:xfrm xmlns:a="http://schemas.openxmlformats.org/drawingml/2006/main">
            <a:off x="1419225" y="3867150"/>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Resource IDs do not encode physical feasibility</a:t>
            </a:r>
          </a:p>
        </p:txBody>
      </p:sp>
      <p:sp>
        <p:nvSpPr>
          <p:cNvPr id="20" name="">
            <a:extLst xmlns:a="http://schemas.openxmlformats.org/drawingml/2006/main">
              <a:ext uri="{FF2B5EF4-FFF2-40B4-BE49-F238E27FC236}">
                <a16:creationId xmlns:a16="http://schemas.microsoft.com/office/drawing/2014/main" id="{9AA403AE-B992-4E61-BD35-86C8D2B8545F}"/>
              </a:ext>
            </a:extLst>
          </p:cNvPr>
          <p:cNvSpPr>
            <a:spLocks xmlns:a="http://schemas.openxmlformats.org/drawingml/2006/main" noGrp="1"/>
          </p:cNvSpPr>
          <p:nvPr/>
        </p:nvSpPr>
        <p:spPr>
          <a:xfrm xmlns:a="http://schemas.openxmlformats.org/drawingml/2006/main">
            <a:off x="619125" y="4752975"/>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21" name="">
            <a:extLst xmlns:a="http://schemas.openxmlformats.org/drawingml/2006/main">
              <a:ext uri="{FF2B5EF4-FFF2-40B4-BE49-F238E27FC236}">
                <a16:creationId xmlns:a16="http://schemas.microsoft.com/office/drawing/2014/main" id="{6616ECEB-2DAC-4498-B1AD-7ACB0E02101E}"/>
              </a:ext>
            </a:extLst>
          </p:cNvPr>
          <p:cNvSpPr>
            <a:spLocks xmlns:a="http://schemas.openxmlformats.org/drawingml/2006/main" noGrp="1"/>
          </p:cNvSpPr>
          <p:nvPr/>
        </p:nvSpPr>
        <p:spPr>
          <a:xfrm xmlns:a="http://schemas.openxmlformats.org/drawingml/2006/main">
            <a:off x="847725" y="4981575"/>
            <a:ext cx="400050" cy="400050"/>
          </a:xfrm>
          <a:prstGeom xmlns:a="http://schemas.openxmlformats.org/drawingml/2006/main" prst="ellipse">
            <a:avLst/>
          </a:prstGeom>
          <a:solidFill xmlns:a="http://schemas.openxmlformats.org/drawingml/2006/main">
            <a:srgbClr val="C8102E"/>
          </a:solidFill>
          <a:ln xmlns:a="http://schemas.openxmlformats.org/drawingml/2006/main" w="9525">
            <a:solidFill>
              <a:srgbClr val="C8102E"/>
            </a:solidFill>
            <a:prstDash val="solid"/>
          </a:ln>
        </p:spPr>
      </p:sp>
      <p:sp>
        <p:nvSpPr>
          <p:cNvPr id="22" name="">
            <a:extLst xmlns:a="http://schemas.openxmlformats.org/drawingml/2006/main">
              <a:ext uri="{FF2B5EF4-FFF2-40B4-BE49-F238E27FC236}">
                <a16:creationId xmlns:a16="http://schemas.microsoft.com/office/drawing/2014/main" id="{102BF55F-81FC-492E-A949-8073F20ED507}"/>
              </a:ext>
            </a:extLst>
          </p:cNvPr>
          <p:cNvSpPr>
            <a:spLocks xmlns:a="http://schemas.openxmlformats.org/drawingml/2006/main" noGrp="1"/>
          </p:cNvSpPr>
          <p:nvPr/>
        </p:nvSpPr>
        <p:spPr>
          <a:xfrm xmlns:a="http://schemas.openxmlformats.org/drawingml/2006/main">
            <a:off x="847725" y="50292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4</a:t>
            </a:r>
          </a:p>
        </p:txBody>
      </p:sp>
      <p:sp>
        <p:nvSpPr>
          <p:cNvPr id="23" name="">
            <a:extLst xmlns:a="http://schemas.openxmlformats.org/drawingml/2006/main">
              <a:ext uri="{FF2B5EF4-FFF2-40B4-BE49-F238E27FC236}">
                <a16:creationId xmlns:a16="http://schemas.microsoft.com/office/drawing/2014/main" id="{82AA7DF9-C753-4595-96A7-7CDE55E8402D}"/>
              </a:ext>
            </a:extLst>
          </p:cNvPr>
          <p:cNvSpPr>
            <a:spLocks xmlns:a="http://schemas.openxmlformats.org/drawingml/2006/main" noGrp="1"/>
          </p:cNvSpPr>
          <p:nvPr/>
        </p:nvSpPr>
        <p:spPr>
          <a:xfrm xmlns:a="http://schemas.openxmlformats.org/drawingml/2006/main">
            <a:off x="1419225" y="4848225"/>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Seed CIs exclude discovery and structural uncertainty</a:t>
            </a:r>
          </a:p>
        </p:txBody>
      </p:sp>
      <p:sp>
        <p:nvSpPr>
          <p:cNvPr id="24" name="">
            <a:extLst xmlns:a="http://schemas.openxmlformats.org/drawingml/2006/main">
              <a:ext uri="{FF2B5EF4-FFF2-40B4-BE49-F238E27FC236}">
                <a16:creationId xmlns:a16="http://schemas.microsoft.com/office/drawing/2014/main" id="{F383E98B-65E6-4427-87F5-E94F37C1E9D8}"/>
              </a:ext>
            </a:extLst>
          </p:cNvPr>
          <p:cNvSpPr>
            <a:spLocks xmlns:a="http://schemas.openxmlformats.org/drawingml/2006/main" noGrp="1"/>
          </p:cNvSpPr>
          <p:nvPr/>
        </p:nvSpPr>
        <p:spPr>
          <a:xfrm xmlns:a="http://schemas.openxmlformats.org/drawingml/2006/main">
            <a:off x="6381750" y="1809750"/>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3791C7E1-BD0C-416D-9215-9EA1F600478C}"/>
              </a:ext>
            </a:extLst>
          </p:cNvPr>
          <p:cNvSpPr>
            <a:spLocks xmlns:a="http://schemas.openxmlformats.org/drawingml/2006/main" noGrp="1"/>
          </p:cNvSpPr>
          <p:nvPr/>
        </p:nvSpPr>
        <p:spPr>
          <a:xfrm xmlns:a="http://schemas.openxmlformats.org/drawingml/2006/main">
            <a:off x="6610350" y="2038350"/>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26" name="">
            <a:extLst xmlns:a="http://schemas.openxmlformats.org/drawingml/2006/main">
              <a:ext uri="{FF2B5EF4-FFF2-40B4-BE49-F238E27FC236}">
                <a16:creationId xmlns:a16="http://schemas.microsoft.com/office/drawing/2014/main" id="{746F3DF4-C67A-4DB9-A843-09C446A120EA}"/>
              </a:ext>
            </a:extLst>
          </p:cNvPr>
          <p:cNvSpPr>
            <a:spLocks xmlns:a="http://schemas.openxmlformats.org/drawingml/2006/main" noGrp="1"/>
          </p:cNvSpPr>
          <p:nvPr/>
        </p:nvSpPr>
        <p:spPr>
          <a:xfrm xmlns:a="http://schemas.openxmlformats.org/drawingml/2006/main">
            <a:off x="6610350" y="20859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1</a:t>
            </a:r>
          </a:p>
        </p:txBody>
      </p:sp>
      <p:sp>
        <p:nvSpPr>
          <p:cNvPr id="27" name="">
            <a:extLst xmlns:a="http://schemas.openxmlformats.org/drawingml/2006/main">
              <a:ext uri="{FF2B5EF4-FFF2-40B4-BE49-F238E27FC236}">
                <a16:creationId xmlns:a16="http://schemas.microsoft.com/office/drawing/2014/main" id="{D6A6E324-A010-4BE2-88B2-07D94973DBCC}"/>
              </a:ext>
            </a:extLst>
          </p:cNvPr>
          <p:cNvSpPr>
            <a:spLocks xmlns:a="http://schemas.openxmlformats.org/drawingml/2006/main" noGrp="1"/>
          </p:cNvSpPr>
          <p:nvPr/>
        </p:nvSpPr>
        <p:spPr>
          <a:xfrm xmlns:a="http://schemas.openxmlformats.org/drawingml/2006/main">
            <a:off x="7181850" y="1905000"/>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Repeat discovery across seasons or terminals</a:t>
            </a:r>
          </a:p>
        </p:txBody>
      </p:sp>
      <p:sp>
        <p:nvSpPr>
          <p:cNvPr id="28" name="">
            <a:extLst xmlns:a="http://schemas.openxmlformats.org/drawingml/2006/main">
              <a:ext uri="{FF2B5EF4-FFF2-40B4-BE49-F238E27FC236}">
                <a16:creationId xmlns:a16="http://schemas.microsoft.com/office/drawing/2014/main" id="{8237586E-F3B2-4413-9557-D626316D257D}"/>
              </a:ext>
            </a:extLst>
          </p:cNvPr>
          <p:cNvSpPr>
            <a:spLocks xmlns:a="http://schemas.openxmlformats.org/drawingml/2006/main" noGrp="1"/>
          </p:cNvSpPr>
          <p:nvPr/>
        </p:nvSpPr>
        <p:spPr>
          <a:xfrm xmlns:a="http://schemas.openxmlformats.org/drawingml/2006/main">
            <a:off x="6381750" y="2790825"/>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29" name="">
            <a:extLst xmlns:a="http://schemas.openxmlformats.org/drawingml/2006/main">
              <a:ext uri="{FF2B5EF4-FFF2-40B4-BE49-F238E27FC236}">
                <a16:creationId xmlns:a16="http://schemas.microsoft.com/office/drawing/2014/main" id="{037A7805-D602-45FB-95F7-0F30264F9681}"/>
              </a:ext>
            </a:extLst>
          </p:cNvPr>
          <p:cNvSpPr>
            <a:spLocks xmlns:a="http://schemas.openxmlformats.org/drawingml/2006/main" noGrp="1"/>
          </p:cNvSpPr>
          <p:nvPr/>
        </p:nvSpPr>
        <p:spPr>
          <a:xfrm xmlns:a="http://schemas.openxmlformats.org/drawingml/2006/main">
            <a:off x="6610350" y="3019425"/>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30" name="">
            <a:extLst xmlns:a="http://schemas.openxmlformats.org/drawingml/2006/main">
              <a:ext uri="{FF2B5EF4-FFF2-40B4-BE49-F238E27FC236}">
                <a16:creationId xmlns:a16="http://schemas.microsoft.com/office/drawing/2014/main" id="{52D0C19C-262B-49B5-B96F-A6B9C2A1FEB6}"/>
              </a:ext>
            </a:extLst>
          </p:cNvPr>
          <p:cNvSpPr>
            <a:spLocks xmlns:a="http://schemas.openxmlformats.org/drawingml/2006/main" noGrp="1"/>
          </p:cNvSpPr>
          <p:nvPr/>
        </p:nvSpPr>
        <p:spPr>
          <a:xfrm xmlns:a="http://schemas.openxmlformats.org/drawingml/2006/main">
            <a:off x="6610350" y="30670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2</a:t>
            </a:r>
          </a:p>
        </p:txBody>
      </p:sp>
      <p:sp>
        <p:nvSpPr>
          <p:cNvPr id="31" name="">
            <a:extLst xmlns:a="http://schemas.openxmlformats.org/drawingml/2006/main">
              <a:ext uri="{FF2B5EF4-FFF2-40B4-BE49-F238E27FC236}">
                <a16:creationId xmlns:a16="http://schemas.microsoft.com/office/drawing/2014/main" id="{16C52286-D806-4F96-98C3-E230627C0F87}"/>
              </a:ext>
            </a:extLst>
          </p:cNvPr>
          <p:cNvSpPr>
            <a:spLocks xmlns:a="http://schemas.openxmlformats.org/drawingml/2006/main" noGrp="1"/>
          </p:cNvSpPr>
          <p:nvPr/>
        </p:nvSpPr>
        <p:spPr>
          <a:xfrm xmlns:a="http://schemas.openxmlformats.org/drawingml/2006/main">
            <a:off x="7181850" y="2886075"/>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Add queue-entry, location and movement events</a:t>
            </a:r>
          </a:p>
        </p:txBody>
      </p:sp>
      <p:sp>
        <p:nvSpPr>
          <p:cNvPr id="32" name="">
            <a:extLst xmlns:a="http://schemas.openxmlformats.org/drawingml/2006/main">
              <a:ext uri="{FF2B5EF4-FFF2-40B4-BE49-F238E27FC236}">
                <a16:creationId xmlns:a16="http://schemas.microsoft.com/office/drawing/2014/main" id="{D0B5807A-B947-4351-8939-4A6EF0DF8AEA}"/>
              </a:ext>
            </a:extLst>
          </p:cNvPr>
          <p:cNvSpPr>
            <a:spLocks xmlns:a="http://schemas.openxmlformats.org/drawingml/2006/main" noGrp="1"/>
          </p:cNvSpPr>
          <p:nvPr/>
        </p:nvSpPr>
        <p:spPr>
          <a:xfrm xmlns:a="http://schemas.openxmlformats.org/drawingml/2006/main">
            <a:off x="6381750" y="3771900"/>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33" name="">
            <a:extLst xmlns:a="http://schemas.openxmlformats.org/drawingml/2006/main">
              <a:ext uri="{FF2B5EF4-FFF2-40B4-BE49-F238E27FC236}">
                <a16:creationId xmlns:a16="http://schemas.microsoft.com/office/drawing/2014/main" id="{60F66DCF-3F4C-4E91-AD00-01BB804905AC}"/>
              </a:ext>
            </a:extLst>
          </p:cNvPr>
          <p:cNvSpPr>
            <a:spLocks xmlns:a="http://schemas.openxmlformats.org/drawingml/2006/main" noGrp="1"/>
          </p:cNvSpPr>
          <p:nvPr/>
        </p:nvSpPr>
        <p:spPr>
          <a:xfrm xmlns:a="http://schemas.openxmlformats.org/drawingml/2006/main">
            <a:off x="6610350" y="4000500"/>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34" name="">
            <a:extLst xmlns:a="http://schemas.openxmlformats.org/drawingml/2006/main">
              <a:ext uri="{FF2B5EF4-FFF2-40B4-BE49-F238E27FC236}">
                <a16:creationId xmlns:a16="http://schemas.microsoft.com/office/drawing/2014/main" id="{04E18D56-33A7-4598-B472-2C3A7ED05C7A}"/>
              </a:ext>
            </a:extLst>
          </p:cNvPr>
          <p:cNvSpPr>
            <a:spLocks xmlns:a="http://schemas.openxmlformats.org/drawingml/2006/main" noGrp="1"/>
          </p:cNvSpPr>
          <p:nvPr/>
        </p:nvSpPr>
        <p:spPr>
          <a:xfrm xmlns:a="http://schemas.openxmlformats.org/drawingml/2006/main">
            <a:off x="6610350" y="40481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3</a:t>
            </a:r>
          </a:p>
        </p:txBody>
      </p:sp>
      <p:sp>
        <p:nvSpPr>
          <p:cNvPr id="35" name="">
            <a:extLst xmlns:a="http://schemas.openxmlformats.org/drawingml/2006/main">
              <a:ext uri="{FF2B5EF4-FFF2-40B4-BE49-F238E27FC236}">
                <a16:creationId xmlns:a16="http://schemas.microsoft.com/office/drawing/2014/main" id="{0CC9CD09-4B4B-4F18-B212-32CD4C3C078D}"/>
              </a:ext>
            </a:extLst>
          </p:cNvPr>
          <p:cNvSpPr>
            <a:spLocks xmlns:a="http://schemas.openxmlformats.org/drawingml/2006/main" noGrp="1"/>
          </p:cNvSpPr>
          <p:nvPr/>
        </p:nvSpPr>
        <p:spPr>
          <a:xfrm xmlns:a="http://schemas.openxmlformats.org/drawingml/2006/main">
            <a:off x="7181850" y="3867150"/>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Hybrid process + discrete-event / agent-based model</a:t>
            </a:r>
          </a:p>
        </p:txBody>
      </p:sp>
      <p:sp>
        <p:nvSpPr>
          <p:cNvPr id="36" name="">
            <a:extLst xmlns:a="http://schemas.openxmlformats.org/drawingml/2006/main">
              <a:ext uri="{FF2B5EF4-FFF2-40B4-BE49-F238E27FC236}">
                <a16:creationId xmlns:a16="http://schemas.microsoft.com/office/drawing/2014/main" id="{4F40B248-2C9C-499B-BB6B-B8946068244D}"/>
              </a:ext>
            </a:extLst>
          </p:cNvPr>
          <p:cNvSpPr>
            <a:spLocks xmlns:a="http://schemas.openxmlformats.org/drawingml/2006/main" noGrp="1"/>
          </p:cNvSpPr>
          <p:nvPr/>
        </p:nvSpPr>
        <p:spPr>
          <a:xfrm xmlns:a="http://schemas.openxmlformats.org/drawingml/2006/main">
            <a:off x="6381750" y="4752975"/>
            <a:ext cx="5191125"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D0D5DD"/>
            </a:solidFill>
            <a:prstDash val="solid"/>
          </a:ln>
        </p:spPr>
      </p:sp>
      <p:sp>
        <p:nvSpPr>
          <p:cNvPr id="37" name="">
            <a:extLst xmlns:a="http://schemas.openxmlformats.org/drawingml/2006/main">
              <a:ext uri="{FF2B5EF4-FFF2-40B4-BE49-F238E27FC236}">
                <a16:creationId xmlns:a16="http://schemas.microsoft.com/office/drawing/2014/main" id="{E38A69F2-605E-4940-BE36-E93EA9B921A4}"/>
              </a:ext>
            </a:extLst>
          </p:cNvPr>
          <p:cNvSpPr>
            <a:spLocks xmlns:a="http://schemas.openxmlformats.org/drawingml/2006/main" noGrp="1"/>
          </p:cNvSpPr>
          <p:nvPr/>
        </p:nvSpPr>
        <p:spPr>
          <a:xfrm xmlns:a="http://schemas.openxmlformats.org/drawingml/2006/main">
            <a:off x="6610350" y="4981575"/>
            <a:ext cx="400050" cy="400050"/>
          </a:xfrm>
          <a:prstGeom xmlns:a="http://schemas.openxmlformats.org/drawingml/2006/main" prst="ellipse">
            <a:avLst/>
          </a:prstGeom>
          <a:solidFill xmlns:a="http://schemas.openxmlformats.org/drawingml/2006/main">
            <a:srgbClr val="16876A"/>
          </a:solidFill>
          <a:ln xmlns:a="http://schemas.openxmlformats.org/drawingml/2006/main" w="9525">
            <a:solidFill>
              <a:srgbClr val="16876A"/>
            </a:solidFill>
            <a:prstDash val="solid"/>
          </a:ln>
        </p:spPr>
      </p:sp>
      <p:sp>
        <p:nvSpPr>
          <p:cNvPr id="38" name="">
            <a:extLst xmlns:a="http://schemas.openxmlformats.org/drawingml/2006/main">
              <a:ext uri="{FF2B5EF4-FFF2-40B4-BE49-F238E27FC236}">
                <a16:creationId xmlns:a16="http://schemas.microsoft.com/office/drawing/2014/main" id="{1BC6A618-C48A-4B5C-9D6E-06B1123E3804}"/>
              </a:ext>
            </a:extLst>
          </p:cNvPr>
          <p:cNvSpPr>
            <a:spLocks xmlns:a="http://schemas.openxmlformats.org/drawingml/2006/main" noGrp="1"/>
          </p:cNvSpPr>
          <p:nvPr/>
        </p:nvSpPr>
        <p:spPr>
          <a:xfrm xmlns:a="http://schemas.openxmlformats.org/drawingml/2006/main">
            <a:off x="6610350" y="50292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i="0">
                <a:solidFill>
                  <a:srgbClr val="FFFFFF"/>
                </a:solidFill>
                <a:latin typeface="Aptos"/>
                <a:ea typeface="Aptos"/>
                <a:cs typeface="Aptos"/>
              </a:defRPr>
            </a:pPr>
            <a:r>
              <a:rPr sz="1650" b="1" i="0">
                <a:solidFill>
                  <a:srgbClr val="FFFFFF"/>
                </a:solidFill>
                <a:latin typeface="Aptos"/>
                <a:ea typeface="Aptos"/>
                <a:cs typeface="Aptos"/>
              </a:rPr>
              <a:t>4</a:t>
            </a:r>
          </a:p>
        </p:txBody>
      </p:sp>
      <p:sp>
        <p:nvSpPr>
          <p:cNvPr id="39" name="">
            <a:extLst xmlns:a="http://schemas.openxmlformats.org/drawingml/2006/main">
              <a:ext uri="{FF2B5EF4-FFF2-40B4-BE49-F238E27FC236}">
                <a16:creationId xmlns:a16="http://schemas.microsoft.com/office/drawing/2014/main" id="{2163CAA9-6708-4233-85B6-3857E393FFBF}"/>
              </a:ext>
            </a:extLst>
          </p:cNvPr>
          <p:cNvSpPr>
            <a:spLocks xmlns:a="http://schemas.openxmlformats.org/drawingml/2006/main" noGrp="1"/>
          </p:cNvSpPr>
          <p:nvPr/>
        </p:nvSpPr>
        <p:spPr>
          <a:xfrm xmlns:a="http://schemas.openxmlformats.org/drawingml/2006/main">
            <a:off x="7181850" y="4848225"/>
            <a:ext cx="4162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575" b="1" i="0">
                <a:solidFill>
                  <a:srgbClr val="0B1220"/>
                </a:solidFill>
                <a:latin typeface="Aptos"/>
                <a:ea typeface="Aptos"/>
                <a:cs typeface="Aptos"/>
              </a:defRPr>
            </a:pPr>
            <a:r>
              <a:rPr sz="1575" b="1" i="0">
                <a:solidFill>
                  <a:srgbClr val="0B1220"/>
                </a:solidFill>
                <a:latin typeface="Aptos"/>
                <a:ea typeface="Aptos"/>
                <a:cs typeface="Aptos"/>
              </a:rPr>
              <a:t>Validate candidate policies against observed outcomes</a:t>
            </a:r>
          </a:p>
        </p:txBody>
      </p:sp>
    </p:spTree>
    <p:extLst>
      <p:ext uri="{BB962C8B-B14F-4D97-AF65-F5344CB8AC3E}">
        <p14:creationId xmlns:p14="http://schemas.microsoft.com/office/powerpoint/2010/main" val="74346406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2CD8722-B45D-464A-80B5-57A0316D4FD1}"/>
              </a:ext>
            </a:extLst>
          </p:cNvPr>
          <p:cNvSpPr>
            <a:spLocks xmlns:a="http://schemas.openxmlformats.org/drawingml/2006/main" noGrp="1"/>
          </p:cNvSpPr>
          <p:nvPr/>
        </p:nvSpPr>
        <p:spPr>
          <a:xfrm xmlns:a="http://schemas.openxmlformats.org/drawingml/2006/main">
            <a:off x="457200" y="2286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i="0">
                <a:solidFill>
                  <a:srgbClr val="C8102E"/>
                </a:solidFill>
                <a:latin typeface="Aptos"/>
                <a:ea typeface="Aptos"/>
                <a:cs typeface="Aptos"/>
              </a:defRPr>
            </a:pPr>
            <a:r>
              <a:rPr sz="1275" b="1" i="0">
                <a:solidFill>
                  <a:srgbClr val="C8102E"/>
                </a:solidFill>
                <a:latin typeface="Aptos"/>
                <a:ea typeface="Aptos"/>
                <a:cs typeface="Aptos"/>
              </a:rPr>
              <a:t>APPENDIX</a:t>
            </a:r>
          </a:p>
        </p:txBody>
      </p:sp>
      <p:sp>
        <p:nvSpPr>
          <p:cNvPr id="2" name="">
            <a:extLst xmlns:a="http://schemas.openxmlformats.org/drawingml/2006/main">
              <a:ext uri="{FF2B5EF4-FFF2-40B4-BE49-F238E27FC236}">
                <a16:creationId xmlns:a16="http://schemas.microsoft.com/office/drawing/2014/main" id="{293E621C-0852-46BF-AB78-D392F1E750FC}"/>
              </a:ext>
            </a:extLst>
          </p:cNvPr>
          <p:cNvSpPr>
            <a:spLocks xmlns:a="http://schemas.openxmlformats.org/drawingml/2006/main" noGrp="1"/>
          </p:cNvSpPr>
          <p:nvPr/>
        </p:nvSpPr>
        <p:spPr>
          <a:xfrm xmlns:a="http://schemas.openxmlformats.org/drawingml/2006/main">
            <a:off x="457200" y="485775"/>
            <a:ext cx="1104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i="0">
                <a:solidFill>
                  <a:srgbClr val="0B1220"/>
                </a:solidFill>
                <a:latin typeface="Aptos"/>
                <a:ea typeface="Aptos"/>
                <a:cs typeface="Aptos"/>
              </a:defRPr>
            </a:pPr>
            <a:r>
              <a:rPr sz="3300" b="1" i="0">
                <a:solidFill>
                  <a:srgbClr val="0B1220"/>
                </a:solidFill>
                <a:latin typeface="Aptos"/>
                <a:ea typeface="Aptos"/>
                <a:cs typeface="Aptos"/>
              </a:rPr>
              <a:t>Likely examiner questions: concise answers</a:t>
            </a:r>
          </a:p>
        </p:txBody>
      </p:sp>
      <p:sp>
        <p:nvSpPr>
          <p:cNvPr id="3" name="">
            <a:extLst xmlns:a="http://schemas.openxmlformats.org/drawingml/2006/main">
              <a:ext uri="{FF2B5EF4-FFF2-40B4-BE49-F238E27FC236}">
                <a16:creationId xmlns:a16="http://schemas.microsoft.com/office/drawing/2014/main" id="{3DD378AE-5733-4875-850D-93283091ACFB}"/>
              </a:ext>
            </a:extLst>
          </p:cNvPr>
          <p:cNvSpPr>
            <a:spLocks xmlns:a="http://schemas.openxmlformats.org/drawingml/2006/main" noGrp="1"/>
          </p:cNvSpPr>
          <p:nvPr/>
        </p:nvSpPr>
        <p:spPr>
          <a:xfrm xmlns:a="http://schemas.openxmlformats.org/drawingml/2006/main">
            <a:off x="457200" y="6486525"/>
            <a:ext cx="10763250" cy="9525"/>
          </a:xfrm>
          <a:prstGeom xmlns:a="http://schemas.openxmlformats.org/drawingml/2006/main" prst="rect">
            <a:avLst/>
          </a:prstGeom>
          <a:solidFill xmlns:a="http://schemas.openxmlformats.org/drawingml/2006/main">
            <a:srgbClr val="D0D5DD"/>
          </a:solidFill>
          <a:ln xmlns:a="http://schemas.openxmlformats.org/drawingml/2006/main" w="0">
            <a:solidFill>
              <a:srgbClr val="D0D5DD"/>
            </a:solidFill>
            <a:prstDash val="solid"/>
          </a:ln>
        </p:spPr>
      </p:sp>
      <p:sp>
        <p:nvSpPr>
          <p:cNvPr id="4" name="">
            <a:extLst xmlns:a="http://schemas.openxmlformats.org/drawingml/2006/main">
              <a:ext uri="{FF2B5EF4-FFF2-40B4-BE49-F238E27FC236}">
                <a16:creationId xmlns:a16="http://schemas.microsoft.com/office/drawing/2014/main" id="{978D03F2-6CF7-49F4-ABED-647E27724A3E}"/>
              </a:ext>
            </a:extLst>
          </p:cNvPr>
          <p:cNvSpPr>
            <a:spLocks xmlns:a="http://schemas.openxmlformats.org/drawingml/2006/main" noGrp="1"/>
          </p:cNvSpPr>
          <p:nvPr/>
        </p:nvSpPr>
        <p:spPr>
          <a:xfrm xmlns:a="http://schemas.openxmlformats.org/drawingml/2006/main">
            <a:off x="457200" y="65436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i="0">
                <a:solidFill>
                  <a:srgbClr val="98A2B3"/>
                </a:solidFill>
                <a:latin typeface="Aptos"/>
                <a:ea typeface="Aptos"/>
                <a:cs typeface="Aptos"/>
              </a:defRPr>
            </a:pPr>
            <a:r>
              <a:rPr sz="1125" b="0" i="0">
                <a:solidFill>
                  <a:srgbClr val="98A2B3"/>
                </a:solidFill>
                <a:latin typeface="Aptos"/>
                <a:ea typeface="Aptos"/>
                <a:cs typeface="Aptos"/>
              </a:rPr>
              <a:t>Jule Grigat · Master’s Thesis Defense</a:t>
            </a:r>
          </a:p>
        </p:txBody>
      </p:sp>
      <p:sp>
        <p:nvSpPr>
          <p:cNvPr id="5" name="">
            <a:extLst xmlns:a="http://schemas.openxmlformats.org/drawingml/2006/main">
              <a:ext uri="{FF2B5EF4-FFF2-40B4-BE49-F238E27FC236}">
                <a16:creationId xmlns:a16="http://schemas.microsoft.com/office/drawing/2014/main" id="{28B52230-9D74-42CA-BA10-050FD2885B53}"/>
              </a:ext>
            </a:extLst>
          </p:cNvPr>
          <p:cNvSpPr>
            <a:spLocks xmlns:a="http://schemas.openxmlformats.org/drawingml/2006/main" noGrp="1"/>
          </p:cNvSpPr>
          <p:nvPr/>
        </p:nvSpPr>
        <p:spPr>
          <a:xfrm xmlns:a="http://schemas.openxmlformats.org/drawingml/2006/main">
            <a:off x="11239500" y="6543675"/>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0" i="0">
                <a:solidFill>
                  <a:srgbClr val="98A2B3"/>
                </a:solidFill>
                <a:latin typeface="Aptos"/>
                <a:ea typeface="Aptos"/>
                <a:cs typeface="Aptos"/>
              </a:defRPr>
            </a:pPr>
            <a:r>
              <a:rPr sz="1125" b="0" i="0">
                <a:solidFill>
                  <a:srgbClr val="98A2B3"/>
                </a:solidFill>
                <a:latin typeface="Aptos"/>
                <a:ea typeface="Aptos"/>
                <a:cs typeface="Aptos"/>
              </a:rPr>
              <a:t>24</a:t>
            </a:r>
          </a:p>
        </p:txBody>
      </p:sp>
      <p:sp>
        <p:nvSpPr>
          <p:cNvPr id="6" name="">
            <a:extLst xmlns:a="http://schemas.openxmlformats.org/drawingml/2006/main">
              <a:ext uri="{FF2B5EF4-FFF2-40B4-BE49-F238E27FC236}">
                <a16:creationId xmlns:a16="http://schemas.microsoft.com/office/drawing/2014/main" id="{49049E84-3876-4768-A78D-261672BEECF3}"/>
              </a:ext>
            </a:extLst>
          </p:cNvPr>
          <p:cNvSpPr>
            <a:spLocks xmlns:a="http://schemas.openxmlformats.org/drawingml/2006/main" noGrp="1"/>
          </p:cNvSpPr>
          <p:nvPr/>
        </p:nvSpPr>
        <p:spPr>
          <a:xfrm xmlns:a="http://schemas.openxmlformats.org/drawingml/2006/main">
            <a:off x="666750" y="1238250"/>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Why not a random split?</a:t>
            </a:r>
          </a:p>
        </p:txBody>
      </p:sp>
      <p:sp>
        <p:nvSpPr>
          <p:cNvPr id="7" name="">
            <a:extLst xmlns:a="http://schemas.openxmlformats.org/drawingml/2006/main">
              <a:ext uri="{FF2B5EF4-FFF2-40B4-BE49-F238E27FC236}">
                <a16:creationId xmlns:a16="http://schemas.microsoft.com/office/drawing/2014/main" id="{CAD39241-BF8B-4E18-BC46-D1E99243BA5A}"/>
              </a:ext>
            </a:extLst>
          </p:cNvPr>
          <p:cNvSpPr>
            <a:spLocks xmlns:a="http://schemas.openxmlformats.org/drawingml/2006/main" noGrp="1"/>
          </p:cNvSpPr>
          <p:nvPr/>
        </p:nvSpPr>
        <p:spPr>
          <a:xfrm xmlns:a="http://schemas.openxmlformats.org/drawingml/2006/main">
            <a:off x="4495800" y="1143000"/>
            <a:ext cx="7105650" cy="666750"/>
          </a:xfrm>
          <a:prstGeom xmlns:a="http://schemas.openxmlformats.org/drawingml/2006/main" prst="roundRect">
            <a:avLst>
              <a:gd name="adj" fmla="val 17143"/>
            </a:avLst>
          </a:prstGeom>
          <a:solidFill xmlns:a="http://schemas.openxmlformats.org/drawingml/2006/main">
            <a:srgbClr val="F8FAF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B51EAC-2864-42F7-9786-DF98CC43BBB6}"/>
              </a:ext>
            </a:extLst>
          </p:cNvPr>
          <p:cNvSpPr>
            <a:spLocks xmlns:a="http://schemas.openxmlformats.org/drawingml/2006/main" noGrp="1"/>
          </p:cNvSpPr>
          <p:nvPr/>
        </p:nvSpPr>
        <p:spPr>
          <a:xfrm xmlns:a="http://schemas.openxmlformats.org/drawingml/2006/main">
            <a:off x="4724400" y="1247775"/>
            <a:ext cx="661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It would mix the later-period shift into training and test, overstating transfer.</a:t>
            </a:r>
          </a:p>
        </p:txBody>
      </p:sp>
      <p:sp>
        <p:nvSpPr>
          <p:cNvPr id="9" name="">
            <a:extLst xmlns:a="http://schemas.openxmlformats.org/drawingml/2006/main">
              <a:ext uri="{FF2B5EF4-FFF2-40B4-BE49-F238E27FC236}">
                <a16:creationId xmlns:a16="http://schemas.microsoft.com/office/drawing/2014/main" id="{2C627055-0CB8-4223-823B-75C0E606D4D0}"/>
              </a:ext>
            </a:extLst>
          </p:cNvPr>
          <p:cNvSpPr>
            <a:spLocks xmlns:a="http://schemas.openxmlformats.org/drawingml/2006/main" noGrp="1"/>
          </p:cNvSpPr>
          <p:nvPr/>
        </p:nvSpPr>
        <p:spPr>
          <a:xfrm xmlns:a="http://schemas.openxmlformats.org/drawingml/2006/main">
            <a:off x="666750" y="208597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Why use the context-aware model for scenarios?</a:t>
            </a:r>
          </a:p>
        </p:txBody>
      </p:sp>
      <p:sp>
        <p:nvSpPr>
          <p:cNvPr id="10" name="">
            <a:extLst xmlns:a="http://schemas.openxmlformats.org/drawingml/2006/main">
              <a:ext uri="{FF2B5EF4-FFF2-40B4-BE49-F238E27FC236}">
                <a16:creationId xmlns:a16="http://schemas.microsoft.com/office/drawing/2014/main" id="{B25194D3-80B0-4550-B389-AC226092E14F}"/>
              </a:ext>
            </a:extLst>
          </p:cNvPr>
          <p:cNvSpPr>
            <a:spLocks xmlns:a="http://schemas.openxmlformats.org/drawingml/2006/main" noGrp="1"/>
          </p:cNvSpPr>
          <p:nvPr/>
        </p:nvSpPr>
        <p:spPr>
          <a:xfrm xmlns:a="http://schemas.openxmlformats.org/drawingml/2006/main">
            <a:off x="4495800" y="1990725"/>
            <a:ext cx="710565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CCD9D1E-F584-4E81-8CEB-2B9E0112FC67}"/>
              </a:ext>
            </a:extLst>
          </p:cNvPr>
          <p:cNvSpPr>
            <a:spLocks xmlns:a="http://schemas.openxmlformats.org/drawingml/2006/main" noGrp="1"/>
          </p:cNvSpPr>
          <p:nvPr/>
        </p:nvSpPr>
        <p:spPr>
          <a:xfrm xmlns:a="http://schemas.openxmlformats.org/drawingml/2006/main">
            <a:off x="4724400" y="2095500"/>
            <a:ext cx="661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Its white-box rules can be inspected and changed; it was not selected as the best forecaster.</a:t>
            </a:r>
          </a:p>
        </p:txBody>
      </p:sp>
      <p:sp>
        <p:nvSpPr>
          <p:cNvPr id="12" name="">
            <a:extLst xmlns:a="http://schemas.openxmlformats.org/drawingml/2006/main">
              <a:ext uri="{FF2B5EF4-FFF2-40B4-BE49-F238E27FC236}">
                <a16:creationId xmlns:a16="http://schemas.microsoft.com/office/drawing/2014/main" id="{B647E151-3680-49F9-8DBA-70261DCA8964}"/>
              </a:ext>
            </a:extLst>
          </p:cNvPr>
          <p:cNvSpPr>
            <a:spLocks xmlns:a="http://schemas.openxmlformats.org/drawingml/2006/main" noGrp="1"/>
          </p:cNvSpPr>
          <p:nvPr/>
        </p:nvSpPr>
        <p:spPr>
          <a:xfrm xmlns:a="http://schemas.openxmlformats.org/drawingml/2006/main">
            <a:off x="666750" y="2933700"/>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Does near-perfect fitness prove validity?</a:t>
            </a:r>
          </a:p>
        </p:txBody>
      </p:sp>
      <p:sp>
        <p:nvSpPr>
          <p:cNvPr id="13" name="">
            <a:extLst xmlns:a="http://schemas.openxmlformats.org/drawingml/2006/main">
              <a:ext uri="{FF2B5EF4-FFF2-40B4-BE49-F238E27FC236}">
                <a16:creationId xmlns:a16="http://schemas.microsoft.com/office/drawing/2014/main" id="{695D6D62-C3D1-4D70-A60D-DF0C8B8EBB08}"/>
              </a:ext>
            </a:extLst>
          </p:cNvPr>
          <p:cNvSpPr>
            <a:spLocks xmlns:a="http://schemas.openxmlformats.org/drawingml/2006/main" noGrp="1"/>
          </p:cNvSpPr>
          <p:nvPr/>
        </p:nvSpPr>
        <p:spPr>
          <a:xfrm xmlns:a="http://schemas.openxmlformats.org/drawingml/2006/main">
            <a:off x="4495800" y="2838450"/>
            <a:ext cx="7105650" cy="666750"/>
          </a:xfrm>
          <a:prstGeom xmlns:a="http://schemas.openxmlformats.org/drawingml/2006/main" prst="roundRect">
            <a:avLst>
              <a:gd name="adj" fmla="val 17143"/>
            </a:avLst>
          </a:prstGeom>
          <a:solidFill xmlns:a="http://schemas.openxmlformats.org/drawingml/2006/main">
            <a:srgbClr val="F8FAF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B6390D5-23CD-4A4B-9E93-C3E4AA880DAF}"/>
              </a:ext>
            </a:extLst>
          </p:cNvPr>
          <p:cNvSpPr>
            <a:spLocks xmlns:a="http://schemas.openxmlformats.org/drawingml/2006/main" noGrp="1"/>
          </p:cNvSpPr>
          <p:nvPr/>
        </p:nvSpPr>
        <p:spPr>
          <a:xfrm xmlns:a="http://schemas.openxmlformats.org/drawingml/2006/main">
            <a:off x="4724400" y="2943225"/>
            <a:ext cx="661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No. It proves replay capability; timing and physical mechanisms require separate tests.</a:t>
            </a:r>
          </a:p>
        </p:txBody>
      </p:sp>
      <p:sp>
        <p:nvSpPr>
          <p:cNvPr id="15" name="">
            <a:extLst xmlns:a="http://schemas.openxmlformats.org/drawingml/2006/main">
              <a:ext uri="{FF2B5EF4-FFF2-40B4-BE49-F238E27FC236}">
                <a16:creationId xmlns:a16="http://schemas.microsoft.com/office/drawing/2014/main" id="{C1D5EFEA-3846-40D3-BD95-9791BA5A1E80}"/>
              </a:ext>
            </a:extLst>
          </p:cNvPr>
          <p:cNvSpPr>
            <a:spLocks xmlns:a="http://schemas.openxmlformats.org/drawingml/2006/main" noGrp="1"/>
          </p:cNvSpPr>
          <p:nvPr/>
        </p:nvSpPr>
        <p:spPr>
          <a:xfrm xmlns:a="http://schemas.openxmlformats.org/drawingml/2006/main">
            <a:off x="666750" y="378142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Why can demand rise without congestion?</a:t>
            </a:r>
          </a:p>
        </p:txBody>
      </p:sp>
      <p:sp>
        <p:nvSpPr>
          <p:cNvPr id="16" name="">
            <a:extLst xmlns:a="http://schemas.openxmlformats.org/drawingml/2006/main">
              <a:ext uri="{FF2B5EF4-FFF2-40B4-BE49-F238E27FC236}">
                <a16:creationId xmlns:a16="http://schemas.microsoft.com/office/drawing/2014/main" id="{6A28BB96-C3A9-41A0-A8B1-593213D91C94}"/>
              </a:ext>
            </a:extLst>
          </p:cNvPr>
          <p:cNvSpPr>
            <a:spLocks xmlns:a="http://schemas.openxmlformats.org/drawingml/2006/main" noGrp="1"/>
          </p:cNvSpPr>
          <p:nvPr/>
        </p:nvSpPr>
        <p:spPr>
          <a:xfrm xmlns:a="http://schemas.openxmlformats.org/drawingml/2006/main">
            <a:off x="4495800" y="3686175"/>
            <a:ext cx="710565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704B8EE-0DC2-46A9-9C63-CBA3C0187A7F}"/>
              </a:ext>
            </a:extLst>
          </p:cNvPr>
          <p:cNvSpPr>
            <a:spLocks xmlns:a="http://schemas.openxmlformats.org/drawingml/2006/main" noGrp="1"/>
          </p:cNvSpPr>
          <p:nvPr/>
        </p:nvSpPr>
        <p:spPr>
          <a:xfrm xmlns:a="http://schemas.openxmlformats.org/drawingml/2006/main">
            <a:off x="4724400" y="3790950"/>
            <a:ext cx="661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The simulator lacks explicit queue, location and equipment-interaction state.</a:t>
            </a:r>
          </a:p>
        </p:txBody>
      </p:sp>
      <p:sp>
        <p:nvSpPr>
          <p:cNvPr id="18" name="">
            <a:extLst xmlns:a="http://schemas.openxmlformats.org/drawingml/2006/main">
              <a:ext uri="{FF2B5EF4-FFF2-40B4-BE49-F238E27FC236}">
                <a16:creationId xmlns:a16="http://schemas.microsoft.com/office/drawing/2014/main" id="{99109C1B-CB05-4E40-B261-2A15A175DBD4}"/>
              </a:ext>
            </a:extLst>
          </p:cNvPr>
          <p:cNvSpPr>
            <a:spLocks xmlns:a="http://schemas.openxmlformats.org/drawingml/2006/main" noGrp="1"/>
          </p:cNvSpPr>
          <p:nvPr/>
        </p:nvSpPr>
        <p:spPr>
          <a:xfrm xmlns:a="http://schemas.openxmlformats.org/drawingml/2006/main">
            <a:off x="666750" y="4629150"/>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Would you deploy it operationally?</a:t>
            </a:r>
          </a:p>
        </p:txBody>
      </p:sp>
      <p:sp>
        <p:nvSpPr>
          <p:cNvPr id="19" name="">
            <a:extLst xmlns:a="http://schemas.openxmlformats.org/drawingml/2006/main">
              <a:ext uri="{FF2B5EF4-FFF2-40B4-BE49-F238E27FC236}">
                <a16:creationId xmlns:a16="http://schemas.microsoft.com/office/drawing/2014/main" id="{0CE711FE-193A-4F6A-9CF5-57DA42D67F47}"/>
              </a:ext>
            </a:extLst>
          </p:cNvPr>
          <p:cNvSpPr>
            <a:spLocks xmlns:a="http://schemas.openxmlformats.org/drawingml/2006/main" noGrp="1"/>
          </p:cNvSpPr>
          <p:nvPr/>
        </p:nvSpPr>
        <p:spPr>
          <a:xfrm xmlns:a="http://schemas.openxmlformats.org/drawingml/2006/main">
            <a:off x="4495800" y="4533900"/>
            <a:ext cx="7105650" cy="666750"/>
          </a:xfrm>
          <a:prstGeom xmlns:a="http://schemas.openxmlformats.org/drawingml/2006/main" prst="roundRect">
            <a:avLst>
              <a:gd name="adj" fmla="val 17143"/>
            </a:avLst>
          </a:prstGeom>
          <a:solidFill xmlns:a="http://schemas.openxmlformats.org/drawingml/2006/main">
            <a:srgbClr val="F8FAF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D00201D-63C9-47BF-A97B-9BF9423CED2A}"/>
              </a:ext>
            </a:extLst>
          </p:cNvPr>
          <p:cNvSpPr>
            <a:spLocks xmlns:a="http://schemas.openxmlformats.org/drawingml/2006/main" noGrp="1"/>
          </p:cNvSpPr>
          <p:nvPr/>
        </p:nvSpPr>
        <p:spPr>
          <a:xfrm xmlns:a="http://schemas.openxmlformats.org/drawingml/2006/main">
            <a:off x="4724400" y="4638675"/>
            <a:ext cx="661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As an auditable diagnostic and experiment scaffold—yes; for prescriptive physical claims—not yet.</a:t>
            </a:r>
          </a:p>
        </p:txBody>
      </p:sp>
      <p:sp>
        <p:nvSpPr>
          <p:cNvPr id="21" name="">
            <a:extLst xmlns:a="http://schemas.openxmlformats.org/drawingml/2006/main">
              <a:ext uri="{FF2B5EF4-FFF2-40B4-BE49-F238E27FC236}">
                <a16:creationId xmlns:a16="http://schemas.microsoft.com/office/drawing/2014/main" id="{9508C996-CD20-4EAD-ABCF-47F2DF2CC8D3}"/>
              </a:ext>
            </a:extLst>
          </p:cNvPr>
          <p:cNvSpPr>
            <a:spLocks xmlns:a="http://schemas.openxmlformats.org/drawingml/2006/main" noGrp="1"/>
          </p:cNvSpPr>
          <p:nvPr/>
        </p:nvSpPr>
        <p:spPr>
          <a:xfrm xmlns:a="http://schemas.openxmlformats.org/drawingml/2006/main">
            <a:off x="666750" y="5476875"/>
            <a:ext cx="3714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i="0">
                <a:solidFill>
                  <a:srgbClr val="0B1220"/>
                </a:solidFill>
                <a:latin typeface="Aptos"/>
                <a:ea typeface="Aptos"/>
                <a:cs typeface="Aptos"/>
              </a:defRPr>
            </a:pPr>
            <a:r>
              <a:rPr sz="1650" b="1" i="0">
                <a:solidFill>
                  <a:srgbClr val="0B1220"/>
                </a:solidFill>
                <a:latin typeface="Aptos"/>
                <a:ea typeface="Aptos"/>
                <a:cs typeface="Aptos"/>
              </a:rPr>
              <a:t>What is the main contribution?</a:t>
            </a:r>
          </a:p>
        </p:txBody>
      </p:sp>
      <p:sp>
        <p:nvSpPr>
          <p:cNvPr id="22" name="">
            <a:extLst xmlns:a="http://schemas.openxmlformats.org/drawingml/2006/main">
              <a:ext uri="{FF2B5EF4-FFF2-40B4-BE49-F238E27FC236}">
                <a16:creationId xmlns:a16="http://schemas.microsoft.com/office/drawing/2014/main" id="{06DE6C00-D3FE-4693-853D-C7C244CD01C3}"/>
              </a:ext>
            </a:extLst>
          </p:cNvPr>
          <p:cNvSpPr>
            <a:spLocks xmlns:a="http://schemas.openxmlformats.org/drawingml/2006/main" noGrp="1"/>
          </p:cNvSpPr>
          <p:nvPr/>
        </p:nvSpPr>
        <p:spPr>
          <a:xfrm xmlns:a="http://schemas.openxmlformats.org/drawingml/2006/main">
            <a:off x="4495800" y="5381625"/>
            <a:ext cx="7105650" cy="666750"/>
          </a:xfrm>
          <a:prstGeom xmlns:a="http://schemas.openxmlformats.org/drawingml/2006/main" prst="roundRect">
            <a:avLst>
              <a:gd name="adj" fmla="val 17143"/>
            </a:avLst>
          </a:prstGeom>
          <a:solidFill xmlns:a="http://schemas.openxmlformats.org/drawingml/2006/main">
            <a:srgbClr val="FFFF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81DEB79-6592-4D26-9B01-EA8C213CE058}"/>
              </a:ext>
            </a:extLst>
          </p:cNvPr>
          <p:cNvSpPr>
            <a:spLocks xmlns:a="http://schemas.openxmlformats.org/drawingml/2006/main" noGrp="1"/>
          </p:cNvSpPr>
          <p:nvPr/>
        </p:nvSpPr>
        <p:spPr>
          <a:xfrm xmlns:a="http://schemas.openxmlformats.org/drawingml/2006/main">
            <a:off x="4724400" y="5486400"/>
            <a:ext cx="6610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i="0">
                <a:solidFill>
                  <a:srgbClr val="5F6B7A"/>
                </a:solidFill>
                <a:latin typeface="Aptos"/>
                <a:ea typeface="Aptos"/>
                <a:cs typeface="Aptos"/>
              </a:defRPr>
            </a:pPr>
            <a:r>
              <a:rPr sz="1575" b="0" i="0">
                <a:solidFill>
                  <a:srgbClr val="5F6B7A"/>
                </a:solidFill>
                <a:latin typeface="Aptos"/>
                <a:ea typeface="Aptos"/>
                <a:cs typeface="Aptos"/>
              </a:rPr>
              <a:t>A reproducible empirical boundary between learned event-log patterns and absent physical mechanisms.</a:t>
            </a:r>
          </a:p>
        </p:txBody>
      </p:sp>
    </p:spTree>
    <p:extLst>
      <p:ext uri="{BB962C8B-B14F-4D97-AF65-F5344CB8AC3E}">
        <p14:creationId xmlns:p14="http://schemas.microsoft.com/office/powerpoint/2010/main" val="17663304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2026-08-25T11:31:30.9490000Z</dcterms:created>
  <dcterms:modified xsi:type="dcterms:W3CDTF">2026-08-25T11:31:30.9490000Z</dcterms:modified>
</coreProperties>
</file>