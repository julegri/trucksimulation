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82c9d4e9bf4fba" /><Relationship Type="http://schemas.openxmlformats.org/officeDocument/2006/relationships/extended-properties" Target="/docProps/app.xml" Id="R3ba73631b85f4719" /><Relationship Type="http://schemas.openxmlformats.org/officeDocument/2006/relationships/officeDocument" Target="/ppt/presentation.xml" Id="Rdeab796af5954826" /></Relationships>
</file>

<file path=ppt/presentation.xml><?xml version="1.0" encoding="utf-8"?>
<p:presentation xmlns:p="http://schemas.openxmlformats.org/presentationml/2006/main">
  <p:sldMasterIdLst>
    <p:sldMasterId xmlns:r="http://schemas.openxmlformats.org/officeDocument/2006/relationships" id="2147483648" r:id="Rd49da04f95924c1b"/>
  </p:sldMasterIdLst>
  <p:notesMasterIdLst>
    <p:notesMasterId xmlns:r="http://schemas.openxmlformats.org/officeDocument/2006/relationships" r:id="R77916840a1664b77"/>
  </p:notesMasterIdLst>
  <p:sldIdLst>
    <p:sldId xmlns:r="http://schemas.openxmlformats.org/officeDocument/2006/relationships" id="256" r:id="Rb3fa6619ad594536"/>
    <p:sldId xmlns:r="http://schemas.openxmlformats.org/officeDocument/2006/relationships" id="257" r:id="Rbbd99a722d84417d"/>
    <p:sldId xmlns:r="http://schemas.openxmlformats.org/officeDocument/2006/relationships" id="258" r:id="Rb14b4a7232c1466f"/>
    <p:sldId xmlns:r="http://schemas.openxmlformats.org/officeDocument/2006/relationships" id="259" r:id="Rf36e44a8bec54b77"/>
    <p:sldId xmlns:r="http://schemas.openxmlformats.org/officeDocument/2006/relationships" id="260" r:id="R34486a89bdbb4afb"/>
    <p:sldId xmlns:r="http://schemas.openxmlformats.org/officeDocument/2006/relationships" id="261" r:id="R8221eeec7b11457a"/>
    <p:sldId xmlns:r="http://schemas.openxmlformats.org/officeDocument/2006/relationships" id="262" r:id="Rad133735be0c4394"/>
    <p:sldId xmlns:r="http://schemas.openxmlformats.org/officeDocument/2006/relationships" id="263" r:id="R416149d827bd4f69"/>
    <p:sldId xmlns:r="http://schemas.openxmlformats.org/officeDocument/2006/relationships" id="264" r:id="Rf520ebf7be0b452a"/>
    <p:sldId xmlns:r="http://schemas.openxmlformats.org/officeDocument/2006/relationships" id="265" r:id="R8641c5ab3bdd4c10"/>
    <p:sldId xmlns:r="http://schemas.openxmlformats.org/officeDocument/2006/relationships" id="266" r:id="R504eec64834c4aee"/>
    <p:sldId xmlns:r="http://schemas.openxmlformats.org/officeDocument/2006/relationships" id="267" r:id="R778fbe96ae2f4ed4"/>
    <p:sldId xmlns:r="http://schemas.openxmlformats.org/officeDocument/2006/relationships" id="268" r:id="R95e2a2e5f939414d"/>
    <p:sldId xmlns:r="http://schemas.openxmlformats.org/officeDocument/2006/relationships" id="269" r:id="Rb8c1985297e54598"/>
    <p:sldId xmlns:r="http://schemas.openxmlformats.org/officeDocument/2006/relationships" id="270" r:id="R07a5274e42ff416b"/>
    <p:sldId xmlns:r="http://schemas.openxmlformats.org/officeDocument/2006/relationships" id="271" r:id="Rec17bf4ebe484067"/>
    <p:sldId xmlns:r="http://schemas.openxmlformats.org/officeDocument/2006/relationships" id="272" r:id="R9f911bc4f1594701"/>
    <p:sldId xmlns:r="http://schemas.openxmlformats.org/officeDocument/2006/relationships" id="273" r:id="R903b273005c64486"/>
    <p:sldId xmlns:r="http://schemas.openxmlformats.org/officeDocument/2006/relationships" id="274" r:id="R90e84b277aa74855"/>
    <p:sldId xmlns:r="http://schemas.openxmlformats.org/officeDocument/2006/relationships" id="275" r:id="Rf1f5fe94f20a4e46"/>
    <p:sldId xmlns:r="http://schemas.openxmlformats.org/officeDocument/2006/relationships" id="276" r:id="R1bb1fc2612a2433e"/>
    <p:sldId xmlns:r="http://schemas.openxmlformats.org/officeDocument/2006/relationships" id="277" r:id="R6c36d434b5314aa6"/>
    <p:sldId xmlns:r="http://schemas.openxmlformats.org/officeDocument/2006/relationships" id="278" r:id="R279d0f1d1c154d48"/>
    <p:sldId xmlns:r="http://schemas.openxmlformats.org/officeDocument/2006/relationships" id="279" r:id="R33b57f5d6d0141c3"/>
    <p:sldId xmlns:r="http://schemas.openxmlformats.org/officeDocument/2006/relationships" id="280" r:id="R6bdade60138b43e8"/>
    <p:sldId xmlns:r="http://schemas.openxmlformats.org/officeDocument/2006/relationships" id="281" r:id="R1d5ea868dd314a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2bddb69eeb430e" /><Relationship Type="http://schemas.openxmlformats.org/officeDocument/2006/relationships/slideMaster" Target="/ppt/slideMasters/slideMaster1.xml" Id="Rd49da04f95924c1b" /><Relationship Type="http://schemas.openxmlformats.org/officeDocument/2006/relationships/notesMaster" Target="/ppt/notesMasters/notesMaster1.xml" Id="R77916840a1664b77" /><Relationship Type="http://schemas.openxmlformats.org/officeDocument/2006/relationships/presProps" Target="/ppt/presProps.xml" Id="R8476c3188729436d" /><Relationship Type="http://schemas.openxmlformats.org/officeDocument/2006/relationships/tableStyles" Target="/ppt/tableStyles.xml" Id="Rb77ca0b8eac74dd5" /><Relationship Type="http://schemas.openxmlformats.org/officeDocument/2006/relationships/slide" Target="/ppt/slides/slide1.xml" Id="Rb3fa6619ad594536" /><Relationship Type="http://schemas.openxmlformats.org/officeDocument/2006/relationships/slide" Target="/ppt/slides/slide2.xml" Id="Rbbd99a722d84417d" /><Relationship Type="http://schemas.openxmlformats.org/officeDocument/2006/relationships/slide" Target="/ppt/slides/slide3.xml" Id="Rb14b4a7232c1466f" /><Relationship Type="http://schemas.openxmlformats.org/officeDocument/2006/relationships/slide" Target="/ppt/slides/slide4.xml" Id="Rf36e44a8bec54b77" /><Relationship Type="http://schemas.openxmlformats.org/officeDocument/2006/relationships/slide" Target="/ppt/slides/slide5.xml" Id="R34486a89bdbb4afb" /><Relationship Type="http://schemas.openxmlformats.org/officeDocument/2006/relationships/slide" Target="/ppt/slides/slide6.xml" Id="R8221eeec7b11457a" /><Relationship Type="http://schemas.openxmlformats.org/officeDocument/2006/relationships/slide" Target="/ppt/slides/slide7.xml" Id="Rad133735be0c4394" /><Relationship Type="http://schemas.openxmlformats.org/officeDocument/2006/relationships/slide" Target="/ppt/slides/slide8.xml" Id="R416149d827bd4f69" /><Relationship Type="http://schemas.openxmlformats.org/officeDocument/2006/relationships/slide" Target="/ppt/slides/slide9.xml" Id="Rf520ebf7be0b452a" /><Relationship Type="http://schemas.openxmlformats.org/officeDocument/2006/relationships/slide" Target="/ppt/slides/slide10.xml" Id="R8641c5ab3bdd4c10" /><Relationship Type="http://schemas.openxmlformats.org/officeDocument/2006/relationships/slide" Target="/ppt/slides/slide11.xml" Id="R504eec64834c4aee" /><Relationship Type="http://schemas.openxmlformats.org/officeDocument/2006/relationships/slide" Target="/ppt/slides/slide12.xml" Id="R778fbe96ae2f4ed4" /><Relationship Type="http://schemas.openxmlformats.org/officeDocument/2006/relationships/slide" Target="/ppt/slides/slide13.xml" Id="R95e2a2e5f939414d" /><Relationship Type="http://schemas.openxmlformats.org/officeDocument/2006/relationships/slide" Target="/ppt/slides/slide14.xml" Id="Rb8c1985297e54598" /><Relationship Type="http://schemas.openxmlformats.org/officeDocument/2006/relationships/slide" Target="/ppt/slides/slide15.xml" Id="R07a5274e42ff416b" /><Relationship Type="http://schemas.openxmlformats.org/officeDocument/2006/relationships/slide" Target="/ppt/slides/slide16.xml" Id="Rec17bf4ebe484067" /><Relationship Type="http://schemas.openxmlformats.org/officeDocument/2006/relationships/slide" Target="/ppt/slides/slide17.xml" Id="R9f911bc4f1594701" /><Relationship Type="http://schemas.openxmlformats.org/officeDocument/2006/relationships/slide" Target="/ppt/slides/slide18.xml" Id="R903b273005c64486" /><Relationship Type="http://schemas.openxmlformats.org/officeDocument/2006/relationships/slide" Target="/ppt/slides/slide19.xml" Id="R90e84b277aa74855" /><Relationship Type="http://schemas.openxmlformats.org/officeDocument/2006/relationships/slide" Target="/ppt/slides/slide20.xml" Id="Rf1f5fe94f20a4e46" /><Relationship Type="http://schemas.openxmlformats.org/officeDocument/2006/relationships/slide" Target="/ppt/slides/slide21.xml" Id="R1bb1fc2612a2433e" /><Relationship Type="http://schemas.openxmlformats.org/officeDocument/2006/relationships/slide" Target="/ppt/slides/slide22.xml" Id="R6c36d434b5314aa6" /><Relationship Type="http://schemas.openxmlformats.org/officeDocument/2006/relationships/slide" Target="/ppt/slides/slide23.xml" Id="R279d0f1d1c154d48" /><Relationship Type="http://schemas.openxmlformats.org/officeDocument/2006/relationships/slide" Target="/ppt/slides/slide24.xml" Id="R33b57f5d6d0141c3" /><Relationship Type="http://schemas.openxmlformats.org/officeDocument/2006/relationships/slide" Target="/ppt/slides/slide25.xml" Id="R6bdade60138b43e8" /><Relationship Type="http://schemas.openxmlformats.org/officeDocument/2006/relationships/slide" Target="/ppt/slides/slide26.xml" Id="R1d5ea868dd314a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81be08972147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1d75f8e1b74ca6" /><Relationship Type="http://schemas.openxmlformats.org/officeDocument/2006/relationships/notesMaster" Target="/ppt/notesMasters/notesMaster1.xml" Id="Rc071c58b82d64a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4322a55fde44c1" /><Relationship Type="http://schemas.openxmlformats.org/officeDocument/2006/relationships/notesMaster" Target="/ppt/notesMasters/notesMaster1.xml" Id="R70617e6e07f843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5ed696f3fb4d47" /><Relationship Type="http://schemas.openxmlformats.org/officeDocument/2006/relationships/notesMaster" Target="/ppt/notesMasters/notesMaster1.xml" Id="R7464472013864c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78ada361144a5c" /><Relationship Type="http://schemas.openxmlformats.org/officeDocument/2006/relationships/notesMaster" Target="/ppt/notesMasters/notesMaster1.xml" Id="R3e2158484a2a44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82234097574143" /><Relationship Type="http://schemas.openxmlformats.org/officeDocument/2006/relationships/notesMaster" Target="/ppt/notesMasters/notesMaster1.xml" Id="Ra74cdba4c17840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7de2107a1c4b46" /><Relationship Type="http://schemas.openxmlformats.org/officeDocument/2006/relationships/notesMaster" Target="/ppt/notesMasters/notesMaster1.xml" Id="R32432d9047084c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fa8a4512184169" /><Relationship Type="http://schemas.openxmlformats.org/officeDocument/2006/relationships/notesMaster" Target="/ppt/notesMasters/notesMaster1.xml" Id="R22084382a8524a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e81193fcb944be" /><Relationship Type="http://schemas.openxmlformats.org/officeDocument/2006/relationships/notesMaster" Target="/ppt/notesMasters/notesMaster1.xml" Id="R137c7a30276444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0fa1cc73704614" /><Relationship Type="http://schemas.openxmlformats.org/officeDocument/2006/relationships/notesMaster" Target="/ppt/notesMasters/notesMaster1.xml" Id="Ra3841ce4ccd046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f6b1763ae5455a" /><Relationship Type="http://schemas.openxmlformats.org/officeDocument/2006/relationships/notesMaster" Target="/ppt/notesMasters/notesMaster1.xml" Id="R56b9c9a94ae444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05d001520c4714" /><Relationship Type="http://schemas.openxmlformats.org/officeDocument/2006/relationships/notesMaster" Target="/ppt/notesMasters/notesMaster1.xml" Id="Rfe2b1c013ac1482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447dac354247be" /><Relationship Type="http://schemas.openxmlformats.org/officeDocument/2006/relationships/notesMaster" Target="/ppt/notesMasters/notesMaster1.xml" Id="Rad1a3173e1c145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9b8c7bd3b754a63" /><Relationship Type="http://schemas.openxmlformats.org/officeDocument/2006/relationships/notesMaster" Target="/ppt/notesMasters/notesMaster1.xml" Id="R8d9a55b1ab9a4b6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af5a76d3a524ac7" /><Relationship Type="http://schemas.openxmlformats.org/officeDocument/2006/relationships/notesMaster" Target="/ppt/notesMasters/notesMaster1.xml" Id="R482d16e7f23742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a51880e3dd549f8" /><Relationship Type="http://schemas.openxmlformats.org/officeDocument/2006/relationships/notesMaster" Target="/ppt/notesMasters/notesMaster1.xml" Id="R40fb1d092bf94b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81ce584c1584ada" /><Relationship Type="http://schemas.openxmlformats.org/officeDocument/2006/relationships/notesMaster" Target="/ppt/notesMasters/notesMaster1.xml" Id="R5aa1abf705274ec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2736761198e486a" /><Relationship Type="http://schemas.openxmlformats.org/officeDocument/2006/relationships/notesMaster" Target="/ppt/notesMasters/notesMaster1.xml" Id="Rde632f8b3a384d5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21cc285b3424d3b" /><Relationship Type="http://schemas.openxmlformats.org/officeDocument/2006/relationships/notesMaster" Target="/ppt/notesMasters/notesMaster1.xml" Id="Rb893f6579e0140b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f2a8f3e892442c0" /><Relationship Type="http://schemas.openxmlformats.org/officeDocument/2006/relationships/notesMaster" Target="/ppt/notesMasters/notesMaster1.xml" Id="Ra8dabaeec975418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8fef2a7ce1047ad" /><Relationship Type="http://schemas.openxmlformats.org/officeDocument/2006/relationships/notesMaster" Target="/ppt/notesMasters/notesMaster1.xml" Id="Rc8a25ea2d97d464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7cce5ad4dc845ab" /><Relationship Type="http://schemas.openxmlformats.org/officeDocument/2006/relationships/notesMaster" Target="/ppt/notesMasters/notesMaster1.xml" Id="Reaf5a005c692407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29a0b5ab0c34109" /><Relationship Type="http://schemas.openxmlformats.org/officeDocument/2006/relationships/notesMaster" Target="/ppt/notesMasters/notesMaster1.xml" Id="Rf519f56c72f6447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7c29fa9ddbf4cdb" /><Relationship Type="http://schemas.openxmlformats.org/officeDocument/2006/relationships/notesMaster" Target="/ppt/notesMasters/notesMaster1.xml" Id="Rfe348ae359b44fa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f0709c1b73e42bf" /><Relationship Type="http://schemas.openxmlformats.org/officeDocument/2006/relationships/notesMaster" Target="/ppt/notesMasters/notesMaster1.xml" Id="R6cb079201f9249b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ad3ca44250a406c" /><Relationship Type="http://schemas.openxmlformats.org/officeDocument/2006/relationships/notesMaster" Target="/ppt/notesMasters/notesMaster1.xml" Id="R4442a87d8579466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fbda9ea7f724634" /><Relationship Type="http://schemas.openxmlformats.org/officeDocument/2006/relationships/notesMaster" Target="/ppt/notesMasters/notesMaster1.xml" Id="Rcb42ab0200734d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claim: the thesis tests how far automatic data-aware simulation transfers into a physical logistics setting. Do not promise a validated digital twin.</a:t>
            </a:r>
          </a:p>
          <a:p xmlns:a="http://schemas.openxmlformats.org/drawingml/2006/main">
            <a:r>
              <a:t/>
            </a:r>
          </a:p>
          <a:p xmlns:a="http://schemas.openxmlformats.org/drawingml/2006/main">
            <a:r>
              <a:t>[Sources]</a:t>
            </a:r>
          </a:p>
          <a:p xmlns:a="http://schemas.openxmlformats.org/drawingml/2006/main">
            <a:r>
              <a:t>- Final submitted thesis, title page and abstract.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Link the use case to management decisions: gate staffing and truck-slot availability influence admitted arrivals, while construction or mechanical failure can remove a block. The data record events, not the full physical state that propagates those decisions.</a:t>
            </a:r>
          </a:p>
          <a:p xmlns:a="http://schemas.openxmlformats.org/drawingml/2006/main">
            <a:r>
              <a:t/>
            </a:r>
          </a:p>
          <a:p xmlns:a="http://schemas.openxmlformats.org/drawingml/2006/main">
            <a:r>
              <a:t>[Sources]</a:t>
            </a:r>
          </a:p>
          <a:p xmlns:a="http://schemas.openxmlformats.org/drawingml/2006/main">
            <a:r>
              <a:t>- Final thesis, Sections 1.1-1.3, 2.1 and 4.1.</a:t>
            </a:r>
          </a:p>
          <a:p xmlns:a="http://schemas.openxmlformats.org/drawingml/2006/main">
            <a:r>
              <a:t>- Terminal overview image inherited from the source defense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layered audit. Historical fidelity is necessary, but a model can fit the past and still be unable to propagate a demand or resource intervention. That distinction organizes the whole defense.</a:t>
            </a:r>
          </a:p>
          <a:p xmlns:a="http://schemas.openxmlformats.org/drawingml/2006/main">
            <a:r>
              <a:t/>
            </a:r>
          </a:p>
          <a:p xmlns:a="http://schemas.openxmlformats.org/drawingml/2006/main">
            <a:r>
              <a:t>[Sources]</a:t>
            </a:r>
          </a:p>
          <a:p xmlns:a="http://schemas.openxmlformats.org/drawingml/2006/main">
            <a:r>
              <a:t>- Final thesis, Sections 1.3-1.4 and Chapter 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outer 80/20 temporal hold-out follows the original design. The first 80% is split chronologically again into 64% discovery and 16% validation. The selected historical configuration is then rediscovered on the full 80% development period and evaluated once on the untouched test.</a:t>
            </a:r>
          </a:p>
          <a:p xmlns:a="http://schemas.openxmlformats.org/drawingml/2006/main">
            <a:r>
              <a:t/>
            </a:r>
          </a:p>
          <a:p xmlns:a="http://schemas.openxmlformats.org/drawingml/2006/main">
            <a:r>
              <a:t>[Sources]</a:t>
            </a:r>
          </a:p>
          <a:p xmlns:a="http://schemas.openxmlformats.org/drawingml/2006/main">
            <a:r>
              <a:t>- Final thesis, Sections 4.3 and 5.1.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raw 64% Inductive-Miner tree contains three parallel cuts and a gate-only bypass. Experts confirmed that one truck is sequential, every visit has Gate In and Gate Out, at least one yard activity, and arbitrary yard orders and repetitions. The transparent repair is fixed before validation and shared by all four configurations.</a:t>
            </a:r>
          </a:p>
          <a:p xmlns:a="http://schemas.openxmlformats.org/drawingml/2006/main">
            <a:r>
              <a:t/>
            </a:r>
          </a:p>
          <a:p xmlns:a="http://schemas.openxmlformats.org/drawingml/2006/main">
            <a:r>
              <a:t>[Sources]</a:t>
            </a:r>
          </a:p>
          <a:p xmlns:a="http://schemas.openxmlformats.org/drawingml/2006/main">
            <a:r>
              <a:t>- Final thesis, Sections 4.4 and 5.2, Table 5.2 and Figure 4.3.</a:t>
            </a:r>
          </a:p>
          <a:p xmlns:a="http://schemas.openxmlformats.org/drawingml/2006/main">
            <a:r>
              <a:t>- Local figure: figures/discovery/petri_net_inductive.png.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separates manual demand and utilisation proxies from ProSiT's native workload and queue state. Visit and process attributes remain active in every cell. This is a controlled feature-source experiment, not ad-hoc model shopping.</a:t>
            </a:r>
          </a:p>
          <a:p xmlns:a="http://schemas.openxmlformats.org/drawingml/2006/main">
            <a:r>
              <a:t/>
            </a:r>
          </a:p>
          <a:p xmlns:a="http://schemas.openxmlformats.org/drawingml/2006/main">
            <a:r>
              <a:t>[Sources]</a:t>
            </a:r>
          </a:p>
          <a:p xmlns:a="http://schemas.openxmlformats.org/drawingml/2006/main">
            <a:r>
              <a:t>- Final thesis, Sections 4.5 and 4.5.2.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cells are very close. Static-only is slightly worse on all four criteria. Both has the lowest weighted service EMD, but not the other measures. All paired seed intervals include zero, so no added-state model passes the pre-specified replacement rule. This is not an equivalence proof.</a:t>
            </a:r>
          </a:p>
          <a:p xmlns:a="http://schemas.openxmlformats.org/drawingml/2006/main">
            <a:r>
              <a:t/>
            </a:r>
          </a:p>
          <a:p xmlns:a="http://schemas.openxmlformats.org/drawingml/2006/main">
            <a:r>
              <a:t>[Sources]</a:t>
            </a:r>
          </a:p>
          <a:p xmlns:a="http://schemas.openxmlformats.org/drawingml/2006/main">
            <a:r>
              <a:t>- Final thesis, Section 5.3.2 and Table 5.5.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RQ1 result. Arrival spacing is very close and weighted service error is moderate, but case-turnaround EMD is much larger. Distances already compare real and simulated distributions, so they do not have a separate real value.</a:t>
            </a:r>
          </a:p>
          <a:p xmlns:a="http://schemas.openxmlformats.org/drawingml/2006/main">
            <a:r>
              <a:t/>
            </a:r>
          </a:p>
          <a:p xmlns:a="http://schemas.openxmlformats.org/drawingml/2006/main">
            <a:r>
              <a:t>[Sources]</a:t>
            </a:r>
          </a:p>
          <a:p xmlns:a="http://schemas.openxmlformats.org/drawingml/2006/main">
            <a:r>
              <a:t>- Final thesis, Section 5.3.1 and Table 5.3.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mean is 39.742 minutes and the simulated mean is 33.812. P90 is 71 versus 57.9. The stable deficit is present across the distribution, not only in a few extreme cases. About 41% of the mean deficit coincides with a later-period slowdown; the remainder is already present relative to development-period conditions.</a:t>
            </a:r>
          </a:p>
          <a:p xmlns:a="http://schemas.openxmlformats.org/drawingml/2006/main">
            <a:r>
              <a:t/>
            </a:r>
          </a:p>
          <a:p xmlns:a="http://schemas.openxmlformats.org/drawingml/2006/main">
            <a:r>
              <a:t>[Sources]</a:t>
            </a:r>
          </a:p>
          <a:p xmlns:a="http://schemas.openxmlformats.org/drawingml/2006/main">
            <a:r>
              <a:t>- Final thesis, Sections 5.3.1 and 5.4, Table 5.3 and Figure 5.1.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log has start and complete timestamps but no physical enablement or queue-entry timestamp. In the sequential net, ProSiT enables the next activity at the previous completion. Start minus enabled is therefore a composite pre-service delay that can contain movement, traffic, dispatching and waiting. The plot identifies where time accumulates, not a causal queue.</a:t>
            </a:r>
          </a:p>
          <a:p xmlns:a="http://schemas.openxmlformats.org/drawingml/2006/main">
            <a:r>
              <a:t/>
            </a:r>
          </a:p>
          <a:p xmlns:a="http://schemas.openxmlformats.org/drawingml/2006/main">
            <a:r>
              <a:t>[Sources]</a:t>
            </a:r>
          </a:p>
          <a:p xmlns:a="http://schemas.openxmlformats.org/drawingml/2006/main">
            <a:r>
              <a:t>- Final thesis, Sections 5.3.2, 5.8 and 5.9, Figure 5.2.</a:t>
            </a:r>
          </a:p>
          <a:p xmlns:a="http://schemas.openxmlformats.org/drawingml/2006/main">
            <a:r>
              <a:t>- Local figure: figures/results_bottleneck_time_burden.png.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Visit-only is the historical-fidelity reference because no added state improves the validation criteria. It is workload-blind and therefore also a negative control for demand. Native-only is used only as the minimal tested bundle with an endogenous state pathway. It is a mechanism probe, not a second globally selected best model.</a:t>
            </a:r>
          </a:p>
          <a:p xmlns:a="http://schemas.openxmlformats.org/drawingml/2006/main">
            <a:r>
              <a:t/>
            </a:r>
          </a:p>
          <a:p xmlns:a="http://schemas.openxmlformats.org/drawingml/2006/main">
            <a:r>
              <a:t>[Sources]</a:t>
            </a:r>
          </a:p>
          <a:p xmlns:a="http://schemas.openxmlformats.org/drawingml/2006/main">
            <a:r>
              <a:t>- Final thesis, Sections 4.5.3, 5.10 and 5.10.6.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T22 is removed from every eligible RMG pool and its calendar is closed. The intervention executes exactly, but the remaining labels are interchangeable. The model cannot represent where the container is, relocation work or added travel. The result is therefore a resource-configurability test, not a forecast of a physical block closure.</a:t>
            </a:r>
          </a:p>
          <a:p xmlns:a="http://schemas.openxmlformats.org/drawingml/2006/main">
            <a:r>
              <a:t/>
            </a:r>
          </a:p>
          <a:p xmlns:a="http://schemas.openxmlformats.org/drawingml/2006/main">
            <a:r>
              <a:t>[Sources]</a:t>
            </a:r>
          </a:p>
          <a:p xmlns:a="http://schemas.openxmlformats.org/drawingml/2006/main">
            <a:r>
              <a:t>- Final thesis, Section 5.10.1 and Table 5.11.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configured working-time intensity rises exactly 20%, while the elapsed-hour rate rises 15.910% because closed periods remain fixed. Mean turnaround and RMG pre-service do not change significantly. This does not show that the terminal can absorb 20% more demand; it only shows that this intervention remains below the fitted model's response region.</a:t>
            </a:r>
          </a:p>
          <a:p xmlns:a="http://schemas.openxmlformats.org/drawingml/2006/main">
            <a:r>
              <a:t/>
            </a:r>
          </a:p>
          <a:p xmlns:a="http://schemas.openxmlformats.org/drawingml/2006/main">
            <a:r>
              <a:t>[Sources]</a:t>
            </a:r>
          </a:p>
          <a:p xmlns:a="http://schemas.openxmlformats.org/drawingml/2006/main">
            <a:r>
              <a:t>- Final thesis, Sections 5.10.2 and 5.10.4, Table 5.12.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six-level ladder is run for visit-only and native-only with matched seeds. Native-only first shows a resolved end-to-end response between realised rate ratios 2.367 and 2.825. A retained T13 queue-length split at 6.5 routes more cases into a high-delay leaf. This is an inspectable statistical pathway, not a causal queueing law or a physical CTB threshold.</a:t>
            </a:r>
          </a:p>
          <a:p xmlns:a="http://schemas.openxmlformats.org/drawingml/2006/main">
            <a:r>
              <a:t/>
            </a:r>
          </a:p>
          <a:p xmlns:a="http://schemas.openxmlformats.org/drawingml/2006/main">
            <a:r>
              <a:t>[Sources]</a:t>
            </a:r>
          </a:p>
          <a:p xmlns:a="http://schemas.openxmlformats.org/drawingml/2006/main">
            <a:r>
              <a:t>- Final thesis, Section 5.10.5 and Table 5.14.</a:t>
            </a:r>
          </a:p>
          <a:p xmlns:a="http://schemas.openxmlformats.org/drawingml/2006/main">
            <a:r>
              <a:t>- Local figure: figures/results_demand_saturation_ladder.png.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scientific contribution: a reproducible method that separates control-flow conformance, historical stochastic fidelity, expert physical constraints and intervention adequacy. The thesis does not claim a decision-valid digital twin. It shows how to determine what an automatically generated simulator can and cannot support.</a:t>
            </a:r>
          </a:p>
          <a:p xmlns:a="http://schemas.openxmlformats.org/drawingml/2006/main">
            <a:r>
              <a:t/>
            </a:r>
          </a:p>
          <a:p xmlns:a="http://schemas.openxmlformats.org/drawingml/2006/main">
            <a:r>
              <a:t>[Sources]</a:t>
            </a:r>
          </a:p>
          <a:p xmlns:a="http://schemas.openxmlformats.org/drawingml/2006/main">
            <a:r>
              <a:t>- Final thesis, Chapter 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as a direct one-slide answer if the committee asks for the four RQs together.</a:t>
            </a:r>
          </a:p>
          <a:p xmlns:a="http://schemas.openxmlformats.org/drawingml/2006/main">
            <a:r>
              <a:t/>
            </a:r>
          </a:p>
          <a:p xmlns:a="http://schemas.openxmlformats.org/drawingml/2006/main">
            <a:r>
              <a:t>[Sources]</a:t>
            </a:r>
          </a:p>
          <a:p xmlns:a="http://schemas.openxmlformats.org/drawingml/2006/main">
            <a:r>
              <a:t>- Final thesis, Chapter 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case representation is intentionally one truck visit with one RMG target context. Multi-RMG visits are excluded because the case-level state cannot attach multiple changing blocks to one visit. This is a clear scope boundary, not a cleaning accident.</a:t>
            </a:r>
          </a:p>
          <a:p xmlns:a="http://schemas.openxmlformats.org/drawingml/2006/main">
            <a:r>
              <a:t/>
            </a:r>
          </a:p>
          <a:p xmlns:a="http://schemas.openxmlformats.org/drawingml/2006/main">
            <a:r>
              <a:t>[Sources]</a:t>
            </a:r>
          </a:p>
          <a:p xmlns:a="http://schemas.openxmlformats.org/drawingml/2006/main">
            <a:r>
              <a:t>- Final thesis, Sections 3.2-3.6 and Chapter 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64/16 split is the chronological 80/20 subdivision of the original 80% development period. It is not claimed as a universal optimum. It preserves the untouched outer test while providing a separate selection period.</a:t>
            </a:r>
          </a:p>
          <a:p xmlns:a="http://schemas.openxmlformats.org/drawingml/2006/main">
            <a:r>
              <a:t/>
            </a:r>
          </a:p>
          <a:p xmlns:a="http://schemas.openxmlformats.org/drawingml/2006/main">
            <a:r>
              <a:t>[Sources]</a:t>
            </a:r>
          </a:p>
          <a:p xmlns:a="http://schemas.openxmlformats.org/drawingml/2006/main">
            <a:r>
              <a:t>- Final thesis, Sections 4.3 and 4.6.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EMD, L1 and NGD are already distances between real and simulated logs. Three-grams are long enough to include local predecessor-current-successor context while remaining supported in a process with few activities and many variants.</a:t>
            </a:r>
          </a:p>
          <a:p xmlns:a="http://schemas.openxmlformats.org/drawingml/2006/main">
            <a:r>
              <a:t/>
            </a:r>
          </a:p>
          <a:p xmlns:a="http://schemas.openxmlformats.org/drawingml/2006/main">
            <a:r>
              <a:t>[Sources]</a:t>
            </a:r>
          </a:p>
          <a:p xmlns:a="http://schemas.openxmlformats.org/drawingml/2006/main">
            <a:r>
              <a:t>- Final thesis, Sections 2.7.2 and 4.6.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Fitness alone is insufficient. Precision reflects the deliberately broad sequential loop. The repair is justified by the expert contract and fixed before all configuration comparisons.</a:t>
            </a:r>
          </a:p>
          <a:p xmlns:a="http://schemas.openxmlformats.org/drawingml/2006/main">
            <a:r>
              <a:t/>
            </a:r>
          </a:p>
          <a:p xmlns:a="http://schemas.openxmlformats.org/drawingml/2006/main">
            <a:r>
              <a:t>[Sources]</a:t>
            </a:r>
          </a:p>
          <a:p xmlns:a="http://schemas.openxmlformats.org/drawingml/2006/main">
            <a:r>
              <a:t>- Final thesis, Sections 4.4, 5.2 and 5.2.1, Table 5.2.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values left to right as visit-only, static-only, native-only and both. The first four rows are the primary validation criteria. The remaining rows record the inferential and interpretive result.</a:t>
            </a:r>
          </a:p>
          <a:p xmlns:a="http://schemas.openxmlformats.org/drawingml/2006/main">
            <a:r>
              <a:t/>
            </a:r>
          </a:p>
          <a:p xmlns:a="http://schemas.openxmlformats.org/drawingml/2006/main">
            <a:r>
              <a:t>[Sources]</a:t>
            </a:r>
          </a:p>
          <a:p xmlns:a="http://schemas.openxmlformats.org/drawingml/2006/main">
            <a:r>
              <a:t>- Final thesis, Section 5.3.2 and Table 5.5.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gives the exact paired scenario values. Pre-service is model-derived start minus structural enablement, not measured physical queueing.</a:t>
            </a:r>
          </a:p>
          <a:p xmlns:a="http://schemas.openxmlformats.org/drawingml/2006/main">
            <a:r>
              <a:t/>
            </a:r>
          </a:p>
          <a:p xmlns:a="http://schemas.openxmlformats.org/drawingml/2006/main">
            <a:r>
              <a:t>[Sources]</a:t>
            </a:r>
          </a:p>
          <a:p xmlns:a="http://schemas.openxmlformats.org/drawingml/2006/main">
            <a:r>
              <a:t>- Final thesis, Tables 5.11 and 5.12.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resolved end-to-end response is between realised ratios 2.367 and 2.825. The T13 split explains the internal non-linearity. The fixed-case-count design also changes calendar exposure and horizon effects, so the transition region is not a pure resource-saturation estimate.</a:t>
            </a:r>
          </a:p>
          <a:p xmlns:a="http://schemas.openxmlformats.org/drawingml/2006/main">
            <a:r>
              <a:t/>
            </a:r>
          </a:p>
          <a:p xmlns:a="http://schemas.openxmlformats.org/drawingml/2006/main">
            <a:r>
              <a:t>[Sources]</a:t>
            </a:r>
          </a:p>
          <a:p xmlns:a="http://schemas.openxmlformats.org/drawingml/2006/main">
            <a:r>
              <a:t>- Final thesis, Section 5.10.5 and Table 5.14.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JSON is kept for portable inspection through ProSiT's official serializer. The frozen pickle is the authoritative numerical snapshot because it preserves the exact post-calibration in-memory state. A round-trip audit documents the difference for the CTB bundles.</a:t>
            </a:r>
          </a:p>
          <a:p xmlns:a="http://schemas.openxmlformats.org/drawingml/2006/main">
            <a:r>
              <a:t/>
            </a:r>
          </a:p>
          <a:p xmlns:a="http://schemas.openxmlformats.org/drawingml/2006/main">
            <a:r>
              <a:t>[Sources]</a:t>
            </a:r>
          </a:p>
          <a:p xmlns:a="http://schemas.openxmlformats.org/drawingml/2006/main">
            <a:r>
              <a:t>- Final thesis, Appendix A.2.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research step is not another arbitrary feature combination. It is richer observability and representation: object-centric multi-container state, movement and queues, then external and prospective intervention validation.</a:t>
            </a:r>
          </a:p>
          <a:p xmlns:a="http://schemas.openxmlformats.org/drawingml/2006/main">
            <a:r>
              <a:t/>
            </a:r>
          </a:p>
          <a:p xmlns:a="http://schemas.openxmlformats.org/drawingml/2006/main">
            <a:r>
              <a:t>[Sources]</a:t>
            </a:r>
          </a:p>
          <a:p xmlns:a="http://schemas.openxmlformats.org/drawingml/2006/main">
            <a:r>
              <a:t>- Final thesis, Section 5.11 and Section 6.1.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directly, then support with one result or limitation. The safest recurring distinction is between a model-internal response and a physically validated terminal effect.</a:t>
            </a:r>
          </a:p>
          <a:p xmlns:a="http://schemas.openxmlformats.org/drawingml/2006/main">
            <a:r>
              <a:t/>
            </a:r>
          </a:p>
          <a:p xmlns:a="http://schemas.openxmlformats.org/drawingml/2006/main">
            <a:r>
              <a:t>[Sources]</a:t>
            </a:r>
          </a:p>
          <a:p xmlns:a="http://schemas.openxmlformats.org/drawingml/2006/main">
            <a:r>
              <a:t>- Final thesis, Chapters 5 and 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0cf3dd92af4f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8cb724f9d54b74" /><Relationship Type="http://schemas.openxmlformats.org/officeDocument/2006/relationships/slideLayout" Target="/ppt/slideLayouts/slideLayout1.xml" Id="Ra2887706e0c74a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887706e0c74a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99d85678d04d5c" /><Relationship Type="http://schemas.openxmlformats.org/officeDocument/2006/relationships/image" Target="/ppt/media/image.png" Id="R2c9acb7a40144e10" /><Relationship Type="http://schemas.openxmlformats.org/officeDocument/2006/relationships/notesSlide" Target="/ppt/notesSlides/notesSlide1.xml" Id="R1b7747bdf78740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11f862d697491d" /><Relationship Type="http://schemas.openxmlformats.org/officeDocument/2006/relationships/image" Target="/ppt/media/image2.png" Id="R7f9c88f8be95420a" /><Relationship Type="http://schemas.openxmlformats.org/officeDocument/2006/relationships/notesSlide" Target="/ppt/notesSlides/notesSlide2.xml" Id="R118ac600c4c64d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f28aa0bcaad42de" /><Relationship Type="http://schemas.openxmlformats.org/officeDocument/2006/relationships/notesSlide" Target="/ppt/notesSlides/notesSlide3.xml" Id="R37f4d7fabfb446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a91f6ac61b4dd7" /><Relationship Type="http://schemas.openxmlformats.org/officeDocument/2006/relationships/notesSlide" Target="/ppt/notesSlides/notesSlide4.xml" Id="Reac5a44464e546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19fd26e79ed4cad" /><Relationship Type="http://schemas.openxmlformats.org/officeDocument/2006/relationships/image" Target="/ppt/media/image3.png" Id="R293b97e4a0fc411d" /><Relationship Type="http://schemas.openxmlformats.org/officeDocument/2006/relationships/image" Target="/ppt/media/image4.png" Id="R2858dd41f1384ba9" /><Relationship Type="http://schemas.openxmlformats.org/officeDocument/2006/relationships/notesSlide" Target="/ppt/notesSlides/notesSlide5.xml" Id="R5aee972e179c42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55f59754ed54918" /><Relationship Type="http://schemas.openxmlformats.org/officeDocument/2006/relationships/notesSlide" Target="/ppt/notesSlides/notesSlide6.xml" Id="R029b9938d1654d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530c60d8bf14338" /><Relationship Type="http://schemas.openxmlformats.org/officeDocument/2006/relationships/notesSlide" Target="/ppt/notesSlides/notesSlide7.xml" Id="R4ba13c7aa82246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317e2c14744621" /><Relationship Type="http://schemas.openxmlformats.org/officeDocument/2006/relationships/notesSlide" Target="/ppt/notesSlides/notesSlide8.xml" Id="R96fc90e4693245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7228e421a3c48b5" /><Relationship Type="http://schemas.openxmlformats.org/officeDocument/2006/relationships/chart" Target="/ppt/slides/charts/chart1.xml" Id="Rde00bfbe53cc40a8" /><Relationship Type="http://schemas.openxmlformats.org/officeDocument/2006/relationships/notesSlide" Target="/ppt/notesSlides/notesSlide9.xml" Id="R10f53e288bdf48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da04a91e2f94ac1" /><Relationship Type="http://schemas.openxmlformats.org/officeDocument/2006/relationships/image" Target="/ppt/media/image3.png" Id="R7bd288d613fb40dd" /><Relationship Type="http://schemas.openxmlformats.org/officeDocument/2006/relationships/image" Target="/ppt/media/image5.png" Id="Raa9bc54c22de4f7a" /><Relationship Type="http://schemas.openxmlformats.org/officeDocument/2006/relationships/notesSlide" Target="/ppt/notesSlides/notesSlide10.xml" Id="R23392ea65bd14f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7a565ced3b44743" /><Relationship Type="http://schemas.openxmlformats.org/officeDocument/2006/relationships/notesSlide" Target="/ppt/notesSlides/notesSlide11.xml" Id="R1d19ef4d504a41a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871a8b445414c12" /><Relationship Type="http://schemas.openxmlformats.org/officeDocument/2006/relationships/notesSlide" Target="/ppt/notesSlides/notesSlide12.xml" Id="Ra0739e1c42314c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5ae467c055a4aa1" /><Relationship Type="http://schemas.openxmlformats.org/officeDocument/2006/relationships/notesSlide" Target="/ppt/notesSlides/notesSlide13.xml" Id="Raa48dfa31e16498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c18a818f84f49e1" /><Relationship Type="http://schemas.openxmlformats.org/officeDocument/2006/relationships/image" Target="/ppt/media/image3.png" Id="R5e35404cded34253" /><Relationship Type="http://schemas.openxmlformats.org/officeDocument/2006/relationships/chart" Target="/ppt/slides/charts/chart2.xml" Id="Rc06d16822ece4649" /><Relationship Type="http://schemas.openxmlformats.org/officeDocument/2006/relationships/notesSlide" Target="/ppt/notesSlides/notesSlide14.xml" Id="R39f3a88a03364a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6624da9727e410d" /><Relationship Type="http://schemas.openxmlformats.org/officeDocument/2006/relationships/notesSlide" Target="/ppt/notesSlides/notesSlide15.xml" Id="R5e1274b15784418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95270ce7e9f42f8" /><Relationship Type="http://schemas.openxmlformats.org/officeDocument/2006/relationships/notesSlide" Target="/ppt/notesSlides/notesSlide16.xml" Id="R4d635941e4574eb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3eadfe933e1408e" /><Relationship Type="http://schemas.openxmlformats.org/officeDocument/2006/relationships/notesSlide" Target="/ppt/notesSlides/notesSlide17.xml" Id="R5d47dd9b1d3e4ff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a18a8f1f8e64e47" /><Relationship Type="http://schemas.openxmlformats.org/officeDocument/2006/relationships/notesSlide" Target="/ppt/notesSlides/notesSlide18.xml" Id="Rd5f31019fc19433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802163be1294388" /><Relationship Type="http://schemas.openxmlformats.org/officeDocument/2006/relationships/notesSlide" Target="/ppt/notesSlides/notesSlide19.xml" Id="Rb06dec7acce14b5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aaefd0e222a4332" /><Relationship Type="http://schemas.openxmlformats.org/officeDocument/2006/relationships/notesSlide" Target="/ppt/notesSlides/notesSlide20.xml" Id="R56d68794f2b444e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1f26184ef414938" /><Relationship Type="http://schemas.openxmlformats.org/officeDocument/2006/relationships/notesSlide" Target="/ppt/notesSlides/notesSlide21.xml" Id="Rc948010835874cf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2d838bf054a42a2" /><Relationship Type="http://schemas.openxmlformats.org/officeDocument/2006/relationships/notesSlide" Target="/ppt/notesSlides/notesSlide22.xml" Id="R8496f85f60f043b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146f243d0784c70" /><Relationship Type="http://schemas.openxmlformats.org/officeDocument/2006/relationships/notesSlide" Target="/ppt/notesSlides/notesSlide23.xml" Id="Re837a46534434dc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82ba258688f4de0" /><Relationship Type="http://schemas.openxmlformats.org/officeDocument/2006/relationships/notesSlide" Target="/ppt/notesSlides/notesSlide24.xml" Id="Rd766172f9f9b4bf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f0581125a7d403a" /><Relationship Type="http://schemas.openxmlformats.org/officeDocument/2006/relationships/notesSlide" Target="/ppt/notesSlides/notesSlide25.xml" Id="Rbdafd4e4db13498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04ae42d0fcf4aa6" /><Relationship Type="http://schemas.openxmlformats.org/officeDocument/2006/relationships/notesSlide" Target="/ppt/notesSlides/notesSlide26.xml" Id="R553b42b69a534c16" /></Relationships>
</file>

<file path=ppt/slides/charts/chart1.xml><?xml version="1.0" encoding="utf-8"?>
<c:chartSpace xmlns:c="http://schemas.openxmlformats.org/drawingml/2006/chart">
  <c:lang val="en-US"/>
  <c:chart>
    <c:plotArea>
      <c:barChart>
        <c:barDir val="col"/>
        <c:grouping val="clustered"/>
        <c:varyColors val="0"/>
        <c:ser>
          <c:idx val="0"/>
          <c:order val="0"/>
          <c:tx>
            <c:v>Real hold-out</c:v>
          </c:tx>
          <c:spPr>
            <a:solidFill xmlns:a="http://schemas.openxmlformats.org/drawingml/2006/main">
              <a:srgbClr val="0B1220"/>
            </a:solidFill>
          </c:spPr>
          <c:cat>
            <c:strLit>
              <c:ptCount val="2"/>
              <c:pt idx="0">
                <c:v>Mean</c:v>
              </c:pt>
              <c:pt idx="1">
                <c:v>P90</c:v>
              </c:pt>
            </c:strLit>
          </c:cat>
          <c:val>
            <c:numLit>
              <c:formatCode>General</c:formatCode>
              <c:ptCount val="2"/>
              <c:pt idx="0">
                <c:v>39.742</c:v>
              </c:pt>
              <c:pt idx="1">
                <c:v>71</c:v>
              </c:pt>
            </c:numLit>
          </c:val>
        </c:ser>
        <c:ser>
          <c:idx val="1"/>
          <c:order val="1"/>
          <c:tx>
            <c:v>Simulation</c:v>
          </c:tx>
          <c:spPr>
            <a:solidFill xmlns:a="http://schemas.openxmlformats.org/drawingml/2006/main">
              <a:srgbClr val="2F80ED"/>
            </a:solidFill>
          </c:spPr>
          <c:cat>
            <c:strLit>
              <c:ptCount val="2"/>
              <c:pt idx="0">
                <c:v>Mean</c:v>
              </c:pt>
              <c:pt idx="1">
                <c:v>P90</c:v>
              </c:pt>
            </c:strLit>
          </c:cat>
          <c:val>
            <c:numLit>
              <c:formatCode>General</c:formatCode>
              <c:ptCount val="2"/>
              <c:pt idx="0">
                <c:v>33.812</c:v>
              </c:pt>
              <c:pt idx="1">
                <c:v>57.9</c:v>
              </c:pt>
            </c:numLit>
          </c:val>
        </c:ser>
        <c:dLbls>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prstDash val="solid"/>
          </a:ln>
        </c:spPr>
        <c:txPr>
          <a:bodyPr xmlns:a="http://schemas.openxmlformats.org/drawingml/2006/main" anchorCtr="1"/>
          <a:lstStyle xmlns:a="http://schemas.openxmlformats.org/drawingml/2006/main"/>
          <a:p xmlns:a="http://schemas.openxmlformats.org/drawingml/2006/main">
            <a:pPr>
              <a:defRPr sz="1500">
                <a:solidFill>
                  <a:srgbClr val="0B1220"/>
                </a:solidFill>
                <a:latin typeface="Aptos"/>
                <a:ea typeface="Aptos"/>
                <a:cs typeface="Aptos"/>
              </a:defRPr>
            </a:pPr>
          </a:p>
        </c:txPr>
        <c:crossAx val="48672768"/>
      </c:catAx>
      <c:valAx>
        <c:axId val="48672768"/>
        <c:scaling>
          <c:orientation val="minMax"/>
          <c:max val="80"/>
          <c:min val="0"/>
        </c:scaling>
        <c:delete val="0"/>
        <c:axPos val="l"/>
        <c:majorGridlines>
          <c:spPr>
            <a:ln xmlns:a="http://schemas.openxmlformats.org/drawingml/2006/main" w="9525">
              <a:solidFill>
                <a:srgbClr val="D0D5DD"/>
              </a:solidFill>
              <a:prstDash val="solid"/>
            </a:ln>
          </c:spPr>
        </c:majorGridlines>
        <c:title>
          <c:tx>
            <c:rich>
              <a:bodyPr xmlns:a="http://schemas.openxmlformats.org/drawingml/2006/main"/>
              <a:lstStyle xmlns:a="http://schemas.openxmlformats.org/drawingml/2006/main"/>
              <a:p xmlns:a="http://schemas.openxmlformats.org/drawingml/2006/main">
                <a:r>
                  <a:t>minutes</a:t>
                </a:r>
              </a:p>
            </c:rich>
          </c:tx>
          <c:overlay val="0"/>
        </c:title>
        <c:numFmt formatCode="General"/>
        <c:majorTickMark val="none"/>
        <c:minorTickMark val="none"/>
        <c:spPr>
          <a:ln xmlns:a="http://schemas.openxmlformats.org/drawingml/2006/main" w="0">
            <a:solidFill>
              <a:srgbClr val="F8FAFC"/>
            </a:solidFill>
            <a:prstDash val="solid"/>
          </a:ln>
        </c:spPr>
        <c:txPr>
          <a:bodyPr xmlns:a="http://schemas.openxmlformats.org/drawingml/2006/main" anchorCtr="1"/>
          <a:lstStyle xmlns:a="http://schemas.openxmlformats.org/drawingml/2006/main"/>
          <a:p xmlns:a="http://schemas.openxmlformats.org/drawingml/2006/main">
            <a:pPr>
              <a:defRPr sz="1275">
                <a:solidFill>
                  <a:srgbClr val="5F6B7A"/>
                </a:solidFill>
                <a:latin typeface="Aptos"/>
                <a:ea typeface="Aptos"/>
                <a:cs typeface="Aptos"/>
              </a:defRPr>
            </a:pPr>
          </a:p>
        </c:txPr>
        <c:crossAx val="48650112"/>
        <c:crossBetween val="between"/>
        <c:majorUnit val="20"/>
      </c:valAx>
      <c:spPr>
        <a:noFill xmlns:a="http://schemas.openxmlformats.org/drawingml/2006/main"/>
        <a:ln xmlns:a="http://schemas.openxmlformats.org/drawingml/2006/main" w="0">
          <a:solidFill>
            <a:srgbClr val="F8FAFC"/>
          </a:solidFill>
          <a:prstDash val="solid"/>
        </a:ln>
      </c:spPr>
    </c:plotArea>
    <c:legend>
      <c:legendPos val="b"/>
      <c:overlay val="0"/>
    </c:legend>
    <c:plotVisOnly val="1"/>
  </c:chart>
  <c:spPr>
    <a:solidFill xmlns:a="http://schemas.openxmlformats.org/drawingml/2006/main">
      <a:srgbClr val="F8FAFC"/>
    </a:solidFill>
    <a:ln xmlns:a="http://schemas.openxmlformats.org/drawingml/2006/main" w="0">
      <a:solidFill>
        <a:srgbClr val="F8FAFC"/>
      </a:solidFill>
      <a:prstDash val="solid"/>
    </a:ln>
  </c:spPr>
</c:chartSpace>
</file>

<file path=ppt/slides/charts/chart2.xml><?xml version="1.0" encoding="utf-8"?>
<c:chartSpace xmlns:c="http://schemas.openxmlformats.org/drawingml/2006/chart">
  <c:lang val="en-US"/>
  <c:chart>
    <c:plotArea>
      <c:scatterChart>
        <c:scatterStyle val="lineMarker"/>
        <c:ser>
          <c:idx val="0"/>
          <c:order val="0"/>
          <c:tx>
            <c:v>Turnaround change</c:v>
          </c:tx>
          <c:spPr>
            <a:ln xmlns:a="http://schemas.openxmlformats.org/drawingml/2006/main" w="28575">
              <a:solidFill>
                <a:srgbClr val="2F80ED"/>
              </a:solidFill>
              <a:prstDash val="solid"/>
            </a:ln>
          </c:spPr>
          <c:marker>
            <c:symbol val="circle"/>
            <c:size val="7"/>
            <c:spPr>
              <a:solidFill xmlns:a="http://schemas.openxmlformats.org/drawingml/2006/main">
                <a:srgbClr val="2F80ED"/>
              </a:solidFill>
            </c:spPr>
          </c:marker>
          <c:xVal>
            <c:numLit>
              <c:formatCode>General</c:formatCode>
              <c:ptCount val="6"/>
              <c:pt idx="0">
                <c:v>1</c:v>
              </c:pt>
              <c:pt idx="1">
                <c:v>1.159</c:v>
              </c:pt>
              <c:pt idx="2">
                <c:v>1.378</c:v>
              </c:pt>
              <c:pt idx="3">
                <c:v>2.367</c:v>
              </c:pt>
              <c:pt idx="4">
                <c:v>2.825</c:v>
              </c:pt>
              <c:pt idx="5">
                <c:v>3.504</c:v>
              </c:pt>
            </c:numLit>
          </c:xVal>
          <c:yVal>
            <c:numLit>
              <c:formatCode>0.0</c:formatCode>
              <c:ptCount val="6"/>
              <c:pt idx="0">
                <c:v>0</c:v>
              </c:pt>
              <c:pt idx="1">
                <c:v>-0.087</c:v>
              </c:pt>
              <c:pt idx="2">
                <c:v>0.045</c:v>
              </c:pt>
              <c:pt idx="3">
                <c:v>0.082</c:v>
              </c:pt>
              <c:pt idx="4">
                <c:v>1.815</c:v>
              </c:pt>
              <c:pt idx="5">
                <c:v>4.069</c:v>
              </c:pt>
            </c:numLit>
          </c:yVal>
        </c:ser>
        <c:ser>
          <c:idx val="1"/>
          <c:order val="1"/>
          <c:tx>
            <c:v>RMG pre-service change</c:v>
          </c:tx>
          <c:spPr>
            <a:ln xmlns:a="http://schemas.openxmlformats.org/drawingml/2006/main" w="28575">
              <a:solidFill>
                <a:srgbClr val="D20F33"/>
              </a:solidFill>
              <a:prstDash val="solid"/>
            </a:ln>
          </c:spPr>
          <c:marker>
            <c:symbol val="circle"/>
            <c:size val="7"/>
            <c:spPr>
              <a:solidFill xmlns:a="http://schemas.openxmlformats.org/drawingml/2006/main">
                <a:srgbClr val="D20F33"/>
              </a:solidFill>
            </c:spPr>
          </c:marker>
          <c:xVal>
            <c:numLit>
              <c:formatCode>General</c:formatCode>
              <c:ptCount val="6"/>
              <c:pt idx="0">
                <c:v>1</c:v>
              </c:pt>
              <c:pt idx="1">
                <c:v>1.159</c:v>
              </c:pt>
              <c:pt idx="2">
                <c:v>1.378</c:v>
              </c:pt>
              <c:pt idx="3">
                <c:v>2.367</c:v>
              </c:pt>
              <c:pt idx="4">
                <c:v>2.825</c:v>
              </c:pt>
              <c:pt idx="5">
                <c:v>3.504</c:v>
              </c:pt>
            </c:numLit>
          </c:xVal>
          <c:yVal>
            <c:numLit>
              <c:formatCode>0.0</c:formatCode>
              <c:ptCount val="6"/>
              <c:pt idx="0">
                <c:v>0</c:v>
              </c:pt>
              <c:pt idx="1">
                <c:v>-0.062</c:v>
              </c:pt>
              <c:pt idx="2">
                <c:v>-0.073</c:v>
              </c:pt>
              <c:pt idx="3">
                <c:v>0.026</c:v>
              </c:pt>
              <c:pt idx="4">
                <c:v>2.318</c:v>
              </c:pt>
              <c:pt idx="5">
                <c:v>5.221</c:v>
              </c:pt>
            </c:numLit>
          </c:yVal>
        </c:ser>
        <c:axId val="48650112"/>
        <c:axId val="48672768"/>
      </c:scatterChart>
      <c:valAx>
        <c:axId val="48672768"/>
        <c:scaling>
          <c:orientation val="minMax"/>
          <c:max val="6"/>
          <c:min val="-0.5"/>
        </c:scaling>
        <c:delete val="0"/>
        <c:axPos val="l"/>
        <c:majorGridlines>
          <c:spPr>
            <a:ln xmlns:a="http://schemas.openxmlformats.org/drawingml/2006/main" w="9525">
              <a:solidFill>
                <a:srgbClr val="D9E0E8"/>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475569"/>
                    </a:solidFill>
                  </a:rPr>
                  <a:t>Change from reference (min)</a:t>
                </a:r>
              </a:p>
            </c:rich>
          </c:tx>
          <c:overlay val="0"/>
          <c:txPr>
            <a:bodyPr xmlns:a="http://schemas.openxmlformats.org/drawingml/2006/main" anchorCtr="1"/>
            <a:lstStyle xmlns:a="http://schemas.openxmlformats.org/drawingml/2006/main"/>
            <a:p xmlns:a="http://schemas.openxmlformats.org/drawingml/2006/main">
              <a:pPr>
                <a:defRPr sz="975">
                  <a:solidFill>
                    <a:srgbClr val="475569"/>
                  </a:solidFil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50112"/>
        <c:majorUnit val="1"/>
      </c:valAx>
      <c:valAx>
        <c:axId val="48650112"/>
        <c:scaling>
          <c:orientation val="minMax"/>
          <c:max val="3.6"/>
          <c:min val="1"/>
        </c:scaling>
        <c:delete val="0"/>
        <c:axPos val="b"/>
        <c:title>
          <c:tx>
            <c:rich>
              <a:bodyPr xmlns:a="http://schemas.openxmlformats.org/drawingml/2006/main"/>
              <a:lstStyle xmlns:a="http://schemas.openxmlformats.org/drawingml/2006/main"/>
              <a:p xmlns:a="http://schemas.openxmlformats.org/drawingml/2006/main">
                <a:r>
                  <a:rPr sz="975">
                    <a:solidFill>
                      <a:srgbClr val="475569"/>
                    </a:solidFill>
                  </a:rPr>
                  <a:t>Realised elapsed arrival-rate ratio</a:t>
                </a:r>
              </a:p>
            </c:rich>
          </c:tx>
          <c:overlay val="0"/>
          <c:txPr>
            <a:bodyPr xmlns:a="http://schemas.openxmlformats.org/drawingml/2006/main" anchorCtr="1"/>
            <a:lstStyle xmlns:a="http://schemas.openxmlformats.org/drawingml/2006/main"/>
            <a:p xmlns:a="http://schemas.openxmlformats.org/drawingml/2006/main">
              <a:pPr>
                <a:defRPr sz="975">
                  <a:solidFill>
                    <a:srgbClr val="475569"/>
                  </a:solidFill>
                </a:defRPr>
              </a:pPr>
            </a:p>
          </c:txPr>
        </c:title>
        <c:numFmt formatCode="0.0x"/>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72768"/>
        <c:majorUnit val="0.5"/>
      </c:valAx>
      <c:spPr>
        <a:solidFill xmlns:a="http://schemas.openxmlformats.org/drawingml/2006/main">
          <a:srgbClr val="000000">
            <a:alpha val="0"/>
          </a:srgbClr>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334155"/>
              </a:solidFill>
            </a:defRPr>
          </a:pPr>
        </a:p>
      </c:txPr>
    </c:legend>
    <c:plotVisOnly val="1"/>
  </c:chart>
  <c:spPr>
    <a:solidFill xmlns:a="http://schemas.openxmlformats.org/drawingml/2006/main">
      <a:srgbClr val="000000">
        <a:alpha val="0"/>
      </a:srgbClr>
    </a:solidFill>
    <a:ln xmlns:a="http://schemas.openxmlformats.org/drawingml/2006/main" w="0">
      <a:solidFill>
        <a:srgbClr val="000000">
          <a:alpha val="0"/>
        </a:srgbClr>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4A0979-45D2-4D09-88BB-C4E19C5EE04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8102E"/>
          </a:solidFill>
          <a:ln xmlns:a="http://schemas.openxmlformats.org/drawingml/2006/main" w="0">
            <a:solidFill>
              <a:srgbClr val="C8102E"/>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c9acb7a40144e10"/>
          <a:stretch xmlns:a="http://schemas.openxmlformats.org/drawingml/2006/main"/>
        </p:blipFill>
        <p:spPr>
          <a:xfrm xmlns:a="http://schemas.openxmlformats.org/drawingml/2006/main">
            <a:off x="9891662" y="400050"/>
            <a:ext cx="1476476" cy="14859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406D9C6-0DA2-46CF-8313-C0B4B0E529A4}"/>
              </a:ext>
            </a:extLst>
          </p:cNvPr>
          <p:cNvSpPr>
            <a:spLocks xmlns:a="http://schemas.openxmlformats.org/drawingml/2006/main" noGrp="1"/>
          </p:cNvSpPr>
          <p:nvPr/>
        </p:nvSpPr>
        <p:spPr>
          <a:xfrm xmlns:a="http://schemas.openxmlformats.org/drawingml/2006/main">
            <a:off x="590550" y="5143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C8102E"/>
                </a:solidFill>
                <a:latin typeface="Aptos"/>
                <a:ea typeface="Aptos"/>
                <a:cs typeface="Aptos"/>
              </a:defRPr>
            </a:pPr>
            <a:r>
              <a:rPr sz="1500" b="1" i="0">
                <a:solidFill>
                  <a:srgbClr val="C8102E"/>
                </a:solidFill>
                <a:latin typeface="Aptos"/>
                <a:ea typeface="Aptos"/>
                <a:cs typeface="Aptos"/>
              </a:rPr>
              <a:t>MASTER’S THESIS DEFENSE</a:t>
            </a:r>
          </a:p>
        </p:txBody>
      </p:sp>
      <p:sp>
        <p:nvSpPr>
          <p:cNvPr id="4" name="">
            <a:extLst xmlns:a="http://schemas.openxmlformats.org/drawingml/2006/main">
              <a:ext uri="{FF2B5EF4-FFF2-40B4-BE49-F238E27FC236}">
                <a16:creationId xmlns:a16="http://schemas.microsoft.com/office/drawing/2014/main" id="{275659BC-6E78-46F2-B391-3D9CF72DC529}"/>
              </a:ext>
            </a:extLst>
          </p:cNvPr>
          <p:cNvSpPr>
            <a:spLocks xmlns:a="http://schemas.openxmlformats.org/drawingml/2006/main" noGrp="1"/>
          </p:cNvSpPr>
          <p:nvPr/>
        </p:nvSpPr>
        <p:spPr>
          <a:xfrm xmlns:a="http://schemas.openxmlformats.org/drawingml/2006/main">
            <a:off x="590550" y="1285875"/>
            <a:ext cx="8858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425" b="1" i="0">
                <a:solidFill>
                  <a:srgbClr val="0B1220"/>
                </a:solidFill>
                <a:latin typeface="Aptos"/>
                <a:ea typeface="Aptos"/>
                <a:cs typeface="Aptos"/>
              </a:defRPr>
            </a:pPr>
            <a:r>
              <a:rPr sz="4425" b="1" i="0">
                <a:solidFill>
                  <a:srgbClr val="0B1220"/>
                </a:solidFill>
                <a:latin typeface="Aptos"/>
                <a:ea typeface="Aptos"/>
                <a:cs typeface="Aptos"/>
              </a:rPr>
              <a:t>Data-Aware Process Simulation</a:t>
            </a:r>
          </a:p>
          <a:p xmlns:a="http://schemas.openxmlformats.org/drawingml/2006/main">
            <a:pPr algn="l">
              <a:buNone/>
              <a:defRPr sz="4425" b="1" i="0">
                <a:solidFill>
                  <a:srgbClr val="0B1220"/>
                </a:solidFill>
                <a:latin typeface="Aptos"/>
                <a:ea typeface="Aptos"/>
                <a:cs typeface="Aptos"/>
              </a:defRPr>
            </a:pPr>
            <a:r>
              <a:rPr sz="4425" b="1" i="0">
                <a:solidFill>
                  <a:srgbClr val="0B1220"/>
                </a:solidFill>
                <a:latin typeface="Aptos"/>
                <a:ea typeface="Aptos"/>
                <a:cs typeface="Aptos"/>
              </a:rPr>
              <a:t>in a Physically Constrained Setting</a:t>
            </a:r>
          </a:p>
        </p:txBody>
      </p:sp>
      <p:sp>
        <p:nvSpPr>
          <p:cNvPr id="5" name="">
            <a:extLst xmlns:a="http://schemas.openxmlformats.org/drawingml/2006/main">
              <a:ext uri="{FF2B5EF4-FFF2-40B4-BE49-F238E27FC236}">
                <a16:creationId xmlns:a16="http://schemas.microsoft.com/office/drawing/2014/main" id="{A494DF00-05F9-4FA2-8A4C-597F799051F8}"/>
              </a:ext>
            </a:extLst>
          </p:cNvPr>
          <p:cNvSpPr>
            <a:spLocks xmlns:a="http://schemas.openxmlformats.org/drawingml/2006/main" noGrp="1"/>
          </p:cNvSpPr>
          <p:nvPr/>
        </p:nvSpPr>
        <p:spPr>
          <a:xfrm xmlns:a="http://schemas.openxmlformats.org/drawingml/2006/main">
            <a:off x="628650" y="316230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0" i="0">
                <a:solidFill>
                  <a:srgbClr val="5F6B7A"/>
                </a:solidFill>
                <a:latin typeface="Aptos"/>
                <a:ea typeface="Aptos"/>
                <a:cs typeface="Aptos"/>
              </a:defRPr>
            </a:pPr>
            <a:r>
              <a:rPr sz="2325" b="0" i="0">
                <a:solidFill>
                  <a:srgbClr val="5F6B7A"/>
                </a:solidFill>
                <a:latin typeface="Aptos"/>
                <a:ea typeface="Aptos"/>
                <a:cs typeface="Aptos"/>
              </a:rPr>
              <a:t>A Container Terminal Truck Operations Case Study</a:t>
            </a:r>
          </a:p>
        </p:txBody>
      </p:sp>
      <p:sp>
        <p:nvSpPr>
          <p:cNvPr id="6" name="">
            <a:extLst xmlns:a="http://schemas.openxmlformats.org/drawingml/2006/main">
              <a:ext uri="{FF2B5EF4-FFF2-40B4-BE49-F238E27FC236}">
                <a16:creationId xmlns:a16="http://schemas.microsoft.com/office/drawing/2014/main" id="{A8EC16D3-77B5-4FCD-AA51-7A81DC0EA4AE}"/>
              </a:ext>
            </a:extLst>
          </p:cNvPr>
          <p:cNvSpPr>
            <a:spLocks xmlns:a="http://schemas.openxmlformats.org/drawingml/2006/main" noGrp="1"/>
          </p:cNvSpPr>
          <p:nvPr/>
        </p:nvSpPr>
        <p:spPr>
          <a:xfrm xmlns:a="http://schemas.openxmlformats.org/drawingml/2006/main">
            <a:off x="609600" y="4057650"/>
            <a:ext cx="1028700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7" name="">
            <a:extLst xmlns:a="http://schemas.openxmlformats.org/drawingml/2006/main">
              <a:ext uri="{FF2B5EF4-FFF2-40B4-BE49-F238E27FC236}">
                <a16:creationId xmlns:a16="http://schemas.microsoft.com/office/drawing/2014/main" id="{97128967-7DD2-4ECF-8BEA-5F44AD317123}"/>
              </a:ext>
            </a:extLst>
          </p:cNvPr>
          <p:cNvSpPr>
            <a:spLocks xmlns:a="http://schemas.openxmlformats.org/drawingml/2006/main" noGrp="1"/>
          </p:cNvSpPr>
          <p:nvPr/>
        </p:nvSpPr>
        <p:spPr>
          <a:xfrm xmlns:a="http://schemas.openxmlformats.org/drawingml/2006/main">
            <a:off x="628650" y="4362450"/>
            <a:ext cx="3810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i="0">
                <a:solidFill>
                  <a:srgbClr val="0B1220"/>
                </a:solidFill>
                <a:latin typeface="Aptos"/>
                <a:ea typeface="Aptos"/>
                <a:cs typeface="Aptos"/>
              </a:defRPr>
            </a:pPr>
            <a:r>
              <a:rPr sz="2250" b="1" i="0">
                <a:solidFill>
                  <a:srgbClr val="0B1220"/>
                </a:solidFill>
                <a:latin typeface="Aptos"/>
                <a:ea typeface="Aptos"/>
                <a:cs typeface="Aptos"/>
              </a:rPr>
              <a:t>Jule Grigat</a:t>
            </a:r>
          </a:p>
        </p:txBody>
      </p:sp>
      <p:sp>
        <p:nvSpPr>
          <p:cNvPr id="8" name="">
            <a:extLst xmlns:a="http://schemas.openxmlformats.org/drawingml/2006/main">
              <a:ext uri="{FF2B5EF4-FFF2-40B4-BE49-F238E27FC236}">
                <a16:creationId xmlns:a16="http://schemas.microsoft.com/office/drawing/2014/main" id="{0137D4BE-9198-4028-B09D-F53533F12FBD}"/>
              </a:ext>
            </a:extLst>
          </p:cNvPr>
          <p:cNvSpPr>
            <a:spLocks xmlns:a="http://schemas.openxmlformats.org/drawingml/2006/main" noGrp="1"/>
          </p:cNvSpPr>
          <p:nvPr/>
        </p:nvSpPr>
        <p:spPr>
          <a:xfrm xmlns:a="http://schemas.openxmlformats.org/drawingml/2006/main">
            <a:off x="628650" y="4829175"/>
            <a:ext cx="619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MSc Big Data Management and Analytics · 2025-2026</a:t>
            </a:r>
          </a:p>
        </p:txBody>
      </p:sp>
      <p:sp>
        <p:nvSpPr>
          <p:cNvPr id="9" name="">
            <a:extLst xmlns:a="http://schemas.openxmlformats.org/drawingml/2006/main">
              <a:ext uri="{FF2B5EF4-FFF2-40B4-BE49-F238E27FC236}">
                <a16:creationId xmlns:a16="http://schemas.microsoft.com/office/drawing/2014/main" id="{7D99DEB6-9A02-45C5-8722-DFB0F1F70E1D}"/>
              </a:ext>
            </a:extLst>
          </p:cNvPr>
          <p:cNvSpPr>
            <a:spLocks xmlns:a="http://schemas.openxmlformats.org/drawingml/2006/main" noGrp="1"/>
          </p:cNvSpPr>
          <p:nvPr/>
        </p:nvSpPr>
        <p:spPr>
          <a:xfrm xmlns:a="http://schemas.openxmlformats.org/drawingml/2006/main">
            <a:off x="628650" y="541020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Supervisor: Prof. Massimiliano de Leoni</a:t>
            </a:r>
          </a:p>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Co-supervisors: Marcel Petersen · Prof. Esteban Zimányi</a:t>
            </a:r>
          </a:p>
        </p:txBody>
      </p:sp>
      <p:sp>
        <p:nvSpPr>
          <p:cNvPr id="10" name="">
            <a:extLst xmlns:a="http://schemas.openxmlformats.org/drawingml/2006/main">
              <a:ext uri="{FF2B5EF4-FFF2-40B4-BE49-F238E27FC236}">
                <a16:creationId xmlns:a16="http://schemas.microsoft.com/office/drawing/2014/main" id="{FFA95EF2-5A99-43E2-B719-1C732DA16DB6}"/>
              </a:ext>
            </a:extLst>
          </p:cNvPr>
          <p:cNvSpPr>
            <a:spLocks xmlns:a="http://schemas.openxmlformats.org/drawingml/2006/main" noGrp="1"/>
          </p:cNvSpPr>
          <p:nvPr/>
        </p:nvSpPr>
        <p:spPr>
          <a:xfrm xmlns:a="http://schemas.openxmlformats.org/drawingml/2006/main">
            <a:off x="10058400" y="5629275"/>
            <a:ext cx="1066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i="0">
                <a:solidFill>
                  <a:srgbClr val="C8102E"/>
                </a:solidFill>
                <a:latin typeface="Aptos"/>
                <a:ea typeface="Aptos"/>
                <a:cs typeface="Aptos"/>
              </a:defRPr>
            </a:pPr>
            <a:r>
              <a:rPr sz="1800" b="1" i="0">
                <a:solidFill>
                  <a:srgbClr val="C8102E"/>
                </a:solidFill>
                <a:latin typeface="Aptos"/>
                <a:ea typeface="Aptos"/>
                <a:cs typeface="Aptos"/>
              </a:rPr>
              <a:t>20 min</a:t>
            </a:r>
          </a:p>
        </p:txBody>
      </p:sp>
    </p:spTree>
    <p:extLst>
      <p:ext uri="{BB962C8B-B14F-4D97-AF65-F5344CB8AC3E}">
        <p14:creationId xmlns:p14="http://schemas.microsoft.com/office/powerpoint/2010/main" val="9378360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FA709FF-CC54-4828-9783-F31E3862D4FD}"/>
              </a:ext>
            </a:extLst>
          </p:cNvPr>
          <p:cNvSpPr>
            <a:spLocks xmlns:a="http://schemas.openxmlformats.org/drawingml/2006/main" noGrp="1"/>
          </p:cNvSpPr>
          <p:nvPr/>
        </p:nvSpPr>
        <p:spPr>
          <a:xfrm xmlns:a="http://schemas.openxmlformats.org/drawingml/2006/main">
            <a:off x="457200" y="32385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0B1220"/>
                </a:solidFill>
                <a:latin typeface="Aptos"/>
                <a:ea typeface="Aptos"/>
                <a:cs typeface="Aptos"/>
              </a:defRPr>
            </a:pPr>
            <a:r>
              <a:rPr sz="3450" b="1" i="0">
                <a:solidFill>
                  <a:srgbClr val="0B1220"/>
                </a:solidFill>
                <a:latin typeface="Aptos"/>
                <a:ea typeface="Aptos"/>
                <a:cs typeface="Aptos"/>
              </a:rPr>
              <a:t>The decision is physical; the data are event-based</a:t>
            </a:r>
          </a:p>
        </p:txBody>
      </p:sp>
      <p:sp>
        <p:nvSpPr>
          <p:cNvPr id="2" name="">
            <a:extLst xmlns:a="http://schemas.openxmlformats.org/drawingml/2006/main">
              <a:ext uri="{FF2B5EF4-FFF2-40B4-BE49-F238E27FC236}">
                <a16:creationId xmlns:a16="http://schemas.microsoft.com/office/drawing/2014/main" id="{40CC3564-7C19-410C-9B4D-5B783A40BCCE}"/>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 name="">
            <a:extLst xmlns:a="http://schemas.openxmlformats.org/drawingml/2006/main">
              <a:ext uri="{FF2B5EF4-FFF2-40B4-BE49-F238E27FC236}">
                <a16:creationId xmlns:a16="http://schemas.microsoft.com/office/drawing/2014/main" id="{B190810C-E53F-47E8-BFA0-700CBA21B5B7}"/>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4" name="">
            <a:extLst xmlns:a="http://schemas.openxmlformats.org/drawingml/2006/main">
              <a:ext uri="{FF2B5EF4-FFF2-40B4-BE49-F238E27FC236}">
                <a16:creationId xmlns:a16="http://schemas.microsoft.com/office/drawing/2014/main" id="{04D2FBB0-58E4-4521-8D2A-88371607B4DC}"/>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EAE7A2AD-E0CD-4374-9650-DA78D6BEADC0}"/>
              </a:ext>
            </a:extLst>
          </p:cNvPr>
          <p:cNvSpPr>
            <a:spLocks xmlns:a="http://schemas.openxmlformats.org/drawingml/2006/main" noGrp="1"/>
          </p:cNvSpPr>
          <p:nvPr/>
        </p:nvSpPr>
        <p:spPr>
          <a:xfrm xmlns:a="http://schemas.openxmlformats.org/drawingml/2006/main">
            <a:off x="457200" y="1200150"/>
            <a:ext cx="6762750" cy="4857750"/>
          </a:xfrm>
          <a:prstGeom xmlns:a="http://schemas.openxmlformats.org/drawingml/2006/main" prst="roundRect">
            <a:avLst>
              <a:gd name="adj" fmla="val 2353"/>
            </a:avLst>
          </a:prstGeom>
          <a:solidFill xmlns:a="http://schemas.openxmlformats.org/drawingml/2006/main">
            <a:srgbClr val="F8FAFC"/>
          </a:solidFill>
          <a:ln xmlns:a="http://schemas.openxmlformats.org/drawingml/2006/main" w="0">
            <a:no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7f9c88f8be95420a"/>
          <a:stretch xmlns:a="http://schemas.openxmlformats.org/drawingml/2006/main"/>
        </p:blipFill>
        <p:spPr>
          <a:xfrm xmlns:a="http://schemas.openxmlformats.org/drawingml/2006/main">
            <a:off x="693135" y="1543050"/>
            <a:ext cx="6290880" cy="26860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037024F-A09F-4556-AD58-2459D62EB4ED}"/>
              </a:ext>
            </a:extLst>
          </p:cNvPr>
          <p:cNvSpPr>
            <a:spLocks xmlns:a="http://schemas.openxmlformats.org/drawingml/2006/main" noGrp="1"/>
          </p:cNvSpPr>
          <p:nvPr/>
        </p:nvSpPr>
        <p:spPr>
          <a:xfrm xmlns:a="http://schemas.openxmlformats.org/drawingml/2006/main">
            <a:off x="781050" y="44767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C8102E"/>
                </a:solidFill>
                <a:latin typeface="Aptos"/>
                <a:ea typeface="Aptos"/>
                <a:cs typeface="Aptos"/>
              </a:defRPr>
            </a:pPr>
            <a:r>
              <a:rPr sz="1500" b="1" i="0">
                <a:solidFill>
                  <a:srgbClr val="C8102E"/>
                </a:solidFill>
                <a:latin typeface="Aptos"/>
                <a:ea typeface="Aptos"/>
                <a:cs typeface="Aptos"/>
              </a:rPr>
              <a:t>Operational question</a:t>
            </a:r>
          </a:p>
        </p:txBody>
      </p:sp>
      <p:sp>
        <p:nvSpPr>
          <p:cNvPr id="8" name="">
            <a:extLst xmlns:a="http://schemas.openxmlformats.org/drawingml/2006/main">
              <a:ext uri="{FF2B5EF4-FFF2-40B4-BE49-F238E27FC236}">
                <a16:creationId xmlns:a16="http://schemas.microsoft.com/office/drawing/2014/main" id="{65F2A780-9347-4E45-9F14-563FA1B09B33}"/>
              </a:ext>
            </a:extLst>
          </p:cNvPr>
          <p:cNvSpPr>
            <a:spLocks xmlns:a="http://schemas.openxmlformats.org/drawingml/2006/main" noGrp="1"/>
          </p:cNvSpPr>
          <p:nvPr/>
        </p:nvSpPr>
        <p:spPr>
          <a:xfrm xmlns:a="http://schemas.openxmlformats.org/drawingml/2006/main">
            <a:off x="781050" y="4857750"/>
            <a:ext cx="600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0B1220"/>
                </a:solidFill>
                <a:latin typeface="Aptos"/>
                <a:ea typeface="Aptos"/>
                <a:cs typeface="Aptos"/>
              </a:defRPr>
            </a:pPr>
            <a:r>
              <a:rPr sz="2175" b="1" i="0">
                <a:solidFill>
                  <a:srgbClr val="0B1220"/>
                </a:solidFill>
                <a:latin typeface="Aptos"/>
                <a:ea typeface="Aptos"/>
                <a:cs typeface="Aptos"/>
              </a:rPr>
              <a:t>At what admitted truck rate does modelled delay rise, and what happens when a block is unavailable?</a:t>
            </a:r>
          </a:p>
        </p:txBody>
      </p:sp>
      <p:sp>
        <p:nvSpPr>
          <p:cNvPr id="9" name="">
            <a:extLst xmlns:a="http://schemas.openxmlformats.org/drawingml/2006/main">
              <a:ext uri="{FF2B5EF4-FFF2-40B4-BE49-F238E27FC236}">
                <a16:creationId xmlns:a16="http://schemas.microsoft.com/office/drawing/2014/main" id="{B0DAA8B4-34DF-414D-A61B-2DF5F8CE129A}"/>
              </a:ext>
            </a:extLst>
          </p:cNvPr>
          <p:cNvSpPr>
            <a:spLocks xmlns:a="http://schemas.openxmlformats.org/drawingml/2006/main" noGrp="1"/>
          </p:cNvSpPr>
          <p:nvPr/>
        </p:nvSpPr>
        <p:spPr>
          <a:xfrm xmlns:a="http://schemas.openxmlformats.org/drawingml/2006/main">
            <a:off x="7524750" y="1257300"/>
            <a:ext cx="4210050" cy="1314450"/>
          </a:xfrm>
          <a:prstGeom xmlns:a="http://schemas.openxmlformats.org/drawingml/2006/main" prst="roundRect">
            <a:avLst>
              <a:gd name="adj" fmla="val 8696"/>
            </a:avLst>
          </a:prstGeom>
          <a:solidFill xmlns:a="http://schemas.openxmlformats.org/drawingml/2006/main">
            <a:srgbClr val="F8FAFC"/>
          </a:solidFill>
          <a:ln xmlns:a="http://schemas.openxmlformats.org/drawingml/2006/main" w="9525">
            <a:solidFill>
              <a:srgbClr val="D0D5DD"/>
            </a:solidFill>
            <a:prstDash val="solid"/>
          </a:ln>
        </p:spPr>
      </p:sp>
      <p:sp>
        <p:nvSpPr>
          <p:cNvPr id="10" name="">
            <a:extLst xmlns:a="http://schemas.openxmlformats.org/drawingml/2006/main">
              <a:ext uri="{FF2B5EF4-FFF2-40B4-BE49-F238E27FC236}">
                <a16:creationId xmlns:a16="http://schemas.microsoft.com/office/drawing/2014/main" id="{A632616F-48D4-4E38-9860-34CBB1425FC8}"/>
              </a:ext>
            </a:extLst>
          </p:cNvPr>
          <p:cNvSpPr>
            <a:spLocks xmlns:a="http://schemas.openxmlformats.org/drawingml/2006/main" noGrp="1"/>
          </p:cNvSpPr>
          <p:nvPr/>
        </p:nvSpPr>
        <p:spPr>
          <a:xfrm xmlns:a="http://schemas.openxmlformats.org/drawingml/2006/main">
            <a:off x="7753350" y="1485900"/>
            <a:ext cx="400050" cy="400050"/>
          </a:xfrm>
          <a:prstGeom xmlns:a="http://schemas.openxmlformats.org/drawingml/2006/main" prst="ellipse">
            <a:avLst/>
          </a:prstGeom>
          <a:solidFill xmlns:a="http://schemas.openxmlformats.org/drawingml/2006/main">
            <a:srgbClr val="2F80ED"/>
          </a:solidFill>
          <a:ln xmlns:a="http://schemas.openxmlformats.org/drawingml/2006/main" w="9525">
            <a:solidFill>
              <a:srgbClr val="2F80ED"/>
            </a:solidFill>
            <a:prstDash val="solid"/>
          </a:ln>
        </p:spPr>
      </p:sp>
      <p:sp>
        <p:nvSpPr>
          <p:cNvPr id="11" name="">
            <a:extLst xmlns:a="http://schemas.openxmlformats.org/drawingml/2006/main">
              <a:ext uri="{FF2B5EF4-FFF2-40B4-BE49-F238E27FC236}">
                <a16:creationId xmlns:a16="http://schemas.microsoft.com/office/drawing/2014/main" id="{18E95F44-F6D1-4FD9-9AEC-3B42ED3F3B2B}"/>
              </a:ext>
            </a:extLst>
          </p:cNvPr>
          <p:cNvSpPr>
            <a:spLocks xmlns:a="http://schemas.openxmlformats.org/drawingml/2006/main" noGrp="1"/>
          </p:cNvSpPr>
          <p:nvPr/>
        </p:nvSpPr>
        <p:spPr>
          <a:xfrm xmlns:a="http://schemas.openxmlformats.org/drawingml/2006/main">
            <a:off x="7753350" y="15335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1</a:t>
            </a:r>
          </a:p>
        </p:txBody>
      </p:sp>
      <p:sp>
        <p:nvSpPr>
          <p:cNvPr id="12" name="">
            <a:extLst xmlns:a="http://schemas.openxmlformats.org/drawingml/2006/main">
              <a:ext uri="{FF2B5EF4-FFF2-40B4-BE49-F238E27FC236}">
                <a16:creationId xmlns:a16="http://schemas.microsoft.com/office/drawing/2014/main" id="{12A79793-9929-481F-8820-A6EA1BFC40E9}"/>
              </a:ext>
            </a:extLst>
          </p:cNvPr>
          <p:cNvSpPr>
            <a:spLocks xmlns:a="http://schemas.openxmlformats.org/drawingml/2006/main" noGrp="1"/>
          </p:cNvSpPr>
          <p:nvPr/>
        </p:nvSpPr>
        <p:spPr>
          <a:xfrm xmlns:a="http://schemas.openxmlformats.org/drawingml/2006/main">
            <a:off x="8324850" y="1428750"/>
            <a:ext cx="318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0B1220"/>
                </a:solidFill>
                <a:latin typeface="Aptos"/>
                <a:ea typeface="Aptos"/>
                <a:cs typeface="Aptos"/>
              </a:defRPr>
            </a:pPr>
            <a:r>
              <a:rPr sz="1725" b="1" i="0">
                <a:solidFill>
                  <a:srgbClr val="0B1220"/>
                </a:solidFill>
                <a:latin typeface="Aptos"/>
                <a:ea typeface="Aptos"/>
                <a:cs typeface="Aptos"/>
              </a:rPr>
              <a:t>Sequential visits</a:t>
            </a:r>
          </a:p>
        </p:txBody>
      </p:sp>
      <p:sp>
        <p:nvSpPr>
          <p:cNvPr id="13" name="">
            <a:extLst xmlns:a="http://schemas.openxmlformats.org/drawingml/2006/main">
              <a:ext uri="{FF2B5EF4-FFF2-40B4-BE49-F238E27FC236}">
                <a16:creationId xmlns:a16="http://schemas.microsoft.com/office/drawing/2014/main" id="{49C8F918-B0BE-40C9-AC4E-52630BEF65B8}"/>
              </a:ext>
            </a:extLst>
          </p:cNvPr>
          <p:cNvSpPr>
            <a:spLocks xmlns:a="http://schemas.openxmlformats.org/drawingml/2006/main" noGrp="1"/>
          </p:cNvSpPr>
          <p:nvPr/>
        </p:nvSpPr>
        <p:spPr>
          <a:xfrm xmlns:a="http://schemas.openxmlformats.org/drawingml/2006/main">
            <a:off x="8324850" y="1809750"/>
            <a:ext cx="3181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One truck cannot perform two yard activities at once.</a:t>
            </a:r>
          </a:p>
        </p:txBody>
      </p:sp>
      <p:sp>
        <p:nvSpPr>
          <p:cNvPr id="14" name="">
            <a:extLst xmlns:a="http://schemas.openxmlformats.org/drawingml/2006/main">
              <a:ext uri="{FF2B5EF4-FFF2-40B4-BE49-F238E27FC236}">
                <a16:creationId xmlns:a16="http://schemas.microsoft.com/office/drawing/2014/main" id="{68A2DAFB-27AE-4CEF-9C0F-E5DE1F90E0D6}"/>
              </a:ext>
            </a:extLst>
          </p:cNvPr>
          <p:cNvSpPr>
            <a:spLocks xmlns:a="http://schemas.openxmlformats.org/drawingml/2006/main" noGrp="1"/>
          </p:cNvSpPr>
          <p:nvPr/>
        </p:nvSpPr>
        <p:spPr>
          <a:xfrm xmlns:a="http://schemas.openxmlformats.org/drawingml/2006/main">
            <a:off x="7524750" y="2781300"/>
            <a:ext cx="4210050" cy="1314450"/>
          </a:xfrm>
          <a:prstGeom xmlns:a="http://schemas.openxmlformats.org/drawingml/2006/main" prst="roundRect">
            <a:avLst>
              <a:gd name="adj" fmla="val 8696"/>
            </a:avLst>
          </a:prstGeom>
          <a:solidFill xmlns:a="http://schemas.openxmlformats.org/drawingml/2006/main">
            <a:srgbClr val="F8FAFC"/>
          </a:solidFill>
          <a:ln xmlns:a="http://schemas.openxmlformats.org/drawingml/2006/main" w="9525">
            <a:solidFill>
              <a:srgbClr val="D0D5DD"/>
            </a:solidFill>
            <a:prstDash val="solid"/>
          </a:ln>
        </p:spPr>
      </p:sp>
      <p:sp>
        <p:nvSpPr>
          <p:cNvPr id="15" name="">
            <a:extLst xmlns:a="http://schemas.openxmlformats.org/drawingml/2006/main">
              <a:ext uri="{FF2B5EF4-FFF2-40B4-BE49-F238E27FC236}">
                <a16:creationId xmlns:a16="http://schemas.microsoft.com/office/drawing/2014/main" id="{F05B40E6-6C17-4952-940A-EDAF3165F1A4}"/>
              </a:ext>
            </a:extLst>
          </p:cNvPr>
          <p:cNvSpPr>
            <a:spLocks xmlns:a="http://schemas.openxmlformats.org/drawingml/2006/main" noGrp="1"/>
          </p:cNvSpPr>
          <p:nvPr/>
        </p:nvSpPr>
        <p:spPr>
          <a:xfrm xmlns:a="http://schemas.openxmlformats.org/drawingml/2006/main">
            <a:off x="7753350" y="3009900"/>
            <a:ext cx="400050" cy="400050"/>
          </a:xfrm>
          <a:prstGeom xmlns:a="http://schemas.openxmlformats.org/drawingml/2006/main" prst="ellipse">
            <a:avLst/>
          </a:prstGeom>
          <a:solidFill xmlns:a="http://schemas.openxmlformats.org/drawingml/2006/main">
            <a:srgbClr val="C98200"/>
          </a:solidFill>
          <a:ln xmlns:a="http://schemas.openxmlformats.org/drawingml/2006/main" w="9525">
            <a:solidFill>
              <a:srgbClr val="C98200"/>
            </a:solidFill>
            <a:prstDash val="solid"/>
          </a:ln>
        </p:spPr>
      </p:sp>
      <p:sp>
        <p:nvSpPr>
          <p:cNvPr id="16" name="">
            <a:extLst xmlns:a="http://schemas.openxmlformats.org/drawingml/2006/main">
              <a:ext uri="{FF2B5EF4-FFF2-40B4-BE49-F238E27FC236}">
                <a16:creationId xmlns:a16="http://schemas.microsoft.com/office/drawing/2014/main" id="{DE0D12E3-EA9A-4AD3-BA83-8689605BCB82}"/>
              </a:ext>
            </a:extLst>
          </p:cNvPr>
          <p:cNvSpPr>
            <a:spLocks xmlns:a="http://schemas.openxmlformats.org/drawingml/2006/main" noGrp="1"/>
          </p:cNvSpPr>
          <p:nvPr/>
        </p:nvSpPr>
        <p:spPr>
          <a:xfrm xmlns:a="http://schemas.openxmlformats.org/drawingml/2006/main">
            <a:off x="7753350" y="30575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2</a:t>
            </a:r>
          </a:p>
        </p:txBody>
      </p:sp>
      <p:sp>
        <p:nvSpPr>
          <p:cNvPr id="17" name="">
            <a:extLst xmlns:a="http://schemas.openxmlformats.org/drawingml/2006/main">
              <a:ext uri="{FF2B5EF4-FFF2-40B4-BE49-F238E27FC236}">
                <a16:creationId xmlns:a16="http://schemas.microsoft.com/office/drawing/2014/main" id="{F81FB6EC-C35E-4F8D-B22B-425E97297E17}"/>
              </a:ext>
            </a:extLst>
          </p:cNvPr>
          <p:cNvSpPr>
            <a:spLocks xmlns:a="http://schemas.openxmlformats.org/drawingml/2006/main" noGrp="1"/>
          </p:cNvSpPr>
          <p:nvPr/>
        </p:nvSpPr>
        <p:spPr>
          <a:xfrm xmlns:a="http://schemas.openxmlformats.org/drawingml/2006/main">
            <a:off x="8324850" y="2952750"/>
            <a:ext cx="318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0B1220"/>
                </a:solidFill>
                <a:latin typeface="Aptos"/>
                <a:ea typeface="Aptos"/>
                <a:cs typeface="Aptos"/>
              </a:defRPr>
            </a:pPr>
            <a:r>
              <a:rPr sz="1725" b="1" i="0">
                <a:solidFill>
                  <a:srgbClr val="0B1220"/>
                </a:solidFill>
                <a:latin typeface="Aptos"/>
                <a:ea typeface="Aptos"/>
                <a:cs typeface="Aptos"/>
              </a:rPr>
              <a:t>Shared resources</a:t>
            </a:r>
          </a:p>
        </p:txBody>
      </p:sp>
      <p:sp>
        <p:nvSpPr>
          <p:cNvPr id="18" name="">
            <a:extLst xmlns:a="http://schemas.openxmlformats.org/drawingml/2006/main">
              <a:ext uri="{FF2B5EF4-FFF2-40B4-BE49-F238E27FC236}">
                <a16:creationId xmlns:a16="http://schemas.microsoft.com/office/drawing/2014/main" id="{74E3E36B-8BB3-43E8-BDB6-9483D278D5C2}"/>
              </a:ext>
            </a:extLst>
          </p:cNvPr>
          <p:cNvSpPr>
            <a:spLocks xmlns:a="http://schemas.openxmlformats.org/drawingml/2006/main" noGrp="1"/>
          </p:cNvSpPr>
          <p:nvPr/>
        </p:nvSpPr>
        <p:spPr>
          <a:xfrm xmlns:a="http://schemas.openxmlformats.org/drawingml/2006/main">
            <a:off x="8324850" y="3333750"/>
            <a:ext cx="3181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Blocks, handling equipment, calendars and traffic interact.</a:t>
            </a:r>
          </a:p>
        </p:txBody>
      </p:sp>
      <p:sp>
        <p:nvSpPr>
          <p:cNvPr id="19" name="">
            <a:extLst xmlns:a="http://schemas.openxmlformats.org/drawingml/2006/main">
              <a:ext uri="{FF2B5EF4-FFF2-40B4-BE49-F238E27FC236}">
                <a16:creationId xmlns:a16="http://schemas.microsoft.com/office/drawing/2014/main" id="{B709556F-AB4B-41A8-B009-9BFB82C8D47A}"/>
              </a:ext>
            </a:extLst>
          </p:cNvPr>
          <p:cNvSpPr>
            <a:spLocks xmlns:a="http://schemas.openxmlformats.org/drawingml/2006/main" noGrp="1"/>
          </p:cNvSpPr>
          <p:nvPr/>
        </p:nvSpPr>
        <p:spPr>
          <a:xfrm xmlns:a="http://schemas.openxmlformats.org/drawingml/2006/main">
            <a:off x="7524750" y="4305300"/>
            <a:ext cx="4210050" cy="1314450"/>
          </a:xfrm>
          <a:prstGeom xmlns:a="http://schemas.openxmlformats.org/drawingml/2006/main" prst="roundRect">
            <a:avLst>
              <a:gd name="adj" fmla="val 8696"/>
            </a:avLst>
          </a:prstGeom>
          <a:solidFill xmlns:a="http://schemas.openxmlformats.org/drawingml/2006/main">
            <a:srgbClr val="F8FAFC"/>
          </a:solidFill>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2A338AA1-599D-44FC-A109-CB70D1492AC9}"/>
              </a:ext>
            </a:extLst>
          </p:cNvPr>
          <p:cNvSpPr>
            <a:spLocks xmlns:a="http://schemas.openxmlformats.org/drawingml/2006/main" noGrp="1"/>
          </p:cNvSpPr>
          <p:nvPr/>
        </p:nvSpPr>
        <p:spPr>
          <a:xfrm xmlns:a="http://schemas.openxmlformats.org/drawingml/2006/main">
            <a:off x="7753350" y="4533900"/>
            <a:ext cx="400050" cy="40005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21" name="">
            <a:extLst xmlns:a="http://schemas.openxmlformats.org/drawingml/2006/main">
              <a:ext uri="{FF2B5EF4-FFF2-40B4-BE49-F238E27FC236}">
                <a16:creationId xmlns:a16="http://schemas.microsoft.com/office/drawing/2014/main" id="{CD557A8E-9EFB-45E0-A344-5A44D6DBAD3A}"/>
              </a:ext>
            </a:extLst>
          </p:cNvPr>
          <p:cNvSpPr>
            <a:spLocks xmlns:a="http://schemas.openxmlformats.org/drawingml/2006/main" noGrp="1"/>
          </p:cNvSpPr>
          <p:nvPr/>
        </p:nvSpPr>
        <p:spPr>
          <a:xfrm xmlns:a="http://schemas.openxmlformats.org/drawingml/2006/main">
            <a:off x="7753350" y="45815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3</a:t>
            </a:r>
          </a:p>
        </p:txBody>
      </p:sp>
      <p:sp>
        <p:nvSpPr>
          <p:cNvPr id="22" name="">
            <a:extLst xmlns:a="http://schemas.openxmlformats.org/drawingml/2006/main">
              <a:ext uri="{FF2B5EF4-FFF2-40B4-BE49-F238E27FC236}">
                <a16:creationId xmlns:a16="http://schemas.microsoft.com/office/drawing/2014/main" id="{9E35D723-C2FA-473C-B101-536221ABCC48}"/>
              </a:ext>
            </a:extLst>
          </p:cNvPr>
          <p:cNvSpPr>
            <a:spLocks xmlns:a="http://schemas.openxmlformats.org/drawingml/2006/main" noGrp="1"/>
          </p:cNvSpPr>
          <p:nvPr/>
        </p:nvSpPr>
        <p:spPr>
          <a:xfrm xmlns:a="http://schemas.openxmlformats.org/drawingml/2006/main">
            <a:off x="8324850" y="4476750"/>
            <a:ext cx="318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0B1220"/>
                </a:solidFill>
                <a:latin typeface="Aptos"/>
                <a:ea typeface="Aptos"/>
                <a:cs typeface="Aptos"/>
              </a:defRPr>
            </a:pPr>
            <a:r>
              <a:rPr sz="1725" b="1" i="0">
                <a:solidFill>
                  <a:srgbClr val="0B1220"/>
                </a:solidFill>
                <a:latin typeface="Aptos"/>
                <a:ea typeface="Aptos"/>
                <a:cs typeface="Aptos"/>
              </a:rPr>
              <a:t>Spatial propagation</a:t>
            </a:r>
          </a:p>
        </p:txBody>
      </p:sp>
      <p:sp>
        <p:nvSpPr>
          <p:cNvPr id="23" name="">
            <a:extLst xmlns:a="http://schemas.openxmlformats.org/drawingml/2006/main">
              <a:ext uri="{FF2B5EF4-FFF2-40B4-BE49-F238E27FC236}">
                <a16:creationId xmlns:a16="http://schemas.microsoft.com/office/drawing/2014/main" id="{09601B7C-C5DB-4696-81D4-D41F152827B6}"/>
              </a:ext>
            </a:extLst>
          </p:cNvPr>
          <p:cNvSpPr>
            <a:spLocks xmlns:a="http://schemas.openxmlformats.org/drawingml/2006/main" noGrp="1"/>
          </p:cNvSpPr>
          <p:nvPr/>
        </p:nvSpPr>
        <p:spPr>
          <a:xfrm xmlns:a="http://schemas.openxmlformats.org/drawingml/2006/main">
            <a:off x="8324850" y="4857750"/>
            <a:ext cx="3181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Location and movement determine whether an intervention propagates to delay.</a:t>
            </a:r>
          </a:p>
        </p:txBody>
      </p:sp>
    </p:spTree>
    <p:extLst>
      <p:ext uri="{BB962C8B-B14F-4D97-AF65-F5344CB8AC3E}">
        <p14:creationId xmlns:p14="http://schemas.microsoft.com/office/powerpoint/2010/main" val="14492057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20B47D8-40A1-4E4C-BB8A-C04C6C9E0C49}"/>
              </a:ext>
            </a:extLst>
          </p:cNvPr>
          <p:cNvSpPr>
            <a:spLocks xmlns:a="http://schemas.openxmlformats.org/drawingml/2006/main" noGrp="1"/>
          </p:cNvSpPr>
          <p:nvPr/>
        </p:nvSpPr>
        <p:spPr>
          <a:xfrm xmlns:a="http://schemas.openxmlformats.org/drawingml/2006/main">
            <a:off x="457200" y="32385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0B1220"/>
                </a:solidFill>
                <a:latin typeface="Aptos"/>
                <a:ea typeface="Aptos"/>
                <a:cs typeface="Aptos"/>
              </a:defRPr>
            </a:pPr>
            <a:r>
              <a:rPr sz="3450" b="1" i="0">
                <a:solidFill>
                  <a:srgbClr val="0B1220"/>
                </a:solidFill>
                <a:latin typeface="Aptos"/>
                <a:ea typeface="Aptos"/>
                <a:cs typeface="Aptos"/>
              </a:rPr>
              <a:t>The question is not ‘can it run?’ but ‘what can we trust?’</a:t>
            </a:r>
          </a:p>
        </p:txBody>
      </p:sp>
      <p:sp>
        <p:nvSpPr>
          <p:cNvPr id="2" name="">
            <a:extLst xmlns:a="http://schemas.openxmlformats.org/drawingml/2006/main">
              <a:ext uri="{FF2B5EF4-FFF2-40B4-BE49-F238E27FC236}">
                <a16:creationId xmlns:a16="http://schemas.microsoft.com/office/drawing/2014/main" id="{E41973B8-A715-4D19-9C3B-5D4D187D2C28}"/>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 name="">
            <a:extLst xmlns:a="http://schemas.openxmlformats.org/drawingml/2006/main">
              <a:ext uri="{FF2B5EF4-FFF2-40B4-BE49-F238E27FC236}">
                <a16:creationId xmlns:a16="http://schemas.microsoft.com/office/drawing/2014/main" id="{8C6FB2CC-F1A0-40AE-8D07-E6571431683B}"/>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4" name="">
            <a:extLst xmlns:a="http://schemas.openxmlformats.org/drawingml/2006/main">
              <a:ext uri="{FF2B5EF4-FFF2-40B4-BE49-F238E27FC236}">
                <a16:creationId xmlns:a16="http://schemas.microsoft.com/office/drawing/2014/main" id="{4264437D-1A1D-4847-B13A-2A3E9F724161}"/>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03</a:t>
            </a:r>
          </a:p>
        </p:txBody>
      </p:sp>
      <p:sp>
        <p:nvSpPr>
          <p:cNvPr id="5" name="">
            <a:extLst xmlns:a="http://schemas.openxmlformats.org/drawingml/2006/main">
              <a:ext uri="{FF2B5EF4-FFF2-40B4-BE49-F238E27FC236}">
                <a16:creationId xmlns:a16="http://schemas.microsoft.com/office/drawing/2014/main" id="{F6ADD75A-99C0-4772-A5F3-B780E4C824F4}"/>
              </a:ext>
            </a:extLst>
          </p:cNvPr>
          <p:cNvSpPr>
            <a:spLocks xmlns:a="http://schemas.openxmlformats.org/drawingml/2006/main" noGrp="1"/>
          </p:cNvSpPr>
          <p:nvPr/>
        </p:nvSpPr>
        <p:spPr>
          <a:xfrm xmlns:a="http://schemas.openxmlformats.org/drawingml/2006/main">
            <a:off x="895350" y="1428750"/>
            <a:ext cx="104013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i="0">
                <a:solidFill>
                  <a:srgbClr val="0B1220"/>
                </a:solidFill>
                <a:latin typeface="Aptos"/>
                <a:ea typeface="Aptos"/>
                <a:cs typeface="Aptos"/>
              </a:defRPr>
            </a:pPr>
            <a:r>
              <a:rPr sz="2550" b="1" i="0">
                <a:solidFill>
                  <a:srgbClr val="0B1220"/>
                </a:solidFill>
                <a:latin typeface="Aptos"/>
                <a:ea typeface="Aptos"/>
                <a:cs typeface="Aptos"/>
              </a:rPr>
              <a:t>How far can an event-log-discovered CTB simulator be trusted for history, process structure and operational interventions?</a:t>
            </a:r>
          </a:p>
        </p:txBody>
      </p:sp>
      <p:sp>
        <p:nvSpPr>
          <p:cNvPr id="6" name="">
            <a:extLst xmlns:a="http://schemas.openxmlformats.org/drawingml/2006/main">
              <a:ext uri="{FF2B5EF4-FFF2-40B4-BE49-F238E27FC236}">
                <a16:creationId xmlns:a16="http://schemas.microsoft.com/office/drawing/2014/main" id="{2E3CAB0E-4AED-45D4-A9B8-67513237CD04}"/>
              </a:ext>
            </a:extLst>
          </p:cNvPr>
          <p:cNvSpPr>
            <a:spLocks xmlns:a="http://schemas.openxmlformats.org/drawingml/2006/main" noGrp="1"/>
          </p:cNvSpPr>
          <p:nvPr/>
        </p:nvSpPr>
        <p:spPr>
          <a:xfrm xmlns:a="http://schemas.openxmlformats.org/drawingml/2006/main">
            <a:off x="666750" y="3009900"/>
            <a:ext cx="3200400" cy="2343150"/>
          </a:xfrm>
          <a:prstGeom xmlns:a="http://schemas.openxmlformats.org/drawingml/2006/main" prst="roundRect">
            <a:avLst>
              <a:gd name="adj" fmla="val 4878"/>
            </a:avLst>
          </a:prstGeom>
          <a:solidFill xmlns:a="http://schemas.openxmlformats.org/drawingml/2006/main">
            <a:srgbClr val="F8FAFC"/>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4D3B63C7-7E9E-4C3A-98F9-AE5635D29F21}"/>
              </a:ext>
            </a:extLst>
          </p:cNvPr>
          <p:cNvSpPr>
            <a:spLocks xmlns:a="http://schemas.openxmlformats.org/drawingml/2006/main" noGrp="1"/>
          </p:cNvSpPr>
          <p:nvPr/>
        </p:nvSpPr>
        <p:spPr>
          <a:xfrm xmlns:a="http://schemas.openxmlformats.org/drawingml/2006/main">
            <a:off x="666750" y="3009900"/>
            <a:ext cx="3200400" cy="7620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8" name="">
            <a:extLst xmlns:a="http://schemas.openxmlformats.org/drawingml/2006/main">
              <a:ext uri="{FF2B5EF4-FFF2-40B4-BE49-F238E27FC236}">
                <a16:creationId xmlns:a16="http://schemas.microsoft.com/office/drawing/2014/main" id="{700B0F96-D546-4A0C-83F9-671BD0337CAA}"/>
              </a:ext>
            </a:extLst>
          </p:cNvPr>
          <p:cNvSpPr>
            <a:spLocks xmlns:a="http://schemas.openxmlformats.org/drawingml/2006/main" noGrp="1"/>
          </p:cNvSpPr>
          <p:nvPr/>
        </p:nvSpPr>
        <p:spPr>
          <a:xfrm xmlns:a="http://schemas.openxmlformats.org/drawingml/2006/main">
            <a:off x="895350" y="323850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2F80ED"/>
                </a:solidFill>
                <a:latin typeface="Aptos"/>
                <a:ea typeface="Aptos"/>
                <a:cs typeface="Aptos"/>
              </a:defRPr>
            </a:pPr>
            <a:r>
              <a:rPr sz="1275" b="1" i="0">
                <a:solidFill>
                  <a:srgbClr val="2F80ED"/>
                </a:solidFill>
                <a:latin typeface="Aptos"/>
                <a:ea typeface="Aptos"/>
                <a:cs typeface="Aptos"/>
              </a:rPr>
              <a:t>RQ1</a:t>
            </a:r>
          </a:p>
        </p:txBody>
      </p:sp>
      <p:sp>
        <p:nvSpPr>
          <p:cNvPr id="9" name="">
            <a:extLst xmlns:a="http://schemas.openxmlformats.org/drawingml/2006/main">
              <a:ext uri="{FF2B5EF4-FFF2-40B4-BE49-F238E27FC236}">
                <a16:creationId xmlns:a16="http://schemas.microsoft.com/office/drawing/2014/main" id="{EF5271F1-A239-4587-B269-648B3F06AC92}"/>
              </a:ext>
            </a:extLst>
          </p:cNvPr>
          <p:cNvSpPr>
            <a:spLocks xmlns:a="http://schemas.openxmlformats.org/drawingml/2006/main" noGrp="1"/>
          </p:cNvSpPr>
          <p:nvPr/>
        </p:nvSpPr>
        <p:spPr>
          <a:xfrm xmlns:a="http://schemas.openxmlformats.org/drawingml/2006/main">
            <a:off x="895350" y="3619500"/>
            <a:ext cx="2743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0B1220"/>
                </a:solidFill>
                <a:latin typeface="Aptos"/>
                <a:ea typeface="Aptos"/>
                <a:cs typeface="Aptos"/>
              </a:defRPr>
            </a:pPr>
            <a:r>
              <a:rPr sz="2025" b="1" i="0">
                <a:solidFill>
                  <a:srgbClr val="0B1220"/>
                </a:solidFill>
                <a:latin typeface="Aptos"/>
                <a:ea typeface="Aptos"/>
                <a:cs typeface="Aptos"/>
              </a:rPr>
              <a:t>Historical fidelity</a:t>
            </a:r>
          </a:p>
        </p:txBody>
      </p:sp>
      <p:sp>
        <p:nvSpPr>
          <p:cNvPr id="10" name="">
            <a:extLst xmlns:a="http://schemas.openxmlformats.org/drawingml/2006/main">
              <a:ext uri="{FF2B5EF4-FFF2-40B4-BE49-F238E27FC236}">
                <a16:creationId xmlns:a16="http://schemas.microsoft.com/office/drawing/2014/main" id="{B9636277-2CBC-4693-AEC5-1DA62B4DB7FF}"/>
              </a:ext>
            </a:extLst>
          </p:cNvPr>
          <p:cNvSpPr>
            <a:spLocks xmlns:a="http://schemas.openxmlformats.org/drawingml/2006/main" noGrp="1"/>
          </p:cNvSpPr>
          <p:nvPr/>
        </p:nvSpPr>
        <p:spPr>
          <a:xfrm xmlns:a="http://schemas.openxmlformats.org/drawingml/2006/main">
            <a:off x="895350" y="4229100"/>
            <a:ext cx="27051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Does the simulator reproduce a later, untouched operating period?</a:t>
            </a:r>
          </a:p>
        </p:txBody>
      </p:sp>
      <p:sp>
        <p:nvSpPr>
          <p:cNvPr id="11" name="">
            <a:extLst xmlns:a="http://schemas.openxmlformats.org/drawingml/2006/main">
              <a:ext uri="{FF2B5EF4-FFF2-40B4-BE49-F238E27FC236}">
                <a16:creationId xmlns:a16="http://schemas.microsoft.com/office/drawing/2014/main" id="{3C11D8B8-6D7A-4C7D-BC8F-103A09AEA2F7}"/>
              </a:ext>
            </a:extLst>
          </p:cNvPr>
          <p:cNvSpPr>
            <a:spLocks xmlns:a="http://schemas.openxmlformats.org/drawingml/2006/main" noGrp="1"/>
          </p:cNvSpPr>
          <p:nvPr/>
        </p:nvSpPr>
        <p:spPr>
          <a:xfrm xmlns:a="http://schemas.openxmlformats.org/drawingml/2006/main">
            <a:off x="4257675" y="3009900"/>
            <a:ext cx="3200400" cy="2343150"/>
          </a:xfrm>
          <a:prstGeom xmlns:a="http://schemas.openxmlformats.org/drawingml/2006/main" prst="roundRect">
            <a:avLst>
              <a:gd name="adj" fmla="val 4878"/>
            </a:avLst>
          </a:prstGeom>
          <a:solidFill xmlns:a="http://schemas.openxmlformats.org/drawingml/2006/main">
            <a:srgbClr val="F8FAFC"/>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CA93745C-1744-4D26-A614-2ACD9113E020}"/>
              </a:ext>
            </a:extLst>
          </p:cNvPr>
          <p:cNvSpPr>
            <a:spLocks xmlns:a="http://schemas.openxmlformats.org/drawingml/2006/main" noGrp="1"/>
          </p:cNvSpPr>
          <p:nvPr/>
        </p:nvSpPr>
        <p:spPr>
          <a:xfrm xmlns:a="http://schemas.openxmlformats.org/drawingml/2006/main">
            <a:off x="4257675" y="3009900"/>
            <a:ext cx="3200400" cy="76200"/>
          </a:xfrm>
          <a:prstGeom xmlns:a="http://schemas.openxmlformats.org/drawingml/2006/main" prst="rect">
            <a:avLst/>
          </a:prstGeom>
          <a:solidFill xmlns:a="http://schemas.openxmlformats.org/drawingml/2006/main">
            <a:srgbClr val="16876A"/>
          </a:solidFill>
          <a:ln xmlns:a="http://schemas.openxmlformats.org/drawingml/2006/main" w="0">
            <a:solidFill>
              <a:srgbClr val="16876A"/>
            </a:solidFill>
            <a:prstDash val="solid"/>
          </a:ln>
        </p:spPr>
      </p:sp>
      <p:sp>
        <p:nvSpPr>
          <p:cNvPr id="13" name="">
            <a:extLst xmlns:a="http://schemas.openxmlformats.org/drawingml/2006/main">
              <a:ext uri="{FF2B5EF4-FFF2-40B4-BE49-F238E27FC236}">
                <a16:creationId xmlns:a16="http://schemas.microsoft.com/office/drawing/2014/main" id="{8D4A0295-CDE8-4AD4-9B45-3D4B8B17009F}"/>
              </a:ext>
            </a:extLst>
          </p:cNvPr>
          <p:cNvSpPr>
            <a:spLocks xmlns:a="http://schemas.openxmlformats.org/drawingml/2006/main" noGrp="1"/>
          </p:cNvSpPr>
          <p:nvPr/>
        </p:nvSpPr>
        <p:spPr>
          <a:xfrm xmlns:a="http://schemas.openxmlformats.org/drawingml/2006/main">
            <a:off x="4486275" y="323850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16876A"/>
                </a:solidFill>
                <a:latin typeface="Aptos"/>
                <a:ea typeface="Aptos"/>
                <a:cs typeface="Aptos"/>
              </a:defRPr>
            </a:pPr>
            <a:r>
              <a:rPr sz="1275" b="1" i="0">
                <a:solidFill>
                  <a:srgbClr val="16876A"/>
                </a:solidFill>
                <a:latin typeface="Aptos"/>
                <a:ea typeface="Aptos"/>
                <a:cs typeface="Aptos"/>
              </a:rPr>
              <a:t>RQ2</a:t>
            </a:r>
          </a:p>
        </p:txBody>
      </p:sp>
      <p:sp>
        <p:nvSpPr>
          <p:cNvPr id="14" name="">
            <a:extLst xmlns:a="http://schemas.openxmlformats.org/drawingml/2006/main">
              <a:ext uri="{FF2B5EF4-FFF2-40B4-BE49-F238E27FC236}">
                <a16:creationId xmlns:a16="http://schemas.microsoft.com/office/drawing/2014/main" id="{9E147BC9-BC28-40BD-82CE-0FE09673D25C}"/>
              </a:ext>
            </a:extLst>
          </p:cNvPr>
          <p:cNvSpPr>
            <a:spLocks xmlns:a="http://schemas.openxmlformats.org/drawingml/2006/main" noGrp="1"/>
          </p:cNvSpPr>
          <p:nvPr/>
        </p:nvSpPr>
        <p:spPr>
          <a:xfrm xmlns:a="http://schemas.openxmlformats.org/drawingml/2006/main">
            <a:off x="4486275" y="3619500"/>
            <a:ext cx="2743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0B1220"/>
                </a:solidFill>
                <a:latin typeface="Aptos"/>
                <a:ea typeface="Aptos"/>
                <a:cs typeface="Aptos"/>
              </a:defRPr>
            </a:pPr>
            <a:r>
              <a:rPr sz="2025" b="1" i="0">
                <a:solidFill>
                  <a:srgbClr val="0B1220"/>
                </a:solidFill>
                <a:latin typeface="Aptos"/>
                <a:ea typeface="Aptos"/>
                <a:cs typeface="Aptos"/>
              </a:rPr>
              <a:t>Physical structure</a:t>
            </a:r>
          </a:p>
        </p:txBody>
      </p:sp>
      <p:sp>
        <p:nvSpPr>
          <p:cNvPr id="15" name="">
            <a:extLst xmlns:a="http://schemas.openxmlformats.org/drawingml/2006/main">
              <a:ext uri="{FF2B5EF4-FFF2-40B4-BE49-F238E27FC236}">
                <a16:creationId xmlns:a16="http://schemas.microsoft.com/office/drawing/2014/main" id="{B54D97C0-B2BA-4E07-B903-F16713C8D927}"/>
              </a:ext>
            </a:extLst>
          </p:cNvPr>
          <p:cNvSpPr>
            <a:spLocks xmlns:a="http://schemas.openxmlformats.org/drawingml/2006/main" noGrp="1"/>
          </p:cNvSpPr>
          <p:nvPr/>
        </p:nvSpPr>
        <p:spPr>
          <a:xfrm xmlns:a="http://schemas.openxmlformats.org/drawingml/2006/main">
            <a:off x="4486275" y="4229100"/>
            <a:ext cx="27051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Does the Petri net satisfy the expert-validated truck-visit contract?</a:t>
            </a:r>
          </a:p>
        </p:txBody>
      </p:sp>
      <p:sp>
        <p:nvSpPr>
          <p:cNvPr id="16" name="">
            <a:extLst xmlns:a="http://schemas.openxmlformats.org/drawingml/2006/main">
              <a:ext uri="{FF2B5EF4-FFF2-40B4-BE49-F238E27FC236}">
                <a16:creationId xmlns:a16="http://schemas.microsoft.com/office/drawing/2014/main" id="{1417548F-5734-4AEA-8E3A-BF912A2FD413}"/>
              </a:ext>
            </a:extLst>
          </p:cNvPr>
          <p:cNvSpPr>
            <a:spLocks xmlns:a="http://schemas.openxmlformats.org/drawingml/2006/main" noGrp="1"/>
          </p:cNvSpPr>
          <p:nvPr/>
        </p:nvSpPr>
        <p:spPr>
          <a:xfrm xmlns:a="http://schemas.openxmlformats.org/drawingml/2006/main">
            <a:off x="7848600" y="3009900"/>
            <a:ext cx="3200400" cy="2343150"/>
          </a:xfrm>
          <a:prstGeom xmlns:a="http://schemas.openxmlformats.org/drawingml/2006/main" prst="roundRect">
            <a:avLst>
              <a:gd name="adj" fmla="val 4878"/>
            </a:avLst>
          </a:prstGeom>
          <a:solidFill xmlns:a="http://schemas.openxmlformats.org/drawingml/2006/main">
            <a:srgbClr val="F8FAFC"/>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34170824-2BD2-4C94-806D-5B39E7F65C7B}"/>
              </a:ext>
            </a:extLst>
          </p:cNvPr>
          <p:cNvSpPr>
            <a:spLocks xmlns:a="http://schemas.openxmlformats.org/drawingml/2006/main" noGrp="1"/>
          </p:cNvSpPr>
          <p:nvPr/>
        </p:nvSpPr>
        <p:spPr>
          <a:xfrm xmlns:a="http://schemas.openxmlformats.org/drawingml/2006/main">
            <a:off x="7848600" y="3009900"/>
            <a:ext cx="3200400" cy="76200"/>
          </a:xfrm>
          <a:prstGeom xmlns:a="http://schemas.openxmlformats.org/drawingml/2006/main" prst="rect">
            <a:avLst/>
          </a:prstGeom>
          <a:solidFill xmlns:a="http://schemas.openxmlformats.org/drawingml/2006/main">
            <a:srgbClr val="C8102E"/>
          </a:solidFill>
          <a:ln xmlns:a="http://schemas.openxmlformats.org/drawingml/2006/main" w="0">
            <a:solidFill>
              <a:srgbClr val="C8102E"/>
            </a:solidFill>
            <a:prstDash val="solid"/>
          </a:ln>
        </p:spPr>
      </p:sp>
      <p:sp>
        <p:nvSpPr>
          <p:cNvPr id="18" name="">
            <a:extLst xmlns:a="http://schemas.openxmlformats.org/drawingml/2006/main">
              <a:ext uri="{FF2B5EF4-FFF2-40B4-BE49-F238E27FC236}">
                <a16:creationId xmlns:a16="http://schemas.microsoft.com/office/drawing/2014/main" id="{D4226451-C8C5-4073-95C6-F5D7D74710BE}"/>
              </a:ext>
            </a:extLst>
          </p:cNvPr>
          <p:cNvSpPr>
            <a:spLocks xmlns:a="http://schemas.openxmlformats.org/drawingml/2006/main" noGrp="1"/>
          </p:cNvSpPr>
          <p:nvPr/>
        </p:nvSpPr>
        <p:spPr>
          <a:xfrm xmlns:a="http://schemas.openxmlformats.org/drawingml/2006/main">
            <a:off x="8077200" y="323850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C8102E"/>
                </a:solidFill>
                <a:latin typeface="Aptos"/>
                <a:ea typeface="Aptos"/>
                <a:cs typeface="Aptos"/>
              </a:defRPr>
            </a:pPr>
            <a:r>
              <a:rPr sz="1275" b="1" i="0">
                <a:solidFill>
                  <a:srgbClr val="C8102E"/>
                </a:solidFill>
                <a:latin typeface="Aptos"/>
                <a:ea typeface="Aptos"/>
                <a:cs typeface="Aptos"/>
              </a:rPr>
              <a:t>RQ3-RQ4</a:t>
            </a:r>
          </a:p>
        </p:txBody>
      </p:sp>
      <p:sp>
        <p:nvSpPr>
          <p:cNvPr id="19" name="">
            <a:extLst xmlns:a="http://schemas.openxmlformats.org/drawingml/2006/main">
              <a:ext uri="{FF2B5EF4-FFF2-40B4-BE49-F238E27FC236}">
                <a16:creationId xmlns:a16="http://schemas.microsoft.com/office/drawing/2014/main" id="{D1481F01-F346-453B-8B37-DB391967B768}"/>
              </a:ext>
            </a:extLst>
          </p:cNvPr>
          <p:cNvSpPr>
            <a:spLocks xmlns:a="http://schemas.openxmlformats.org/drawingml/2006/main" noGrp="1"/>
          </p:cNvSpPr>
          <p:nvPr/>
        </p:nvSpPr>
        <p:spPr>
          <a:xfrm xmlns:a="http://schemas.openxmlformats.org/drawingml/2006/main">
            <a:off x="8077200" y="3619500"/>
            <a:ext cx="2743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0B1220"/>
                </a:solidFill>
                <a:latin typeface="Aptos"/>
                <a:ea typeface="Aptos"/>
                <a:cs typeface="Aptos"/>
              </a:defRPr>
            </a:pPr>
            <a:r>
              <a:rPr sz="2025" b="1" i="0">
                <a:solidFill>
                  <a:srgbClr val="0B1220"/>
                </a:solidFill>
                <a:latin typeface="Aptos"/>
                <a:ea typeface="Aptos"/>
                <a:cs typeface="Aptos"/>
              </a:rPr>
              <a:t>Intervention adequacy</a:t>
            </a:r>
          </a:p>
        </p:txBody>
      </p:sp>
      <p:sp>
        <p:nvSpPr>
          <p:cNvPr id="20" name="">
            <a:extLst xmlns:a="http://schemas.openxmlformats.org/drawingml/2006/main">
              <a:ext uri="{FF2B5EF4-FFF2-40B4-BE49-F238E27FC236}">
                <a16:creationId xmlns:a16="http://schemas.microsoft.com/office/drawing/2014/main" id="{DE94A19A-B9BC-4B14-AA8F-E655AA391597}"/>
              </a:ext>
            </a:extLst>
          </p:cNvPr>
          <p:cNvSpPr>
            <a:spLocks xmlns:a="http://schemas.openxmlformats.org/drawingml/2006/main" noGrp="1"/>
          </p:cNvSpPr>
          <p:nvPr/>
        </p:nvSpPr>
        <p:spPr>
          <a:xfrm xmlns:a="http://schemas.openxmlformats.org/drawingml/2006/main">
            <a:off x="8077200" y="4229100"/>
            <a:ext cx="27051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Do added state and parameter changes contain the mechanism required by the question?</a:t>
            </a:r>
          </a:p>
        </p:txBody>
      </p:sp>
      <p:sp>
        <p:nvSpPr>
          <p:cNvPr id="21" name="">
            <a:extLst xmlns:a="http://schemas.openxmlformats.org/drawingml/2006/main">
              <a:ext uri="{FF2B5EF4-FFF2-40B4-BE49-F238E27FC236}">
                <a16:creationId xmlns:a16="http://schemas.microsoft.com/office/drawing/2014/main" id="{E16742BE-4E75-4E1E-B252-6A082359F278}"/>
              </a:ext>
            </a:extLst>
          </p:cNvPr>
          <p:cNvSpPr>
            <a:spLocks xmlns:a="http://schemas.openxmlformats.org/drawingml/2006/main" noGrp="1"/>
          </p:cNvSpPr>
          <p:nvPr/>
        </p:nvSpPr>
        <p:spPr>
          <a:xfrm xmlns:a="http://schemas.openxmlformats.org/drawingml/2006/main">
            <a:off x="1885950" y="5695950"/>
            <a:ext cx="842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5F6B7A"/>
                </a:solidFill>
                <a:latin typeface="Aptos"/>
                <a:ea typeface="Aptos"/>
                <a:cs typeface="Aptos"/>
              </a:defRPr>
            </a:pPr>
            <a:r>
              <a:rPr sz="1725" b="1" i="0">
                <a:solidFill>
                  <a:srgbClr val="5F6B7A"/>
                </a:solidFill>
                <a:latin typeface="Aptos"/>
                <a:ea typeface="Aptos"/>
                <a:cs typeface="Aptos"/>
              </a:rPr>
              <a:t>Historical fit, physical admissibility and intervention response are separate claims.</a:t>
            </a:r>
          </a:p>
        </p:txBody>
      </p:sp>
    </p:spTree>
    <p:extLst>
      <p:ext uri="{BB962C8B-B14F-4D97-AF65-F5344CB8AC3E}">
        <p14:creationId xmlns:p14="http://schemas.microsoft.com/office/powerpoint/2010/main" val="13149584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2782FA6-45C7-4598-BA90-94DDC168FBF8}"/>
              </a:ext>
            </a:extLst>
          </p:cNvPr>
          <p:cNvSpPr>
            <a:spLocks xmlns:a="http://schemas.openxmlformats.org/drawingml/2006/main" noGrp="1"/>
          </p:cNvSpPr>
          <p:nvPr/>
        </p:nvSpPr>
        <p:spPr>
          <a:xfrm xmlns:a="http://schemas.openxmlformats.org/drawingml/2006/main">
            <a:off x="457200" y="32385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0B1220"/>
                </a:solidFill>
                <a:latin typeface="Aptos"/>
                <a:ea typeface="Aptos"/>
                <a:cs typeface="Aptos"/>
              </a:defRPr>
            </a:pPr>
            <a:r>
              <a:rPr sz="3450" b="1" i="0">
                <a:solidFill>
                  <a:srgbClr val="0B1220"/>
                </a:solidFill>
                <a:latin typeface="Aptos"/>
                <a:ea typeface="Aptos"/>
                <a:cs typeface="Aptos"/>
              </a:rPr>
              <a:t>A 64/16/20 split separates selection from final testing</a:t>
            </a:r>
          </a:p>
        </p:txBody>
      </p:sp>
      <p:sp>
        <p:nvSpPr>
          <p:cNvPr id="2" name="">
            <a:extLst xmlns:a="http://schemas.openxmlformats.org/drawingml/2006/main">
              <a:ext uri="{FF2B5EF4-FFF2-40B4-BE49-F238E27FC236}">
                <a16:creationId xmlns:a16="http://schemas.microsoft.com/office/drawing/2014/main" id="{373FB205-22BD-405D-8ED4-D0611B1D4CE9}"/>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 name="">
            <a:extLst xmlns:a="http://schemas.openxmlformats.org/drawingml/2006/main">
              <a:ext uri="{FF2B5EF4-FFF2-40B4-BE49-F238E27FC236}">
                <a16:creationId xmlns:a16="http://schemas.microsoft.com/office/drawing/2014/main" id="{A1F9F35A-E93E-4DA6-9AF1-BD9C12844CD4}"/>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4" name="">
            <a:extLst xmlns:a="http://schemas.openxmlformats.org/drawingml/2006/main">
              <a:ext uri="{FF2B5EF4-FFF2-40B4-BE49-F238E27FC236}">
                <a16:creationId xmlns:a16="http://schemas.microsoft.com/office/drawing/2014/main" id="{A6DBD1AF-9E65-41B7-80FD-F1AE906E9BB4}"/>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545BE234-F186-44CD-8783-E5119C3D54D4}"/>
              </a:ext>
            </a:extLst>
          </p:cNvPr>
          <p:cNvSpPr>
            <a:spLocks xmlns:a="http://schemas.openxmlformats.org/drawingml/2006/main" noGrp="1"/>
          </p:cNvSpPr>
          <p:nvPr/>
        </p:nvSpPr>
        <p:spPr>
          <a:xfrm xmlns:a="http://schemas.openxmlformats.org/drawingml/2006/main">
            <a:off x="523875" y="1609725"/>
            <a:ext cx="2571750" cy="3371850"/>
          </a:xfrm>
          <a:prstGeom xmlns:a="http://schemas.openxmlformats.org/drawingml/2006/main" prst="roundRect">
            <a:avLst>
              <a:gd name="adj" fmla="val 4444"/>
            </a:avLst>
          </a:prstGeom>
          <a:solidFill xmlns:a="http://schemas.openxmlformats.org/drawingml/2006/main">
            <a:srgbClr val="F8FAFC"/>
          </a:solidFill>
          <a:ln xmlns:a="http://schemas.openxmlformats.org/drawingml/2006/main" w="9525">
            <a:solidFill>
              <a:srgbClr val="D0D5DD"/>
            </a:solidFill>
            <a:prstDash val="solid"/>
          </a:ln>
        </p:spPr>
      </p:sp>
      <p:sp>
        <p:nvSpPr>
          <p:cNvPr id="6" name="">
            <a:extLst xmlns:a="http://schemas.openxmlformats.org/drawingml/2006/main">
              <a:ext uri="{FF2B5EF4-FFF2-40B4-BE49-F238E27FC236}">
                <a16:creationId xmlns:a16="http://schemas.microsoft.com/office/drawing/2014/main" id="{E074B328-F918-4202-BEF8-EC9E095FBDB1}"/>
              </a:ext>
            </a:extLst>
          </p:cNvPr>
          <p:cNvSpPr>
            <a:spLocks xmlns:a="http://schemas.openxmlformats.org/drawingml/2006/main" noGrp="1"/>
          </p:cNvSpPr>
          <p:nvPr/>
        </p:nvSpPr>
        <p:spPr>
          <a:xfrm xmlns:a="http://schemas.openxmlformats.org/drawingml/2006/main">
            <a:off x="733425" y="1809750"/>
            <a:ext cx="438150" cy="438150"/>
          </a:xfrm>
          <a:prstGeom xmlns:a="http://schemas.openxmlformats.org/drawingml/2006/main" prst="ellipse">
            <a:avLst/>
          </a:prstGeom>
          <a:solidFill xmlns:a="http://schemas.openxmlformats.org/drawingml/2006/main">
            <a:srgbClr val="2F80ED"/>
          </a:solidFill>
          <a:ln xmlns:a="http://schemas.openxmlformats.org/drawingml/2006/main" w="9525">
            <a:solidFill>
              <a:srgbClr val="2F80ED"/>
            </a:solidFill>
            <a:prstDash val="solid"/>
          </a:ln>
        </p:spPr>
      </p:sp>
      <p:sp>
        <p:nvSpPr>
          <p:cNvPr id="7" name="">
            <a:extLst xmlns:a="http://schemas.openxmlformats.org/drawingml/2006/main">
              <a:ext uri="{FF2B5EF4-FFF2-40B4-BE49-F238E27FC236}">
                <a16:creationId xmlns:a16="http://schemas.microsoft.com/office/drawing/2014/main" id="{83171D9C-3E83-4FE7-AD7E-DA8D8C091BC6}"/>
              </a:ext>
            </a:extLst>
          </p:cNvPr>
          <p:cNvSpPr>
            <a:spLocks xmlns:a="http://schemas.openxmlformats.org/drawingml/2006/main" noGrp="1"/>
          </p:cNvSpPr>
          <p:nvPr/>
        </p:nvSpPr>
        <p:spPr>
          <a:xfrm xmlns:a="http://schemas.openxmlformats.org/drawingml/2006/main">
            <a:off x="733425" y="1905000"/>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FFFFF"/>
                </a:solidFill>
                <a:latin typeface="Aptos"/>
                <a:ea typeface="Aptos"/>
                <a:cs typeface="Aptos"/>
              </a:defRPr>
            </a:pPr>
            <a:r>
              <a:rPr sz="1350" b="1" i="0">
                <a:solidFill>
                  <a:srgbClr val="FFFFFF"/>
                </a:solidFill>
                <a:latin typeface="Aptos"/>
                <a:ea typeface="Aptos"/>
                <a:cs typeface="Aptos"/>
              </a:rPr>
              <a:t>64</a:t>
            </a:r>
          </a:p>
        </p:txBody>
      </p:sp>
      <p:sp>
        <p:nvSpPr>
          <p:cNvPr id="8" name="">
            <a:extLst xmlns:a="http://schemas.openxmlformats.org/drawingml/2006/main">
              <a:ext uri="{FF2B5EF4-FFF2-40B4-BE49-F238E27FC236}">
                <a16:creationId xmlns:a16="http://schemas.microsoft.com/office/drawing/2014/main" id="{65AF3D70-6FB5-4A6C-9BE6-38C232C68F34}"/>
              </a:ext>
            </a:extLst>
          </p:cNvPr>
          <p:cNvSpPr>
            <a:spLocks xmlns:a="http://schemas.openxmlformats.org/drawingml/2006/main" noGrp="1"/>
          </p:cNvSpPr>
          <p:nvPr/>
        </p:nvSpPr>
        <p:spPr>
          <a:xfrm xmlns:a="http://schemas.openxmlformats.org/drawingml/2006/main">
            <a:off x="733425" y="2476500"/>
            <a:ext cx="2152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0B1220"/>
                </a:solidFill>
                <a:latin typeface="Aptos"/>
                <a:ea typeface="Aptos"/>
                <a:cs typeface="Aptos"/>
              </a:defRPr>
            </a:pPr>
            <a:r>
              <a:rPr sz="2025" b="1" i="0">
                <a:solidFill>
                  <a:srgbClr val="0B1220"/>
                </a:solidFill>
                <a:latin typeface="Aptos"/>
                <a:ea typeface="Aptos"/>
                <a:cs typeface="Aptos"/>
              </a:rPr>
              <a:t>Discovery</a:t>
            </a:r>
          </a:p>
        </p:txBody>
      </p:sp>
      <p:sp>
        <p:nvSpPr>
          <p:cNvPr id="9" name="">
            <a:extLst xmlns:a="http://schemas.openxmlformats.org/drawingml/2006/main">
              <a:ext uri="{FF2B5EF4-FFF2-40B4-BE49-F238E27FC236}">
                <a16:creationId xmlns:a16="http://schemas.microsoft.com/office/drawing/2014/main" id="{3348D5CB-E9E1-4112-804D-2CCA92803718}"/>
              </a:ext>
            </a:extLst>
          </p:cNvPr>
          <p:cNvSpPr>
            <a:spLocks xmlns:a="http://schemas.openxmlformats.org/drawingml/2006/main" noGrp="1"/>
          </p:cNvSpPr>
          <p:nvPr/>
        </p:nvSpPr>
        <p:spPr>
          <a:xfrm xmlns:a="http://schemas.openxmlformats.org/drawingml/2006/main">
            <a:off x="733425" y="3305175"/>
            <a:ext cx="2152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57,254 cases</a:t>
            </a:r>
          </a:p>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four configurations</a:t>
            </a:r>
          </a:p>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parameters learned</a:t>
            </a:r>
          </a:p>
        </p:txBody>
      </p:sp>
      <p:sp>
        <p:nvSpPr>
          <p:cNvPr id="10" name="">
            <a:extLst xmlns:a="http://schemas.openxmlformats.org/drawingml/2006/main">
              <a:ext uri="{FF2B5EF4-FFF2-40B4-BE49-F238E27FC236}">
                <a16:creationId xmlns:a16="http://schemas.microsoft.com/office/drawing/2014/main" id="{114044A0-437F-4F99-AD13-69BC62035377}"/>
              </a:ext>
            </a:extLst>
          </p:cNvPr>
          <p:cNvSpPr>
            <a:spLocks xmlns:a="http://schemas.openxmlformats.org/drawingml/2006/main" noGrp="1"/>
          </p:cNvSpPr>
          <p:nvPr/>
        </p:nvSpPr>
        <p:spPr>
          <a:xfrm xmlns:a="http://schemas.openxmlformats.org/drawingml/2006/main">
            <a:off x="3095625" y="3048000"/>
            <a:ext cx="28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700" b="1" i="0">
                <a:solidFill>
                  <a:srgbClr val="98A2B3"/>
                </a:solidFill>
                <a:latin typeface="Aptos"/>
                <a:ea typeface="Aptos"/>
                <a:cs typeface="Aptos"/>
              </a:defRPr>
            </a:pPr>
            <a:r>
              <a:rPr sz="2700" b="1" i="0">
                <a:solidFill>
                  <a:srgbClr val="98A2B3"/>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154BBA77-7CD2-4101-B4F2-2864F8F5B90B}"/>
              </a:ext>
            </a:extLst>
          </p:cNvPr>
          <p:cNvSpPr>
            <a:spLocks xmlns:a="http://schemas.openxmlformats.org/drawingml/2006/main" noGrp="1"/>
          </p:cNvSpPr>
          <p:nvPr/>
        </p:nvSpPr>
        <p:spPr>
          <a:xfrm xmlns:a="http://schemas.openxmlformats.org/drawingml/2006/main">
            <a:off x="3371850" y="1609725"/>
            <a:ext cx="2571750" cy="3371850"/>
          </a:xfrm>
          <a:prstGeom xmlns:a="http://schemas.openxmlformats.org/drawingml/2006/main" prst="roundRect">
            <a:avLst>
              <a:gd name="adj" fmla="val 4444"/>
            </a:avLst>
          </a:prstGeom>
          <a:solidFill xmlns:a="http://schemas.openxmlformats.org/drawingml/2006/main">
            <a:srgbClr val="F8FAFC"/>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AA0CAC40-FA63-43D2-B07F-F6F19F16C34C}"/>
              </a:ext>
            </a:extLst>
          </p:cNvPr>
          <p:cNvSpPr>
            <a:spLocks xmlns:a="http://schemas.openxmlformats.org/drawingml/2006/main" noGrp="1"/>
          </p:cNvSpPr>
          <p:nvPr/>
        </p:nvSpPr>
        <p:spPr>
          <a:xfrm xmlns:a="http://schemas.openxmlformats.org/drawingml/2006/main">
            <a:off x="3581400" y="1809750"/>
            <a:ext cx="438150" cy="438150"/>
          </a:xfrm>
          <a:prstGeom xmlns:a="http://schemas.openxmlformats.org/drawingml/2006/main" prst="ellipse">
            <a:avLst/>
          </a:prstGeom>
          <a:solidFill xmlns:a="http://schemas.openxmlformats.org/drawingml/2006/main">
            <a:srgbClr val="16876A"/>
          </a:solidFill>
          <a:ln xmlns:a="http://schemas.openxmlformats.org/drawingml/2006/main" w="9525">
            <a:solidFill>
              <a:srgbClr val="16876A"/>
            </a:solidFill>
            <a:prstDash val="solid"/>
          </a:ln>
        </p:spPr>
      </p:sp>
      <p:sp>
        <p:nvSpPr>
          <p:cNvPr id="13" name="">
            <a:extLst xmlns:a="http://schemas.openxmlformats.org/drawingml/2006/main">
              <a:ext uri="{FF2B5EF4-FFF2-40B4-BE49-F238E27FC236}">
                <a16:creationId xmlns:a16="http://schemas.microsoft.com/office/drawing/2014/main" id="{67622A5B-3079-41D8-AA9D-0924C363A366}"/>
              </a:ext>
            </a:extLst>
          </p:cNvPr>
          <p:cNvSpPr>
            <a:spLocks xmlns:a="http://schemas.openxmlformats.org/drawingml/2006/main" noGrp="1"/>
          </p:cNvSpPr>
          <p:nvPr/>
        </p:nvSpPr>
        <p:spPr>
          <a:xfrm xmlns:a="http://schemas.openxmlformats.org/drawingml/2006/main">
            <a:off x="3581400" y="1905000"/>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FFFFF"/>
                </a:solidFill>
                <a:latin typeface="Aptos"/>
                <a:ea typeface="Aptos"/>
                <a:cs typeface="Aptos"/>
              </a:defRPr>
            </a:pPr>
            <a:r>
              <a:rPr sz="1350" b="1" i="0">
                <a:solidFill>
                  <a:srgbClr val="FFFFFF"/>
                </a:solidFill>
                <a:latin typeface="Aptos"/>
                <a:ea typeface="Aptos"/>
                <a:cs typeface="Aptos"/>
              </a:rPr>
              <a:t>16</a:t>
            </a:r>
          </a:p>
        </p:txBody>
      </p:sp>
      <p:sp>
        <p:nvSpPr>
          <p:cNvPr id="14" name="">
            <a:extLst xmlns:a="http://schemas.openxmlformats.org/drawingml/2006/main">
              <a:ext uri="{FF2B5EF4-FFF2-40B4-BE49-F238E27FC236}">
                <a16:creationId xmlns:a16="http://schemas.microsoft.com/office/drawing/2014/main" id="{C38C165B-CA0B-488A-B8B5-9EDB6E70A8A4}"/>
              </a:ext>
            </a:extLst>
          </p:cNvPr>
          <p:cNvSpPr>
            <a:spLocks xmlns:a="http://schemas.openxmlformats.org/drawingml/2006/main" noGrp="1"/>
          </p:cNvSpPr>
          <p:nvPr/>
        </p:nvSpPr>
        <p:spPr>
          <a:xfrm xmlns:a="http://schemas.openxmlformats.org/drawingml/2006/main">
            <a:off x="3581400" y="2476500"/>
            <a:ext cx="2152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0B1220"/>
                </a:solidFill>
                <a:latin typeface="Aptos"/>
                <a:ea typeface="Aptos"/>
                <a:cs typeface="Aptos"/>
              </a:defRPr>
            </a:pPr>
            <a:r>
              <a:rPr sz="2025" b="1" i="0">
                <a:solidFill>
                  <a:srgbClr val="0B1220"/>
                </a:solidFill>
                <a:latin typeface="Aptos"/>
                <a:ea typeface="Aptos"/>
                <a:cs typeface="Aptos"/>
              </a:rPr>
              <a:t>Validation</a:t>
            </a:r>
          </a:p>
        </p:txBody>
      </p:sp>
      <p:sp>
        <p:nvSpPr>
          <p:cNvPr id="15" name="">
            <a:extLst xmlns:a="http://schemas.openxmlformats.org/drawingml/2006/main">
              <a:ext uri="{FF2B5EF4-FFF2-40B4-BE49-F238E27FC236}">
                <a16:creationId xmlns:a16="http://schemas.microsoft.com/office/drawing/2014/main" id="{0D678694-3CC6-4F5D-84E0-757797822370}"/>
              </a:ext>
            </a:extLst>
          </p:cNvPr>
          <p:cNvSpPr>
            <a:spLocks xmlns:a="http://schemas.openxmlformats.org/drawingml/2006/main" noGrp="1"/>
          </p:cNvSpPr>
          <p:nvPr/>
        </p:nvSpPr>
        <p:spPr>
          <a:xfrm xmlns:a="http://schemas.openxmlformats.org/drawingml/2006/main">
            <a:off x="3581400" y="3305175"/>
            <a:ext cx="2152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14,314 cases</a:t>
            </a:r>
          </a:p>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pre-specified rule</a:t>
            </a:r>
          </a:p>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selects reference</a:t>
            </a:r>
          </a:p>
        </p:txBody>
      </p:sp>
      <p:sp>
        <p:nvSpPr>
          <p:cNvPr id="16" name="">
            <a:extLst xmlns:a="http://schemas.openxmlformats.org/drawingml/2006/main">
              <a:ext uri="{FF2B5EF4-FFF2-40B4-BE49-F238E27FC236}">
                <a16:creationId xmlns:a16="http://schemas.microsoft.com/office/drawing/2014/main" id="{F2424FE5-D5A5-406F-8971-5EACB9CC4D2D}"/>
              </a:ext>
            </a:extLst>
          </p:cNvPr>
          <p:cNvSpPr>
            <a:spLocks xmlns:a="http://schemas.openxmlformats.org/drawingml/2006/main" noGrp="1"/>
          </p:cNvSpPr>
          <p:nvPr/>
        </p:nvSpPr>
        <p:spPr>
          <a:xfrm xmlns:a="http://schemas.openxmlformats.org/drawingml/2006/main">
            <a:off x="5943600" y="3048000"/>
            <a:ext cx="28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700" b="1" i="0">
                <a:solidFill>
                  <a:srgbClr val="98A2B3"/>
                </a:solidFill>
                <a:latin typeface="Aptos"/>
                <a:ea typeface="Aptos"/>
                <a:cs typeface="Aptos"/>
              </a:defRPr>
            </a:pPr>
            <a:r>
              <a:rPr sz="2700" b="1" i="0">
                <a:solidFill>
                  <a:srgbClr val="98A2B3"/>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4409AB7A-BCB5-4C13-8FDD-69CAC8592770}"/>
              </a:ext>
            </a:extLst>
          </p:cNvPr>
          <p:cNvSpPr>
            <a:spLocks xmlns:a="http://schemas.openxmlformats.org/drawingml/2006/main" noGrp="1"/>
          </p:cNvSpPr>
          <p:nvPr/>
        </p:nvSpPr>
        <p:spPr>
          <a:xfrm xmlns:a="http://schemas.openxmlformats.org/drawingml/2006/main">
            <a:off x="6219825" y="1609725"/>
            <a:ext cx="2571750" cy="3371850"/>
          </a:xfrm>
          <a:prstGeom xmlns:a="http://schemas.openxmlformats.org/drawingml/2006/main" prst="roundRect">
            <a:avLst>
              <a:gd name="adj" fmla="val 4444"/>
            </a:avLst>
          </a:prstGeom>
          <a:solidFill xmlns:a="http://schemas.openxmlformats.org/drawingml/2006/main">
            <a:srgbClr val="F8FAFC"/>
          </a:solidFill>
          <a:ln xmlns:a="http://schemas.openxmlformats.org/drawingml/2006/main" w="9525">
            <a:solidFill>
              <a:srgbClr val="D0D5DD"/>
            </a:solidFill>
            <a:prstDash val="solid"/>
          </a:ln>
        </p:spPr>
      </p:sp>
      <p:sp>
        <p:nvSpPr>
          <p:cNvPr id="18" name="">
            <a:extLst xmlns:a="http://schemas.openxmlformats.org/drawingml/2006/main">
              <a:ext uri="{FF2B5EF4-FFF2-40B4-BE49-F238E27FC236}">
                <a16:creationId xmlns:a16="http://schemas.microsoft.com/office/drawing/2014/main" id="{ADBE5B0C-4F52-4407-AE55-17D4EA24AC87}"/>
              </a:ext>
            </a:extLst>
          </p:cNvPr>
          <p:cNvSpPr>
            <a:spLocks xmlns:a="http://schemas.openxmlformats.org/drawingml/2006/main" noGrp="1"/>
          </p:cNvSpPr>
          <p:nvPr/>
        </p:nvSpPr>
        <p:spPr>
          <a:xfrm xmlns:a="http://schemas.openxmlformats.org/drawingml/2006/main">
            <a:off x="6429375" y="1809750"/>
            <a:ext cx="438150" cy="438150"/>
          </a:xfrm>
          <a:prstGeom xmlns:a="http://schemas.openxmlformats.org/drawingml/2006/main" prst="ellipse">
            <a:avLst/>
          </a:prstGeom>
          <a:solidFill xmlns:a="http://schemas.openxmlformats.org/drawingml/2006/main">
            <a:srgbClr val="C98200"/>
          </a:solidFill>
          <a:ln xmlns:a="http://schemas.openxmlformats.org/drawingml/2006/main" w="9525">
            <a:solidFill>
              <a:srgbClr val="C98200"/>
            </a:solidFill>
            <a:prstDash val="solid"/>
          </a:ln>
        </p:spPr>
      </p:sp>
      <p:sp>
        <p:nvSpPr>
          <p:cNvPr id="19" name="">
            <a:extLst xmlns:a="http://schemas.openxmlformats.org/drawingml/2006/main">
              <a:ext uri="{FF2B5EF4-FFF2-40B4-BE49-F238E27FC236}">
                <a16:creationId xmlns:a16="http://schemas.microsoft.com/office/drawing/2014/main" id="{F4854E86-C011-4B54-A390-D4B394BE6019}"/>
              </a:ext>
            </a:extLst>
          </p:cNvPr>
          <p:cNvSpPr>
            <a:spLocks xmlns:a="http://schemas.openxmlformats.org/drawingml/2006/main" noGrp="1"/>
          </p:cNvSpPr>
          <p:nvPr/>
        </p:nvSpPr>
        <p:spPr>
          <a:xfrm xmlns:a="http://schemas.openxmlformats.org/drawingml/2006/main">
            <a:off x="6429375" y="1905000"/>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FFFFF"/>
                </a:solidFill>
                <a:latin typeface="Aptos"/>
                <a:ea typeface="Aptos"/>
                <a:cs typeface="Aptos"/>
              </a:defRPr>
            </a:pPr>
            <a:r>
              <a:rPr sz="1350" b="1" i="0">
                <a:solidFill>
                  <a:srgbClr val="FFFFFF"/>
                </a:solidFill>
                <a:latin typeface="Aptos"/>
                <a:ea typeface="Aptos"/>
                <a:cs typeface="Aptos"/>
              </a:rPr>
              <a:t>80</a:t>
            </a:r>
          </a:p>
        </p:txBody>
      </p:sp>
      <p:sp>
        <p:nvSpPr>
          <p:cNvPr id="20" name="">
            <a:extLst xmlns:a="http://schemas.openxmlformats.org/drawingml/2006/main">
              <a:ext uri="{FF2B5EF4-FFF2-40B4-BE49-F238E27FC236}">
                <a16:creationId xmlns:a16="http://schemas.microsoft.com/office/drawing/2014/main" id="{822AFA04-1346-448D-88C4-A7386FDB2C0B}"/>
              </a:ext>
            </a:extLst>
          </p:cNvPr>
          <p:cNvSpPr>
            <a:spLocks xmlns:a="http://schemas.openxmlformats.org/drawingml/2006/main" noGrp="1"/>
          </p:cNvSpPr>
          <p:nvPr/>
        </p:nvSpPr>
        <p:spPr>
          <a:xfrm xmlns:a="http://schemas.openxmlformats.org/drawingml/2006/main">
            <a:off x="6429375" y="2476500"/>
            <a:ext cx="2152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0B1220"/>
                </a:solidFill>
                <a:latin typeface="Aptos"/>
                <a:ea typeface="Aptos"/>
                <a:cs typeface="Aptos"/>
              </a:defRPr>
            </a:pPr>
            <a:r>
              <a:rPr sz="2025" b="1" i="0">
                <a:solidFill>
                  <a:srgbClr val="0B1220"/>
                </a:solidFill>
                <a:latin typeface="Aptos"/>
                <a:ea typeface="Aptos"/>
                <a:cs typeface="Aptos"/>
              </a:rPr>
              <a:t>Rediscovery</a:t>
            </a:r>
          </a:p>
        </p:txBody>
      </p:sp>
      <p:sp>
        <p:nvSpPr>
          <p:cNvPr id="21" name="">
            <a:extLst xmlns:a="http://schemas.openxmlformats.org/drawingml/2006/main">
              <a:ext uri="{FF2B5EF4-FFF2-40B4-BE49-F238E27FC236}">
                <a16:creationId xmlns:a16="http://schemas.microsoft.com/office/drawing/2014/main" id="{9C7CDE51-7192-469A-9C38-2BD62EB669C7}"/>
              </a:ext>
            </a:extLst>
          </p:cNvPr>
          <p:cNvSpPr>
            <a:spLocks xmlns:a="http://schemas.openxmlformats.org/drawingml/2006/main" noGrp="1"/>
          </p:cNvSpPr>
          <p:nvPr/>
        </p:nvSpPr>
        <p:spPr>
          <a:xfrm xmlns:a="http://schemas.openxmlformats.org/drawingml/2006/main">
            <a:off x="6429375" y="3305175"/>
            <a:ext cx="2152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71,568 cases</a:t>
            </a:r>
          </a:p>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selected configuration</a:t>
            </a:r>
          </a:p>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refitted once</a:t>
            </a:r>
          </a:p>
        </p:txBody>
      </p:sp>
      <p:sp>
        <p:nvSpPr>
          <p:cNvPr id="22" name="">
            <a:extLst xmlns:a="http://schemas.openxmlformats.org/drawingml/2006/main">
              <a:ext uri="{FF2B5EF4-FFF2-40B4-BE49-F238E27FC236}">
                <a16:creationId xmlns:a16="http://schemas.microsoft.com/office/drawing/2014/main" id="{F57DAD90-9CDE-44E9-9A37-4094622D80CD}"/>
              </a:ext>
            </a:extLst>
          </p:cNvPr>
          <p:cNvSpPr>
            <a:spLocks xmlns:a="http://schemas.openxmlformats.org/drawingml/2006/main" noGrp="1"/>
          </p:cNvSpPr>
          <p:nvPr/>
        </p:nvSpPr>
        <p:spPr>
          <a:xfrm xmlns:a="http://schemas.openxmlformats.org/drawingml/2006/main">
            <a:off x="8791575" y="3048000"/>
            <a:ext cx="28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700" b="1" i="0">
                <a:solidFill>
                  <a:srgbClr val="98A2B3"/>
                </a:solidFill>
                <a:latin typeface="Aptos"/>
                <a:ea typeface="Aptos"/>
                <a:cs typeface="Aptos"/>
              </a:defRPr>
            </a:pPr>
            <a:r>
              <a:rPr sz="2700" b="1" i="0">
                <a:solidFill>
                  <a:srgbClr val="98A2B3"/>
                </a:solidFill>
                <a:latin typeface="Aptos"/>
                <a:ea typeface="Aptos"/>
                <a:cs typeface="Aptos"/>
              </a:rPr>
              <a:t>→</a:t>
            </a:r>
          </a:p>
        </p:txBody>
      </p:sp>
      <p:sp>
        <p:nvSpPr>
          <p:cNvPr id="23" name="">
            <a:extLst xmlns:a="http://schemas.openxmlformats.org/drawingml/2006/main">
              <a:ext uri="{FF2B5EF4-FFF2-40B4-BE49-F238E27FC236}">
                <a16:creationId xmlns:a16="http://schemas.microsoft.com/office/drawing/2014/main" id="{2F90511E-2813-478D-8307-943B6CE6B086}"/>
              </a:ext>
            </a:extLst>
          </p:cNvPr>
          <p:cNvSpPr>
            <a:spLocks xmlns:a="http://schemas.openxmlformats.org/drawingml/2006/main" noGrp="1"/>
          </p:cNvSpPr>
          <p:nvPr/>
        </p:nvSpPr>
        <p:spPr>
          <a:xfrm xmlns:a="http://schemas.openxmlformats.org/drawingml/2006/main">
            <a:off x="9067800" y="1609725"/>
            <a:ext cx="2571750" cy="3371850"/>
          </a:xfrm>
          <a:prstGeom xmlns:a="http://schemas.openxmlformats.org/drawingml/2006/main" prst="roundRect">
            <a:avLst>
              <a:gd name="adj" fmla="val 4444"/>
            </a:avLst>
          </a:prstGeom>
          <a:solidFill xmlns:a="http://schemas.openxmlformats.org/drawingml/2006/main">
            <a:srgbClr val="F8FAFC"/>
          </a:solidFill>
          <a:ln xmlns:a="http://schemas.openxmlformats.org/drawingml/2006/main" w="9525">
            <a:solidFill>
              <a:srgbClr val="D0D5DD"/>
            </a:solidFill>
            <a:prstDash val="solid"/>
          </a:ln>
        </p:spPr>
      </p:sp>
      <p:sp>
        <p:nvSpPr>
          <p:cNvPr id="24" name="">
            <a:extLst xmlns:a="http://schemas.openxmlformats.org/drawingml/2006/main">
              <a:ext uri="{FF2B5EF4-FFF2-40B4-BE49-F238E27FC236}">
                <a16:creationId xmlns:a16="http://schemas.microsoft.com/office/drawing/2014/main" id="{59D2F225-2011-4040-97A7-6786F2B69CEA}"/>
              </a:ext>
            </a:extLst>
          </p:cNvPr>
          <p:cNvSpPr>
            <a:spLocks xmlns:a="http://schemas.openxmlformats.org/drawingml/2006/main" noGrp="1"/>
          </p:cNvSpPr>
          <p:nvPr/>
        </p:nvSpPr>
        <p:spPr>
          <a:xfrm xmlns:a="http://schemas.openxmlformats.org/drawingml/2006/main">
            <a:off x="9277350" y="1809750"/>
            <a:ext cx="438150" cy="43815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25" name="">
            <a:extLst xmlns:a="http://schemas.openxmlformats.org/drawingml/2006/main">
              <a:ext uri="{FF2B5EF4-FFF2-40B4-BE49-F238E27FC236}">
                <a16:creationId xmlns:a16="http://schemas.microsoft.com/office/drawing/2014/main" id="{BC89A8DF-39E9-4E70-9577-9EF0E61AA0A7}"/>
              </a:ext>
            </a:extLst>
          </p:cNvPr>
          <p:cNvSpPr>
            <a:spLocks xmlns:a="http://schemas.openxmlformats.org/drawingml/2006/main" noGrp="1"/>
          </p:cNvSpPr>
          <p:nvPr/>
        </p:nvSpPr>
        <p:spPr>
          <a:xfrm xmlns:a="http://schemas.openxmlformats.org/drawingml/2006/main">
            <a:off x="9277350" y="1905000"/>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FFFFF"/>
                </a:solidFill>
                <a:latin typeface="Aptos"/>
                <a:ea typeface="Aptos"/>
                <a:cs typeface="Aptos"/>
              </a:defRPr>
            </a:pPr>
            <a:r>
              <a:rPr sz="1350" b="1" i="0">
                <a:solidFill>
                  <a:srgbClr val="FFFFFF"/>
                </a:solidFill>
                <a:latin typeface="Aptos"/>
                <a:ea typeface="Aptos"/>
                <a:cs typeface="Aptos"/>
              </a:rPr>
              <a:t>20</a:t>
            </a:r>
          </a:p>
        </p:txBody>
      </p:sp>
      <p:sp>
        <p:nvSpPr>
          <p:cNvPr id="26" name="">
            <a:extLst xmlns:a="http://schemas.openxmlformats.org/drawingml/2006/main">
              <a:ext uri="{FF2B5EF4-FFF2-40B4-BE49-F238E27FC236}">
                <a16:creationId xmlns:a16="http://schemas.microsoft.com/office/drawing/2014/main" id="{43379611-EFC5-453B-A0DA-A93C043EB8ED}"/>
              </a:ext>
            </a:extLst>
          </p:cNvPr>
          <p:cNvSpPr>
            <a:spLocks xmlns:a="http://schemas.openxmlformats.org/drawingml/2006/main" noGrp="1"/>
          </p:cNvSpPr>
          <p:nvPr/>
        </p:nvSpPr>
        <p:spPr>
          <a:xfrm xmlns:a="http://schemas.openxmlformats.org/drawingml/2006/main">
            <a:off x="9277350" y="2476500"/>
            <a:ext cx="2152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0B1220"/>
                </a:solidFill>
                <a:latin typeface="Aptos"/>
                <a:ea typeface="Aptos"/>
                <a:cs typeface="Aptos"/>
              </a:defRPr>
            </a:pPr>
            <a:r>
              <a:rPr sz="2025" b="1" i="0">
                <a:solidFill>
                  <a:srgbClr val="0B1220"/>
                </a:solidFill>
                <a:latin typeface="Aptos"/>
                <a:ea typeface="Aptos"/>
                <a:cs typeface="Aptos"/>
              </a:rPr>
              <a:t>Final test</a:t>
            </a:r>
          </a:p>
        </p:txBody>
      </p:sp>
      <p:sp>
        <p:nvSpPr>
          <p:cNvPr id="27" name="">
            <a:extLst xmlns:a="http://schemas.openxmlformats.org/drawingml/2006/main">
              <a:ext uri="{FF2B5EF4-FFF2-40B4-BE49-F238E27FC236}">
                <a16:creationId xmlns:a16="http://schemas.microsoft.com/office/drawing/2014/main" id="{B71AC4BE-1F63-462F-84C9-6203899B8661}"/>
              </a:ext>
            </a:extLst>
          </p:cNvPr>
          <p:cNvSpPr>
            <a:spLocks xmlns:a="http://schemas.openxmlformats.org/drawingml/2006/main" noGrp="1"/>
          </p:cNvSpPr>
          <p:nvPr/>
        </p:nvSpPr>
        <p:spPr>
          <a:xfrm xmlns:a="http://schemas.openxmlformats.org/drawingml/2006/main">
            <a:off x="9277350" y="3305175"/>
            <a:ext cx="2152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17,892 cases</a:t>
            </a:r>
          </a:p>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10 seeds (42-51)</a:t>
            </a:r>
          </a:p>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untouched period</a:t>
            </a:r>
          </a:p>
        </p:txBody>
      </p:sp>
      <p:sp>
        <p:nvSpPr>
          <p:cNvPr id="28" name="">
            <a:extLst xmlns:a="http://schemas.openxmlformats.org/drawingml/2006/main">
              <a:ext uri="{FF2B5EF4-FFF2-40B4-BE49-F238E27FC236}">
                <a16:creationId xmlns:a16="http://schemas.microsoft.com/office/drawing/2014/main" id="{D64577A5-0E99-4F38-BA18-95990D59189E}"/>
              </a:ext>
            </a:extLst>
          </p:cNvPr>
          <p:cNvSpPr>
            <a:spLocks xmlns:a="http://schemas.openxmlformats.org/drawingml/2006/main" noGrp="1"/>
          </p:cNvSpPr>
          <p:nvPr/>
        </p:nvSpPr>
        <p:spPr>
          <a:xfrm xmlns:a="http://schemas.openxmlformats.org/drawingml/2006/main">
            <a:off x="1600200" y="5400675"/>
            <a:ext cx="8991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i="0">
                <a:solidFill>
                  <a:srgbClr val="0B1220"/>
                </a:solidFill>
                <a:latin typeface="Aptos"/>
                <a:ea typeface="Aptos"/>
                <a:cs typeface="Aptos"/>
              </a:defRPr>
            </a:pPr>
            <a:r>
              <a:rPr sz="1800" b="1" i="0">
                <a:solidFill>
                  <a:srgbClr val="0B1220"/>
                </a:solidFill>
                <a:latin typeface="Aptos"/>
                <a:ea typeface="Aptos"/>
                <a:cs typeface="Aptos"/>
              </a:rPr>
              <a:t>Selection uses validation only. The final 20% test remains untouched until one historical-fidelity evaluation.</a:t>
            </a:r>
          </a:p>
        </p:txBody>
      </p:sp>
    </p:spTree>
    <p:extLst>
      <p:ext uri="{BB962C8B-B14F-4D97-AF65-F5344CB8AC3E}">
        <p14:creationId xmlns:p14="http://schemas.microsoft.com/office/powerpoint/2010/main" val="16714198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702A2B3-3C3E-4DF0-83EB-4C65166F00F7}"/>
              </a:ext>
            </a:extLst>
          </p:cNvPr>
          <p:cNvSpPr>
            <a:spLocks xmlns:a="http://schemas.openxmlformats.org/drawingml/2006/main" noGrp="1"/>
          </p:cNvSpPr>
          <p:nvPr/>
        </p:nvSpPr>
        <p:spPr>
          <a:xfrm xmlns:a="http://schemas.openxmlformats.org/drawingml/2006/main">
            <a:off x="457200" y="32385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0B1220"/>
                </a:solidFill>
                <a:latin typeface="Aptos"/>
                <a:ea typeface="Aptos"/>
                <a:cs typeface="Aptos"/>
              </a:defRPr>
            </a:pPr>
            <a:r>
              <a:rPr sz="3450" b="1" i="0">
                <a:solidFill>
                  <a:srgbClr val="0B1220"/>
                </a:solidFill>
                <a:latin typeface="Aptos"/>
                <a:ea typeface="Aptos"/>
                <a:cs typeface="Aptos"/>
              </a:rPr>
              <a:t>Expert repair makes the process model admissible</a:t>
            </a:r>
          </a:p>
        </p:txBody>
      </p:sp>
      <p:sp>
        <p:nvSpPr>
          <p:cNvPr id="2" name="">
            <a:extLst xmlns:a="http://schemas.openxmlformats.org/drawingml/2006/main">
              <a:ext uri="{FF2B5EF4-FFF2-40B4-BE49-F238E27FC236}">
                <a16:creationId xmlns:a16="http://schemas.microsoft.com/office/drawing/2014/main" id="{5E5A8381-730C-42B7-A1C8-780D600364D9}"/>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 name="">
            <a:extLst xmlns:a="http://schemas.openxmlformats.org/drawingml/2006/main">
              <a:ext uri="{FF2B5EF4-FFF2-40B4-BE49-F238E27FC236}">
                <a16:creationId xmlns:a16="http://schemas.microsoft.com/office/drawing/2014/main" id="{1C604B6E-0A26-4172-93EB-0AFF08EE3194}"/>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4" name="">
            <a:extLst xmlns:a="http://schemas.openxmlformats.org/drawingml/2006/main">
              <a:ext uri="{FF2B5EF4-FFF2-40B4-BE49-F238E27FC236}">
                <a16:creationId xmlns:a16="http://schemas.microsoft.com/office/drawing/2014/main" id="{2B2D811D-E537-4258-A3D7-9A11A4E7421F}"/>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63DC5B22-E9FE-42D5-B302-7724653BBFAE}"/>
              </a:ext>
            </a:extLst>
          </p:cNvPr>
          <p:cNvSpPr>
            <a:spLocks xmlns:a="http://schemas.openxmlformats.org/drawingml/2006/main" noGrp="1"/>
          </p:cNvSpPr>
          <p:nvPr/>
        </p:nvSpPr>
        <p:spPr>
          <a:xfrm xmlns:a="http://schemas.openxmlformats.org/drawingml/2006/main">
            <a:off x="457200" y="1200150"/>
            <a:ext cx="7572375" cy="4905375"/>
          </a:xfrm>
          <a:prstGeom xmlns:a="http://schemas.openxmlformats.org/drawingml/2006/main" prst="roundRect">
            <a:avLst>
              <a:gd name="adj" fmla="val 2330"/>
            </a:avLst>
          </a:prstGeom>
          <a:solidFill xmlns:a="http://schemas.openxmlformats.org/drawingml/2006/main">
            <a:srgbClr val="F8FAFC"/>
          </a:solidFill>
          <a:ln xmlns:a="http://schemas.openxmlformats.org/drawingml/2006/main" w="0">
            <a:no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93b97e4a0fc411d"/>
          <a:stretch xmlns:a="http://schemas.openxmlformats.org/drawingml/2006/main"/>
        </p:blipFill>
        <p:spPr>
          <a:xfrm xmlns:a="http://schemas.openxmlformats.org/drawingml/2006/main">
            <a:off x="0" y="0"/>
            <a:ext cx="9525" cy="95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CDE627A-202F-4B41-9B70-3E89E7FF6F9C}"/>
              </a:ext>
            </a:extLst>
          </p:cNvPr>
          <p:cNvSpPr>
            <a:spLocks xmlns:a="http://schemas.openxmlformats.org/drawingml/2006/main" noGrp="1"/>
          </p:cNvSpPr>
          <p:nvPr/>
        </p:nvSpPr>
        <p:spPr>
          <a:xfrm xmlns:a="http://schemas.openxmlformats.org/drawingml/2006/main">
            <a:off x="1085850" y="5505450"/>
            <a:ext cx="632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5F6B7A"/>
                </a:solidFill>
                <a:latin typeface="Aptos"/>
                <a:ea typeface="Aptos"/>
                <a:cs typeface="Aptos"/>
              </a:defRPr>
            </a:pPr>
            <a:r>
              <a:rPr sz="1650" b="1" i="0">
                <a:solidFill>
                  <a:srgbClr val="5F6B7A"/>
                </a:solidFill>
                <a:latin typeface="Aptos"/>
                <a:ea typeface="Aptos"/>
                <a:cs typeface="Aptos"/>
              </a:rPr>
              <a:t>Every visit: Gate In, at least one sequential yard activity, Gate Out</a:t>
            </a:r>
          </a:p>
        </p:txBody>
      </p:sp>
      <p:sp>
        <p:nvSpPr>
          <p:cNvPr id="8" name="">
            <a:extLst xmlns:a="http://schemas.openxmlformats.org/drawingml/2006/main">
              <a:ext uri="{FF2B5EF4-FFF2-40B4-BE49-F238E27FC236}">
                <a16:creationId xmlns:a16="http://schemas.microsoft.com/office/drawing/2014/main" id="{DBFF75F0-C418-4027-8349-29BB9FDE9E0E}"/>
              </a:ext>
            </a:extLst>
          </p:cNvPr>
          <p:cNvSpPr>
            <a:spLocks xmlns:a="http://schemas.openxmlformats.org/drawingml/2006/main" noGrp="1"/>
          </p:cNvSpPr>
          <p:nvPr/>
        </p:nvSpPr>
        <p:spPr>
          <a:xfrm xmlns:a="http://schemas.openxmlformats.org/drawingml/2006/main">
            <a:off x="8324850" y="1238250"/>
            <a:ext cx="3333750" cy="1390650"/>
          </a:xfrm>
          <a:prstGeom xmlns:a="http://schemas.openxmlformats.org/drawingml/2006/main" prst="roundRect">
            <a:avLst>
              <a:gd name="adj" fmla="val 8219"/>
            </a:avLst>
          </a:prstGeom>
          <a:solidFill xmlns:a="http://schemas.openxmlformats.org/drawingml/2006/main">
            <a:srgbClr val="EAF8F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24DB52D-2F7A-4578-ABE4-FC482835C550}"/>
              </a:ext>
            </a:extLst>
          </p:cNvPr>
          <p:cNvSpPr>
            <a:spLocks xmlns:a="http://schemas.openxmlformats.org/drawingml/2006/main" noGrp="1"/>
          </p:cNvSpPr>
          <p:nvPr/>
        </p:nvSpPr>
        <p:spPr>
          <a:xfrm xmlns:a="http://schemas.openxmlformats.org/drawingml/2006/main">
            <a:off x="8324850" y="1238250"/>
            <a:ext cx="66675" cy="1390650"/>
          </a:xfrm>
          <a:prstGeom xmlns:a="http://schemas.openxmlformats.org/drawingml/2006/main" prst="rect">
            <a:avLst/>
          </a:prstGeom>
          <a:solidFill xmlns:a="http://schemas.openxmlformats.org/drawingml/2006/main">
            <a:srgbClr val="16876A"/>
          </a:solidFill>
          <a:ln xmlns:a="http://schemas.openxmlformats.org/drawingml/2006/main" w="0">
            <a:solidFill>
              <a:srgbClr val="16876A"/>
            </a:solidFill>
            <a:prstDash val="solid"/>
          </a:ln>
        </p:spPr>
      </p:sp>
      <p:sp>
        <p:nvSpPr>
          <p:cNvPr id="10" name="">
            <a:extLst xmlns:a="http://schemas.openxmlformats.org/drawingml/2006/main">
              <a:ext uri="{FF2B5EF4-FFF2-40B4-BE49-F238E27FC236}">
                <a16:creationId xmlns:a16="http://schemas.microsoft.com/office/drawing/2014/main" id="{C90821DB-98EE-484D-B23E-507CF335E9B5}"/>
              </a:ext>
            </a:extLst>
          </p:cNvPr>
          <p:cNvSpPr>
            <a:spLocks xmlns:a="http://schemas.openxmlformats.org/drawingml/2006/main" noGrp="1"/>
          </p:cNvSpPr>
          <p:nvPr/>
        </p:nvSpPr>
        <p:spPr>
          <a:xfrm xmlns:a="http://schemas.openxmlformats.org/drawingml/2006/main">
            <a:off x="8572500" y="1428750"/>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16876A"/>
                </a:solidFill>
                <a:latin typeface="Aptos"/>
                <a:ea typeface="Aptos"/>
                <a:cs typeface="Aptos"/>
              </a:defRPr>
            </a:pPr>
            <a:r>
              <a:rPr sz="3450" b="1" i="0">
                <a:solidFill>
                  <a:srgbClr val="16876A"/>
                </a:solidFill>
                <a:latin typeface="Aptos"/>
                <a:ea typeface="Aptos"/>
                <a:cs typeface="Aptos"/>
              </a:rPr>
              <a:t>1.0000</a:t>
            </a:r>
          </a:p>
        </p:txBody>
      </p:sp>
      <p:sp>
        <p:nvSpPr>
          <p:cNvPr id="11" name="">
            <a:extLst xmlns:a="http://schemas.openxmlformats.org/drawingml/2006/main">
              <a:ext uri="{FF2B5EF4-FFF2-40B4-BE49-F238E27FC236}">
                <a16:creationId xmlns:a16="http://schemas.microsoft.com/office/drawing/2014/main" id="{FCCD63CA-352F-4B92-9AD4-4738637D906A}"/>
              </a:ext>
            </a:extLst>
          </p:cNvPr>
          <p:cNvSpPr>
            <a:spLocks xmlns:a="http://schemas.openxmlformats.org/drawingml/2006/main" noGrp="1"/>
          </p:cNvSpPr>
          <p:nvPr/>
        </p:nvSpPr>
        <p:spPr>
          <a:xfrm xmlns:a="http://schemas.openxmlformats.org/drawingml/2006/main">
            <a:off x="8572500" y="2038350"/>
            <a:ext cx="2838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final-test fitness</a:t>
            </a:r>
          </a:p>
        </p:txBody>
      </p:sp>
      <p:sp>
        <p:nvSpPr>
          <p:cNvPr id="12" name="">
            <a:extLst xmlns:a="http://schemas.openxmlformats.org/drawingml/2006/main">
              <a:ext uri="{FF2B5EF4-FFF2-40B4-BE49-F238E27FC236}">
                <a16:creationId xmlns:a16="http://schemas.microsoft.com/office/drawing/2014/main" id="{F4A95385-906F-49FA-A5FB-A2E43C6D519F}"/>
              </a:ext>
            </a:extLst>
          </p:cNvPr>
          <p:cNvSpPr>
            <a:spLocks xmlns:a="http://schemas.openxmlformats.org/drawingml/2006/main" noGrp="1"/>
          </p:cNvSpPr>
          <p:nvPr/>
        </p:nvSpPr>
        <p:spPr>
          <a:xfrm xmlns:a="http://schemas.openxmlformats.org/drawingml/2006/main">
            <a:off x="8324850" y="2838450"/>
            <a:ext cx="3333750" cy="1390650"/>
          </a:xfrm>
          <a:prstGeom xmlns:a="http://schemas.openxmlformats.org/drawingml/2006/main" prst="roundRect">
            <a:avLst>
              <a:gd name="adj" fmla="val 8219"/>
            </a:avLst>
          </a:prstGeom>
          <a:solidFill xmlns:a="http://schemas.openxmlformats.org/drawingml/2006/main">
            <a:srgbClr val="EAF3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E2199C3-E19B-4D5F-816B-467E29D5D82B}"/>
              </a:ext>
            </a:extLst>
          </p:cNvPr>
          <p:cNvSpPr>
            <a:spLocks xmlns:a="http://schemas.openxmlformats.org/drawingml/2006/main" noGrp="1"/>
          </p:cNvSpPr>
          <p:nvPr/>
        </p:nvSpPr>
        <p:spPr>
          <a:xfrm xmlns:a="http://schemas.openxmlformats.org/drawingml/2006/main">
            <a:off x="8324850" y="2838450"/>
            <a:ext cx="66675" cy="139065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14" name="">
            <a:extLst xmlns:a="http://schemas.openxmlformats.org/drawingml/2006/main">
              <a:ext uri="{FF2B5EF4-FFF2-40B4-BE49-F238E27FC236}">
                <a16:creationId xmlns:a16="http://schemas.microsoft.com/office/drawing/2014/main" id="{F012EB2F-2160-4964-AC7B-4B411C90AC3D}"/>
              </a:ext>
            </a:extLst>
          </p:cNvPr>
          <p:cNvSpPr>
            <a:spLocks xmlns:a="http://schemas.openxmlformats.org/drawingml/2006/main" noGrp="1"/>
          </p:cNvSpPr>
          <p:nvPr/>
        </p:nvSpPr>
        <p:spPr>
          <a:xfrm xmlns:a="http://schemas.openxmlformats.org/drawingml/2006/main">
            <a:off x="8572500" y="3028950"/>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2F80ED"/>
                </a:solidFill>
                <a:latin typeface="Aptos"/>
                <a:ea typeface="Aptos"/>
                <a:cs typeface="Aptos"/>
              </a:defRPr>
            </a:pPr>
            <a:r>
              <a:rPr sz="3450" b="1" i="0">
                <a:solidFill>
                  <a:srgbClr val="2F80ED"/>
                </a:solidFill>
                <a:latin typeface="Aptos"/>
                <a:ea typeface="Aptos"/>
                <a:cs typeface="Aptos"/>
              </a:rPr>
              <a:t>0.7641</a:t>
            </a:r>
          </a:p>
        </p:txBody>
      </p:sp>
      <p:sp>
        <p:nvSpPr>
          <p:cNvPr id="15" name="">
            <a:extLst xmlns:a="http://schemas.openxmlformats.org/drawingml/2006/main">
              <a:ext uri="{FF2B5EF4-FFF2-40B4-BE49-F238E27FC236}">
                <a16:creationId xmlns:a16="http://schemas.microsoft.com/office/drawing/2014/main" id="{299CEA90-68EB-43F0-AB7D-6DEFA0648967}"/>
              </a:ext>
            </a:extLst>
          </p:cNvPr>
          <p:cNvSpPr>
            <a:spLocks xmlns:a="http://schemas.openxmlformats.org/drawingml/2006/main" noGrp="1"/>
          </p:cNvSpPr>
          <p:nvPr/>
        </p:nvSpPr>
        <p:spPr>
          <a:xfrm xmlns:a="http://schemas.openxmlformats.org/drawingml/2006/main">
            <a:off x="8572500" y="3638550"/>
            <a:ext cx="2838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final-test precision</a:t>
            </a:r>
          </a:p>
        </p:txBody>
      </p:sp>
      <p:sp>
        <p:nvSpPr>
          <p:cNvPr id="16" name="">
            <a:extLst xmlns:a="http://schemas.openxmlformats.org/drawingml/2006/main">
              <a:ext uri="{FF2B5EF4-FFF2-40B4-BE49-F238E27FC236}">
                <a16:creationId xmlns:a16="http://schemas.microsoft.com/office/drawing/2014/main" id="{DDF796F9-3AB1-4382-B3D7-CC27C0C7D72D}"/>
              </a:ext>
            </a:extLst>
          </p:cNvPr>
          <p:cNvSpPr>
            <a:spLocks xmlns:a="http://schemas.openxmlformats.org/drawingml/2006/main" noGrp="1"/>
          </p:cNvSpPr>
          <p:nvPr/>
        </p:nvSpPr>
        <p:spPr>
          <a:xfrm xmlns:a="http://schemas.openxmlformats.org/drawingml/2006/main">
            <a:off x="8324850" y="4438650"/>
            <a:ext cx="3333750" cy="1390650"/>
          </a:xfrm>
          <a:prstGeom xmlns:a="http://schemas.openxmlformats.org/drawingml/2006/main" prst="roundRect">
            <a:avLst>
              <a:gd name="adj" fmla="val 8219"/>
            </a:avLst>
          </a:prstGeom>
          <a:solidFill xmlns:a="http://schemas.openxmlformats.org/drawingml/2006/main">
            <a:srgbClr val="FDEC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7BFEB45-180A-436B-9213-2BD0C6AF122E}"/>
              </a:ext>
            </a:extLst>
          </p:cNvPr>
          <p:cNvSpPr>
            <a:spLocks xmlns:a="http://schemas.openxmlformats.org/drawingml/2006/main" noGrp="1"/>
          </p:cNvSpPr>
          <p:nvPr/>
        </p:nvSpPr>
        <p:spPr>
          <a:xfrm xmlns:a="http://schemas.openxmlformats.org/drawingml/2006/main">
            <a:off x="8324850" y="4438650"/>
            <a:ext cx="66675" cy="1390650"/>
          </a:xfrm>
          <a:prstGeom xmlns:a="http://schemas.openxmlformats.org/drawingml/2006/main" prst="rect">
            <a:avLst/>
          </a:prstGeom>
          <a:solidFill xmlns:a="http://schemas.openxmlformats.org/drawingml/2006/main">
            <a:srgbClr val="C8102E"/>
          </a:solidFill>
          <a:ln xmlns:a="http://schemas.openxmlformats.org/drawingml/2006/main" w="0">
            <a:solidFill>
              <a:srgbClr val="C8102E"/>
            </a:solidFill>
            <a:prstDash val="solid"/>
          </a:ln>
        </p:spPr>
      </p:sp>
      <p:sp>
        <p:nvSpPr>
          <p:cNvPr id="18" name="">
            <a:extLst xmlns:a="http://schemas.openxmlformats.org/drawingml/2006/main">
              <a:ext uri="{FF2B5EF4-FFF2-40B4-BE49-F238E27FC236}">
                <a16:creationId xmlns:a16="http://schemas.microsoft.com/office/drawing/2014/main" id="{31342187-F7D8-4613-8023-9B9806310223}"/>
              </a:ext>
            </a:extLst>
          </p:cNvPr>
          <p:cNvSpPr>
            <a:spLocks xmlns:a="http://schemas.openxmlformats.org/drawingml/2006/main" noGrp="1"/>
          </p:cNvSpPr>
          <p:nvPr/>
        </p:nvSpPr>
        <p:spPr>
          <a:xfrm xmlns:a="http://schemas.openxmlformats.org/drawingml/2006/main">
            <a:off x="8572500" y="4629150"/>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C8102E"/>
                </a:solidFill>
                <a:latin typeface="Aptos"/>
                <a:ea typeface="Aptos"/>
                <a:cs typeface="Aptos"/>
              </a:defRPr>
            </a:pPr>
            <a:r>
              <a:rPr sz="3450" b="1" i="0">
                <a:solidFill>
                  <a:srgbClr val="C8102E"/>
                </a:solidFill>
                <a:latin typeface="Aptos"/>
                <a:ea typeface="Aptos"/>
                <a:cs typeface="Aptos"/>
              </a:rPr>
              <a:t>0.9488</a:t>
            </a:r>
          </a:p>
        </p:txBody>
      </p:sp>
      <p:sp>
        <p:nvSpPr>
          <p:cNvPr id="19" name="">
            <a:extLst xmlns:a="http://schemas.openxmlformats.org/drawingml/2006/main">
              <a:ext uri="{FF2B5EF4-FFF2-40B4-BE49-F238E27FC236}">
                <a16:creationId xmlns:a16="http://schemas.microsoft.com/office/drawing/2014/main" id="{4DCA3A8B-126F-47BA-ABB8-1177DEC1B8DE}"/>
              </a:ext>
            </a:extLst>
          </p:cNvPr>
          <p:cNvSpPr>
            <a:spLocks xmlns:a="http://schemas.openxmlformats.org/drawingml/2006/main" noGrp="1"/>
          </p:cNvSpPr>
          <p:nvPr/>
        </p:nvSpPr>
        <p:spPr>
          <a:xfrm xmlns:a="http://schemas.openxmlformats.org/drawingml/2006/main">
            <a:off x="8572500" y="5238750"/>
            <a:ext cx="2838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final-test generalisation</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2858dd41f1384ba9"/>
          <a:stretch xmlns:a="http://schemas.openxmlformats.org/drawingml/2006/main"/>
        </p:blipFill>
        <p:spPr>
          <a:xfrm xmlns:a="http://schemas.openxmlformats.org/drawingml/2006/main">
            <a:off x="1567040" y="1314450"/>
            <a:ext cx="5286020" cy="4095750"/>
          </a:xfrm>
          <a:prstGeom xmlns:a="http://schemas.openxmlformats.org/drawingml/2006/main" prst="rect">
            <a:avLst/>
          </a:prstGeom>
        </p:spPr>
      </p:pic>
    </p:spTree>
    <p:extLst>
      <p:ext uri="{BB962C8B-B14F-4D97-AF65-F5344CB8AC3E}">
        <p14:creationId xmlns:p14="http://schemas.microsoft.com/office/powerpoint/2010/main" val="3967594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2782FA6-45C7-4598-BA90-94DDC168FBF8}"/>
              </a:ext>
            </a:extLst>
          </p:cNvPr>
          <p:cNvSpPr>
            <a:spLocks xmlns:a="http://schemas.openxmlformats.org/drawingml/2006/main" noGrp="1"/>
          </p:cNvSpPr>
          <p:nvPr/>
        </p:nvSpPr>
        <p:spPr>
          <a:xfrm xmlns:a="http://schemas.openxmlformats.org/drawingml/2006/main">
            <a:off x="457200" y="32385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0B1220"/>
                </a:solidFill>
                <a:latin typeface="Aptos"/>
                <a:ea typeface="Aptos"/>
                <a:cs typeface="Aptos"/>
              </a:defRPr>
            </a:pPr>
            <a:r>
              <a:rPr sz="3450" b="1" i="0">
                <a:solidFill>
                  <a:srgbClr val="0B1220"/>
                </a:solidFill>
                <a:latin typeface="Aptos"/>
                <a:ea typeface="Aptos"/>
                <a:cs typeface="Aptos"/>
              </a:rPr>
              <a:t>A 2 × 2 design isolates two workload-information sources</a:t>
            </a:r>
          </a:p>
        </p:txBody>
      </p:sp>
      <p:sp>
        <p:nvSpPr>
          <p:cNvPr id="2" name="">
            <a:extLst xmlns:a="http://schemas.openxmlformats.org/drawingml/2006/main">
              <a:ext uri="{FF2B5EF4-FFF2-40B4-BE49-F238E27FC236}">
                <a16:creationId xmlns:a16="http://schemas.microsoft.com/office/drawing/2014/main" id="{373FB205-22BD-405D-8ED4-D0611B1D4CE9}"/>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 name="">
            <a:extLst xmlns:a="http://schemas.openxmlformats.org/drawingml/2006/main">
              <a:ext uri="{FF2B5EF4-FFF2-40B4-BE49-F238E27FC236}">
                <a16:creationId xmlns:a16="http://schemas.microsoft.com/office/drawing/2014/main" id="{A1F9F35A-E93E-4DA6-9AF1-BD9C12844CD4}"/>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4" name="">
            <a:extLst xmlns:a="http://schemas.openxmlformats.org/drawingml/2006/main">
              <a:ext uri="{FF2B5EF4-FFF2-40B4-BE49-F238E27FC236}">
                <a16:creationId xmlns:a16="http://schemas.microsoft.com/office/drawing/2014/main" id="{A6DBD1AF-9E65-41B7-80FD-F1AE906E9BB4}"/>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545BE234-F186-44CD-8783-E5119C3D54D4}"/>
              </a:ext>
            </a:extLst>
          </p:cNvPr>
          <p:cNvSpPr>
            <a:spLocks xmlns:a="http://schemas.openxmlformats.org/drawingml/2006/main" noGrp="1"/>
          </p:cNvSpPr>
          <p:nvPr/>
        </p:nvSpPr>
        <p:spPr>
          <a:xfrm xmlns:a="http://schemas.openxmlformats.org/drawingml/2006/main">
            <a:off x="523875" y="1609725"/>
            <a:ext cx="2571750" cy="3371850"/>
          </a:xfrm>
          <a:prstGeom xmlns:a="http://schemas.openxmlformats.org/drawingml/2006/main" prst="roundRect">
            <a:avLst>
              <a:gd name="adj" fmla="val 4444"/>
            </a:avLst>
          </a:prstGeom>
          <a:solidFill xmlns:a="http://schemas.openxmlformats.org/drawingml/2006/main">
            <a:srgbClr val="F8FAFC"/>
          </a:solidFill>
          <a:ln xmlns:a="http://schemas.openxmlformats.org/drawingml/2006/main" w="9525">
            <a:solidFill>
              <a:srgbClr val="D0D5DD"/>
            </a:solidFill>
            <a:prstDash val="solid"/>
          </a:ln>
        </p:spPr>
      </p:sp>
      <p:sp>
        <p:nvSpPr>
          <p:cNvPr id="6" name="">
            <a:extLst xmlns:a="http://schemas.openxmlformats.org/drawingml/2006/main">
              <a:ext uri="{FF2B5EF4-FFF2-40B4-BE49-F238E27FC236}">
                <a16:creationId xmlns:a16="http://schemas.microsoft.com/office/drawing/2014/main" id="{E074B328-F918-4202-BEF8-EC9E095FBDB1}"/>
              </a:ext>
            </a:extLst>
          </p:cNvPr>
          <p:cNvSpPr>
            <a:spLocks xmlns:a="http://schemas.openxmlformats.org/drawingml/2006/main" noGrp="1"/>
          </p:cNvSpPr>
          <p:nvPr/>
        </p:nvSpPr>
        <p:spPr>
          <a:xfrm xmlns:a="http://schemas.openxmlformats.org/drawingml/2006/main">
            <a:off x="733425" y="1809750"/>
            <a:ext cx="438150" cy="438150"/>
          </a:xfrm>
          <a:prstGeom xmlns:a="http://schemas.openxmlformats.org/drawingml/2006/main" prst="ellipse">
            <a:avLst/>
          </a:prstGeom>
          <a:solidFill xmlns:a="http://schemas.openxmlformats.org/drawingml/2006/main">
            <a:srgbClr val="2F80ED"/>
          </a:solidFill>
          <a:ln xmlns:a="http://schemas.openxmlformats.org/drawingml/2006/main" w="9525">
            <a:solidFill>
              <a:srgbClr val="2F80ED"/>
            </a:solidFill>
            <a:prstDash val="solid"/>
          </a:ln>
        </p:spPr>
      </p:sp>
      <p:sp>
        <p:nvSpPr>
          <p:cNvPr id="7" name="">
            <a:extLst xmlns:a="http://schemas.openxmlformats.org/drawingml/2006/main">
              <a:ext uri="{FF2B5EF4-FFF2-40B4-BE49-F238E27FC236}">
                <a16:creationId xmlns:a16="http://schemas.microsoft.com/office/drawing/2014/main" id="{83171D9C-3E83-4FE7-AD7E-DA8D8C091BC6}"/>
              </a:ext>
            </a:extLst>
          </p:cNvPr>
          <p:cNvSpPr>
            <a:spLocks xmlns:a="http://schemas.openxmlformats.org/drawingml/2006/main" noGrp="1"/>
          </p:cNvSpPr>
          <p:nvPr/>
        </p:nvSpPr>
        <p:spPr>
          <a:xfrm xmlns:a="http://schemas.openxmlformats.org/drawingml/2006/main">
            <a:off x="733425" y="1905000"/>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FFFFF"/>
                </a:solidFill>
                <a:latin typeface="Aptos"/>
                <a:ea typeface="Aptos"/>
                <a:cs typeface="Aptos"/>
              </a:defRPr>
            </a:pPr>
            <a:r>
              <a:rPr sz="1350" b="1" i="0">
                <a:solidFill>
                  <a:srgbClr val="FFFFFF"/>
                </a:solidFill>
                <a:latin typeface="Aptos"/>
                <a:ea typeface="Aptos"/>
                <a:cs typeface="Aptos"/>
              </a:rPr>
              <a:t>00</a:t>
            </a:r>
          </a:p>
        </p:txBody>
      </p:sp>
      <p:sp>
        <p:nvSpPr>
          <p:cNvPr id="8" name="">
            <a:extLst xmlns:a="http://schemas.openxmlformats.org/drawingml/2006/main">
              <a:ext uri="{FF2B5EF4-FFF2-40B4-BE49-F238E27FC236}">
                <a16:creationId xmlns:a16="http://schemas.microsoft.com/office/drawing/2014/main" id="{65AF3D70-6FB5-4A6C-9BE6-38C232C68F34}"/>
              </a:ext>
            </a:extLst>
          </p:cNvPr>
          <p:cNvSpPr>
            <a:spLocks xmlns:a="http://schemas.openxmlformats.org/drawingml/2006/main" noGrp="1"/>
          </p:cNvSpPr>
          <p:nvPr/>
        </p:nvSpPr>
        <p:spPr>
          <a:xfrm xmlns:a="http://schemas.openxmlformats.org/drawingml/2006/main">
            <a:off x="733425" y="2476500"/>
            <a:ext cx="2152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0B1220"/>
                </a:solidFill>
                <a:latin typeface="Aptos"/>
                <a:ea typeface="Aptos"/>
                <a:cs typeface="Aptos"/>
              </a:defRPr>
            </a:pPr>
            <a:r>
              <a:rPr sz="2025" b="1" i="0">
                <a:solidFill>
                  <a:srgbClr val="0B1220"/>
                </a:solidFill>
                <a:latin typeface="Aptos"/>
                <a:ea typeface="Aptos"/>
                <a:cs typeface="Aptos"/>
              </a:rPr>
              <a:t>visit-only</a:t>
            </a:r>
          </a:p>
        </p:txBody>
      </p:sp>
      <p:sp>
        <p:nvSpPr>
          <p:cNvPr id="9" name="">
            <a:extLst xmlns:a="http://schemas.openxmlformats.org/drawingml/2006/main">
              <a:ext uri="{FF2B5EF4-FFF2-40B4-BE49-F238E27FC236}">
                <a16:creationId xmlns:a16="http://schemas.microsoft.com/office/drawing/2014/main" id="{3348D5CB-E9E1-4112-804D-2CCA92803718}"/>
              </a:ext>
            </a:extLst>
          </p:cNvPr>
          <p:cNvSpPr>
            <a:spLocks xmlns:a="http://schemas.openxmlformats.org/drawingml/2006/main" noGrp="1"/>
          </p:cNvSpPr>
          <p:nvPr/>
        </p:nvSpPr>
        <p:spPr>
          <a:xfrm xmlns:a="http://schemas.openxmlformats.org/drawingml/2006/main">
            <a:off x="733425" y="3305175"/>
            <a:ext cx="2152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static proxies: off</a:t>
            </a:r>
          </a:p>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native state: off</a:t>
            </a:r>
          </a:p>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factorial reference</a:t>
            </a:r>
          </a:p>
        </p:txBody>
      </p:sp>
      <p:sp>
        <p:nvSpPr>
          <p:cNvPr id="10" name="">
            <a:extLst xmlns:a="http://schemas.openxmlformats.org/drawingml/2006/main">
              <a:ext uri="{FF2B5EF4-FFF2-40B4-BE49-F238E27FC236}">
                <a16:creationId xmlns:a16="http://schemas.microsoft.com/office/drawing/2014/main" id="{114044A0-437F-4F99-AD13-69BC62035377}"/>
              </a:ext>
            </a:extLst>
          </p:cNvPr>
          <p:cNvSpPr>
            <a:spLocks xmlns:a="http://schemas.openxmlformats.org/drawingml/2006/main" noGrp="1"/>
          </p:cNvSpPr>
          <p:nvPr/>
        </p:nvSpPr>
        <p:spPr>
          <a:xfrm xmlns:a="http://schemas.openxmlformats.org/drawingml/2006/main">
            <a:off x="3095625" y="3048000"/>
            <a:ext cx="28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700" b="1" i="0">
                <a:solidFill>
                  <a:srgbClr val="98A2B3"/>
                </a:solidFill>
                <a:latin typeface="Aptos"/>
                <a:ea typeface="Aptos"/>
                <a:cs typeface="Aptos"/>
              </a:defRPr>
            </a:pPr>
            <a:r>
              <a:rPr sz="2700" b="1" i="0">
                <a:solidFill>
                  <a:srgbClr val="98A2B3"/>
                </a:solidFill>
                <a:latin typeface="Aptos"/>
                <a:ea typeface="Aptos"/>
                <a:cs typeface="Aptos"/>
              </a:rPr>
              <a:t/>
            </a:r>
          </a:p>
        </p:txBody>
      </p:sp>
      <p:sp>
        <p:nvSpPr>
          <p:cNvPr id="11" name="">
            <a:extLst xmlns:a="http://schemas.openxmlformats.org/drawingml/2006/main">
              <a:ext uri="{FF2B5EF4-FFF2-40B4-BE49-F238E27FC236}">
                <a16:creationId xmlns:a16="http://schemas.microsoft.com/office/drawing/2014/main" id="{154BBA77-7CD2-4101-B4F2-2864F8F5B90B}"/>
              </a:ext>
            </a:extLst>
          </p:cNvPr>
          <p:cNvSpPr>
            <a:spLocks xmlns:a="http://schemas.openxmlformats.org/drawingml/2006/main" noGrp="1"/>
          </p:cNvSpPr>
          <p:nvPr/>
        </p:nvSpPr>
        <p:spPr>
          <a:xfrm xmlns:a="http://schemas.openxmlformats.org/drawingml/2006/main">
            <a:off x="3371850" y="1609725"/>
            <a:ext cx="2571750" cy="3371850"/>
          </a:xfrm>
          <a:prstGeom xmlns:a="http://schemas.openxmlformats.org/drawingml/2006/main" prst="roundRect">
            <a:avLst>
              <a:gd name="adj" fmla="val 4444"/>
            </a:avLst>
          </a:prstGeom>
          <a:solidFill xmlns:a="http://schemas.openxmlformats.org/drawingml/2006/main">
            <a:srgbClr val="F8FAFC"/>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AA0CAC40-FA63-43D2-B07F-F6F19F16C34C}"/>
              </a:ext>
            </a:extLst>
          </p:cNvPr>
          <p:cNvSpPr>
            <a:spLocks xmlns:a="http://schemas.openxmlformats.org/drawingml/2006/main" noGrp="1"/>
          </p:cNvSpPr>
          <p:nvPr/>
        </p:nvSpPr>
        <p:spPr>
          <a:xfrm xmlns:a="http://schemas.openxmlformats.org/drawingml/2006/main">
            <a:off x="3581400" y="1809750"/>
            <a:ext cx="438150" cy="438150"/>
          </a:xfrm>
          <a:prstGeom xmlns:a="http://schemas.openxmlformats.org/drawingml/2006/main" prst="ellipse">
            <a:avLst/>
          </a:prstGeom>
          <a:solidFill xmlns:a="http://schemas.openxmlformats.org/drawingml/2006/main">
            <a:srgbClr val="16876A"/>
          </a:solidFill>
          <a:ln xmlns:a="http://schemas.openxmlformats.org/drawingml/2006/main" w="9525">
            <a:solidFill>
              <a:srgbClr val="16876A"/>
            </a:solidFill>
            <a:prstDash val="solid"/>
          </a:ln>
        </p:spPr>
      </p:sp>
      <p:sp>
        <p:nvSpPr>
          <p:cNvPr id="13" name="">
            <a:extLst xmlns:a="http://schemas.openxmlformats.org/drawingml/2006/main">
              <a:ext uri="{FF2B5EF4-FFF2-40B4-BE49-F238E27FC236}">
                <a16:creationId xmlns:a16="http://schemas.microsoft.com/office/drawing/2014/main" id="{67622A5B-3079-41D8-AA9D-0924C363A366}"/>
              </a:ext>
            </a:extLst>
          </p:cNvPr>
          <p:cNvSpPr>
            <a:spLocks xmlns:a="http://schemas.openxmlformats.org/drawingml/2006/main" noGrp="1"/>
          </p:cNvSpPr>
          <p:nvPr/>
        </p:nvSpPr>
        <p:spPr>
          <a:xfrm xmlns:a="http://schemas.openxmlformats.org/drawingml/2006/main">
            <a:off x="3581400" y="1905000"/>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FFFFF"/>
                </a:solidFill>
                <a:latin typeface="Aptos"/>
                <a:ea typeface="Aptos"/>
                <a:cs typeface="Aptos"/>
              </a:defRPr>
            </a:pPr>
            <a:r>
              <a:rPr sz="1350" b="1" i="0">
                <a:solidFill>
                  <a:srgbClr val="FFFFFF"/>
                </a:solidFill>
                <a:latin typeface="Aptos"/>
                <a:ea typeface="Aptos"/>
                <a:cs typeface="Aptos"/>
              </a:rPr>
              <a:t>10</a:t>
            </a:r>
          </a:p>
        </p:txBody>
      </p:sp>
      <p:sp>
        <p:nvSpPr>
          <p:cNvPr id="14" name="">
            <a:extLst xmlns:a="http://schemas.openxmlformats.org/drawingml/2006/main">
              <a:ext uri="{FF2B5EF4-FFF2-40B4-BE49-F238E27FC236}">
                <a16:creationId xmlns:a16="http://schemas.microsoft.com/office/drawing/2014/main" id="{C38C165B-CA0B-488A-B8B5-9EDB6E70A8A4}"/>
              </a:ext>
            </a:extLst>
          </p:cNvPr>
          <p:cNvSpPr>
            <a:spLocks xmlns:a="http://schemas.openxmlformats.org/drawingml/2006/main" noGrp="1"/>
          </p:cNvSpPr>
          <p:nvPr/>
        </p:nvSpPr>
        <p:spPr>
          <a:xfrm xmlns:a="http://schemas.openxmlformats.org/drawingml/2006/main">
            <a:off x="3581400" y="2476500"/>
            <a:ext cx="2152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0B1220"/>
                </a:solidFill>
                <a:latin typeface="Aptos"/>
                <a:ea typeface="Aptos"/>
                <a:cs typeface="Aptos"/>
              </a:defRPr>
            </a:pPr>
            <a:r>
              <a:rPr sz="2025" b="1" i="0">
                <a:solidFill>
                  <a:srgbClr val="0B1220"/>
                </a:solidFill>
                <a:latin typeface="Aptos"/>
                <a:ea typeface="Aptos"/>
                <a:cs typeface="Aptos"/>
              </a:rPr>
              <a:t>static-only</a:t>
            </a:r>
          </a:p>
        </p:txBody>
      </p:sp>
      <p:sp>
        <p:nvSpPr>
          <p:cNvPr id="15" name="">
            <a:extLst xmlns:a="http://schemas.openxmlformats.org/drawingml/2006/main">
              <a:ext uri="{FF2B5EF4-FFF2-40B4-BE49-F238E27FC236}">
                <a16:creationId xmlns:a16="http://schemas.microsoft.com/office/drawing/2014/main" id="{0D678694-3CC6-4F5D-84E0-757797822370}"/>
              </a:ext>
            </a:extLst>
          </p:cNvPr>
          <p:cNvSpPr>
            <a:spLocks xmlns:a="http://schemas.openxmlformats.org/drawingml/2006/main" noGrp="1"/>
          </p:cNvSpPr>
          <p:nvPr/>
        </p:nvSpPr>
        <p:spPr>
          <a:xfrm xmlns:a="http://schemas.openxmlformats.org/drawingml/2006/main">
            <a:off x="3581400" y="3305175"/>
            <a:ext cx="2152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static proxies: on</a:t>
            </a:r>
          </a:p>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native state: off</a:t>
            </a:r>
          </a:p>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manual workload</a:t>
            </a:r>
          </a:p>
        </p:txBody>
      </p:sp>
      <p:sp>
        <p:nvSpPr>
          <p:cNvPr id="16" name="">
            <a:extLst xmlns:a="http://schemas.openxmlformats.org/drawingml/2006/main">
              <a:ext uri="{FF2B5EF4-FFF2-40B4-BE49-F238E27FC236}">
                <a16:creationId xmlns:a16="http://schemas.microsoft.com/office/drawing/2014/main" id="{F2424FE5-D5A5-406F-8971-5EACB9CC4D2D}"/>
              </a:ext>
            </a:extLst>
          </p:cNvPr>
          <p:cNvSpPr>
            <a:spLocks xmlns:a="http://schemas.openxmlformats.org/drawingml/2006/main" noGrp="1"/>
          </p:cNvSpPr>
          <p:nvPr/>
        </p:nvSpPr>
        <p:spPr>
          <a:xfrm xmlns:a="http://schemas.openxmlformats.org/drawingml/2006/main">
            <a:off x="5943600" y="3048000"/>
            <a:ext cx="28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700" b="1" i="0">
                <a:solidFill>
                  <a:srgbClr val="98A2B3"/>
                </a:solidFill>
                <a:latin typeface="Aptos"/>
                <a:ea typeface="Aptos"/>
                <a:cs typeface="Aptos"/>
              </a:defRPr>
            </a:pPr>
            <a:r>
              <a:rPr sz="2700" b="1" i="0">
                <a:solidFill>
                  <a:srgbClr val="98A2B3"/>
                </a:solidFill>
                <a:latin typeface="Aptos"/>
                <a:ea typeface="Aptos"/>
                <a:cs typeface="Aptos"/>
              </a:rPr>
              <a:t/>
            </a:r>
          </a:p>
        </p:txBody>
      </p:sp>
      <p:sp>
        <p:nvSpPr>
          <p:cNvPr id="17" name="">
            <a:extLst xmlns:a="http://schemas.openxmlformats.org/drawingml/2006/main">
              <a:ext uri="{FF2B5EF4-FFF2-40B4-BE49-F238E27FC236}">
                <a16:creationId xmlns:a16="http://schemas.microsoft.com/office/drawing/2014/main" id="{4409AB7A-BCB5-4C13-8FDD-69CAC8592770}"/>
              </a:ext>
            </a:extLst>
          </p:cNvPr>
          <p:cNvSpPr>
            <a:spLocks xmlns:a="http://schemas.openxmlformats.org/drawingml/2006/main" noGrp="1"/>
          </p:cNvSpPr>
          <p:nvPr/>
        </p:nvSpPr>
        <p:spPr>
          <a:xfrm xmlns:a="http://schemas.openxmlformats.org/drawingml/2006/main">
            <a:off x="6219825" y="1609725"/>
            <a:ext cx="2571750" cy="3371850"/>
          </a:xfrm>
          <a:prstGeom xmlns:a="http://schemas.openxmlformats.org/drawingml/2006/main" prst="roundRect">
            <a:avLst>
              <a:gd name="adj" fmla="val 4444"/>
            </a:avLst>
          </a:prstGeom>
          <a:solidFill xmlns:a="http://schemas.openxmlformats.org/drawingml/2006/main">
            <a:srgbClr val="F8FAFC"/>
          </a:solidFill>
          <a:ln xmlns:a="http://schemas.openxmlformats.org/drawingml/2006/main" w="9525">
            <a:solidFill>
              <a:srgbClr val="D0D5DD"/>
            </a:solidFill>
            <a:prstDash val="solid"/>
          </a:ln>
        </p:spPr>
      </p:sp>
      <p:sp>
        <p:nvSpPr>
          <p:cNvPr id="18" name="">
            <a:extLst xmlns:a="http://schemas.openxmlformats.org/drawingml/2006/main">
              <a:ext uri="{FF2B5EF4-FFF2-40B4-BE49-F238E27FC236}">
                <a16:creationId xmlns:a16="http://schemas.microsoft.com/office/drawing/2014/main" id="{ADBE5B0C-4F52-4407-AE55-17D4EA24AC87}"/>
              </a:ext>
            </a:extLst>
          </p:cNvPr>
          <p:cNvSpPr>
            <a:spLocks xmlns:a="http://schemas.openxmlformats.org/drawingml/2006/main" noGrp="1"/>
          </p:cNvSpPr>
          <p:nvPr/>
        </p:nvSpPr>
        <p:spPr>
          <a:xfrm xmlns:a="http://schemas.openxmlformats.org/drawingml/2006/main">
            <a:off x="6429375" y="1809750"/>
            <a:ext cx="438150" cy="438150"/>
          </a:xfrm>
          <a:prstGeom xmlns:a="http://schemas.openxmlformats.org/drawingml/2006/main" prst="ellipse">
            <a:avLst/>
          </a:prstGeom>
          <a:solidFill xmlns:a="http://schemas.openxmlformats.org/drawingml/2006/main">
            <a:srgbClr val="C98200"/>
          </a:solidFill>
          <a:ln xmlns:a="http://schemas.openxmlformats.org/drawingml/2006/main" w="9525">
            <a:solidFill>
              <a:srgbClr val="C98200"/>
            </a:solidFill>
            <a:prstDash val="solid"/>
          </a:ln>
        </p:spPr>
      </p:sp>
      <p:sp>
        <p:nvSpPr>
          <p:cNvPr id="19" name="">
            <a:extLst xmlns:a="http://schemas.openxmlformats.org/drawingml/2006/main">
              <a:ext uri="{FF2B5EF4-FFF2-40B4-BE49-F238E27FC236}">
                <a16:creationId xmlns:a16="http://schemas.microsoft.com/office/drawing/2014/main" id="{F4854E86-C011-4B54-A390-D4B394BE6019}"/>
              </a:ext>
            </a:extLst>
          </p:cNvPr>
          <p:cNvSpPr>
            <a:spLocks xmlns:a="http://schemas.openxmlformats.org/drawingml/2006/main" noGrp="1"/>
          </p:cNvSpPr>
          <p:nvPr/>
        </p:nvSpPr>
        <p:spPr>
          <a:xfrm xmlns:a="http://schemas.openxmlformats.org/drawingml/2006/main">
            <a:off x="6429375" y="1905000"/>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FFFFF"/>
                </a:solidFill>
                <a:latin typeface="Aptos"/>
                <a:ea typeface="Aptos"/>
                <a:cs typeface="Aptos"/>
              </a:defRPr>
            </a:pPr>
            <a:r>
              <a:rPr sz="1350" b="1" i="0">
                <a:solidFill>
                  <a:srgbClr val="FFFFFF"/>
                </a:solidFill>
                <a:latin typeface="Aptos"/>
                <a:ea typeface="Aptos"/>
                <a:cs typeface="Aptos"/>
              </a:rPr>
              <a:t>01</a:t>
            </a:r>
          </a:p>
        </p:txBody>
      </p:sp>
      <p:sp>
        <p:nvSpPr>
          <p:cNvPr id="20" name="">
            <a:extLst xmlns:a="http://schemas.openxmlformats.org/drawingml/2006/main">
              <a:ext uri="{FF2B5EF4-FFF2-40B4-BE49-F238E27FC236}">
                <a16:creationId xmlns:a16="http://schemas.microsoft.com/office/drawing/2014/main" id="{822AFA04-1346-448D-88C4-A7386FDB2C0B}"/>
              </a:ext>
            </a:extLst>
          </p:cNvPr>
          <p:cNvSpPr>
            <a:spLocks xmlns:a="http://schemas.openxmlformats.org/drawingml/2006/main" noGrp="1"/>
          </p:cNvSpPr>
          <p:nvPr/>
        </p:nvSpPr>
        <p:spPr>
          <a:xfrm xmlns:a="http://schemas.openxmlformats.org/drawingml/2006/main">
            <a:off x="6429375" y="2476500"/>
            <a:ext cx="2152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0B1220"/>
                </a:solidFill>
                <a:latin typeface="Aptos"/>
                <a:ea typeface="Aptos"/>
                <a:cs typeface="Aptos"/>
              </a:defRPr>
            </a:pPr>
            <a:r>
              <a:rPr sz="2025" b="1" i="0">
                <a:solidFill>
                  <a:srgbClr val="0B1220"/>
                </a:solidFill>
                <a:latin typeface="Aptos"/>
                <a:ea typeface="Aptos"/>
                <a:cs typeface="Aptos"/>
              </a:rPr>
              <a:t>native-only</a:t>
            </a:r>
          </a:p>
        </p:txBody>
      </p:sp>
      <p:sp>
        <p:nvSpPr>
          <p:cNvPr id="21" name="">
            <a:extLst xmlns:a="http://schemas.openxmlformats.org/drawingml/2006/main">
              <a:ext uri="{FF2B5EF4-FFF2-40B4-BE49-F238E27FC236}">
                <a16:creationId xmlns:a16="http://schemas.microsoft.com/office/drawing/2014/main" id="{9C7CDE51-7192-469A-9C38-2BD62EB669C7}"/>
              </a:ext>
            </a:extLst>
          </p:cNvPr>
          <p:cNvSpPr>
            <a:spLocks xmlns:a="http://schemas.openxmlformats.org/drawingml/2006/main" noGrp="1"/>
          </p:cNvSpPr>
          <p:nvPr/>
        </p:nvSpPr>
        <p:spPr>
          <a:xfrm xmlns:a="http://schemas.openxmlformats.org/drawingml/2006/main">
            <a:off x="6429375" y="3305175"/>
            <a:ext cx="2152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static proxies: off</a:t>
            </a:r>
          </a:p>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native state: on</a:t>
            </a:r>
          </a:p>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dynamic workload</a:t>
            </a:r>
          </a:p>
        </p:txBody>
      </p:sp>
      <p:sp>
        <p:nvSpPr>
          <p:cNvPr id="22" name="">
            <a:extLst xmlns:a="http://schemas.openxmlformats.org/drawingml/2006/main">
              <a:ext uri="{FF2B5EF4-FFF2-40B4-BE49-F238E27FC236}">
                <a16:creationId xmlns:a16="http://schemas.microsoft.com/office/drawing/2014/main" id="{F57DAD90-9CDE-44E9-9A37-4094622D80CD}"/>
              </a:ext>
            </a:extLst>
          </p:cNvPr>
          <p:cNvSpPr>
            <a:spLocks xmlns:a="http://schemas.openxmlformats.org/drawingml/2006/main" noGrp="1"/>
          </p:cNvSpPr>
          <p:nvPr/>
        </p:nvSpPr>
        <p:spPr>
          <a:xfrm xmlns:a="http://schemas.openxmlformats.org/drawingml/2006/main">
            <a:off x="8791575" y="3048000"/>
            <a:ext cx="28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700" b="1" i="0">
                <a:solidFill>
                  <a:srgbClr val="98A2B3"/>
                </a:solidFill>
                <a:latin typeface="Aptos"/>
                <a:ea typeface="Aptos"/>
                <a:cs typeface="Aptos"/>
              </a:defRPr>
            </a:pPr>
            <a:r>
              <a:rPr sz="2700" b="1" i="0">
                <a:solidFill>
                  <a:srgbClr val="98A2B3"/>
                </a:solidFill>
                <a:latin typeface="Aptos"/>
                <a:ea typeface="Aptos"/>
                <a:cs typeface="Aptos"/>
              </a:rPr>
              <a:t/>
            </a:r>
          </a:p>
        </p:txBody>
      </p:sp>
      <p:sp>
        <p:nvSpPr>
          <p:cNvPr id="23" name="">
            <a:extLst xmlns:a="http://schemas.openxmlformats.org/drawingml/2006/main">
              <a:ext uri="{FF2B5EF4-FFF2-40B4-BE49-F238E27FC236}">
                <a16:creationId xmlns:a16="http://schemas.microsoft.com/office/drawing/2014/main" id="{2F90511E-2813-478D-8307-943B6CE6B086}"/>
              </a:ext>
            </a:extLst>
          </p:cNvPr>
          <p:cNvSpPr>
            <a:spLocks xmlns:a="http://schemas.openxmlformats.org/drawingml/2006/main" noGrp="1"/>
          </p:cNvSpPr>
          <p:nvPr/>
        </p:nvSpPr>
        <p:spPr>
          <a:xfrm xmlns:a="http://schemas.openxmlformats.org/drawingml/2006/main">
            <a:off x="9067800" y="1609725"/>
            <a:ext cx="2571750" cy="3371850"/>
          </a:xfrm>
          <a:prstGeom xmlns:a="http://schemas.openxmlformats.org/drawingml/2006/main" prst="roundRect">
            <a:avLst>
              <a:gd name="adj" fmla="val 4444"/>
            </a:avLst>
          </a:prstGeom>
          <a:solidFill xmlns:a="http://schemas.openxmlformats.org/drawingml/2006/main">
            <a:srgbClr val="F8FAFC"/>
          </a:solidFill>
          <a:ln xmlns:a="http://schemas.openxmlformats.org/drawingml/2006/main" w="9525">
            <a:solidFill>
              <a:srgbClr val="D0D5DD"/>
            </a:solidFill>
            <a:prstDash val="solid"/>
          </a:ln>
        </p:spPr>
      </p:sp>
      <p:sp>
        <p:nvSpPr>
          <p:cNvPr id="24" name="">
            <a:extLst xmlns:a="http://schemas.openxmlformats.org/drawingml/2006/main">
              <a:ext uri="{FF2B5EF4-FFF2-40B4-BE49-F238E27FC236}">
                <a16:creationId xmlns:a16="http://schemas.microsoft.com/office/drawing/2014/main" id="{59D2F225-2011-4040-97A7-6786F2B69CEA}"/>
              </a:ext>
            </a:extLst>
          </p:cNvPr>
          <p:cNvSpPr>
            <a:spLocks xmlns:a="http://schemas.openxmlformats.org/drawingml/2006/main" noGrp="1"/>
          </p:cNvSpPr>
          <p:nvPr/>
        </p:nvSpPr>
        <p:spPr>
          <a:xfrm xmlns:a="http://schemas.openxmlformats.org/drawingml/2006/main">
            <a:off x="9277350" y="1809750"/>
            <a:ext cx="438150" cy="43815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25" name="">
            <a:extLst xmlns:a="http://schemas.openxmlformats.org/drawingml/2006/main">
              <a:ext uri="{FF2B5EF4-FFF2-40B4-BE49-F238E27FC236}">
                <a16:creationId xmlns:a16="http://schemas.microsoft.com/office/drawing/2014/main" id="{BC89A8DF-39E9-4E70-9577-9EF0E61AA0A7}"/>
              </a:ext>
            </a:extLst>
          </p:cNvPr>
          <p:cNvSpPr>
            <a:spLocks xmlns:a="http://schemas.openxmlformats.org/drawingml/2006/main" noGrp="1"/>
          </p:cNvSpPr>
          <p:nvPr/>
        </p:nvSpPr>
        <p:spPr>
          <a:xfrm xmlns:a="http://schemas.openxmlformats.org/drawingml/2006/main">
            <a:off x="9277350" y="1905000"/>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FFFFF"/>
                </a:solidFill>
                <a:latin typeface="Aptos"/>
                <a:ea typeface="Aptos"/>
                <a:cs typeface="Aptos"/>
              </a:defRPr>
            </a:pPr>
            <a:r>
              <a:rPr sz="1350" b="1" i="0">
                <a:solidFill>
                  <a:srgbClr val="FFFFFF"/>
                </a:solidFill>
                <a:latin typeface="Aptos"/>
                <a:ea typeface="Aptos"/>
                <a:cs typeface="Aptos"/>
              </a:rPr>
              <a:t>11</a:t>
            </a:r>
          </a:p>
        </p:txBody>
      </p:sp>
      <p:sp>
        <p:nvSpPr>
          <p:cNvPr id="26" name="">
            <a:extLst xmlns:a="http://schemas.openxmlformats.org/drawingml/2006/main">
              <a:ext uri="{FF2B5EF4-FFF2-40B4-BE49-F238E27FC236}">
                <a16:creationId xmlns:a16="http://schemas.microsoft.com/office/drawing/2014/main" id="{43379611-EFC5-453B-A0DA-A93C043EB8ED}"/>
              </a:ext>
            </a:extLst>
          </p:cNvPr>
          <p:cNvSpPr>
            <a:spLocks xmlns:a="http://schemas.openxmlformats.org/drawingml/2006/main" noGrp="1"/>
          </p:cNvSpPr>
          <p:nvPr/>
        </p:nvSpPr>
        <p:spPr>
          <a:xfrm xmlns:a="http://schemas.openxmlformats.org/drawingml/2006/main">
            <a:off x="9277350" y="2476500"/>
            <a:ext cx="2152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0B1220"/>
                </a:solidFill>
                <a:latin typeface="Aptos"/>
                <a:ea typeface="Aptos"/>
                <a:cs typeface="Aptos"/>
              </a:defRPr>
            </a:pPr>
            <a:r>
              <a:rPr sz="2025" b="1" i="0">
                <a:solidFill>
                  <a:srgbClr val="0B1220"/>
                </a:solidFill>
                <a:latin typeface="Aptos"/>
                <a:ea typeface="Aptos"/>
                <a:cs typeface="Aptos"/>
              </a:rPr>
              <a:t>both</a:t>
            </a:r>
          </a:p>
        </p:txBody>
      </p:sp>
      <p:sp>
        <p:nvSpPr>
          <p:cNvPr id="27" name="">
            <a:extLst xmlns:a="http://schemas.openxmlformats.org/drawingml/2006/main">
              <a:ext uri="{FF2B5EF4-FFF2-40B4-BE49-F238E27FC236}">
                <a16:creationId xmlns:a16="http://schemas.microsoft.com/office/drawing/2014/main" id="{B71AC4BE-1F63-462F-84C9-6203899B8661}"/>
              </a:ext>
            </a:extLst>
          </p:cNvPr>
          <p:cNvSpPr>
            <a:spLocks xmlns:a="http://schemas.openxmlformats.org/drawingml/2006/main" noGrp="1"/>
          </p:cNvSpPr>
          <p:nvPr/>
        </p:nvSpPr>
        <p:spPr>
          <a:xfrm xmlns:a="http://schemas.openxmlformats.org/drawingml/2006/main">
            <a:off x="9277350" y="3305175"/>
            <a:ext cx="2152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static proxies: on</a:t>
            </a:r>
          </a:p>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native state: on</a:t>
            </a:r>
          </a:p>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combined state</a:t>
            </a:r>
          </a:p>
        </p:txBody>
      </p:sp>
      <p:sp>
        <p:nvSpPr>
          <p:cNvPr id="28" name="">
            <a:extLst xmlns:a="http://schemas.openxmlformats.org/drawingml/2006/main">
              <a:ext uri="{FF2B5EF4-FFF2-40B4-BE49-F238E27FC236}">
                <a16:creationId xmlns:a16="http://schemas.microsoft.com/office/drawing/2014/main" id="{D64577A5-0E99-4F38-BA18-95990D59189E}"/>
              </a:ext>
            </a:extLst>
          </p:cNvPr>
          <p:cNvSpPr>
            <a:spLocks xmlns:a="http://schemas.openxmlformats.org/drawingml/2006/main" noGrp="1"/>
          </p:cNvSpPr>
          <p:nvPr/>
        </p:nvSpPr>
        <p:spPr>
          <a:xfrm xmlns:a="http://schemas.openxmlformats.org/drawingml/2006/main">
            <a:off x="1600200" y="5400675"/>
            <a:ext cx="8991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i="0">
                <a:solidFill>
                  <a:srgbClr val="0B1220"/>
                </a:solidFill>
                <a:latin typeface="Aptos"/>
                <a:ea typeface="Aptos"/>
                <a:cs typeface="Aptos"/>
              </a:defRPr>
            </a:pPr>
            <a:r>
              <a:rPr sz="1800" b="1" i="0">
                <a:solidFill>
                  <a:srgbClr val="0B1220"/>
                </a:solidFill>
                <a:latin typeface="Aptos"/>
                <a:ea typeface="Aptos"/>
                <a:cs typeface="Aptos"/>
              </a:rPr>
              <a:t>Same repaired Petri net, depth 3, split, runner and seeds. Four complementary errors are compared on validation.</a:t>
            </a:r>
          </a:p>
        </p:txBody>
      </p:sp>
    </p:spTree>
    <p:extLst>
      <p:ext uri="{BB962C8B-B14F-4D97-AF65-F5344CB8AC3E}">
        <p14:creationId xmlns:p14="http://schemas.microsoft.com/office/powerpoint/2010/main" val="16714198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AE27E6CD-C614-4D00-B50E-67EB517E3436}"/>
              </a:ext>
            </a:extLst>
          </p:cNvPr>
          <p:cNvSpPr>
            <a:spLocks xmlns:a="http://schemas.openxmlformats.org/drawingml/2006/main" noGrp="1"/>
          </p:cNvSpPr>
          <p:nvPr/>
        </p:nvSpPr>
        <p:spPr>
          <a:xfrm xmlns:a="http://schemas.openxmlformats.org/drawingml/2006/main">
            <a:off x="457200" y="32385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0B1220"/>
                </a:solidFill>
                <a:latin typeface="Aptos"/>
                <a:ea typeface="Aptos"/>
                <a:cs typeface="Aptos"/>
              </a:defRPr>
            </a:pPr>
            <a:r>
              <a:rPr sz="3450" b="1" i="0">
                <a:solidFill>
                  <a:srgbClr val="0B1220"/>
                </a:solidFill>
                <a:latin typeface="Aptos"/>
                <a:ea typeface="Aptos"/>
                <a:cs typeface="Aptos"/>
              </a:rPr>
              <a:t>Added workload state does not improve validation fidelity</a:t>
            </a:r>
          </a:p>
        </p:txBody>
      </p:sp>
      <p:sp>
        <p:nvSpPr>
          <p:cNvPr id="2" name="">
            <a:extLst xmlns:a="http://schemas.openxmlformats.org/drawingml/2006/main">
              <a:ext uri="{FF2B5EF4-FFF2-40B4-BE49-F238E27FC236}">
                <a16:creationId xmlns:a16="http://schemas.microsoft.com/office/drawing/2014/main" id="{159D9C8F-CB1B-436D-925B-BAB3F357634C}"/>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 name="">
            <a:extLst xmlns:a="http://schemas.openxmlformats.org/drawingml/2006/main">
              <a:ext uri="{FF2B5EF4-FFF2-40B4-BE49-F238E27FC236}">
                <a16:creationId xmlns:a16="http://schemas.microsoft.com/office/drawing/2014/main" id="{BE767EFC-5F7C-448F-B3FA-260E29C22568}"/>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4" name="">
            <a:extLst xmlns:a="http://schemas.openxmlformats.org/drawingml/2006/main">
              <a:ext uri="{FF2B5EF4-FFF2-40B4-BE49-F238E27FC236}">
                <a16:creationId xmlns:a16="http://schemas.microsoft.com/office/drawing/2014/main" id="{61F8B40F-1470-4CF5-91E9-DB49E83D0295}"/>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D7B96070-F01F-4355-A458-9ACAD5E6A0FC}"/>
              </a:ext>
            </a:extLst>
          </p:cNvPr>
          <p:cNvSpPr>
            <a:spLocks xmlns:a="http://schemas.openxmlformats.org/drawingml/2006/main" noGrp="1"/>
          </p:cNvSpPr>
          <p:nvPr/>
        </p:nvSpPr>
        <p:spPr>
          <a:xfrm xmlns:a="http://schemas.openxmlformats.org/drawingml/2006/main">
            <a:off x="1038225" y="1247775"/>
            <a:ext cx="190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5F6B7A"/>
                </a:solidFill>
                <a:latin typeface="Aptos"/>
                <a:ea typeface="Aptos"/>
                <a:cs typeface="Aptos"/>
              </a:defRPr>
            </a:pPr>
            <a:r>
              <a:rPr sz="1650" b="1" i="0">
                <a:solidFill>
                  <a:srgbClr val="5F6B7A"/>
                </a:solidFill>
                <a:latin typeface="Aptos"/>
                <a:ea typeface="Aptos"/>
                <a:cs typeface="Aptos"/>
              </a:rPr>
              <a:t>Metric</a:t>
            </a:r>
          </a:p>
        </p:txBody>
      </p:sp>
      <p:sp>
        <p:nvSpPr>
          <p:cNvPr id="6" name="">
            <a:extLst xmlns:a="http://schemas.openxmlformats.org/drawingml/2006/main">
              <a:ext uri="{FF2B5EF4-FFF2-40B4-BE49-F238E27FC236}">
                <a16:creationId xmlns:a16="http://schemas.microsoft.com/office/drawing/2014/main" id="{14EF1C41-09B4-4157-A9D3-A3E468BFD33D}"/>
              </a:ext>
            </a:extLst>
          </p:cNvPr>
          <p:cNvSpPr>
            <a:spLocks xmlns:a="http://schemas.openxmlformats.org/drawingml/2006/main" noGrp="1"/>
          </p:cNvSpPr>
          <p:nvPr/>
        </p:nvSpPr>
        <p:spPr>
          <a:xfrm xmlns:a="http://schemas.openxmlformats.org/drawingml/2006/main">
            <a:off x="3819525" y="124777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2F80ED"/>
                </a:solidFill>
                <a:latin typeface="Aptos"/>
                <a:ea typeface="Aptos"/>
                <a:cs typeface="Aptos"/>
              </a:defRPr>
            </a:pPr>
            <a:r>
              <a:rPr sz="1650" b="1" i="0">
                <a:solidFill>
                  <a:srgbClr val="2F80ED"/>
                </a:solidFill>
                <a:latin typeface="Aptos"/>
                <a:ea typeface="Aptos"/>
                <a:cs typeface="Aptos"/>
              </a:rPr>
              <a:t>Range across four cells</a:t>
            </a:r>
          </a:p>
        </p:txBody>
      </p:sp>
      <p:sp>
        <p:nvSpPr>
          <p:cNvPr id="7" name="">
            <a:extLst xmlns:a="http://schemas.openxmlformats.org/drawingml/2006/main">
              <a:ext uri="{FF2B5EF4-FFF2-40B4-BE49-F238E27FC236}">
                <a16:creationId xmlns:a16="http://schemas.microsoft.com/office/drawing/2014/main" id="{8B12085C-BC08-4E47-8B05-983FFEA111EE}"/>
              </a:ext>
            </a:extLst>
          </p:cNvPr>
          <p:cNvSpPr>
            <a:spLocks xmlns:a="http://schemas.openxmlformats.org/drawingml/2006/main" noGrp="1"/>
          </p:cNvSpPr>
          <p:nvPr/>
        </p:nvSpPr>
        <p:spPr>
          <a:xfrm xmlns:a="http://schemas.openxmlformats.org/drawingml/2006/main">
            <a:off x="457200" y="1752600"/>
            <a:ext cx="6762750" cy="781050"/>
          </a:xfrm>
          <a:prstGeom xmlns:a="http://schemas.openxmlformats.org/drawingml/2006/main" prst="roundRect">
            <a:avLst>
              <a:gd name="adj" fmla="val 14634"/>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4CE7695-E75F-4870-A011-52C57D6DD2D8}"/>
              </a:ext>
            </a:extLst>
          </p:cNvPr>
          <p:cNvSpPr>
            <a:spLocks xmlns:a="http://schemas.openxmlformats.org/drawingml/2006/main" noGrp="1"/>
          </p:cNvSpPr>
          <p:nvPr/>
        </p:nvSpPr>
        <p:spPr>
          <a:xfrm xmlns:a="http://schemas.openxmlformats.org/drawingml/2006/main">
            <a:off x="666750" y="19716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0B1220"/>
                </a:solidFill>
                <a:latin typeface="Aptos"/>
                <a:ea typeface="Aptos"/>
                <a:cs typeface="Aptos"/>
              </a:defRPr>
            </a:pPr>
            <a:r>
              <a:rPr sz="1650" b="1" i="0">
                <a:solidFill>
                  <a:srgbClr val="0B1220"/>
                </a:solidFill>
                <a:latin typeface="Aptos"/>
                <a:ea typeface="Aptos"/>
                <a:cs typeface="Aptos"/>
              </a:rPr>
              <a:t>Turnaround EMD</a:t>
            </a:r>
          </a:p>
        </p:txBody>
      </p:sp>
      <p:sp>
        <p:nvSpPr>
          <p:cNvPr id="9" name="">
            <a:extLst xmlns:a="http://schemas.openxmlformats.org/drawingml/2006/main">
              <a:ext uri="{FF2B5EF4-FFF2-40B4-BE49-F238E27FC236}">
                <a16:creationId xmlns:a16="http://schemas.microsoft.com/office/drawing/2014/main" id="{CD37DF1D-EDDA-498A-9E1A-6446A7D3B99B}"/>
              </a:ext>
            </a:extLst>
          </p:cNvPr>
          <p:cNvSpPr>
            <a:spLocks xmlns:a="http://schemas.openxmlformats.org/drawingml/2006/main" noGrp="1"/>
          </p:cNvSpPr>
          <p:nvPr/>
        </p:nvSpPr>
        <p:spPr>
          <a:xfrm xmlns:a="http://schemas.openxmlformats.org/drawingml/2006/main">
            <a:off x="4114800" y="192405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i="0">
                <a:solidFill>
                  <a:srgbClr val="5F6B7A"/>
                </a:solidFill>
                <a:latin typeface="Aptos"/>
                <a:ea typeface="Aptos"/>
                <a:cs typeface="Aptos"/>
              </a:defRPr>
            </a:pPr>
            <a:r>
              <a:rPr sz="2100" b="1" i="0">
                <a:solidFill>
                  <a:srgbClr val="5F6B7A"/>
                </a:solidFill>
                <a:latin typeface="Aptos"/>
                <a:ea typeface="Aptos"/>
                <a:cs typeface="Aptos"/>
              </a:rPr>
              <a:t>9.149-9.253</a:t>
            </a:r>
          </a:p>
        </p:txBody>
      </p:sp>
      <p:sp>
        <p:nvSpPr>
          <p:cNvPr id="10" name="">
            <a:extLst xmlns:a="http://schemas.openxmlformats.org/drawingml/2006/main">
              <a:ext uri="{FF2B5EF4-FFF2-40B4-BE49-F238E27FC236}">
                <a16:creationId xmlns:a16="http://schemas.microsoft.com/office/drawing/2014/main" id="{971DC843-48B1-4794-8D58-5080EB568824}"/>
              </a:ext>
            </a:extLst>
          </p:cNvPr>
          <p:cNvSpPr>
            <a:spLocks xmlns:a="http://schemas.openxmlformats.org/drawingml/2006/main" noGrp="1"/>
          </p:cNvSpPr>
          <p:nvPr/>
        </p:nvSpPr>
        <p:spPr>
          <a:xfrm xmlns:a="http://schemas.openxmlformats.org/drawingml/2006/main">
            <a:off x="4619625" y="19240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75" b="1" i="0">
                <a:solidFill>
                  <a:srgbClr val="98A2B3"/>
                </a:solidFill>
                <a:latin typeface="Aptos"/>
                <a:ea typeface="Aptos"/>
                <a:cs typeface="Aptos"/>
              </a:defRPr>
            </a:pPr>
            <a:r>
              <a:rPr sz="2175" b="1" i="0">
                <a:solidFill>
                  <a:srgbClr val="98A2B3"/>
                </a:solidFill>
                <a:latin typeface="Aptos"/>
                <a:ea typeface="Aptos"/>
                <a:cs typeface="Aptos"/>
              </a:rPr>
              <a:t/>
            </a:r>
          </a:p>
        </p:txBody>
      </p:sp>
      <p:sp>
        <p:nvSpPr>
          <p:cNvPr id="11" name="">
            <a:extLst xmlns:a="http://schemas.openxmlformats.org/drawingml/2006/main">
              <a:ext uri="{FF2B5EF4-FFF2-40B4-BE49-F238E27FC236}">
                <a16:creationId xmlns:a16="http://schemas.microsoft.com/office/drawing/2014/main" id="{F590AA1A-978E-441C-8C13-F0213B20E3E2}"/>
              </a:ext>
            </a:extLst>
          </p:cNvPr>
          <p:cNvSpPr>
            <a:spLocks xmlns:a="http://schemas.openxmlformats.org/drawingml/2006/main" noGrp="1"/>
          </p:cNvSpPr>
          <p:nvPr/>
        </p:nvSpPr>
        <p:spPr>
          <a:xfrm xmlns:a="http://schemas.openxmlformats.org/drawingml/2006/main">
            <a:off x="5162550" y="1924050"/>
            <a:ext cx="123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i="0">
                <a:solidFill>
                  <a:srgbClr val="2F80ED"/>
                </a:solidFill>
                <a:latin typeface="Aptos"/>
                <a:ea typeface="Aptos"/>
                <a:cs typeface="Aptos"/>
              </a:defRPr>
            </a:pPr>
            <a:r>
              <a:rPr sz="2100" b="1" i="0">
                <a:solidFill>
                  <a:srgbClr val="2F80ED"/>
                </a:solidFill>
                <a:latin typeface="Aptos"/>
                <a:ea typeface="Aptos"/>
                <a:cs typeface="Aptos"/>
              </a:rPr>
              <a:t/>
            </a:r>
          </a:p>
        </p:txBody>
      </p:sp>
      <p:sp>
        <p:nvSpPr>
          <p:cNvPr id="12" name="">
            <a:extLst xmlns:a="http://schemas.openxmlformats.org/drawingml/2006/main">
              <a:ext uri="{FF2B5EF4-FFF2-40B4-BE49-F238E27FC236}">
                <a16:creationId xmlns:a16="http://schemas.microsoft.com/office/drawing/2014/main" id="{F59CA28E-B6F9-462D-883C-D88E6366198E}"/>
              </a:ext>
            </a:extLst>
          </p:cNvPr>
          <p:cNvSpPr>
            <a:spLocks xmlns:a="http://schemas.openxmlformats.org/drawingml/2006/main" noGrp="1"/>
          </p:cNvSpPr>
          <p:nvPr/>
        </p:nvSpPr>
        <p:spPr>
          <a:xfrm xmlns:a="http://schemas.openxmlformats.org/drawingml/2006/main">
            <a:off x="6391275" y="196215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i="0">
                <a:solidFill>
                  <a:srgbClr val="C8102E"/>
                </a:solidFill>
                <a:latin typeface="Aptos"/>
                <a:ea typeface="Aptos"/>
                <a:cs typeface="Aptos"/>
              </a:defRPr>
            </a:pPr>
            <a:r>
              <a:rPr sz="1350" b="1" i="0">
                <a:solidFill>
                  <a:srgbClr val="C8102E"/>
                </a:solidFill>
                <a:latin typeface="Aptos"/>
                <a:ea typeface="Aptos"/>
                <a:cs typeface="Aptos"/>
              </a:rPr>
              <a:t/>
            </a:r>
          </a:p>
        </p:txBody>
      </p:sp>
      <p:sp>
        <p:nvSpPr>
          <p:cNvPr id="13" name="">
            <a:extLst xmlns:a="http://schemas.openxmlformats.org/drawingml/2006/main">
              <a:ext uri="{FF2B5EF4-FFF2-40B4-BE49-F238E27FC236}">
                <a16:creationId xmlns:a16="http://schemas.microsoft.com/office/drawing/2014/main" id="{8FD4BF62-0087-47EE-B9EE-39D3FB5F691D}"/>
              </a:ext>
            </a:extLst>
          </p:cNvPr>
          <p:cNvSpPr>
            <a:spLocks xmlns:a="http://schemas.openxmlformats.org/drawingml/2006/main" noGrp="1"/>
          </p:cNvSpPr>
          <p:nvPr/>
        </p:nvSpPr>
        <p:spPr>
          <a:xfrm xmlns:a="http://schemas.openxmlformats.org/drawingml/2006/main">
            <a:off x="457200" y="2743200"/>
            <a:ext cx="67627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C594302-5B95-49E1-AC18-5C5A5661FB88}"/>
              </a:ext>
            </a:extLst>
          </p:cNvPr>
          <p:cNvSpPr>
            <a:spLocks xmlns:a="http://schemas.openxmlformats.org/drawingml/2006/main" noGrp="1"/>
          </p:cNvSpPr>
          <p:nvPr/>
        </p:nvSpPr>
        <p:spPr>
          <a:xfrm xmlns:a="http://schemas.openxmlformats.org/drawingml/2006/main">
            <a:off x="666750" y="29622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0B1220"/>
                </a:solidFill>
                <a:latin typeface="Aptos"/>
                <a:ea typeface="Aptos"/>
                <a:cs typeface="Aptos"/>
              </a:defRPr>
            </a:pPr>
            <a:r>
              <a:rPr sz="1650" b="1" i="0">
                <a:solidFill>
                  <a:srgbClr val="0B1220"/>
                </a:solidFill>
                <a:latin typeface="Aptos"/>
                <a:ea typeface="Aptos"/>
                <a:cs typeface="Aptos"/>
              </a:rPr>
              <a:t>Weighted service EMD</a:t>
            </a:r>
          </a:p>
        </p:txBody>
      </p:sp>
      <p:sp>
        <p:nvSpPr>
          <p:cNvPr id="15" name="">
            <a:extLst xmlns:a="http://schemas.openxmlformats.org/drawingml/2006/main">
              <a:ext uri="{FF2B5EF4-FFF2-40B4-BE49-F238E27FC236}">
                <a16:creationId xmlns:a16="http://schemas.microsoft.com/office/drawing/2014/main" id="{8B2E30DA-165E-4398-A603-849FD58850BE}"/>
              </a:ext>
            </a:extLst>
          </p:cNvPr>
          <p:cNvSpPr>
            <a:spLocks xmlns:a="http://schemas.openxmlformats.org/drawingml/2006/main" noGrp="1"/>
          </p:cNvSpPr>
          <p:nvPr/>
        </p:nvSpPr>
        <p:spPr>
          <a:xfrm xmlns:a="http://schemas.openxmlformats.org/drawingml/2006/main">
            <a:off x="4114800" y="291465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i="0">
                <a:solidFill>
                  <a:srgbClr val="5F6B7A"/>
                </a:solidFill>
                <a:latin typeface="Aptos"/>
                <a:ea typeface="Aptos"/>
                <a:cs typeface="Aptos"/>
              </a:defRPr>
            </a:pPr>
            <a:r>
              <a:rPr sz="2100" b="1" i="0">
                <a:solidFill>
                  <a:srgbClr val="5F6B7A"/>
                </a:solidFill>
                <a:latin typeface="Aptos"/>
                <a:ea typeface="Aptos"/>
                <a:cs typeface="Aptos"/>
              </a:rPr>
              <a:t>1.715-1.773</a:t>
            </a:r>
          </a:p>
        </p:txBody>
      </p:sp>
      <p:sp>
        <p:nvSpPr>
          <p:cNvPr id="16" name="">
            <a:extLst xmlns:a="http://schemas.openxmlformats.org/drawingml/2006/main">
              <a:ext uri="{FF2B5EF4-FFF2-40B4-BE49-F238E27FC236}">
                <a16:creationId xmlns:a16="http://schemas.microsoft.com/office/drawing/2014/main" id="{26E703D9-4D82-4991-B3B1-1CAEA8DF91DE}"/>
              </a:ext>
            </a:extLst>
          </p:cNvPr>
          <p:cNvSpPr>
            <a:spLocks xmlns:a="http://schemas.openxmlformats.org/drawingml/2006/main" noGrp="1"/>
          </p:cNvSpPr>
          <p:nvPr/>
        </p:nvSpPr>
        <p:spPr>
          <a:xfrm xmlns:a="http://schemas.openxmlformats.org/drawingml/2006/main">
            <a:off x="4619625" y="29146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75" b="1" i="0">
                <a:solidFill>
                  <a:srgbClr val="98A2B3"/>
                </a:solidFill>
                <a:latin typeface="Aptos"/>
                <a:ea typeface="Aptos"/>
                <a:cs typeface="Aptos"/>
              </a:defRPr>
            </a:pPr>
            <a:r>
              <a:rPr sz="2175" b="1" i="0">
                <a:solidFill>
                  <a:srgbClr val="98A2B3"/>
                </a:solidFill>
                <a:latin typeface="Aptos"/>
                <a:ea typeface="Aptos"/>
                <a:cs typeface="Aptos"/>
              </a:rPr>
              <a:t/>
            </a:r>
          </a:p>
        </p:txBody>
      </p:sp>
      <p:sp>
        <p:nvSpPr>
          <p:cNvPr id="17" name="">
            <a:extLst xmlns:a="http://schemas.openxmlformats.org/drawingml/2006/main">
              <a:ext uri="{FF2B5EF4-FFF2-40B4-BE49-F238E27FC236}">
                <a16:creationId xmlns:a16="http://schemas.microsoft.com/office/drawing/2014/main" id="{5CD570AC-16F7-4D14-AF80-379A1BE1F613}"/>
              </a:ext>
            </a:extLst>
          </p:cNvPr>
          <p:cNvSpPr>
            <a:spLocks xmlns:a="http://schemas.openxmlformats.org/drawingml/2006/main" noGrp="1"/>
          </p:cNvSpPr>
          <p:nvPr/>
        </p:nvSpPr>
        <p:spPr>
          <a:xfrm xmlns:a="http://schemas.openxmlformats.org/drawingml/2006/main">
            <a:off x="5162550" y="2914650"/>
            <a:ext cx="123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i="0">
                <a:solidFill>
                  <a:srgbClr val="2F80ED"/>
                </a:solidFill>
                <a:latin typeface="Aptos"/>
                <a:ea typeface="Aptos"/>
                <a:cs typeface="Aptos"/>
              </a:defRPr>
            </a:pPr>
            <a:r>
              <a:rPr sz="2100" b="1" i="0">
                <a:solidFill>
                  <a:srgbClr val="2F80ED"/>
                </a:solidFill>
                <a:latin typeface="Aptos"/>
                <a:ea typeface="Aptos"/>
                <a:cs typeface="Aptos"/>
              </a:rPr>
              <a:t/>
            </a:r>
          </a:p>
        </p:txBody>
      </p:sp>
      <p:sp>
        <p:nvSpPr>
          <p:cNvPr id="18" name="">
            <a:extLst xmlns:a="http://schemas.openxmlformats.org/drawingml/2006/main">
              <a:ext uri="{FF2B5EF4-FFF2-40B4-BE49-F238E27FC236}">
                <a16:creationId xmlns:a16="http://schemas.microsoft.com/office/drawing/2014/main" id="{8E65A8A5-6F9B-4D93-A69F-62D0DF8534C9}"/>
              </a:ext>
            </a:extLst>
          </p:cNvPr>
          <p:cNvSpPr>
            <a:spLocks xmlns:a="http://schemas.openxmlformats.org/drawingml/2006/main" noGrp="1"/>
          </p:cNvSpPr>
          <p:nvPr/>
        </p:nvSpPr>
        <p:spPr>
          <a:xfrm xmlns:a="http://schemas.openxmlformats.org/drawingml/2006/main">
            <a:off x="6391275" y="295275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i="0">
                <a:solidFill>
                  <a:srgbClr val="16876A"/>
                </a:solidFill>
                <a:latin typeface="Aptos"/>
                <a:ea typeface="Aptos"/>
                <a:cs typeface="Aptos"/>
              </a:defRPr>
            </a:pPr>
            <a:r>
              <a:rPr sz="1350" b="1" i="0">
                <a:solidFill>
                  <a:srgbClr val="16876A"/>
                </a:solidFill>
                <a:latin typeface="Aptos"/>
                <a:ea typeface="Aptos"/>
                <a:cs typeface="Aptos"/>
              </a:rPr>
              <a:t/>
            </a:r>
          </a:p>
        </p:txBody>
      </p:sp>
      <p:sp>
        <p:nvSpPr>
          <p:cNvPr id="19" name="">
            <a:extLst xmlns:a="http://schemas.openxmlformats.org/drawingml/2006/main">
              <a:ext uri="{FF2B5EF4-FFF2-40B4-BE49-F238E27FC236}">
                <a16:creationId xmlns:a16="http://schemas.microsoft.com/office/drawing/2014/main" id="{68085A18-5ACE-4B9E-AE1E-23030EEF9E2D}"/>
              </a:ext>
            </a:extLst>
          </p:cNvPr>
          <p:cNvSpPr>
            <a:spLocks xmlns:a="http://schemas.openxmlformats.org/drawingml/2006/main" noGrp="1"/>
          </p:cNvSpPr>
          <p:nvPr/>
        </p:nvSpPr>
        <p:spPr>
          <a:xfrm xmlns:a="http://schemas.openxmlformats.org/drawingml/2006/main">
            <a:off x="457200" y="3733800"/>
            <a:ext cx="6762750" cy="781050"/>
          </a:xfrm>
          <a:prstGeom xmlns:a="http://schemas.openxmlformats.org/drawingml/2006/main" prst="roundRect">
            <a:avLst>
              <a:gd name="adj" fmla="val 14634"/>
            </a:avLst>
          </a:prstGeom>
          <a:solidFill xmlns:a="http://schemas.openxmlformats.org/drawingml/2006/main">
            <a:srgbClr val="F8FAF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17403F1-BC35-49B9-AF2F-8372CA6C2ADC}"/>
              </a:ext>
            </a:extLst>
          </p:cNvPr>
          <p:cNvSpPr>
            <a:spLocks xmlns:a="http://schemas.openxmlformats.org/drawingml/2006/main" noGrp="1"/>
          </p:cNvSpPr>
          <p:nvPr/>
        </p:nvSpPr>
        <p:spPr>
          <a:xfrm xmlns:a="http://schemas.openxmlformats.org/drawingml/2006/main">
            <a:off x="666750" y="39528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0B1220"/>
                </a:solidFill>
                <a:latin typeface="Aptos"/>
                <a:ea typeface="Aptos"/>
                <a:cs typeface="Aptos"/>
              </a:defRPr>
            </a:pPr>
            <a:r>
              <a:rPr sz="1650" b="1" i="0">
                <a:solidFill>
                  <a:srgbClr val="0B1220"/>
                </a:solidFill>
                <a:latin typeface="Aptos"/>
                <a:ea typeface="Aptos"/>
                <a:cs typeface="Aptos"/>
              </a:rPr>
              <a:t>Activity-rate L1</a:t>
            </a:r>
          </a:p>
        </p:txBody>
      </p:sp>
      <p:sp>
        <p:nvSpPr>
          <p:cNvPr id="21" name="">
            <a:extLst xmlns:a="http://schemas.openxmlformats.org/drawingml/2006/main">
              <a:ext uri="{FF2B5EF4-FFF2-40B4-BE49-F238E27FC236}">
                <a16:creationId xmlns:a16="http://schemas.microsoft.com/office/drawing/2014/main" id="{00D07E09-E2B6-4DF4-9772-BE13F1ED5B9E}"/>
              </a:ext>
            </a:extLst>
          </p:cNvPr>
          <p:cNvSpPr>
            <a:spLocks xmlns:a="http://schemas.openxmlformats.org/drawingml/2006/main" noGrp="1"/>
          </p:cNvSpPr>
          <p:nvPr/>
        </p:nvSpPr>
        <p:spPr>
          <a:xfrm xmlns:a="http://schemas.openxmlformats.org/drawingml/2006/main">
            <a:off x="4114800" y="390525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i="0">
                <a:solidFill>
                  <a:srgbClr val="5F6B7A"/>
                </a:solidFill>
                <a:latin typeface="Aptos"/>
                <a:ea typeface="Aptos"/>
                <a:cs typeface="Aptos"/>
              </a:defRPr>
            </a:pPr>
            <a:r>
              <a:rPr sz="2100" b="1" i="0">
                <a:solidFill>
                  <a:srgbClr val="5F6B7A"/>
                </a:solidFill>
                <a:latin typeface="Aptos"/>
                <a:ea typeface="Aptos"/>
                <a:cs typeface="Aptos"/>
              </a:rPr>
              <a:t>0.1285-0.1305</a:t>
            </a:r>
          </a:p>
        </p:txBody>
      </p:sp>
      <p:sp>
        <p:nvSpPr>
          <p:cNvPr id="22" name="">
            <a:extLst xmlns:a="http://schemas.openxmlformats.org/drawingml/2006/main">
              <a:ext uri="{FF2B5EF4-FFF2-40B4-BE49-F238E27FC236}">
                <a16:creationId xmlns:a16="http://schemas.microsoft.com/office/drawing/2014/main" id="{925DA877-930F-4DAE-9AA1-79A9DA9DECAD}"/>
              </a:ext>
            </a:extLst>
          </p:cNvPr>
          <p:cNvSpPr>
            <a:spLocks xmlns:a="http://schemas.openxmlformats.org/drawingml/2006/main" noGrp="1"/>
          </p:cNvSpPr>
          <p:nvPr/>
        </p:nvSpPr>
        <p:spPr>
          <a:xfrm xmlns:a="http://schemas.openxmlformats.org/drawingml/2006/main">
            <a:off x="4619625" y="39052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75" b="1" i="0">
                <a:solidFill>
                  <a:srgbClr val="98A2B3"/>
                </a:solidFill>
                <a:latin typeface="Aptos"/>
                <a:ea typeface="Aptos"/>
                <a:cs typeface="Aptos"/>
              </a:defRPr>
            </a:pPr>
            <a:r>
              <a:rPr sz="2175" b="1" i="0">
                <a:solidFill>
                  <a:srgbClr val="98A2B3"/>
                </a:solidFill>
                <a:latin typeface="Aptos"/>
                <a:ea typeface="Aptos"/>
                <a:cs typeface="Aptos"/>
              </a:rPr>
              <a:t/>
            </a:r>
          </a:p>
        </p:txBody>
      </p:sp>
      <p:sp>
        <p:nvSpPr>
          <p:cNvPr id="23" name="">
            <a:extLst xmlns:a="http://schemas.openxmlformats.org/drawingml/2006/main">
              <a:ext uri="{FF2B5EF4-FFF2-40B4-BE49-F238E27FC236}">
                <a16:creationId xmlns:a16="http://schemas.microsoft.com/office/drawing/2014/main" id="{7D6B756D-DDFD-4A75-99F0-224AF394D52F}"/>
              </a:ext>
            </a:extLst>
          </p:cNvPr>
          <p:cNvSpPr>
            <a:spLocks xmlns:a="http://schemas.openxmlformats.org/drawingml/2006/main" noGrp="1"/>
          </p:cNvSpPr>
          <p:nvPr/>
        </p:nvSpPr>
        <p:spPr>
          <a:xfrm xmlns:a="http://schemas.openxmlformats.org/drawingml/2006/main">
            <a:off x="5162550" y="3905250"/>
            <a:ext cx="123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i="0">
                <a:solidFill>
                  <a:srgbClr val="2F80ED"/>
                </a:solidFill>
                <a:latin typeface="Aptos"/>
                <a:ea typeface="Aptos"/>
                <a:cs typeface="Aptos"/>
              </a:defRPr>
            </a:pPr>
            <a:r>
              <a:rPr sz="2100" b="1" i="0">
                <a:solidFill>
                  <a:srgbClr val="2F80ED"/>
                </a:solidFill>
                <a:latin typeface="Aptos"/>
                <a:ea typeface="Aptos"/>
                <a:cs typeface="Aptos"/>
              </a:rPr>
              <a:t/>
            </a:r>
          </a:p>
        </p:txBody>
      </p:sp>
      <p:sp>
        <p:nvSpPr>
          <p:cNvPr id="24" name="">
            <a:extLst xmlns:a="http://schemas.openxmlformats.org/drawingml/2006/main">
              <a:ext uri="{FF2B5EF4-FFF2-40B4-BE49-F238E27FC236}">
                <a16:creationId xmlns:a16="http://schemas.microsoft.com/office/drawing/2014/main" id="{FFE0D638-A9AD-4941-A75F-797601DB73E3}"/>
              </a:ext>
            </a:extLst>
          </p:cNvPr>
          <p:cNvSpPr>
            <a:spLocks xmlns:a="http://schemas.openxmlformats.org/drawingml/2006/main" noGrp="1"/>
          </p:cNvSpPr>
          <p:nvPr/>
        </p:nvSpPr>
        <p:spPr>
          <a:xfrm xmlns:a="http://schemas.openxmlformats.org/drawingml/2006/main">
            <a:off x="6391275" y="394335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i="0">
                <a:solidFill>
                  <a:srgbClr val="C8102E"/>
                </a:solidFill>
                <a:latin typeface="Aptos"/>
                <a:ea typeface="Aptos"/>
                <a:cs typeface="Aptos"/>
              </a:defRPr>
            </a:pPr>
            <a:r>
              <a:rPr sz="1350" b="1" i="0">
                <a:solidFill>
                  <a:srgbClr val="C8102E"/>
                </a:solidFill>
                <a:latin typeface="Aptos"/>
                <a:ea typeface="Aptos"/>
                <a:cs typeface="Aptos"/>
              </a:rPr>
              <a:t/>
            </a:r>
          </a:p>
        </p:txBody>
      </p:sp>
      <p:sp>
        <p:nvSpPr>
          <p:cNvPr id="25" name="">
            <a:extLst xmlns:a="http://schemas.openxmlformats.org/drawingml/2006/main">
              <a:ext uri="{FF2B5EF4-FFF2-40B4-BE49-F238E27FC236}">
                <a16:creationId xmlns:a16="http://schemas.microsoft.com/office/drawing/2014/main" id="{E5EE9FCA-A2E6-461F-9D03-05117AE6469D}"/>
              </a:ext>
            </a:extLst>
          </p:cNvPr>
          <p:cNvSpPr>
            <a:spLocks xmlns:a="http://schemas.openxmlformats.org/drawingml/2006/main" noGrp="1"/>
          </p:cNvSpPr>
          <p:nvPr/>
        </p:nvSpPr>
        <p:spPr>
          <a:xfrm xmlns:a="http://schemas.openxmlformats.org/drawingml/2006/main">
            <a:off x="457200" y="4724400"/>
            <a:ext cx="67627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4C17431-B2A9-4DFF-851A-7667D2189499}"/>
              </a:ext>
            </a:extLst>
          </p:cNvPr>
          <p:cNvSpPr>
            <a:spLocks xmlns:a="http://schemas.openxmlformats.org/drawingml/2006/main" noGrp="1"/>
          </p:cNvSpPr>
          <p:nvPr/>
        </p:nvSpPr>
        <p:spPr>
          <a:xfrm xmlns:a="http://schemas.openxmlformats.org/drawingml/2006/main">
            <a:off x="666750" y="49434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0B1220"/>
                </a:solidFill>
                <a:latin typeface="Aptos"/>
                <a:ea typeface="Aptos"/>
                <a:cs typeface="Aptos"/>
              </a:defRPr>
            </a:pPr>
            <a:r>
              <a:rPr sz="1650" b="1" i="0">
                <a:solidFill>
                  <a:srgbClr val="0B1220"/>
                </a:solidFill>
                <a:latin typeface="Aptos"/>
                <a:ea typeface="Aptos"/>
                <a:cs typeface="Aptos"/>
              </a:rPr>
              <a:t>3-gram NGD</a:t>
            </a:r>
          </a:p>
        </p:txBody>
      </p:sp>
      <p:sp>
        <p:nvSpPr>
          <p:cNvPr id="27" name="">
            <a:extLst xmlns:a="http://schemas.openxmlformats.org/drawingml/2006/main">
              <a:ext uri="{FF2B5EF4-FFF2-40B4-BE49-F238E27FC236}">
                <a16:creationId xmlns:a16="http://schemas.microsoft.com/office/drawing/2014/main" id="{D2F8F0B0-71DD-4B2F-88FC-BBC3B08FE053}"/>
              </a:ext>
            </a:extLst>
          </p:cNvPr>
          <p:cNvSpPr>
            <a:spLocks xmlns:a="http://schemas.openxmlformats.org/drawingml/2006/main" noGrp="1"/>
          </p:cNvSpPr>
          <p:nvPr/>
        </p:nvSpPr>
        <p:spPr>
          <a:xfrm xmlns:a="http://schemas.openxmlformats.org/drawingml/2006/main">
            <a:off x="4114800" y="489585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i="0">
                <a:solidFill>
                  <a:srgbClr val="5F6B7A"/>
                </a:solidFill>
                <a:latin typeface="Aptos"/>
                <a:ea typeface="Aptos"/>
                <a:cs typeface="Aptos"/>
              </a:defRPr>
            </a:pPr>
            <a:r>
              <a:rPr sz="2100" b="1" i="0">
                <a:solidFill>
                  <a:srgbClr val="5F6B7A"/>
                </a:solidFill>
                <a:latin typeface="Aptos"/>
                <a:ea typeface="Aptos"/>
                <a:cs typeface="Aptos"/>
              </a:rPr>
              <a:t>0.04857-0.04915</a:t>
            </a:r>
          </a:p>
        </p:txBody>
      </p:sp>
      <p:sp>
        <p:nvSpPr>
          <p:cNvPr id="28" name="">
            <a:extLst xmlns:a="http://schemas.openxmlformats.org/drawingml/2006/main">
              <a:ext uri="{FF2B5EF4-FFF2-40B4-BE49-F238E27FC236}">
                <a16:creationId xmlns:a16="http://schemas.microsoft.com/office/drawing/2014/main" id="{04D664C1-8AA6-4AEB-88CF-14C0D9B371EF}"/>
              </a:ext>
            </a:extLst>
          </p:cNvPr>
          <p:cNvSpPr>
            <a:spLocks xmlns:a="http://schemas.openxmlformats.org/drawingml/2006/main" noGrp="1"/>
          </p:cNvSpPr>
          <p:nvPr/>
        </p:nvSpPr>
        <p:spPr>
          <a:xfrm xmlns:a="http://schemas.openxmlformats.org/drawingml/2006/main">
            <a:off x="4619625" y="48958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75" b="1" i="0">
                <a:solidFill>
                  <a:srgbClr val="98A2B3"/>
                </a:solidFill>
                <a:latin typeface="Aptos"/>
                <a:ea typeface="Aptos"/>
                <a:cs typeface="Aptos"/>
              </a:defRPr>
            </a:pPr>
            <a:r>
              <a:rPr sz="2175" b="1" i="0">
                <a:solidFill>
                  <a:srgbClr val="98A2B3"/>
                </a:solidFill>
                <a:latin typeface="Aptos"/>
                <a:ea typeface="Aptos"/>
                <a:cs typeface="Aptos"/>
              </a:rPr>
              <a:t/>
            </a:r>
          </a:p>
        </p:txBody>
      </p:sp>
      <p:sp>
        <p:nvSpPr>
          <p:cNvPr id="29" name="">
            <a:extLst xmlns:a="http://schemas.openxmlformats.org/drawingml/2006/main">
              <a:ext uri="{FF2B5EF4-FFF2-40B4-BE49-F238E27FC236}">
                <a16:creationId xmlns:a16="http://schemas.microsoft.com/office/drawing/2014/main" id="{3C5118FF-B873-4FA1-B238-089E30D0D9EE}"/>
              </a:ext>
            </a:extLst>
          </p:cNvPr>
          <p:cNvSpPr>
            <a:spLocks xmlns:a="http://schemas.openxmlformats.org/drawingml/2006/main" noGrp="1"/>
          </p:cNvSpPr>
          <p:nvPr/>
        </p:nvSpPr>
        <p:spPr>
          <a:xfrm xmlns:a="http://schemas.openxmlformats.org/drawingml/2006/main">
            <a:off x="5162550" y="4895850"/>
            <a:ext cx="123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i="0">
                <a:solidFill>
                  <a:srgbClr val="2F80ED"/>
                </a:solidFill>
                <a:latin typeface="Aptos"/>
                <a:ea typeface="Aptos"/>
                <a:cs typeface="Aptos"/>
              </a:defRPr>
            </a:pPr>
            <a:r>
              <a:rPr sz="2100" b="1" i="0">
                <a:solidFill>
                  <a:srgbClr val="2F80ED"/>
                </a:solidFill>
                <a:latin typeface="Aptos"/>
                <a:ea typeface="Aptos"/>
                <a:cs typeface="Aptos"/>
              </a:rPr>
              <a:t/>
            </a:r>
          </a:p>
        </p:txBody>
      </p:sp>
      <p:sp>
        <p:nvSpPr>
          <p:cNvPr id="30" name="">
            <a:extLst xmlns:a="http://schemas.openxmlformats.org/drawingml/2006/main">
              <a:ext uri="{FF2B5EF4-FFF2-40B4-BE49-F238E27FC236}">
                <a16:creationId xmlns:a16="http://schemas.microsoft.com/office/drawing/2014/main" id="{77D82098-BAC3-4798-BE4F-099E8706462F}"/>
              </a:ext>
            </a:extLst>
          </p:cNvPr>
          <p:cNvSpPr>
            <a:spLocks xmlns:a="http://schemas.openxmlformats.org/drawingml/2006/main" noGrp="1"/>
          </p:cNvSpPr>
          <p:nvPr/>
        </p:nvSpPr>
        <p:spPr>
          <a:xfrm xmlns:a="http://schemas.openxmlformats.org/drawingml/2006/main">
            <a:off x="6391275" y="493395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i="0">
                <a:solidFill>
                  <a:srgbClr val="16876A"/>
                </a:solidFill>
                <a:latin typeface="Aptos"/>
                <a:ea typeface="Aptos"/>
                <a:cs typeface="Aptos"/>
              </a:defRPr>
            </a:pPr>
            <a:r>
              <a:rPr sz="1350" b="1" i="0">
                <a:solidFill>
                  <a:srgbClr val="16876A"/>
                </a:solidFill>
                <a:latin typeface="Aptos"/>
                <a:ea typeface="Aptos"/>
                <a:cs typeface="Aptos"/>
              </a:rPr>
              <a:t/>
            </a:r>
          </a:p>
        </p:txBody>
      </p:sp>
      <p:sp>
        <p:nvSpPr>
          <p:cNvPr id="31" name="">
            <a:extLst xmlns:a="http://schemas.openxmlformats.org/drawingml/2006/main">
              <a:ext uri="{FF2B5EF4-FFF2-40B4-BE49-F238E27FC236}">
                <a16:creationId xmlns:a16="http://schemas.microsoft.com/office/drawing/2014/main" id="{6F3FCC4C-228E-4E34-BE2B-220BB72A64B4}"/>
              </a:ext>
            </a:extLst>
          </p:cNvPr>
          <p:cNvSpPr>
            <a:spLocks xmlns:a="http://schemas.openxmlformats.org/drawingml/2006/main" noGrp="1"/>
          </p:cNvSpPr>
          <p:nvPr/>
        </p:nvSpPr>
        <p:spPr>
          <a:xfrm xmlns:a="http://schemas.openxmlformats.org/drawingml/2006/main">
            <a:off x="7639050" y="1504950"/>
            <a:ext cx="4000500" cy="4324350"/>
          </a:xfrm>
          <a:prstGeom xmlns:a="http://schemas.openxmlformats.org/drawingml/2006/main" prst="roundRect">
            <a:avLst>
              <a:gd name="adj" fmla="val 2857"/>
            </a:avLst>
          </a:prstGeom>
          <a:solidFill xmlns:a="http://schemas.openxmlformats.org/drawingml/2006/main">
            <a:srgbClr val="F8FAFC"/>
          </a:solidFill>
          <a:ln xmlns:a="http://schemas.openxmlformats.org/drawingml/2006/main" w="9525">
            <a:solidFill>
              <a:srgbClr val="D0D5DD"/>
            </a:solidFill>
            <a:prstDash val="solid"/>
          </a:ln>
        </p:spPr>
      </p:sp>
      <p:sp>
        <p:nvSpPr>
          <p:cNvPr id="32" name="">
            <a:extLst xmlns:a="http://schemas.openxmlformats.org/drawingml/2006/main">
              <a:ext uri="{FF2B5EF4-FFF2-40B4-BE49-F238E27FC236}">
                <a16:creationId xmlns:a16="http://schemas.microsoft.com/office/drawing/2014/main" id="{34FC5F98-3FC6-4B90-B4A9-2032037767FA}"/>
              </a:ext>
            </a:extLst>
          </p:cNvPr>
          <p:cNvSpPr>
            <a:spLocks xmlns:a="http://schemas.openxmlformats.org/drawingml/2006/main" noGrp="1"/>
          </p:cNvSpPr>
          <p:nvPr/>
        </p:nvSpPr>
        <p:spPr>
          <a:xfrm xmlns:a="http://schemas.openxmlformats.org/drawingml/2006/main">
            <a:off x="7943850" y="179070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i="0">
                <a:solidFill>
                  <a:srgbClr val="0B1220"/>
                </a:solidFill>
                <a:latin typeface="Aptos"/>
                <a:ea typeface="Aptos"/>
                <a:cs typeface="Aptos"/>
              </a:defRPr>
            </a:pPr>
            <a:r>
              <a:rPr sz="2100" b="1" i="0">
                <a:solidFill>
                  <a:srgbClr val="0B1220"/>
                </a:solidFill>
                <a:latin typeface="Aptos"/>
                <a:ea typeface="Aptos"/>
                <a:cs typeface="Aptos"/>
              </a:rPr>
              <a:t>What the validation shows</a:t>
            </a:r>
          </a:p>
        </p:txBody>
      </p:sp>
      <p:sp>
        <p:nvSpPr>
          <p:cNvPr id="33" name="">
            <a:extLst xmlns:a="http://schemas.openxmlformats.org/drawingml/2006/main">
              <a:ext uri="{FF2B5EF4-FFF2-40B4-BE49-F238E27FC236}">
                <a16:creationId xmlns:a16="http://schemas.microsoft.com/office/drawing/2014/main" id="{F433E923-7674-465B-B6C9-8CA10FE8B864}"/>
              </a:ext>
            </a:extLst>
          </p:cNvPr>
          <p:cNvSpPr>
            <a:spLocks xmlns:a="http://schemas.openxmlformats.org/drawingml/2006/main" noGrp="1"/>
          </p:cNvSpPr>
          <p:nvPr/>
        </p:nvSpPr>
        <p:spPr>
          <a:xfrm xmlns:a="http://schemas.openxmlformats.org/drawingml/2006/main">
            <a:off x="7867650" y="2362200"/>
            <a:ext cx="3543300" cy="1095375"/>
          </a:xfrm>
          <a:prstGeom xmlns:a="http://schemas.openxmlformats.org/drawingml/2006/main" prst="roundRect">
            <a:avLst>
              <a:gd name="adj" fmla="val 10435"/>
            </a:avLst>
          </a:prstGeom>
          <a:solidFill xmlns:a="http://schemas.openxmlformats.org/drawingml/2006/main">
            <a:srgbClr val="F8FAFC"/>
          </a:solidFill>
          <a:ln xmlns:a="http://schemas.openxmlformats.org/drawingml/2006/main" w="9525">
            <a:solidFill>
              <a:srgbClr val="D0D5DD"/>
            </a:solidFill>
            <a:prstDash val="solid"/>
          </a:ln>
        </p:spPr>
      </p:sp>
      <p:sp>
        <p:nvSpPr>
          <p:cNvPr id="34" name="">
            <a:extLst xmlns:a="http://schemas.openxmlformats.org/drawingml/2006/main">
              <a:ext uri="{FF2B5EF4-FFF2-40B4-BE49-F238E27FC236}">
                <a16:creationId xmlns:a16="http://schemas.microsoft.com/office/drawing/2014/main" id="{7F1C24A1-4A35-4DDF-A60C-7357129FC428}"/>
              </a:ext>
            </a:extLst>
          </p:cNvPr>
          <p:cNvSpPr>
            <a:spLocks xmlns:a="http://schemas.openxmlformats.org/drawingml/2006/main" noGrp="1"/>
          </p:cNvSpPr>
          <p:nvPr/>
        </p:nvSpPr>
        <p:spPr>
          <a:xfrm xmlns:a="http://schemas.openxmlformats.org/drawingml/2006/main">
            <a:off x="8096250" y="2590800"/>
            <a:ext cx="400050" cy="400050"/>
          </a:xfrm>
          <a:prstGeom xmlns:a="http://schemas.openxmlformats.org/drawingml/2006/main" prst="ellipse">
            <a:avLst/>
          </a:prstGeom>
          <a:solidFill xmlns:a="http://schemas.openxmlformats.org/drawingml/2006/main">
            <a:srgbClr val="2F80ED"/>
          </a:solidFill>
          <a:ln xmlns:a="http://schemas.openxmlformats.org/drawingml/2006/main" w="9525">
            <a:solidFill>
              <a:srgbClr val="2F80ED"/>
            </a:solidFill>
            <a:prstDash val="solid"/>
          </a:ln>
        </p:spPr>
      </p:sp>
      <p:sp>
        <p:nvSpPr>
          <p:cNvPr id="35" name="">
            <a:extLst xmlns:a="http://schemas.openxmlformats.org/drawingml/2006/main">
              <a:ext uri="{FF2B5EF4-FFF2-40B4-BE49-F238E27FC236}">
                <a16:creationId xmlns:a16="http://schemas.microsoft.com/office/drawing/2014/main" id="{F72B0478-2D34-49EA-BBD7-C643846DD601}"/>
              </a:ext>
            </a:extLst>
          </p:cNvPr>
          <p:cNvSpPr>
            <a:spLocks xmlns:a="http://schemas.openxmlformats.org/drawingml/2006/main" noGrp="1"/>
          </p:cNvSpPr>
          <p:nvPr/>
        </p:nvSpPr>
        <p:spPr>
          <a:xfrm xmlns:a="http://schemas.openxmlformats.org/drawingml/2006/main">
            <a:off x="8096250" y="26384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1</a:t>
            </a:r>
          </a:p>
        </p:txBody>
      </p:sp>
      <p:sp>
        <p:nvSpPr>
          <p:cNvPr id="36" name="">
            <a:extLst xmlns:a="http://schemas.openxmlformats.org/drawingml/2006/main">
              <a:ext uri="{FF2B5EF4-FFF2-40B4-BE49-F238E27FC236}">
                <a16:creationId xmlns:a16="http://schemas.microsoft.com/office/drawing/2014/main" id="{38C8345A-F886-4613-82F2-368498BDAB0E}"/>
              </a:ext>
            </a:extLst>
          </p:cNvPr>
          <p:cNvSpPr>
            <a:spLocks xmlns:a="http://schemas.openxmlformats.org/drawingml/2006/main" noGrp="1"/>
          </p:cNvSpPr>
          <p:nvPr/>
        </p:nvSpPr>
        <p:spPr>
          <a:xfrm xmlns:a="http://schemas.openxmlformats.org/drawingml/2006/main">
            <a:off x="8667750" y="2533650"/>
            <a:ext cx="2514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0B1220"/>
                </a:solidFill>
                <a:latin typeface="Aptos"/>
                <a:ea typeface="Aptos"/>
                <a:cs typeface="Aptos"/>
              </a:defRPr>
            </a:pPr>
            <a:r>
              <a:rPr sz="1725" b="1" i="0">
                <a:solidFill>
                  <a:srgbClr val="0B1220"/>
                </a:solidFill>
                <a:latin typeface="Aptos"/>
                <a:ea typeface="Aptos"/>
                <a:cs typeface="Aptos"/>
              </a:rPr>
              <a:t>No resolved gain</a:t>
            </a:r>
          </a:p>
        </p:txBody>
      </p:sp>
      <p:sp>
        <p:nvSpPr>
          <p:cNvPr id="37" name="">
            <a:extLst xmlns:a="http://schemas.openxmlformats.org/drawingml/2006/main">
              <a:ext uri="{FF2B5EF4-FFF2-40B4-BE49-F238E27FC236}">
                <a16:creationId xmlns:a16="http://schemas.microsoft.com/office/drawing/2014/main" id="{22A5A9BC-DA27-4E72-8A53-C08F35E0A3C0}"/>
              </a:ext>
            </a:extLst>
          </p:cNvPr>
          <p:cNvSpPr>
            <a:spLocks xmlns:a="http://schemas.openxmlformats.org/drawingml/2006/main" noGrp="1"/>
          </p:cNvSpPr>
          <p:nvPr/>
        </p:nvSpPr>
        <p:spPr>
          <a:xfrm xmlns:a="http://schemas.openxmlformats.org/drawingml/2006/main">
            <a:off x="8667750" y="2914650"/>
            <a:ext cx="25146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Every paired 95% interval includes zero.</a:t>
            </a:r>
          </a:p>
        </p:txBody>
      </p:sp>
      <p:sp>
        <p:nvSpPr>
          <p:cNvPr id="38" name="">
            <a:extLst xmlns:a="http://schemas.openxmlformats.org/drawingml/2006/main">
              <a:ext uri="{FF2B5EF4-FFF2-40B4-BE49-F238E27FC236}">
                <a16:creationId xmlns:a16="http://schemas.microsoft.com/office/drawing/2014/main" id="{325C8F98-EC97-409C-AA8E-B90C1044810F}"/>
              </a:ext>
            </a:extLst>
          </p:cNvPr>
          <p:cNvSpPr>
            <a:spLocks xmlns:a="http://schemas.openxmlformats.org/drawingml/2006/main" noGrp="1"/>
          </p:cNvSpPr>
          <p:nvPr/>
        </p:nvSpPr>
        <p:spPr>
          <a:xfrm xmlns:a="http://schemas.openxmlformats.org/drawingml/2006/main">
            <a:off x="7867650" y="3514725"/>
            <a:ext cx="3543300" cy="1095375"/>
          </a:xfrm>
          <a:prstGeom xmlns:a="http://schemas.openxmlformats.org/drawingml/2006/main" prst="roundRect">
            <a:avLst>
              <a:gd name="adj" fmla="val 10435"/>
            </a:avLst>
          </a:prstGeom>
          <a:solidFill xmlns:a="http://schemas.openxmlformats.org/drawingml/2006/main">
            <a:srgbClr val="F8FAFC"/>
          </a:solidFill>
          <a:ln xmlns:a="http://schemas.openxmlformats.org/drawingml/2006/main" w="9525">
            <a:solidFill>
              <a:srgbClr val="D0D5DD"/>
            </a:solidFill>
            <a:prstDash val="solid"/>
          </a:ln>
        </p:spPr>
      </p:sp>
      <p:sp>
        <p:nvSpPr>
          <p:cNvPr id="39" name="">
            <a:extLst xmlns:a="http://schemas.openxmlformats.org/drawingml/2006/main">
              <a:ext uri="{FF2B5EF4-FFF2-40B4-BE49-F238E27FC236}">
                <a16:creationId xmlns:a16="http://schemas.microsoft.com/office/drawing/2014/main" id="{4DCFF5EE-2CFF-413E-B849-0370D1AB26CC}"/>
              </a:ext>
            </a:extLst>
          </p:cNvPr>
          <p:cNvSpPr>
            <a:spLocks xmlns:a="http://schemas.openxmlformats.org/drawingml/2006/main" noGrp="1"/>
          </p:cNvSpPr>
          <p:nvPr/>
        </p:nvSpPr>
        <p:spPr>
          <a:xfrm xmlns:a="http://schemas.openxmlformats.org/drawingml/2006/main">
            <a:off x="8096250" y="3743325"/>
            <a:ext cx="400050" cy="400050"/>
          </a:xfrm>
          <a:prstGeom xmlns:a="http://schemas.openxmlformats.org/drawingml/2006/main" prst="ellipse">
            <a:avLst/>
          </a:prstGeom>
          <a:solidFill xmlns:a="http://schemas.openxmlformats.org/drawingml/2006/main">
            <a:srgbClr val="16876A"/>
          </a:solidFill>
          <a:ln xmlns:a="http://schemas.openxmlformats.org/drawingml/2006/main" w="9525">
            <a:solidFill>
              <a:srgbClr val="16876A"/>
            </a:solidFill>
            <a:prstDash val="solid"/>
          </a:ln>
        </p:spPr>
      </p:sp>
      <p:sp>
        <p:nvSpPr>
          <p:cNvPr id="40" name="">
            <a:extLst xmlns:a="http://schemas.openxmlformats.org/drawingml/2006/main">
              <a:ext uri="{FF2B5EF4-FFF2-40B4-BE49-F238E27FC236}">
                <a16:creationId xmlns:a16="http://schemas.microsoft.com/office/drawing/2014/main" id="{C0E48B0B-ECF5-4C67-9F4D-BBDAD6EDB8DD}"/>
              </a:ext>
            </a:extLst>
          </p:cNvPr>
          <p:cNvSpPr>
            <a:spLocks xmlns:a="http://schemas.openxmlformats.org/drawingml/2006/main" noGrp="1"/>
          </p:cNvSpPr>
          <p:nvPr/>
        </p:nvSpPr>
        <p:spPr>
          <a:xfrm xmlns:a="http://schemas.openxmlformats.org/drawingml/2006/main">
            <a:off x="8096250" y="37909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2</a:t>
            </a:r>
          </a:p>
        </p:txBody>
      </p:sp>
      <p:sp>
        <p:nvSpPr>
          <p:cNvPr id="41" name="">
            <a:extLst xmlns:a="http://schemas.openxmlformats.org/drawingml/2006/main">
              <a:ext uri="{FF2B5EF4-FFF2-40B4-BE49-F238E27FC236}">
                <a16:creationId xmlns:a16="http://schemas.microsoft.com/office/drawing/2014/main" id="{F92A151E-2933-4A99-9B74-4F32C9F723A4}"/>
              </a:ext>
            </a:extLst>
          </p:cNvPr>
          <p:cNvSpPr>
            <a:spLocks xmlns:a="http://schemas.openxmlformats.org/drawingml/2006/main" noGrp="1"/>
          </p:cNvSpPr>
          <p:nvPr/>
        </p:nvSpPr>
        <p:spPr>
          <a:xfrm xmlns:a="http://schemas.openxmlformats.org/drawingml/2006/main">
            <a:off x="8667750" y="3686175"/>
            <a:ext cx="2514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0B1220"/>
                </a:solidFill>
                <a:latin typeface="Aptos"/>
                <a:ea typeface="Aptos"/>
                <a:cs typeface="Aptos"/>
              </a:defRPr>
            </a:pPr>
            <a:r>
              <a:rPr sz="1725" b="1" i="0">
                <a:solidFill>
                  <a:srgbClr val="0B1220"/>
                </a:solidFill>
                <a:latin typeface="Aptos"/>
                <a:ea typeface="Aptos"/>
                <a:cs typeface="Aptos"/>
              </a:rPr>
              <a:t>Added state is used</a:t>
            </a:r>
          </a:p>
        </p:txBody>
      </p:sp>
      <p:sp>
        <p:nvSpPr>
          <p:cNvPr id="42" name="">
            <a:extLst xmlns:a="http://schemas.openxmlformats.org/drawingml/2006/main">
              <a:ext uri="{FF2B5EF4-FFF2-40B4-BE49-F238E27FC236}">
                <a16:creationId xmlns:a16="http://schemas.microsoft.com/office/drawing/2014/main" id="{8E5B4F85-F29A-4B14-A779-7D99CAE3D54C}"/>
              </a:ext>
            </a:extLst>
          </p:cNvPr>
          <p:cNvSpPr>
            <a:spLocks xmlns:a="http://schemas.openxmlformats.org/drawingml/2006/main" noGrp="1"/>
          </p:cNvSpPr>
          <p:nvPr/>
        </p:nvSpPr>
        <p:spPr>
          <a:xfrm xmlns:a="http://schemas.openxmlformats.org/drawingml/2006/main">
            <a:off x="8667750" y="4067175"/>
            <a:ext cx="25146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Trees retain static splits and one queue-length split.</a:t>
            </a:r>
          </a:p>
        </p:txBody>
      </p:sp>
      <p:sp>
        <p:nvSpPr>
          <p:cNvPr id="43" name="">
            <a:extLst xmlns:a="http://schemas.openxmlformats.org/drawingml/2006/main">
              <a:ext uri="{FF2B5EF4-FFF2-40B4-BE49-F238E27FC236}">
                <a16:creationId xmlns:a16="http://schemas.microsoft.com/office/drawing/2014/main" id="{9F06A5B8-7500-4033-B17D-938C46E88FBC}"/>
              </a:ext>
            </a:extLst>
          </p:cNvPr>
          <p:cNvSpPr>
            <a:spLocks xmlns:a="http://schemas.openxmlformats.org/drawingml/2006/main" noGrp="1"/>
          </p:cNvSpPr>
          <p:nvPr/>
        </p:nvSpPr>
        <p:spPr>
          <a:xfrm xmlns:a="http://schemas.openxmlformats.org/drawingml/2006/main">
            <a:off x="7867650" y="4667250"/>
            <a:ext cx="3543300" cy="1095375"/>
          </a:xfrm>
          <a:prstGeom xmlns:a="http://schemas.openxmlformats.org/drawingml/2006/main" prst="roundRect">
            <a:avLst>
              <a:gd name="adj" fmla="val 10435"/>
            </a:avLst>
          </a:prstGeom>
          <a:solidFill xmlns:a="http://schemas.openxmlformats.org/drawingml/2006/main">
            <a:srgbClr val="F8FAFC"/>
          </a:solidFill>
          <a:ln xmlns:a="http://schemas.openxmlformats.org/drawingml/2006/main" w="9525">
            <a:solidFill>
              <a:srgbClr val="D0D5DD"/>
            </a:solidFill>
            <a:prstDash val="solid"/>
          </a:ln>
        </p:spPr>
      </p:sp>
      <p:sp>
        <p:nvSpPr>
          <p:cNvPr id="44" name="">
            <a:extLst xmlns:a="http://schemas.openxmlformats.org/drawingml/2006/main">
              <a:ext uri="{FF2B5EF4-FFF2-40B4-BE49-F238E27FC236}">
                <a16:creationId xmlns:a16="http://schemas.microsoft.com/office/drawing/2014/main" id="{F3F8A2B1-4CBD-4E53-ABBB-BC440D2FD84A}"/>
              </a:ext>
            </a:extLst>
          </p:cNvPr>
          <p:cNvSpPr>
            <a:spLocks xmlns:a="http://schemas.openxmlformats.org/drawingml/2006/main" noGrp="1"/>
          </p:cNvSpPr>
          <p:nvPr/>
        </p:nvSpPr>
        <p:spPr>
          <a:xfrm xmlns:a="http://schemas.openxmlformats.org/drawingml/2006/main">
            <a:off x="8096250" y="4895850"/>
            <a:ext cx="400050" cy="40005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45" name="">
            <a:extLst xmlns:a="http://schemas.openxmlformats.org/drawingml/2006/main">
              <a:ext uri="{FF2B5EF4-FFF2-40B4-BE49-F238E27FC236}">
                <a16:creationId xmlns:a16="http://schemas.microsoft.com/office/drawing/2014/main" id="{94A5FF69-54D3-4624-8A75-6C93F1BB31BB}"/>
              </a:ext>
            </a:extLst>
          </p:cNvPr>
          <p:cNvSpPr>
            <a:spLocks xmlns:a="http://schemas.openxmlformats.org/drawingml/2006/main" noGrp="1"/>
          </p:cNvSpPr>
          <p:nvPr/>
        </p:nvSpPr>
        <p:spPr>
          <a:xfrm xmlns:a="http://schemas.openxmlformats.org/drawingml/2006/main">
            <a:off x="8096250" y="49434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3</a:t>
            </a:r>
          </a:p>
        </p:txBody>
      </p:sp>
      <p:sp>
        <p:nvSpPr>
          <p:cNvPr id="46" name="">
            <a:extLst xmlns:a="http://schemas.openxmlformats.org/drawingml/2006/main">
              <a:ext uri="{FF2B5EF4-FFF2-40B4-BE49-F238E27FC236}">
                <a16:creationId xmlns:a16="http://schemas.microsoft.com/office/drawing/2014/main" id="{E97CA0F4-79B1-40A8-9EA2-A8E37ADF1280}"/>
              </a:ext>
            </a:extLst>
          </p:cNvPr>
          <p:cNvSpPr>
            <a:spLocks xmlns:a="http://schemas.openxmlformats.org/drawingml/2006/main" noGrp="1"/>
          </p:cNvSpPr>
          <p:nvPr/>
        </p:nvSpPr>
        <p:spPr>
          <a:xfrm xmlns:a="http://schemas.openxmlformats.org/drawingml/2006/main">
            <a:off x="8667750" y="4838700"/>
            <a:ext cx="2514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0B1220"/>
                </a:solidFill>
                <a:latin typeface="Aptos"/>
                <a:ea typeface="Aptos"/>
                <a:cs typeface="Aptos"/>
              </a:defRPr>
            </a:pPr>
            <a:r>
              <a:rPr sz="1725" b="1" i="0">
                <a:solidFill>
                  <a:srgbClr val="0B1220"/>
                </a:solidFill>
                <a:latin typeface="Aptos"/>
                <a:ea typeface="Aptos"/>
                <a:cs typeface="Aptos"/>
              </a:rPr>
              <a:t>Historical reference</a:t>
            </a:r>
          </a:p>
        </p:txBody>
      </p:sp>
      <p:sp>
        <p:nvSpPr>
          <p:cNvPr id="47" name="">
            <a:extLst xmlns:a="http://schemas.openxmlformats.org/drawingml/2006/main">
              <a:ext uri="{FF2B5EF4-FFF2-40B4-BE49-F238E27FC236}">
                <a16:creationId xmlns:a16="http://schemas.microsoft.com/office/drawing/2014/main" id="{78C39B85-25D9-4045-91A3-AA307EFE9102}"/>
              </a:ext>
            </a:extLst>
          </p:cNvPr>
          <p:cNvSpPr>
            <a:spLocks xmlns:a="http://schemas.openxmlformats.org/drawingml/2006/main" noGrp="1"/>
          </p:cNvSpPr>
          <p:nvPr/>
        </p:nvSpPr>
        <p:spPr>
          <a:xfrm xmlns:a="http://schemas.openxmlformats.org/drawingml/2006/main">
            <a:off x="8667750" y="5219700"/>
            <a:ext cx="25146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The pre-specified rule selects parsimonious visit-only.</a:t>
            </a:r>
          </a:p>
        </p:txBody>
      </p:sp>
    </p:spTree>
    <p:extLst>
      <p:ext uri="{BB962C8B-B14F-4D97-AF65-F5344CB8AC3E}">
        <p14:creationId xmlns:p14="http://schemas.microsoft.com/office/powerpoint/2010/main" val="12713409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9B519B3-3F89-4227-A952-006E93146D05}"/>
              </a:ext>
            </a:extLst>
          </p:cNvPr>
          <p:cNvSpPr>
            <a:spLocks xmlns:a="http://schemas.openxmlformats.org/drawingml/2006/main" noGrp="1"/>
          </p:cNvSpPr>
          <p:nvPr/>
        </p:nvSpPr>
        <p:spPr>
          <a:xfrm xmlns:a="http://schemas.openxmlformats.org/drawingml/2006/main">
            <a:off x="457200" y="32385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0B1220"/>
                </a:solidFill>
                <a:latin typeface="Aptos"/>
                <a:ea typeface="Aptos"/>
                <a:cs typeface="Aptos"/>
              </a:defRPr>
            </a:pPr>
            <a:r>
              <a:rPr sz="3450" b="1" i="0">
                <a:solidFill>
                  <a:srgbClr val="0B1220"/>
                </a:solidFill>
                <a:latin typeface="Aptos"/>
                <a:ea typeface="Aptos"/>
                <a:cs typeface="Aptos"/>
              </a:rPr>
              <a:t>Historical fidelity is local, not end-to-end</a:t>
            </a:r>
          </a:p>
        </p:txBody>
      </p:sp>
      <p:sp>
        <p:nvSpPr>
          <p:cNvPr id="2" name="">
            <a:extLst xmlns:a="http://schemas.openxmlformats.org/drawingml/2006/main">
              <a:ext uri="{FF2B5EF4-FFF2-40B4-BE49-F238E27FC236}">
                <a16:creationId xmlns:a16="http://schemas.microsoft.com/office/drawing/2014/main" id="{AE14A997-C1EC-421E-9AF5-D22C7E13B292}"/>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 name="">
            <a:extLst xmlns:a="http://schemas.openxmlformats.org/drawingml/2006/main">
              <a:ext uri="{FF2B5EF4-FFF2-40B4-BE49-F238E27FC236}">
                <a16:creationId xmlns:a16="http://schemas.microsoft.com/office/drawing/2014/main" id="{560A2CA7-48E1-4FC2-930C-812B239D85F7}"/>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4" name="">
            <a:extLst xmlns:a="http://schemas.openxmlformats.org/drawingml/2006/main">
              <a:ext uri="{FF2B5EF4-FFF2-40B4-BE49-F238E27FC236}">
                <a16:creationId xmlns:a16="http://schemas.microsoft.com/office/drawing/2014/main" id="{92958D0C-10C4-4659-83CE-BBB4234869C6}"/>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3D898DB9-D2B4-4ADA-8C64-816AC4317C2A}"/>
              </a:ext>
            </a:extLst>
          </p:cNvPr>
          <p:cNvSpPr>
            <a:spLocks xmlns:a="http://schemas.openxmlformats.org/drawingml/2006/main" noGrp="1"/>
          </p:cNvSpPr>
          <p:nvPr/>
        </p:nvSpPr>
        <p:spPr>
          <a:xfrm xmlns:a="http://schemas.openxmlformats.org/drawingml/2006/main">
            <a:off x="457200" y="1123950"/>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0" i="0">
                <a:solidFill>
                  <a:srgbClr val="5F6B7A"/>
                </a:solidFill>
                <a:latin typeface="Aptos"/>
                <a:ea typeface="Aptos"/>
                <a:cs typeface="Aptos"/>
              </a:defRPr>
            </a:pPr>
            <a:r>
              <a:rPr sz="1875" b="0" i="0">
                <a:solidFill>
                  <a:srgbClr val="5F6B7A"/>
                </a:solidFill>
                <a:latin typeface="Aptos"/>
                <a:ea typeface="Aptos"/>
                <a:cs typeface="Aptos"/>
              </a:rPr>
              <a:t>The rediscovered visit-only reference gives three different fidelity answers on the untouched test.</a:t>
            </a:r>
          </a:p>
        </p:txBody>
      </p:sp>
      <p:sp>
        <p:nvSpPr>
          <p:cNvPr id="6" name="">
            <a:extLst xmlns:a="http://schemas.openxmlformats.org/drawingml/2006/main">
              <a:ext uri="{FF2B5EF4-FFF2-40B4-BE49-F238E27FC236}">
                <a16:creationId xmlns:a16="http://schemas.microsoft.com/office/drawing/2014/main" id="{AA36728F-A108-4A6F-823A-454151425254}"/>
              </a:ext>
            </a:extLst>
          </p:cNvPr>
          <p:cNvSpPr>
            <a:spLocks xmlns:a="http://schemas.openxmlformats.org/drawingml/2006/main" noGrp="1"/>
          </p:cNvSpPr>
          <p:nvPr/>
        </p:nvSpPr>
        <p:spPr>
          <a:xfrm xmlns:a="http://schemas.openxmlformats.org/drawingml/2006/main">
            <a:off x="523875" y="1866900"/>
            <a:ext cx="3486150" cy="2781300"/>
          </a:xfrm>
          <a:prstGeom xmlns:a="http://schemas.openxmlformats.org/drawingml/2006/main" prst="roundRect">
            <a:avLst>
              <a:gd name="adj" fmla="val 4110"/>
            </a:avLst>
          </a:prstGeom>
          <a:solidFill xmlns:a="http://schemas.openxmlformats.org/drawingml/2006/main">
            <a:srgbClr val="EAF8F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D0B2BCE-1134-4087-8BB7-7036534189C7}"/>
              </a:ext>
            </a:extLst>
          </p:cNvPr>
          <p:cNvSpPr>
            <a:spLocks xmlns:a="http://schemas.openxmlformats.org/drawingml/2006/main" noGrp="1"/>
          </p:cNvSpPr>
          <p:nvPr/>
        </p:nvSpPr>
        <p:spPr>
          <a:xfrm xmlns:a="http://schemas.openxmlformats.org/drawingml/2006/main">
            <a:off x="523875" y="1866900"/>
            <a:ext cx="66675" cy="2781300"/>
          </a:xfrm>
          <a:prstGeom xmlns:a="http://schemas.openxmlformats.org/drawingml/2006/main" prst="rect">
            <a:avLst/>
          </a:prstGeom>
          <a:solidFill xmlns:a="http://schemas.openxmlformats.org/drawingml/2006/main">
            <a:srgbClr val="16876A"/>
          </a:solidFill>
          <a:ln xmlns:a="http://schemas.openxmlformats.org/drawingml/2006/main" w="0">
            <a:solidFill>
              <a:srgbClr val="16876A"/>
            </a:solidFill>
            <a:prstDash val="solid"/>
          </a:ln>
        </p:spPr>
      </p:sp>
      <p:sp>
        <p:nvSpPr>
          <p:cNvPr id="8" name="">
            <a:extLst xmlns:a="http://schemas.openxmlformats.org/drawingml/2006/main">
              <a:ext uri="{FF2B5EF4-FFF2-40B4-BE49-F238E27FC236}">
                <a16:creationId xmlns:a16="http://schemas.microsoft.com/office/drawing/2014/main" id="{CBC17C9C-96AD-450E-A6AA-BAA32DC96D7B}"/>
              </a:ext>
            </a:extLst>
          </p:cNvPr>
          <p:cNvSpPr>
            <a:spLocks xmlns:a="http://schemas.openxmlformats.org/drawingml/2006/main" noGrp="1"/>
          </p:cNvSpPr>
          <p:nvPr/>
        </p:nvSpPr>
        <p:spPr>
          <a:xfrm xmlns:a="http://schemas.openxmlformats.org/drawingml/2006/main">
            <a:off x="771525" y="2057400"/>
            <a:ext cx="2990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16876A"/>
                </a:solidFill>
                <a:latin typeface="Aptos"/>
                <a:ea typeface="Aptos"/>
                <a:cs typeface="Aptos"/>
              </a:defRPr>
            </a:pPr>
            <a:r>
              <a:rPr sz="3450" b="1" i="0">
                <a:solidFill>
                  <a:srgbClr val="16876A"/>
                </a:solidFill>
                <a:latin typeface="Aptos"/>
                <a:ea typeface="Aptos"/>
                <a:cs typeface="Aptos"/>
              </a:rPr>
              <a:t>0.0724 min</a:t>
            </a:r>
          </a:p>
        </p:txBody>
      </p:sp>
      <p:sp>
        <p:nvSpPr>
          <p:cNvPr id="9" name="">
            <a:extLst xmlns:a="http://schemas.openxmlformats.org/drawingml/2006/main">
              <a:ext uri="{FF2B5EF4-FFF2-40B4-BE49-F238E27FC236}">
                <a16:creationId xmlns:a16="http://schemas.microsoft.com/office/drawing/2014/main" id="{5D48EDF9-A43E-42D0-A870-BF5A3C8D934D}"/>
              </a:ext>
            </a:extLst>
          </p:cNvPr>
          <p:cNvSpPr>
            <a:spLocks xmlns:a="http://schemas.openxmlformats.org/drawingml/2006/main" noGrp="1"/>
          </p:cNvSpPr>
          <p:nvPr/>
        </p:nvSpPr>
        <p:spPr>
          <a:xfrm xmlns:a="http://schemas.openxmlformats.org/drawingml/2006/main">
            <a:off x="771525" y="266700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Inter-arrival EMD</a:t>
            </a:r>
          </a:p>
        </p:txBody>
      </p:sp>
      <p:sp>
        <p:nvSpPr>
          <p:cNvPr id="10" name="">
            <a:extLst xmlns:a="http://schemas.openxmlformats.org/drawingml/2006/main">
              <a:ext uri="{FF2B5EF4-FFF2-40B4-BE49-F238E27FC236}">
                <a16:creationId xmlns:a16="http://schemas.microsoft.com/office/drawing/2014/main" id="{5BF3A276-3B94-45A0-B34B-5C9A1310916A}"/>
              </a:ext>
            </a:extLst>
          </p:cNvPr>
          <p:cNvSpPr>
            <a:spLocks xmlns:a="http://schemas.openxmlformats.org/drawingml/2006/main" noGrp="1"/>
          </p:cNvSpPr>
          <p:nvPr/>
        </p:nvSpPr>
        <p:spPr>
          <a:xfrm xmlns:a="http://schemas.openxmlformats.org/drawingml/2006/main">
            <a:off x="771525" y="413385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Arrival spacing is reproduced closely.</a:t>
            </a:r>
          </a:p>
        </p:txBody>
      </p:sp>
      <p:sp>
        <p:nvSpPr>
          <p:cNvPr id="11" name="">
            <a:extLst xmlns:a="http://schemas.openxmlformats.org/drawingml/2006/main">
              <a:ext uri="{FF2B5EF4-FFF2-40B4-BE49-F238E27FC236}">
                <a16:creationId xmlns:a16="http://schemas.microsoft.com/office/drawing/2014/main" id="{951B7BBA-FABE-4B62-B6F5-05AF42D288B2}"/>
              </a:ext>
            </a:extLst>
          </p:cNvPr>
          <p:cNvSpPr>
            <a:spLocks xmlns:a="http://schemas.openxmlformats.org/drawingml/2006/main" noGrp="1"/>
          </p:cNvSpPr>
          <p:nvPr/>
        </p:nvSpPr>
        <p:spPr>
          <a:xfrm xmlns:a="http://schemas.openxmlformats.org/drawingml/2006/main">
            <a:off x="4352925" y="1866900"/>
            <a:ext cx="3486150" cy="2781300"/>
          </a:xfrm>
          <a:prstGeom xmlns:a="http://schemas.openxmlformats.org/drawingml/2006/main" prst="roundRect">
            <a:avLst>
              <a:gd name="adj" fmla="val 4110"/>
            </a:avLst>
          </a:prstGeom>
          <a:solidFill xmlns:a="http://schemas.openxmlformats.org/drawingml/2006/main">
            <a:srgbClr val="EAF3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0581377-7BC7-4FBB-8D9F-1B1C224BE99A}"/>
              </a:ext>
            </a:extLst>
          </p:cNvPr>
          <p:cNvSpPr>
            <a:spLocks xmlns:a="http://schemas.openxmlformats.org/drawingml/2006/main" noGrp="1"/>
          </p:cNvSpPr>
          <p:nvPr/>
        </p:nvSpPr>
        <p:spPr>
          <a:xfrm xmlns:a="http://schemas.openxmlformats.org/drawingml/2006/main">
            <a:off x="4352925" y="1866900"/>
            <a:ext cx="66675" cy="278130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13" name="">
            <a:extLst xmlns:a="http://schemas.openxmlformats.org/drawingml/2006/main">
              <a:ext uri="{FF2B5EF4-FFF2-40B4-BE49-F238E27FC236}">
                <a16:creationId xmlns:a16="http://schemas.microsoft.com/office/drawing/2014/main" id="{9B3328E7-3050-4DDA-BBC2-361AD0193698}"/>
              </a:ext>
            </a:extLst>
          </p:cNvPr>
          <p:cNvSpPr>
            <a:spLocks xmlns:a="http://schemas.openxmlformats.org/drawingml/2006/main" noGrp="1"/>
          </p:cNvSpPr>
          <p:nvPr/>
        </p:nvSpPr>
        <p:spPr>
          <a:xfrm xmlns:a="http://schemas.openxmlformats.org/drawingml/2006/main">
            <a:off x="4600575" y="2057400"/>
            <a:ext cx="2990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2F80ED"/>
                </a:solidFill>
                <a:latin typeface="Aptos"/>
                <a:ea typeface="Aptos"/>
                <a:cs typeface="Aptos"/>
              </a:defRPr>
            </a:pPr>
            <a:r>
              <a:rPr sz="3450" b="1" i="0">
                <a:solidFill>
                  <a:srgbClr val="2F80ED"/>
                </a:solidFill>
                <a:latin typeface="Aptos"/>
                <a:ea typeface="Aptos"/>
                <a:cs typeface="Aptos"/>
              </a:rPr>
              <a:t>2.341 min</a:t>
            </a:r>
          </a:p>
        </p:txBody>
      </p:sp>
      <p:sp>
        <p:nvSpPr>
          <p:cNvPr id="14" name="">
            <a:extLst xmlns:a="http://schemas.openxmlformats.org/drawingml/2006/main">
              <a:ext uri="{FF2B5EF4-FFF2-40B4-BE49-F238E27FC236}">
                <a16:creationId xmlns:a16="http://schemas.microsoft.com/office/drawing/2014/main" id="{EF69D9B5-2D11-4147-9A86-FCFFBA8F142E}"/>
              </a:ext>
            </a:extLst>
          </p:cNvPr>
          <p:cNvSpPr>
            <a:spLocks xmlns:a="http://schemas.openxmlformats.org/drawingml/2006/main" noGrp="1"/>
          </p:cNvSpPr>
          <p:nvPr/>
        </p:nvSpPr>
        <p:spPr>
          <a:xfrm xmlns:a="http://schemas.openxmlformats.org/drawingml/2006/main">
            <a:off x="4600575" y="266700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Weighted yard-service EMD</a:t>
            </a:r>
          </a:p>
        </p:txBody>
      </p:sp>
      <p:sp>
        <p:nvSpPr>
          <p:cNvPr id="15" name="">
            <a:extLst xmlns:a="http://schemas.openxmlformats.org/drawingml/2006/main">
              <a:ext uri="{FF2B5EF4-FFF2-40B4-BE49-F238E27FC236}">
                <a16:creationId xmlns:a16="http://schemas.microsoft.com/office/drawing/2014/main" id="{EF10C627-E3F8-4C96-9A8F-103F3BB746B3}"/>
              </a:ext>
            </a:extLst>
          </p:cNvPr>
          <p:cNvSpPr>
            <a:spLocks xmlns:a="http://schemas.openxmlformats.org/drawingml/2006/main" noGrp="1"/>
          </p:cNvSpPr>
          <p:nvPr/>
        </p:nvSpPr>
        <p:spPr>
          <a:xfrm xmlns:a="http://schemas.openxmlformats.org/drawingml/2006/main">
            <a:off x="4600575" y="413385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Common yard activities are reproduced moderately.</a:t>
            </a:r>
          </a:p>
        </p:txBody>
      </p:sp>
      <p:sp>
        <p:nvSpPr>
          <p:cNvPr id="16" name="">
            <a:extLst xmlns:a="http://schemas.openxmlformats.org/drawingml/2006/main">
              <a:ext uri="{FF2B5EF4-FFF2-40B4-BE49-F238E27FC236}">
                <a16:creationId xmlns:a16="http://schemas.microsoft.com/office/drawing/2014/main" id="{49BE90C7-8D99-4E4E-B533-8072A572D069}"/>
              </a:ext>
            </a:extLst>
          </p:cNvPr>
          <p:cNvSpPr>
            <a:spLocks xmlns:a="http://schemas.openxmlformats.org/drawingml/2006/main" noGrp="1"/>
          </p:cNvSpPr>
          <p:nvPr/>
        </p:nvSpPr>
        <p:spPr>
          <a:xfrm xmlns:a="http://schemas.openxmlformats.org/drawingml/2006/main">
            <a:off x="8181975" y="1866900"/>
            <a:ext cx="3486150" cy="2781300"/>
          </a:xfrm>
          <a:prstGeom xmlns:a="http://schemas.openxmlformats.org/drawingml/2006/main" prst="roundRect">
            <a:avLst>
              <a:gd name="adj" fmla="val 4110"/>
            </a:avLst>
          </a:prstGeom>
          <a:solidFill xmlns:a="http://schemas.openxmlformats.org/drawingml/2006/main">
            <a:srgbClr val="FDEC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949E1C4-3E27-4B22-8DBF-F5AFCB60C18D}"/>
              </a:ext>
            </a:extLst>
          </p:cNvPr>
          <p:cNvSpPr>
            <a:spLocks xmlns:a="http://schemas.openxmlformats.org/drawingml/2006/main" noGrp="1"/>
          </p:cNvSpPr>
          <p:nvPr/>
        </p:nvSpPr>
        <p:spPr>
          <a:xfrm xmlns:a="http://schemas.openxmlformats.org/drawingml/2006/main">
            <a:off x="8181975" y="1866900"/>
            <a:ext cx="66675" cy="2781300"/>
          </a:xfrm>
          <a:prstGeom xmlns:a="http://schemas.openxmlformats.org/drawingml/2006/main" prst="rect">
            <a:avLst/>
          </a:prstGeom>
          <a:solidFill xmlns:a="http://schemas.openxmlformats.org/drawingml/2006/main">
            <a:srgbClr val="C8102E"/>
          </a:solidFill>
          <a:ln xmlns:a="http://schemas.openxmlformats.org/drawingml/2006/main" w="0">
            <a:solidFill>
              <a:srgbClr val="C8102E"/>
            </a:solidFill>
            <a:prstDash val="solid"/>
          </a:ln>
        </p:spPr>
      </p:sp>
      <p:sp>
        <p:nvSpPr>
          <p:cNvPr id="18" name="">
            <a:extLst xmlns:a="http://schemas.openxmlformats.org/drawingml/2006/main">
              <a:ext uri="{FF2B5EF4-FFF2-40B4-BE49-F238E27FC236}">
                <a16:creationId xmlns:a16="http://schemas.microsoft.com/office/drawing/2014/main" id="{BF61D36F-1344-451A-87C5-7E2DF8961296}"/>
              </a:ext>
            </a:extLst>
          </p:cNvPr>
          <p:cNvSpPr>
            <a:spLocks xmlns:a="http://schemas.openxmlformats.org/drawingml/2006/main" noGrp="1"/>
          </p:cNvSpPr>
          <p:nvPr/>
        </p:nvSpPr>
        <p:spPr>
          <a:xfrm xmlns:a="http://schemas.openxmlformats.org/drawingml/2006/main">
            <a:off x="8429625" y="2057400"/>
            <a:ext cx="2990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C8102E"/>
                </a:solidFill>
                <a:latin typeface="Aptos"/>
                <a:ea typeface="Aptos"/>
                <a:cs typeface="Aptos"/>
              </a:defRPr>
            </a:pPr>
            <a:r>
              <a:rPr sz="3450" b="1" i="0">
                <a:solidFill>
                  <a:srgbClr val="C8102E"/>
                </a:solidFill>
                <a:latin typeface="Aptos"/>
                <a:ea typeface="Aptos"/>
                <a:cs typeface="Aptos"/>
              </a:rPr>
              <a:t>6.159 min</a:t>
            </a:r>
          </a:p>
        </p:txBody>
      </p:sp>
      <p:sp>
        <p:nvSpPr>
          <p:cNvPr id="19" name="">
            <a:extLst xmlns:a="http://schemas.openxmlformats.org/drawingml/2006/main">
              <a:ext uri="{FF2B5EF4-FFF2-40B4-BE49-F238E27FC236}">
                <a16:creationId xmlns:a16="http://schemas.microsoft.com/office/drawing/2014/main" id="{2B093A5A-3E0E-43D8-8CBA-3B7236D13D51}"/>
              </a:ext>
            </a:extLst>
          </p:cNvPr>
          <p:cNvSpPr>
            <a:spLocks xmlns:a="http://schemas.openxmlformats.org/drawingml/2006/main" noGrp="1"/>
          </p:cNvSpPr>
          <p:nvPr/>
        </p:nvSpPr>
        <p:spPr>
          <a:xfrm xmlns:a="http://schemas.openxmlformats.org/drawingml/2006/main">
            <a:off x="8429625" y="2667000"/>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Turnaround EMD</a:t>
            </a:r>
          </a:p>
        </p:txBody>
      </p:sp>
      <p:sp>
        <p:nvSpPr>
          <p:cNvPr id="20" name="">
            <a:extLst xmlns:a="http://schemas.openxmlformats.org/drawingml/2006/main">
              <a:ext uri="{FF2B5EF4-FFF2-40B4-BE49-F238E27FC236}">
                <a16:creationId xmlns:a16="http://schemas.microsoft.com/office/drawing/2014/main" id="{E70A7D10-675F-4D82-A86E-5857844D7515}"/>
              </a:ext>
            </a:extLst>
          </p:cNvPr>
          <p:cNvSpPr>
            <a:spLocks xmlns:a="http://schemas.openxmlformats.org/drawingml/2006/main" noGrp="1"/>
          </p:cNvSpPr>
          <p:nvPr/>
        </p:nvSpPr>
        <p:spPr>
          <a:xfrm xmlns:a="http://schemas.openxmlformats.org/drawingml/2006/main">
            <a:off x="8429625" y="413385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The complete visit remains systematically biased.</a:t>
            </a:r>
          </a:p>
        </p:txBody>
      </p:sp>
      <p:sp>
        <p:nvSpPr>
          <p:cNvPr id="21" name="">
            <a:extLst xmlns:a="http://schemas.openxmlformats.org/drawingml/2006/main">
              <a:ext uri="{FF2B5EF4-FFF2-40B4-BE49-F238E27FC236}">
                <a16:creationId xmlns:a16="http://schemas.microsoft.com/office/drawing/2014/main" id="{9EE977F6-5D00-4FD4-8ECA-BA0380F5FA96}"/>
              </a:ext>
            </a:extLst>
          </p:cNvPr>
          <p:cNvSpPr>
            <a:spLocks xmlns:a="http://schemas.openxmlformats.org/drawingml/2006/main" noGrp="1"/>
          </p:cNvSpPr>
          <p:nvPr/>
        </p:nvSpPr>
        <p:spPr>
          <a:xfrm xmlns:a="http://schemas.openxmlformats.org/drawingml/2006/main">
            <a:off x="1733550" y="5048250"/>
            <a:ext cx="8724900" cy="819150"/>
          </a:xfrm>
          <a:prstGeom xmlns:a="http://schemas.openxmlformats.org/drawingml/2006/main" prst="roundRect">
            <a:avLst>
              <a:gd name="adj" fmla="val 13953"/>
            </a:avLst>
          </a:prstGeom>
          <a:solidFill xmlns:a="http://schemas.openxmlformats.org/drawingml/2006/main">
            <a:srgbClr val="F8FAF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4A4794E-6F18-40DF-BFAD-0CB3DBD9E5CB}"/>
              </a:ext>
            </a:extLst>
          </p:cNvPr>
          <p:cNvSpPr>
            <a:spLocks xmlns:a="http://schemas.openxmlformats.org/drawingml/2006/main" noGrp="1"/>
          </p:cNvSpPr>
          <p:nvPr/>
        </p:nvSpPr>
        <p:spPr>
          <a:xfrm xmlns:a="http://schemas.openxmlformats.org/drawingml/2006/main">
            <a:off x="2000250" y="522922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C8102E"/>
                </a:solidFill>
                <a:latin typeface="Aptos"/>
                <a:ea typeface="Aptos"/>
                <a:cs typeface="Aptos"/>
              </a:defRPr>
            </a:pPr>
            <a:r>
              <a:rPr sz="1350" b="1" i="0">
                <a:solidFill>
                  <a:srgbClr val="C8102E"/>
                </a:solidFill>
                <a:latin typeface="Aptos"/>
                <a:ea typeface="Aptos"/>
                <a:cs typeface="Aptos"/>
              </a:rPr>
              <a:t>Interpretation</a:t>
            </a:r>
          </a:p>
        </p:txBody>
      </p:sp>
      <p:sp>
        <p:nvSpPr>
          <p:cNvPr id="23" name="">
            <a:extLst xmlns:a="http://schemas.openxmlformats.org/drawingml/2006/main">
              <a:ext uri="{FF2B5EF4-FFF2-40B4-BE49-F238E27FC236}">
                <a16:creationId xmlns:a16="http://schemas.microsoft.com/office/drawing/2014/main" id="{F6C069EB-7684-4E1E-B902-18216A514385}"/>
              </a:ext>
            </a:extLst>
          </p:cNvPr>
          <p:cNvSpPr>
            <a:spLocks xmlns:a="http://schemas.openxmlformats.org/drawingml/2006/main" noGrp="1"/>
          </p:cNvSpPr>
          <p:nvPr/>
        </p:nvSpPr>
        <p:spPr>
          <a:xfrm xmlns:a="http://schemas.openxmlformats.org/drawingml/2006/main">
            <a:off x="3486150" y="5181600"/>
            <a:ext cx="662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0B1220"/>
                </a:solidFill>
                <a:latin typeface="Aptos"/>
                <a:ea typeface="Aptos"/>
                <a:cs typeface="Aptos"/>
              </a:defRPr>
            </a:pPr>
            <a:r>
              <a:rPr sz="2025" b="1" i="0">
                <a:solidFill>
                  <a:srgbClr val="0B1220"/>
                </a:solidFill>
                <a:latin typeface="Aptos"/>
                <a:ea typeface="Aptos"/>
                <a:cs typeface="Aptos"/>
              </a:rPr>
              <a:t>Close arrivals and service components do not guarantee accurate full turnaround.</a:t>
            </a:r>
          </a:p>
        </p:txBody>
      </p:sp>
    </p:spTree>
    <p:extLst>
      <p:ext uri="{BB962C8B-B14F-4D97-AF65-F5344CB8AC3E}">
        <p14:creationId xmlns:p14="http://schemas.microsoft.com/office/powerpoint/2010/main" val="9575515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AE95C0E-9566-4A64-A102-752B11BF3F6E}"/>
              </a:ext>
            </a:extLst>
          </p:cNvPr>
          <p:cNvSpPr>
            <a:spLocks xmlns:a="http://schemas.openxmlformats.org/drawingml/2006/main" noGrp="1"/>
          </p:cNvSpPr>
          <p:nvPr/>
        </p:nvSpPr>
        <p:spPr>
          <a:xfrm xmlns:a="http://schemas.openxmlformats.org/drawingml/2006/main">
            <a:off x="457200" y="32385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0B1220"/>
                </a:solidFill>
                <a:latin typeface="Aptos"/>
                <a:ea typeface="Aptos"/>
                <a:cs typeface="Aptos"/>
              </a:defRPr>
            </a:pPr>
            <a:r>
              <a:rPr sz="3450" b="1" i="0">
                <a:solidFill>
                  <a:srgbClr val="0B1220"/>
                </a:solidFill>
                <a:latin typeface="Aptos"/>
                <a:ea typeface="Aptos"/>
                <a:cs typeface="Aptos"/>
              </a:rPr>
              <a:t>The historical model still underestimates complete visits</a:t>
            </a:r>
          </a:p>
        </p:txBody>
      </p:sp>
      <p:sp>
        <p:nvSpPr>
          <p:cNvPr id="2" name="">
            <a:extLst xmlns:a="http://schemas.openxmlformats.org/drawingml/2006/main">
              <a:ext uri="{FF2B5EF4-FFF2-40B4-BE49-F238E27FC236}">
                <a16:creationId xmlns:a16="http://schemas.microsoft.com/office/drawing/2014/main" id="{65135B09-4E8B-46C3-8AE9-37A7ABD0294E}"/>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 name="">
            <a:extLst xmlns:a="http://schemas.openxmlformats.org/drawingml/2006/main">
              <a:ext uri="{FF2B5EF4-FFF2-40B4-BE49-F238E27FC236}">
                <a16:creationId xmlns:a16="http://schemas.microsoft.com/office/drawing/2014/main" id="{1C54DDEC-2E08-4624-AB29-68BF13DA9914}"/>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4" name="">
            <a:extLst xmlns:a="http://schemas.openxmlformats.org/drawingml/2006/main">
              <a:ext uri="{FF2B5EF4-FFF2-40B4-BE49-F238E27FC236}">
                <a16:creationId xmlns:a16="http://schemas.microsoft.com/office/drawing/2014/main" id="{CEDD260E-349F-4BDC-907E-83B68F461616}"/>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A775B59B-6258-423E-AE8B-FC7783B1691F}"/>
              </a:ext>
            </a:extLst>
          </p:cNvPr>
          <p:cNvSpPr>
            <a:spLocks xmlns:a="http://schemas.openxmlformats.org/drawingml/2006/main" noGrp="1"/>
          </p:cNvSpPr>
          <p:nvPr/>
        </p:nvSpPr>
        <p:spPr>
          <a:xfrm xmlns:a="http://schemas.openxmlformats.org/drawingml/2006/main">
            <a:off x="457200" y="1219200"/>
            <a:ext cx="695325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0">
            <a:noFill/>
            <a:prstDash val="solid"/>
          </a:ln>
        </p:spPr>
      </p:sp>
      <p:graphicFrame>
        <p:nvGraphicFramePr>
          <p:cNvPr id="25" name="Chart"/>
          <p:cNvGraphicFramePr/>
          <p:nvPr/>
        </p:nvGraphicFramePr>
        <p:xfrm>
          <a:off xmlns:a="http://schemas.openxmlformats.org/drawingml/2006/main" x="742950" y="1562100"/>
          <a:ext xmlns:a="http://schemas.openxmlformats.org/drawingml/2006/main" cx="6381750" cy="3905250"/>
        </p:xfrm>
        <a:graphic xmlns:a="http://schemas.openxmlformats.org/drawingml/2006/main">
          <a:graphicData uri="http://schemas.openxmlformats.org/drawingml/2006/chart">
            <c:chart xmlns:r="http://schemas.openxmlformats.org/officeDocument/2006/relationships" xmlns:c="http://schemas.openxmlformats.org/drawingml/2006/chart" r:id="Rde00bfbe53cc40a8"/>
          </a:graphicData>
        </a:graphic>
      </p:graphicFrame>
      <p:sp>
        <p:nvSpPr>
          <p:cNvPr id="7" name="">
            <a:extLst xmlns:a="http://schemas.openxmlformats.org/drawingml/2006/main">
              <a:ext uri="{FF2B5EF4-FFF2-40B4-BE49-F238E27FC236}">
                <a16:creationId xmlns:a16="http://schemas.microsoft.com/office/drawing/2014/main" id="{CD54705E-FB34-489F-828E-0DB4EC841F13}"/>
              </a:ext>
            </a:extLst>
          </p:cNvPr>
          <p:cNvSpPr>
            <a:spLocks xmlns:a="http://schemas.openxmlformats.org/drawingml/2006/main" noGrp="1"/>
          </p:cNvSpPr>
          <p:nvPr/>
        </p:nvSpPr>
        <p:spPr>
          <a:xfrm xmlns:a="http://schemas.openxmlformats.org/drawingml/2006/main">
            <a:off x="7810500" y="1276350"/>
            <a:ext cx="3848100" cy="1857375"/>
          </a:xfrm>
          <a:prstGeom xmlns:a="http://schemas.openxmlformats.org/drawingml/2006/main" prst="roundRect">
            <a:avLst>
              <a:gd name="adj" fmla="val 6154"/>
            </a:avLst>
          </a:prstGeom>
          <a:solidFill xmlns:a="http://schemas.openxmlformats.org/drawingml/2006/main">
            <a:srgbClr val="FDECE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A835683-9619-4BD8-AD20-00CB0F39113B}"/>
              </a:ext>
            </a:extLst>
          </p:cNvPr>
          <p:cNvSpPr>
            <a:spLocks xmlns:a="http://schemas.openxmlformats.org/drawingml/2006/main" noGrp="1"/>
          </p:cNvSpPr>
          <p:nvPr/>
        </p:nvSpPr>
        <p:spPr>
          <a:xfrm xmlns:a="http://schemas.openxmlformats.org/drawingml/2006/main">
            <a:off x="7810500" y="1276350"/>
            <a:ext cx="66675" cy="1857375"/>
          </a:xfrm>
          <a:prstGeom xmlns:a="http://schemas.openxmlformats.org/drawingml/2006/main" prst="rect">
            <a:avLst/>
          </a:prstGeom>
          <a:solidFill xmlns:a="http://schemas.openxmlformats.org/drawingml/2006/main">
            <a:srgbClr val="C8102E"/>
          </a:solidFill>
          <a:ln xmlns:a="http://schemas.openxmlformats.org/drawingml/2006/main" w="0">
            <a:solidFill>
              <a:srgbClr val="C8102E"/>
            </a:solidFill>
            <a:prstDash val="solid"/>
          </a:ln>
        </p:spPr>
      </p:sp>
      <p:sp>
        <p:nvSpPr>
          <p:cNvPr id="9" name="">
            <a:extLst xmlns:a="http://schemas.openxmlformats.org/drawingml/2006/main">
              <a:ext uri="{FF2B5EF4-FFF2-40B4-BE49-F238E27FC236}">
                <a16:creationId xmlns:a16="http://schemas.microsoft.com/office/drawing/2014/main" id="{AF9E302A-F2BF-4F39-9807-4FE753600953}"/>
              </a:ext>
            </a:extLst>
          </p:cNvPr>
          <p:cNvSpPr>
            <a:spLocks xmlns:a="http://schemas.openxmlformats.org/drawingml/2006/main" noGrp="1"/>
          </p:cNvSpPr>
          <p:nvPr/>
        </p:nvSpPr>
        <p:spPr>
          <a:xfrm xmlns:a="http://schemas.openxmlformats.org/drawingml/2006/main">
            <a:off x="8058150" y="1466850"/>
            <a:ext cx="335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C8102E"/>
                </a:solidFill>
                <a:latin typeface="Aptos"/>
                <a:ea typeface="Aptos"/>
                <a:cs typeface="Aptos"/>
              </a:defRPr>
            </a:pPr>
            <a:r>
              <a:rPr sz="3450" b="1" i="0">
                <a:solidFill>
                  <a:srgbClr val="C8102E"/>
                </a:solidFill>
                <a:latin typeface="Aptos"/>
                <a:ea typeface="Aptos"/>
                <a:cs typeface="Aptos"/>
              </a:rPr>
              <a:t>-5.930 min</a:t>
            </a:r>
          </a:p>
        </p:txBody>
      </p:sp>
      <p:sp>
        <p:nvSpPr>
          <p:cNvPr id="10" name="">
            <a:extLst xmlns:a="http://schemas.openxmlformats.org/drawingml/2006/main">
              <a:ext uri="{FF2B5EF4-FFF2-40B4-BE49-F238E27FC236}">
                <a16:creationId xmlns:a16="http://schemas.microsoft.com/office/drawing/2014/main" id="{7CCBB6FE-BB90-47D3-8002-8068AE70AAC1}"/>
              </a:ext>
            </a:extLst>
          </p:cNvPr>
          <p:cNvSpPr>
            <a:spLocks xmlns:a="http://schemas.openxmlformats.org/drawingml/2006/main" noGrp="1"/>
          </p:cNvSpPr>
          <p:nvPr/>
        </p:nvSpPr>
        <p:spPr>
          <a:xfrm xmlns:a="http://schemas.openxmlformats.org/drawingml/2006/main">
            <a:off x="8058150" y="2076450"/>
            <a:ext cx="335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mean turnaround difference</a:t>
            </a:r>
          </a:p>
        </p:txBody>
      </p:sp>
      <p:sp>
        <p:nvSpPr>
          <p:cNvPr id="11" name="">
            <a:extLst xmlns:a="http://schemas.openxmlformats.org/drawingml/2006/main">
              <a:ext uri="{FF2B5EF4-FFF2-40B4-BE49-F238E27FC236}">
                <a16:creationId xmlns:a16="http://schemas.microsoft.com/office/drawing/2014/main" id="{8D88693C-6393-4AF3-B7E9-6CFA78B8E267}"/>
              </a:ext>
            </a:extLst>
          </p:cNvPr>
          <p:cNvSpPr>
            <a:spLocks xmlns:a="http://schemas.openxmlformats.org/drawingml/2006/main" noGrp="1"/>
          </p:cNvSpPr>
          <p:nvPr/>
        </p:nvSpPr>
        <p:spPr>
          <a:xfrm xmlns:a="http://schemas.openxmlformats.org/drawingml/2006/main">
            <a:off x="8058150" y="2619375"/>
            <a:ext cx="335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-14.92% versus the final test</a:t>
            </a:r>
          </a:p>
        </p:txBody>
      </p:sp>
      <p:sp>
        <p:nvSpPr>
          <p:cNvPr id="12" name="">
            <a:extLst xmlns:a="http://schemas.openxmlformats.org/drawingml/2006/main">
              <a:ext uri="{FF2B5EF4-FFF2-40B4-BE49-F238E27FC236}">
                <a16:creationId xmlns:a16="http://schemas.microsoft.com/office/drawing/2014/main" id="{849701FB-F6A5-4165-B885-D51F45C16400}"/>
              </a:ext>
            </a:extLst>
          </p:cNvPr>
          <p:cNvSpPr>
            <a:spLocks xmlns:a="http://schemas.openxmlformats.org/drawingml/2006/main" noGrp="1"/>
          </p:cNvSpPr>
          <p:nvPr/>
        </p:nvSpPr>
        <p:spPr>
          <a:xfrm xmlns:a="http://schemas.openxmlformats.org/drawingml/2006/main">
            <a:off x="7810500" y="3371850"/>
            <a:ext cx="3848100" cy="1857375"/>
          </a:xfrm>
          <a:prstGeom xmlns:a="http://schemas.openxmlformats.org/drawingml/2006/main" prst="roundRect">
            <a:avLst>
              <a:gd name="adj" fmla="val 6154"/>
            </a:avLst>
          </a:prstGeom>
          <a:solidFill xmlns:a="http://schemas.openxmlformats.org/drawingml/2006/main">
            <a:srgbClr val="FDEC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53D21AB-2B92-4D73-9005-67C4A26D8EDB}"/>
              </a:ext>
            </a:extLst>
          </p:cNvPr>
          <p:cNvSpPr>
            <a:spLocks xmlns:a="http://schemas.openxmlformats.org/drawingml/2006/main" noGrp="1"/>
          </p:cNvSpPr>
          <p:nvPr/>
        </p:nvSpPr>
        <p:spPr>
          <a:xfrm xmlns:a="http://schemas.openxmlformats.org/drawingml/2006/main">
            <a:off x="7810500" y="3371850"/>
            <a:ext cx="66675" cy="1857375"/>
          </a:xfrm>
          <a:prstGeom xmlns:a="http://schemas.openxmlformats.org/drawingml/2006/main" prst="rect">
            <a:avLst/>
          </a:prstGeom>
          <a:solidFill xmlns:a="http://schemas.openxmlformats.org/drawingml/2006/main">
            <a:srgbClr val="C8102E"/>
          </a:solidFill>
          <a:ln xmlns:a="http://schemas.openxmlformats.org/drawingml/2006/main" w="0">
            <a:solidFill>
              <a:srgbClr val="C8102E"/>
            </a:solidFill>
            <a:prstDash val="solid"/>
          </a:ln>
        </p:spPr>
      </p:sp>
      <p:sp>
        <p:nvSpPr>
          <p:cNvPr id="14" name="">
            <a:extLst xmlns:a="http://schemas.openxmlformats.org/drawingml/2006/main">
              <a:ext uri="{FF2B5EF4-FFF2-40B4-BE49-F238E27FC236}">
                <a16:creationId xmlns:a16="http://schemas.microsoft.com/office/drawing/2014/main" id="{585EFF86-EF73-4736-86F3-19A9A5CAE1A9}"/>
              </a:ext>
            </a:extLst>
          </p:cNvPr>
          <p:cNvSpPr>
            <a:spLocks xmlns:a="http://schemas.openxmlformats.org/drawingml/2006/main" noGrp="1"/>
          </p:cNvSpPr>
          <p:nvPr/>
        </p:nvSpPr>
        <p:spPr>
          <a:xfrm xmlns:a="http://schemas.openxmlformats.org/drawingml/2006/main">
            <a:off x="8058150" y="3562350"/>
            <a:ext cx="335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C8102E"/>
                </a:solidFill>
                <a:latin typeface="Aptos"/>
                <a:ea typeface="Aptos"/>
                <a:cs typeface="Aptos"/>
              </a:defRPr>
            </a:pPr>
            <a:r>
              <a:rPr sz="3450" b="1" i="0">
                <a:solidFill>
                  <a:srgbClr val="C8102E"/>
                </a:solidFill>
                <a:latin typeface="Aptos"/>
                <a:ea typeface="Aptos"/>
                <a:cs typeface="Aptos"/>
              </a:rPr>
              <a:t>-13.100 min</a:t>
            </a:r>
          </a:p>
        </p:txBody>
      </p:sp>
      <p:sp>
        <p:nvSpPr>
          <p:cNvPr id="15" name="">
            <a:extLst xmlns:a="http://schemas.openxmlformats.org/drawingml/2006/main">
              <a:ext uri="{FF2B5EF4-FFF2-40B4-BE49-F238E27FC236}">
                <a16:creationId xmlns:a16="http://schemas.microsoft.com/office/drawing/2014/main" id="{5CFE96F0-3D62-448D-8043-5ADC8C22AB63}"/>
              </a:ext>
            </a:extLst>
          </p:cNvPr>
          <p:cNvSpPr>
            <a:spLocks xmlns:a="http://schemas.openxmlformats.org/drawingml/2006/main" noGrp="1"/>
          </p:cNvSpPr>
          <p:nvPr/>
        </p:nvSpPr>
        <p:spPr>
          <a:xfrm xmlns:a="http://schemas.openxmlformats.org/drawingml/2006/main">
            <a:off x="8058150" y="4171950"/>
            <a:ext cx="335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P90 turnaround difference</a:t>
            </a:r>
          </a:p>
        </p:txBody>
      </p:sp>
      <p:sp>
        <p:nvSpPr>
          <p:cNvPr id="16" name="">
            <a:extLst xmlns:a="http://schemas.openxmlformats.org/drawingml/2006/main">
              <a:ext uri="{FF2B5EF4-FFF2-40B4-BE49-F238E27FC236}">
                <a16:creationId xmlns:a16="http://schemas.microsoft.com/office/drawing/2014/main" id="{58F5F597-285D-4326-8F4B-F3DF618E70F4}"/>
              </a:ext>
            </a:extLst>
          </p:cNvPr>
          <p:cNvSpPr>
            <a:spLocks xmlns:a="http://schemas.openxmlformats.org/drawingml/2006/main" noGrp="1"/>
          </p:cNvSpPr>
          <p:nvPr/>
        </p:nvSpPr>
        <p:spPr>
          <a:xfrm xmlns:a="http://schemas.openxmlformats.org/drawingml/2006/main">
            <a:off x="8058150" y="4714875"/>
            <a:ext cx="335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-18.45% at the 90th percentile</a:t>
            </a:r>
          </a:p>
        </p:txBody>
      </p:sp>
      <p:sp>
        <p:nvSpPr>
          <p:cNvPr id="17" name="">
            <a:extLst xmlns:a="http://schemas.openxmlformats.org/drawingml/2006/main">
              <a:ext uri="{FF2B5EF4-FFF2-40B4-BE49-F238E27FC236}">
                <a16:creationId xmlns:a16="http://schemas.microsoft.com/office/drawing/2014/main" id="{8C587094-3F45-4884-9521-24F5F197678B}"/>
              </a:ext>
            </a:extLst>
          </p:cNvPr>
          <p:cNvSpPr>
            <a:spLocks xmlns:a="http://schemas.openxmlformats.org/drawingml/2006/main" noGrp="1"/>
          </p:cNvSpPr>
          <p:nvPr/>
        </p:nvSpPr>
        <p:spPr>
          <a:xfrm xmlns:a="http://schemas.openxmlformats.org/drawingml/2006/main">
            <a:off x="7810500" y="5429250"/>
            <a:ext cx="3848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5F6B7A"/>
                </a:solidFill>
                <a:latin typeface="Aptos"/>
                <a:ea typeface="Aptos"/>
                <a:cs typeface="Aptos"/>
              </a:defRPr>
            </a:pPr>
            <a:r>
              <a:rPr sz="1575" b="1" i="0">
                <a:solidFill>
                  <a:srgbClr val="5F6B7A"/>
                </a:solidFill>
                <a:latin typeface="Aptos"/>
                <a:ea typeface="Aptos"/>
                <a:cs typeface="Aptos"/>
              </a:rPr>
              <a:t>Narrow Monte-Carlo intervals rule out run noise; they do not validate the model.</a:t>
            </a:r>
          </a:p>
        </p:txBody>
      </p:sp>
    </p:spTree>
    <p:extLst>
      <p:ext uri="{BB962C8B-B14F-4D97-AF65-F5344CB8AC3E}">
        <p14:creationId xmlns:p14="http://schemas.microsoft.com/office/powerpoint/2010/main" val="3154274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702A2B3-3C3E-4DF0-83EB-4C65166F00F7}"/>
              </a:ext>
            </a:extLst>
          </p:cNvPr>
          <p:cNvSpPr>
            <a:spLocks xmlns:a="http://schemas.openxmlformats.org/drawingml/2006/main" noGrp="1"/>
          </p:cNvSpPr>
          <p:nvPr/>
        </p:nvSpPr>
        <p:spPr>
          <a:xfrm xmlns:a="http://schemas.openxmlformats.org/drawingml/2006/main">
            <a:off x="457200" y="32385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0B1220"/>
                </a:solidFill>
                <a:latin typeface="Aptos"/>
                <a:ea typeface="Aptos"/>
                <a:cs typeface="Aptos"/>
              </a:defRPr>
            </a:pPr>
            <a:r>
              <a:rPr sz="3450" b="1" i="0">
                <a:solidFill>
                  <a:srgbClr val="0B1220"/>
                </a:solidFill>
                <a:latin typeface="Aptos"/>
                <a:ea typeface="Aptos"/>
                <a:cs typeface="Aptos"/>
              </a:rPr>
              <a:t>Most observed turnaround lies outside recorded handling</a:t>
            </a:r>
          </a:p>
        </p:txBody>
      </p:sp>
      <p:sp>
        <p:nvSpPr>
          <p:cNvPr id="2" name="">
            <a:extLst xmlns:a="http://schemas.openxmlformats.org/drawingml/2006/main">
              <a:ext uri="{FF2B5EF4-FFF2-40B4-BE49-F238E27FC236}">
                <a16:creationId xmlns:a16="http://schemas.microsoft.com/office/drawing/2014/main" id="{5E5A8381-730C-42B7-A1C8-780D600364D9}"/>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 name="">
            <a:extLst xmlns:a="http://schemas.openxmlformats.org/drawingml/2006/main">
              <a:ext uri="{FF2B5EF4-FFF2-40B4-BE49-F238E27FC236}">
                <a16:creationId xmlns:a16="http://schemas.microsoft.com/office/drawing/2014/main" id="{1C604B6E-0A26-4172-93EB-0AFF08EE3194}"/>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4" name="">
            <a:extLst xmlns:a="http://schemas.openxmlformats.org/drawingml/2006/main">
              <a:ext uri="{FF2B5EF4-FFF2-40B4-BE49-F238E27FC236}">
                <a16:creationId xmlns:a16="http://schemas.microsoft.com/office/drawing/2014/main" id="{2B2D811D-E537-4258-A3D7-9A11A4E7421F}"/>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63DC5B22-E9FE-42D5-B302-7724653BBFAE}"/>
              </a:ext>
            </a:extLst>
          </p:cNvPr>
          <p:cNvSpPr>
            <a:spLocks xmlns:a="http://schemas.openxmlformats.org/drawingml/2006/main" noGrp="1"/>
          </p:cNvSpPr>
          <p:nvPr/>
        </p:nvSpPr>
        <p:spPr>
          <a:xfrm xmlns:a="http://schemas.openxmlformats.org/drawingml/2006/main">
            <a:off x="457200" y="1200150"/>
            <a:ext cx="7572375" cy="4905375"/>
          </a:xfrm>
          <a:prstGeom xmlns:a="http://schemas.openxmlformats.org/drawingml/2006/main" prst="roundRect">
            <a:avLst>
              <a:gd name="adj" fmla="val 2330"/>
            </a:avLst>
          </a:prstGeom>
          <a:solidFill xmlns:a="http://schemas.openxmlformats.org/drawingml/2006/main">
            <a:srgbClr val="F8FAFC"/>
          </a:solidFill>
          <a:ln xmlns:a="http://schemas.openxmlformats.org/drawingml/2006/main" w="0">
            <a:no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bd288d613fb40dd"/>
          <a:stretch xmlns:a="http://schemas.openxmlformats.org/drawingml/2006/main"/>
        </p:blipFill>
        <p:spPr>
          <a:xfrm xmlns:a="http://schemas.openxmlformats.org/drawingml/2006/main">
            <a:off x="0" y="0"/>
            <a:ext cx="9525" cy="95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CDE627A-202F-4B41-9B70-3E89E7FF6F9C}"/>
              </a:ext>
            </a:extLst>
          </p:cNvPr>
          <p:cNvSpPr>
            <a:spLocks xmlns:a="http://schemas.openxmlformats.org/drawingml/2006/main" noGrp="1"/>
          </p:cNvSpPr>
          <p:nvPr/>
        </p:nvSpPr>
        <p:spPr>
          <a:xfrm xmlns:a="http://schemas.openxmlformats.org/drawingml/2006/main">
            <a:off x="1085850" y="5505450"/>
            <a:ext cx="632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5F6B7A"/>
                </a:solidFill>
                <a:latin typeface="Aptos"/>
                <a:ea typeface="Aptos"/>
                <a:cs typeface="Aptos"/>
              </a:defRPr>
            </a:pPr>
            <a:r>
              <a:rPr sz="1650" b="1" i="0">
                <a:solidFill>
                  <a:srgbClr val="5F6B7A"/>
                </a:solidFill>
                <a:latin typeface="Aptos"/>
                <a:ea typeface="Aptos"/>
                <a:cs typeface="Aptos"/>
              </a:rPr>
              <a:t>Gate Out is the largest gap; RMG receive contributes 27.99% of total time burden.</a:t>
            </a:r>
          </a:p>
        </p:txBody>
      </p:sp>
      <p:sp>
        <p:nvSpPr>
          <p:cNvPr id="8" name="">
            <a:extLst xmlns:a="http://schemas.openxmlformats.org/drawingml/2006/main">
              <a:ext uri="{FF2B5EF4-FFF2-40B4-BE49-F238E27FC236}">
                <a16:creationId xmlns:a16="http://schemas.microsoft.com/office/drawing/2014/main" id="{DBFF75F0-C418-4027-8349-29BB9FDE9E0E}"/>
              </a:ext>
            </a:extLst>
          </p:cNvPr>
          <p:cNvSpPr>
            <a:spLocks xmlns:a="http://schemas.openxmlformats.org/drawingml/2006/main" noGrp="1"/>
          </p:cNvSpPr>
          <p:nvPr/>
        </p:nvSpPr>
        <p:spPr>
          <a:xfrm xmlns:a="http://schemas.openxmlformats.org/drawingml/2006/main">
            <a:off x="8324850" y="1238250"/>
            <a:ext cx="3333750" cy="1390650"/>
          </a:xfrm>
          <a:prstGeom xmlns:a="http://schemas.openxmlformats.org/drawingml/2006/main" prst="roundRect">
            <a:avLst>
              <a:gd name="adj" fmla="val 8219"/>
            </a:avLst>
          </a:prstGeom>
          <a:solidFill xmlns:a="http://schemas.openxmlformats.org/drawingml/2006/main">
            <a:srgbClr val="EAF8F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24DB52D-2F7A-4578-ABE4-FC482835C550}"/>
              </a:ext>
            </a:extLst>
          </p:cNvPr>
          <p:cNvSpPr>
            <a:spLocks xmlns:a="http://schemas.openxmlformats.org/drawingml/2006/main" noGrp="1"/>
          </p:cNvSpPr>
          <p:nvPr/>
        </p:nvSpPr>
        <p:spPr>
          <a:xfrm xmlns:a="http://schemas.openxmlformats.org/drawingml/2006/main">
            <a:off x="8324850" y="1238250"/>
            <a:ext cx="66675" cy="1390650"/>
          </a:xfrm>
          <a:prstGeom xmlns:a="http://schemas.openxmlformats.org/drawingml/2006/main" prst="rect">
            <a:avLst/>
          </a:prstGeom>
          <a:solidFill xmlns:a="http://schemas.openxmlformats.org/drawingml/2006/main">
            <a:srgbClr val="16876A"/>
          </a:solidFill>
          <a:ln xmlns:a="http://schemas.openxmlformats.org/drawingml/2006/main" w="0">
            <a:solidFill>
              <a:srgbClr val="16876A"/>
            </a:solidFill>
            <a:prstDash val="solid"/>
          </a:ln>
        </p:spPr>
      </p:sp>
      <p:sp>
        <p:nvSpPr>
          <p:cNvPr id="10" name="">
            <a:extLst xmlns:a="http://schemas.openxmlformats.org/drawingml/2006/main">
              <a:ext uri="{FF2B5EF4-FFF2-40B4-BE49-F238E27FC236}">
                <a16:creationId xmlns:a16="http://schemas.microsoft.com/office/drawing/2014/main" id="{C90821DB-98EE-484D-B23E-507CF335E9B5}"/>
              </a:ext>
            </a:extLst>
          </p:cNvPr>
          <p:cNvSpPr>
            <a:spLocks xmlns:a="http://schemas.openxmlformats.org/drawingml/2006/main" noGrp="1"/>
          </p:cNvSpPr>
          <p:nvPr/>
        </p:nvSpPr>
        <p:spPr>
          <a:xfrm xmlns:a="http://schemas.openxmlformats.org/drawingml/2006/main">
            <a:off x="8572500" y="1428750"/>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16876A"/>
                </a:solidFill>
                <a:latin typeface="Aptos"/>
                <a:ea typeface="Aptos"/>
                <a:cs typeface="Aptos"/>
              </a:defRPr>
            </a:pPr>
            <a:r>
              <a:rPr sz="3450" b="1" i="0">
                <a:solidFill>
                  <a:srgbClr val="16876A"/>
                </a:solidFill>
                <a:latin typeface="Aptos"/>
                <a:ea typeface="Aptos"/>
                <a:cs typeface="Aptos"/>
              </a:rPr>
              <a:t>39.742 min</a:t>
            </a:r>
          </a:p>
        </p:txBody>
      </p:sp>
      <p:sp>
        <p:nvSpPr>
          <p:cNvPr id="11" name="">
            <a:extLst xmlns:a="http://schemas.openxmlformats.org/drawingml/2006/main">
              <a:ext uri="{FF2B5EF4-FFF2-40B4-BE49-F238E27FC236}">
                <a16:creationId xmlns:a16="http://schemas.microsoft.com/office/drawing/2014/main" id="{FCCD63CA-352F-4B92-9AD4-4738637D906A}"/>
              </a:ext>
            </a:extLst>
          </p:cNvPr>
          <p:cNvSpPr>
            <a:spLocks xmlns:a="http://schemas.openxmlformats.org/drawingml/2006/main" noGrp="1"/>
          </p:cNvSpPr>
          <p:nvPr/>
        </p:nvSpPr>
        <p:spPr>
          <a:xfrm xmlns:a="http://schemas.openxmlformats.org/drawingml/2006/main">
            <a:off x="8572500" y="2038350"/>
            <a:ext cx="2838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real mean turnaround</a:t>
            </a:r>
          </a:p>
        </p:txBody>
      </p:sp>
      <p:sp>
        <p:nvSpPr>
          <p:cNvPr id="12" name="">
            <a:extLst xmlns:a="http://schemas.openxmlformats.org/drawingml/2006/main">
              <a:ext uri="{FF2B5EF4-FFF2-40B4-BE49-F238E27FC236}">
                <a16:creationId xmlns:a16="http://schemas.microsoft.com/office/drawing/2014/main" id="{F4A95385-906F-49FA-A5FB-A2E43C6D519F}"/>
              </a:ext>
            </a:extLst>
          </p:cNvPr>
          <p:cNvSpPr>
            <a:spLocks xmlns:a="http://schemas.openxmlformats.org/drawingml/2006/main" noGrp="1"/>
          </p:cNvSpPr>
          <p:nvPr/>
        </p:nvSpPr>
        <p:spPr>
          <a:xfrm xmlns:a="http://schemas.openxmlformats.org/drawingml/2006/main">
            <a:off x="8324850" y="2838450"/>
            <a:ext cx="3333750" cy="1390650"/>
          </a:xfrm>
          <a:prstGeom xmlns:a="http://schemas.openxmlformats.org/drawingml/2006/main" prst="roundRect">
            <a:avLst>
              <a:gd name="adj" fmla="val 8219"/>
            </a:avLst>
          </a:prstGeom>
          <a:solidFill xmlns:a="http://schemas.openxmlformats.org/drawingml/2006/main">
            <a:srgbClr val="EAF3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E2199C3-E19B-4D5F-816B-467E29D5D82B}"/>
              </a:ext>
            </a:extLst>
          </p:cNvPr>
          <p:cNvSpPr>
            <a:spLocks xmlns:a="http://schemas.openxmlformats.org/drawingml/2006/main" noGrp="1"/>
          </p:cNvSpPr>
          <p:nvPr/>
        </p:nvSpPr>
        <p:spPr>
          <a:xfrm xmlns:a="http://schemas.openxmlformats.org/drawingml/2006/main">
            <a:off x="8324850" y="2838450"/>
            <a:ext cx="66675" cy="139065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14" name="">
            <a:extLst xmlns:a="http://schemas.openxmlformats.org/drawingml/2006/main">
              <a:ext uri="{FF2B5EF4-FFF2-40B4-BE49-F238E27FC236}">
                <a16:creationId xmlns:a16="http://schemas.microsoft.com/office/drawing/2014/main" id="{F012EB2F-2160-4964-AC7B-4B411C90AC3D}"/>
              </a:ext>
            </a:extLst>
          </p:cNvPr>
          <p:cNvSpPr>
            <a:spLocks xmlns:a="http://schemas.openxmlformats.org/drawingml/2006/main" noGrp="1"/>
          </p:cNvSpPr>
          <p:nvPr/>
        </p:nvSpPr>
        <p:spPr>
          <a:xfrm xmlns:a="http://schemas.openxmlformats.org/drawingml/2006/main">
            <a:off x="8572500" y="3028950"/>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2F80ED"/>
                </a:solidFill>
                <a:latin typeface="Aptos"/>
                <a:ea typeface="Aptos"/>
                <a:cs typeface="Aptos"/>
              </a:defRPr>
            </a:pPr>
            <a:r>
              <a:rPr sz="3450" b="1" i="0">
                <a:solidFill>
                  <a:srgbClr val="2F80ED"/>
                </a:solidFill>
                <a:latin typeface="Aptos"/>
                <a:ea typeface="Aptos"/>
                <a:cs typeface="Aptos"/>
              </a:rPr>
              <a:t>14.755 min</a:t>
            </a:r>
          </a:p>
        </p:txBody>
      </p:sp>
      <p:sp>
        <p:nvSpPr>
          <p:cNvPr id="15" name="">
            <a:extLst xmlns:a="http://schemas.openxmlformats.org/drawingml/2006/main">
              <a:ext uri="{FF2B5EF4-FFF2-40B4-BE49-F238E27FC236}">
                <a16:creationId xmlns:a16="http://schemas.microsoft.com/office/drawing/2014/main" id="{299CEA90-68EB-43F0-AB7D-6DEFA0648967}"/>
              </a:ext>
            </a:extLst>
          </p:cNvPr>
          <p:cNvSpPr>
            <a:spLocks xmlns:a="http://schemas.openxmlformats.org/drawingml/2006/main" noGrp="1"/>
          </p:cNvSpPr>
          <p:nvPr/>
        </p:nvSpPr>
        <p:spPr>
          <a:xfrm xmlns:a="http://schemas.openxmlformats.org/drawingml/2006/main">
            <a:off x="8572500" y="3638550"/>
            <a:ext cx="2838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recorded handling</a:t>
            </a:r>
          </a:p>
        </p:txBody>
      </p:sp>
      <p:sp>
        <p:nvSpPr>
          <p:cNvPr id="16" name="">
            <a:extLst xmlns:a="http://schemas.openxmlformats.org/drawingml/2006/main">
              <a:ext uri="{FF2B5EF4-FFF2-40B4-BE49-F238E27FC236}">
                <a16:creationId xmlns:a16="http://schemas.microsoft.com/office/drawing/2014/main" id="{DDF796F9-3AB1-4382-B3D7-CC27C0C7D72D}"/>
              </a:ext>
            </a:extLst>
          </p:cNvPr>
          <p:cNvSpPr>
            <a:spLocks xmlns:a="http://schemas.openxmlformats.org/drawingml/2006/main" noGrp="1"/>
          </p:cNvSpPr>
          <p:nvPr/>
        </p:nvSpPr>
        <p:spPr>
          <a:xfrm xmlns:a="http://schemas.openxmlformats.org/drawingml/2006/main">
            <a:off x="8324850" y="4438650"/>
            <a:ext cx="3333750" cy="1390650"/>
          </a:xfrm>
          <a:prstGeom xmlns:a="http://schemas.openxmlformats.org/drawingml/2006/main" prst="roundRect">
            <a:avLst>
              <a:gd name="adj" fmla="val 8219"/>
            </a:avLst>
          </a:prstGeom>
          <a:solidFill xmlns:a="http://schemas.openxmlformats.org/drawingml/2006/main">
            <a:srgbClr val="FDEC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7BFEB45-180A-436B-9213-2BD0C6AF122E}"/>
              </a:ext>
            </a:extLst>
          </p:cNvPr>
          <p:cNvSpPr>
            <a:spLocks xmlns:a="http://schemas.openxmlformats.org/drawingml/2006/main" noGrp="1"/>
          </p:cNvSpPr>
          <p:nvPr/>
        </p:nvSpPr>
        <p:spPr>
          <a:xfrm xmlns:a="http://schemas.openxmlformats.org/drawingml/2006/main">
            <a:off x="8324850" y="4438650"/>
            <a:ext cx="66675" cy="1390650"/>
          </a:xfrm>
          <a:prstGeom xmlns:a="http://schemas.openxmlformats.org/drawingml/2006/main" prst="rect">
            <a:avLst/>
          </a:prstGeom>
          <a:solidFill xmlns:a="http://schemas.openxmlformats.org/drawingml/2006/main">
            <a:srgbClr val="C8102E"/>
          </a:solidFill>
          <a:ln xmlns:a="http://schemas.openxmlformats.org/drawingml/2006/main" w="0">
            <a:solidFill>
              <a:srgbClr val="C8102E"/>
            </a:solidFill>
            <a:prstDash val="solid"/>
          </a:ln>
        </p:spPr>
      </p:sp>
      <p:sp>
        <p:nvSpPr>
          <p:cNvPr id="18" name="">
            <a:extLst xmlns:a="http://schemas.openxmlformats.org/drawingml/2006/main">
              <a:ext uri="{FF2B5EF4-FFF2-40B4-BE49-F238E27FC236}">
                <a16:creationId xmlns:a16="http://schemas.microsoft.com/office/drawing/2014/main" id="{31342187-F7D8-4613-8023-9B9806310223}"/>
              </a:ext>
            </a:extLst>
          </p:cNvPr>
          <p:cNvSpPr>
            <a:spLocks xmlns:a="http://schemas.openxmlformats.org/drawingml/2006/main" noGrp="1"/>
          </p:cNvSpPr>
          <p:nvPr/>
        </p:nvSpPr>
        <p:spPr>
          <a:xfrm xmlns:a="http://schemas.openxmlformats.org/drawingml/2006/main">
            <a:off x="8572500" y="4629150"/>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C8102E"/>
                </a:solidFill>
                <a:latin typeface="Aptos"/>
                <a:ea typeface="Aptos"/>
                <a:cs typeface="Aptos"/>
              </a:defRPr>
            </a:pPr>
            <a:r>
              <a:rPr sz="3450" b="1" i="0">
                <a:solidFill>
                  <a:srgbClr val="C8102E"/>
                </a:solidFill>
                <a:latin typeface="Aptos"/>
                <a:ea typeface="Aptos"/>
                <a:cs typeface="Aptos"/>
              </a:rPr>
              <a:t>24.987 min</a:t>
            </a:r>
          </a:p>
        </p:txBody>
      </p:sp>
      <p:sp>
        <p:nvSpPr>
          <p:cNvPr id="19" name="">
            <a:extLst xmlns:a="http://schemas.openxmlformats.org/drawingml/2006/main">
              <a:ext uri="{FF2B5EF4-FFF2-40B4-BE49-F238E27FC236}">
                <a16:creationId xmlns:a16="http://schemas.microsoft.com/office/drawing/2014/main" id="{4DCA3A8B-126F-47BA-ABB8-1177DEC1B8DE}"/>
              </a:ext>
            </a:extLst>
          </p:cNvPr>
          <p:cNvSpPr>
            <a:spLocks xmlns:a="http://schemas.openxmlformats.org/drawingml/2006/main" noGrp="1"/>
          </p:cNvSpPr>
          <p:nvPr/>
        </p:nvSpPr>
        <p:spPr>
          <a:xfrm xmlns:a="http://schemas.openxmlformats.org/drawingml/2006/main">
            <a:off x="8572500" y="5238750"/>
            <a:ext cx="2838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composite pre-service</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aa9bc54c22de4f7a"/>
          <a:stretch xmlns:a="http://schemas.openxmlformats.org/drawingml/2006/main"/>
        </p:blipFill>
        <p:spPr>
          <a:xfrm xmlns:a="http://schemas.openxmlformats.org/drawingml/2006/main">
            <a:off x="948619" y="1314450"/>
            <a:ext cx="6522861" cy="4095750"/>
          </a:xfrm>
          <a:prstGeom xmlns:a="http://schemas.openxmlformats.org/drawingml/2006/main" prst="rect">
            <a:avLst/>
          </a:prstGeom>
        </p:spPr>
      </p:pic>
    </p:spTree>
    <p:extLst>
      <p:ext uri="{BB962C8B-B14F-4D97-AF65-F5344CB8AC3E}">
        <p14:creationId xmlns:p14="http://schemas.microsoft.com/office/powerpoint/2010/main" val="3967594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D8519EC5-0E8A-4FA3-B01C-67A894BEDAF4}"/>
              </a:ext>
            </a:extLst>
          </p:cNvPr>
          <p:cNvSpPr>
            <a:spLocks xmlns:a="http://schemas.openxmlformats.org/drawingml/2006/main" noGrp="1"/>
          </p:cNvSpPr>
          <p:nvPr/>
        </p:nvSpPr>
        <p:spPr>
          <a:xfrm xmlns:a="http://schemas.openxmlformats.org/drawingml/2006/main">
            <a:off x="457200" y="32385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0B1220"/>
                </a:solidFill>
                <a:latin typeface="Aptos"/>
                <a:ea typeface="Aptos"/>
                <a:cs typeface="Aptos"/>
              </a:defRPr>
            </a:pPr>
            <a:r>
              <a:rPr sz="3450" b="1" i="0">
                <a:solidFill>
                  <a:srgbClr val="0B1220"/>
                </a:solidFill>
                <a:latin typeface="Aptos"/>
                <a:ea typeface="Aptos"/>
                <a:cs typeface="Aptos"/>
              </a:rPr>
              <a:t>Historical fidelity and intervention adequacy assign different roles</a:t>
            </a:r>
          </a:p>
        </p:txBody>
      </p:sp>
      <p:sp>
        <p:nvSpPr>
          <p:cNvPr id="2" name="">
            <a:extLst xmlns:a="http://schemas.openxmlformats.org/drawingml/2006/main">
              <a:ext uri="{FF2B5EF4-FFF2-40B4-BE49-F238E27FC236}">
                <a16:creationId xmlns:a16="http://schemas.microsoft.com/office/drawing/2014/main" id="{352E7F98-6130-4D62-A199-9F1E104FDFFE}"/>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 name="">
            <a:extLst xmlns:a="http://schemas.openxmlformats.org/drawingml/2006/main">
              <a:ext uri="{FF2B5EF4-FFF2-40B4-BE49-F238E27FC236}">
                <a16:creationId xmlns:a16="http://schemas.microsoft.com/office/drawing/2014/main" id="{6D6EC843-346A-4F7F-AE9C-DA3F12783C9D}"/>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4" name="">
            <a:extLst xmlns:a="http://schemas.openxmlformats.org/drawingml/2006/main">
              <a:ext uri="{FF2B5EF4-FFF2-40B4-BE49-F238E27FC236}">
                <a16:creationId xmlns:a16="http://schemas.microsoft.com/office/drawing/2014/main" id="{F34A2036-D680-4BCA-9531-AB0FD2D06335}"/>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11</a:t>
            </a:r>
          </a:p>
        </p:txBody>
      </p:sp>
      <p:sp>
        <p:nvSpPr>
          <p:cNvPr id="5" name="">
            <a:extLst xmlns:a="http://schemas.openxmlformats.org/drawingml/2006/main">
              <a:ext uri="{FF2B5EF4-FFF2-40B4-BE49-F238E27FC236}">
                <a16:creationId xmlns:a16="http://schemas.microsoft.com/office/drawing/2014/main" id="{F2B6F03C-488B-4B20-855F-87ACBB8FC92E}"/>
              </a:ext>
            </a:extLst>
          </p:cNvPr>
          <p:cNvSpPr>
            <a:spLocks xmlns:a="http://schemas.openxmlformats.org/drawingml/2006/main" noGrp="1"/>
          </p:cNvSpPr>
          <p:nvPr/>
        </p:nvSpPr>
        <p:spPr>
          <a:xfrm xmlns:a="http://schemas.openxmlformats.org/drawingml/2006/main">
            <a:off x="904875" y="1371600"/>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i="0">
                <a:solidFill>
                  <a:srgbClr val="16876A"/>
                </a:solidFill>
                <a:latin typeface="Aptos"/>
                <a:ea typeface="Aptos"/>
                <a:cs typeface="Aptos"/>
              </a:defRPr>
            </a:pPr>
            <a:r>
              <a:rPr sz="2100" b="1" i="0">
                <a:solidFill>
                  <a:srgbClr val="16876A"/>
                </a:solidFill>
                <a:latin typeface="Aptos"/>
                <a:ea typeface="Aptos"/>
                <a:cs typeface="Aptos"/>
              </a:rPr>
              <a:t>Historical reference: visit-only</a:t>
            </a:r>
          </a:p>
        </p:txBody>
      </p:sp>
      <p:sp>
        <p:nvSpPr>
          <p:cNvPr id="6" name="">
            <a:extLst xmlns:a="http://schemas.openxmlformats.org/drawingml/2006/main">
              <a:ext uri="{FF2B5EF4-FFF2-40B4-BE49-F238E27FC236}">
                <a16:creationId xmlns:a16="http://schemas.microsoft.com/office/drawing/2014/main" id="{AF349599-D71D-4DFD-B0D6-B2F1E0C0C355}"/>
              </a:ext>
            </a:extLst>
          </p:cNvPr>
          <p:cNvSpPr>
            <a:spLocks xmlns:a="http://schemas.openxmlformats.org/drawingml/2006/main" noGrp="1"/>
          </p:cNvSpPr>
          <p:nvPr/>
        </p:nvSpPr>
        <p:spPr>
          <a:xfrm xmlns:a="http://schemas.openxmlformats.org/drawingml/2006/main">
            <a:off x="7096125" y="1371600"/>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i="0">
                <a:solidFill>
                  <a:srgbClr val="C8102E"/>
                </a:solidFill>
                <a:latin typeface="Aptos"/>
                <a:ea typeface="Aptos"/>
                <a:cs typeface="Aptos"/>
              </a:defRPr>
            </a:pPr>
            <a:r>
              <a:rPr sz="2100" b="1" i="0">
                <a:solidFill>
                  <a:srgbClr val="C8102E"/>
                </a:solidFill>
                <a:latin typeface="Aptos"/>
                <a:ea typeface="Aptos"/>
                <a:cs typeface="Aptos"/>
              </a:rPr>
              <a:t>Demand mechanism probe: native-only</a:t>
            </a:r>
          </a:p>
        </p:txBody>
      </p:sp>
      <p:sp>
        <p:nvSpPr>
          <p:cNvPr id="7" name="">
            <a:extLst xmlns:a="http://schemas.openxmlformats.org/drawingml/2006/main">
              <a:ext uri="{FF2B5EF4-FFF2-40B4-BE49-F238E27FC236}">
                <a16:creationId xmlns:a16="http://schemas.microsoft.com/office/drawing/2014/main" id="{6B0D993C-A064-4A3C-AB60-B364BB347A10}"/>
              </a:ext>
            </a:extLst>
          </p:cNvPr>
          <p:cNvSpPr>
            <a:spLocks xmlns:a="http://schemas.openxmlformats.org/drawingml/2006/main" noGrp="1"/>
          </p:cNvSpPr>
          <p:nvPr/>
        </p:nvSpPr>
        <p:spPr>
          <a:xfrm xmlns:a="http://schemas.openxmlformats.org/drawingml/2006/main">
            <a:off x="1047750" y="2019300"/>
            <a:ext cx="3762375" cy="552450"/>
          </a:xfrm>
          <a:prstGeom xmlns:a="http://schemas.openxmlformats.org/drawingml/2006/main" prst="roundRect">
            <a:avLst>
              <a:gd name="adj" fmla="val 20690"/>
            </a:avLst>
          </a:prstGeom>
          <a:solidFill xmlns:a="http://schemas.openxmlformats.org/drawingml/2006/main">
            <a:srgbClr val="EAF8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462CBD2-0103-4FA5-99E5-3A911E273B31}"/>
              </a:ext>
            </a:extLst>
          </p:cNvPr>
          <p:cNvSpPr>
            <a:spLocks xmlns:a="http://schemas.openxmlformats.org/drawingml/2006/main" noGrp="1"/>
          </p:cNvSpPr>
          <p:nvPr/>
        </p:nvSpPr>
        <p:spPr>
          <a:xfrm xmlns:a="http://schemas.openxmlformats.org/drawingml/2006/main">
            <a:off x="1238250" y="2171700"/>
            <a:ext cx="247650" cy="247650"/>
          </a:xfrm>
          <a:prstGeom xmlns:a="http://schemas.openxmlformats.org/drawingml/2006/main" prst="ellipse">
            <a:avLst/>
          </a:prstGeom>
          <a:solidFill xmlns:a="http://schemas.openxmlformats.org/drawingml/2006/main">
            <a:srgbClr val="16876A"/>
          </a:solidFill>
          <a:ln xmlns:a="http://schemas.openxmlformats.org/drawingml/2006/main" w="9525">
            <a:solidFill>
              <a:srgbClr val="16876A"/>
            </a:solidFill>
            <a:prstDash val="solid"/>
          </a:ln>
        </p:spPr>
      </p:sp>
      <p:sp>
        <p:nvSpPr>
          <p:cNvPr id="9" name="">
            <a:extLst xmlns:a="http://schemas.openxmlformats.org/drawingml/2006/main">
              <a:ext uri="{FF2B5EF4-FFF2-40B4-BE49-F238E27FC236}">
                <a16:creationId xmlns:a16="http://schemas.microsoft.com/office/drawing/2014/main" id="{ED5A74E5-44AE-47F8-B00E-5B48460930A2}"/>
              </a:ext>
            </a:extLst>
          </p:cNvPr>
          <p:cNvSpPr>
            <a:spLocks xmlns:a="http://schemas.openxmlformats.org/drawingml/2006/main" noGrp="1"/>
          </p:cNvSpPr>
          <p:nvPr/>
        </p:nvSpPr>
        <p:spPr>
          <a:xfrm xmlns:a="http://schemas.openxmlformats.org/drawingml/2006/main">
            <a:off x="1238250" y="219075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FFFFF"/>
                </a:solidFill>
                <a:latin typeface="Aptos"/>
                <a:ea typeface="Aptos"/>
                <a:cs typeface="Aptos"/>
              </a:defRPr>
            </a:pPr>
            <a:r>
              <a:rPr sz="1350" b="1" i="0">
                <a:solidFill>
                  <a:srgbClr val="FFFFFF"/>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C8B0D71A-3775-43B7-B391-C908229BFA46}"/>
              </a:ext>
            </a:extLst>
          </p:cNvPr>
          <p:cNvSpPr>
            <a:spLocks xmlns:a="http://schemas.openxmlformats.org/drawingml/2006/main" noGrp="1"/>
          </p:cNvSpPr>
          <p:nvPr/>
        </p:nvSpPr>
        <p:spPr>
          <a:xfrm xmlns:a="http://schemas.openxmlformats.org/drawingml/2006/main">
            <a:off x="1657350" y="21621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0B1220"/>
                </a:solidFill>
                <a:latin typeface="Aptos"/>
                <a:ea typeface="Aptos"/>
                <a:cs typeface="Aptos"/>
              </a:defRPr>
            </a:pPr>
            <a:r>
              <a:rPr sz="1725" b="1" i="0">
                <a:solidFill>
                  <a:srgbClr val="0B1220"/>
                </a:solidFill>
                <a:latin typeface="Aptos"/>
                <a:ea typeface="Aptos"/>
                <a:cs typeface="Aptos"/>
              </a:rPr>
              <a:t>same repaired Petri net</a:t>
            </a:r>
          </a:p>
        </p:txBody>
      </p:sp>
      <p:sp>
        <p:nvSpPr>
          <p:cNvPr id="11" name="">
            <a:extLst xmlns:a="http://schemas.openxmlformats.org/drawingml/2006/main">
              <a:ext uri="{FF2B5EF4-FFF2-40B4-BE49-F238E27FC236}">
                <a16:creationId xmlns:a16="http://schemas.microsoft.com/office/drawing/2014/main" id="{ADF82BA6-D604-4DEE-AEB4-7B533EF36E39}"/>
              </a:ext>
            </a:extLst>
          </p:cNvPr>
          <p:cNvSpPr>
            <a:spLocks xmlns:a="http://schemas.openxmlformats.org/drawingml/2006/main" noGrp="1"/>
          </p:cNvSpPr>
          <p:nvPr/>
        </p:nvSpPr>
        <p:spPr>
          <a:xfrm xmlns:a="http://schemas.openxmlformats.org/drawingml/2006/main">
            <a:off x="1047750" y="2800350"/>
            <a:ext cx="3762375" cy="552450"/>
          </a:xfrm>
          <a:prstGeom xmlns:a="http://schemas.openxmlformats.org/drawingml/2006/main" prst="roundRect">
            <a:avLst>
              <a:gd name="adj" fmla="val 20690"/>
            </a:avLst>
          </a:prstGeom>
          <a:solidFill xmlns:a="http://schemas.openxmlformats.org/drawingml/2006/main">
            <a:srgbClr val="EAF8F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DC167E7-A44F-417E-BD7A-B545743C9E18}"/>
              </a:ext>
            </a:extLst>
          </p:cNvPr>
          <p:cNvSpPr>
            <a:spLocks xmlns:a="http://schemas.openxmlformats.org/drawingml/2006/main" noGrp="1"/>
          </p:cNvSpPr>
          <p:nvPr/>
        </p:nvSpPr>
        <p:spPr>
          <a:xfrm xmlns:a="http://schemas.openxmlformats.org/drawingml/2006/main">
            <a:off x="1238250" y="2952750"/>
            <a:ext cx="247650" cy="247650"/>
          </a:xfrm>
          <a:prstGeom xmlns:a="http://schemas.openxmlformats.org/drawingml/2006/main" prst="ellipse">
            <a:avLst/>
          </a:prstGeom>
          <a:solidFill xmlns:a="http://schemas.openxmlformats.org/drawingml/2006/main">
            <a:srgbClr val="16876A"/>
          </a:solidFill>
          <a:ln xmlns:a="http://schemas.openxmlformats.org/drawingml/2006/main" w="9525">
            <a:solidFill>
              <a:srgbClr val="16876A"/>
            </a:solidFill>
            <a:prstDash val="solid"/>
          </a:ln>
        </p:spPr>
      </p:sp>
      <p:sp>
        <p:nvSpPr>
          <p:cNvPr id="13" name="">
            <a:extLst xmlns:a="http://schemas.openxmlformats.org/drawingml/2006/main">
              <a:ext uri="{FF2B5EF4-FFF2-40B4-BE49-F238E27FC236}">
                <a16:creationId xmlns:a16="http://schemas.microsoft.com/office/drawing/2014/main" id="{9C0C3164-9321-4BAE-8CFA-0940E9595E9B}"/>
              </a:ext>
            </a:extLst>
          </p:cNvPr>
          <p:cNvSpPr>
            <a:spLocks xmlns:a="http://schemas.openxmlformats.org/drawingml/2006/main" noGrp="1"/>
          </p:cNvSpPr>
          <p:nvPr/>
        </p:nvSpPr>
        <p:spPr>
          <a:xfrm xmlns:a="http://schemas.openxmlformats.org/drawingml/2006/main">
            <a:off x="1238250" y="297180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FFFFF"/>
                </a:solidFill>
                <a:latin typeface="Aptos"/>
                <a:ea typeface="Aptos"/>
                <a:cs typeface="Aptos"/>
              </a:defRPr>
            </a:pPr>
            <a:r>
              <a:rPr sz="1350" b="1" i="0">
                <a:solidFill>
                  <a:srgbClr val="FFFFFF"/>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0B6BD19D-5770-4E3D-B99F-23ACA06A8239}"/>
              </a:ext>
            </a:extLst>
          </p:cNvPr>
          <p:cNvSpPr>
            <a:spLocks xmlns:a="http://schemas.openxmlformats.org/drawingml/2006/main" noGrp="1"/>
          </p:cNvSpPr>
          <p:nvPr/>
        </p:nvSpPr>
        <p:spPr>
          <a:xfrm xmlns:a="http://schemas.openxmlformats.org/drawingml/2006/main">
            <a:off x="1657350" y="29432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0B1220"/>
                </a:solidFill>
                <a:latin typeface="Aptos"/>
                <a:ea typeface="Aptos"/>
                <a:cs typeface="Aptos"/>
              </a:defRPr>
            </a:pPr>
            <a:r>
              <a:rPr sz="1725" b="1" i="0">
                <a:solidFill>
                  <a:srgbClr val="0B1220"/>
                </a:solidFill>
                <a:latin typeface="Aptos"/>
                <a:ea typeface="Aptos"/>
                <a:cs typeface="Aptos"/>
              </a:rPr>
              <a:t>selected on 16% validation</a:t>
            </a:r>
          </a:p>
        </p:txBody>
      </p:sp>
      <p:sp>
        <p:nvSpPr>
          <p:cNvPr id="15" name="">
            <a:extLst xmlns:a="http://schemas.openxmlformats.org/drawingml/2006/main">
              <a:ext uri="{FF2B5EF4-FFF2-40B4-BE49-F238E27FC236}">
                <a16:creationId xmlns:a16="http://schemas.microsoft.com/office/drawing/2014/main" id="{A89AD13E-C11B-4FFE-B9AD-FCB560D7032C}"/>
              </a:ext>
            </a:extLst>
          </p:cNvPr>
          <p:cNvSpPr>
            <a:spLocks xmlns:a="http://schemas.openxmlformats.org/drawingml/2006/main" noGrp="1"/>
          </p:cNvSpPr>
          <p:nvPr/>
        </p:nvSpPr>
        <p:spPr>
          <a:xfrm xmlns:a="http://schemas.openxmlformats.org/drawingml/2006/main">
            <a:off x="1047750" y="3581400"/>
            <a:ext cx="3762375" cy="552450"/>
          </a:xfrm>
          <a:prstGeom xmlns:a="http://schemas.openxmlformats.org/drawingml/2006/main" prst="roundRect">
            <a:avLst>
              <a:gd name="adj" fmla="val 20690"/>
            </a:avLst>
          </a:prstGeom>
          <a:solidFill xmlns:a="http://schemas.openxmlformats.org/drawingml/2006/main">
            <a:srgbClr val="EAF8F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7F4DACD-ED73-40E3-BE4F-A41AB30898DE}"/>
              </a:ext>
            </a:extLst>
          </p:cNvPr>
          <p:cNvSpPr>
            <a:spLocks xmlns:a="http://schemas.openxmlformats.org/drawingml/2006/main" noGrp="1"/>
          </p:cNvSpPr>
          <p:nvPr/>
        </p:nvSpPr>
        <p:spPr>
          <a:xfrm xmlns:a="http://schemas.openxmlformats.org/drawingml/2006/main">
            <a:off x="1238250" y="3733800"/>
            <a:ext cx="247650" cy="247650"/>
          </a:xfrm>
          <a:prstGeom xmlns:a="http://schemas.openxmlformats.org/drawingml/2006/main" prst="ellipse">
            <a:avLst/>
          </a:prstGeom>
          <a:solidFill xmlns:a="http://schemas.openxmlformats.org/drawingml/2006/main">
            <a:srgbClr val="16876A"/>
          </a:solidFill>
          <a:ln xmlns:a="http://schemas.openxmlformats.org/drawingml/2006/main" w="9525">
            <a:solidFill>
              <a:srgbClr val="16876A"/>
            </a:solidFill>
            <a:prstDash val="solid"/>
          </a:ln>
        </p:spPr>
      </p:sp>
      <p:sp>
        <p:nvSpPr>
          <p:cNvPr id="17" name="">
            <a:extLst xmlns:a="http://schemas.openxmlformats.org/drawingml/2006/main">
              <a:ext uri="{FF2B5EF4-FFF2-40B4-BE49-F238E27FC236}">
                <a16:creationId xmlns:a16="http://schemas.microsoft.com/office/drawing/2014/main" id="{DD994272-AB4D-4867-90B9-57779D07A233}"/>
              </a:ext>
            </a:extLst>
          </p:cNvPr>
          <p:cNvSpPr>
            <a:spLocks xmlns:a="http://schemas.openxmlformats.org/drawingml/2006/main" noGrp="1"/>
          </p:cNvSpPr>
          <p:nvPr/>
        </p:nvSpPr>
        <p:spPr>
          <a:xfrm xmlns:a="http://schemas.openxmlformats.org/drawingml/2006/main">
            <a:off x="1238250" y="375285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FFFFF"/>
                </a:solidFill>
                <a:latin typeface="Aptos"/>
                <a:ea typeface="Aptos"/>
                <a:cs typeface="Aptos"/>
              </a:defRPr>
            </a:pPr>
            <a:r>
              <a:rPr sz="1350" b="1" i="0">
                <a:solidFill>
                  <a:srgbClr val="FFFFFF"/>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3FCF4830-47FF-4416-B8A3-0529135FE345}"/>
              </a:ext>
            </a:extLst>
          </p:cNvPr>
          <p:cNvSpPr>
            <a:spLocks xmlns:a="http://schemas.openxmlformats.org/drawingml/2006/main" noGrp="1"/>
          </p:cNvSpPr>
          <p:nvPr/>
        </p:nvSpPr>
        <p:spPr>
          <a:xfrm xmlns:a="http://schemas.openxmlformats.org/drawingml/2006/main">
            <a:off x="1657350" y="37242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0B1220"/>
                </a:solidFill>
                <a:latin typeface="Aptos"/>
                <a:ea typeface="Aptos"/>
                <a:cs typeface="Aptos"/>
              </a:defRPr>
            </a:pPr>
            <a:r>
              <a:rPr sz="1725" b="1" i="0">
                <a:solidFill>
                  <a:srgbClr val="0B1220"/>
                </a:solidFill>
                <a:latin typeface="Aptos"/>
                <a:ea typeface="Aptos"/>
                <a:cs typeface="Aptos"/>
              </a:rPr>
              <a:t>rediscovered on 80%</a:t>
            </a:r>
          </a:p>
        </p:txBody>
      </p:sp>
      <p:sp>
        <p:nvSpPr>
          <p:cNvPr id="19" name="">
            <a:extLst xmlns:a="http://schemas.openxmlformats.org/drawingml/2006/main">
              <a:ext uri="{FF2B5EF4-FFF2-40B4-BE49-F238E27FC236}">
                <a16:creationId xmlns:a16="http://schemas.microsoft.com/office/drawing/2014/main" id="{2E74865C-9465-4933-AFA4-252B54D170CB}"/>
              </a:ext>
            </a:extLst>
          </p:cNvPr>
          <p:cNvSpPr>
            <a:spLocks xmlns:a="http://schemas.openxmlformats.org/drawingml/2006/main" noGrp="1"/>
          </p:cNvSpPr>
          <p:nvPr/>
        </p:nvSpPr>
        <p:spPr>
          <a:xfrm xmlns:a="http://schemas.openxmlformats.org/drawingml/2006/main">
            <a:off x="1047750" y="4362450"/>
            <a:ext cx="3762375" cy="552450"/>
          </a:xfrm>
          <a:prstGeom xmlns:a="http://schemas.openxmlformats.org/drawingml/2006/main" prst="roundRect">
            <a:avLst>
              <a:gd name="adj" fmla="val 20690"/>
            </a:avLst>
          </a:prstGeom>
          <a:solidFill xmlns:a="http://schemas.openxmlformats.org/drawingml/2006/main">
            <a:srgbClr val="EAF8F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847D53C-2E71-4D40-8958-D7B91595B586}"/>
              </a:ext>
            </a:extLst>
          </p:cNvPr>
          <p:cNvSpPr>
            <a:spLocks xmlns:a="http://schemas.openxmlformats.org/drawingml/2006/main" noGrp="1"/>
          </p:cNvSpPr>
          <p:nvPr/>
        </p:nvSpPr>
        <p:spPr>
          <a:xfrm xmlns:a="http://schemas.openxmlformats.org/drawingml/2006/main">
            <a:off x="1238250" y="4514850"/>
            <a:ext cx="247650" cy="247650"/>
          </a:xfrm>
          <a:prstGeom xmlns:a="http://schemas.openxmlformats.org/drawingml/2006/main" prst="ellipse">
            <a:avLst/>
          </a:prstGeom>
          <a:solidFill xmlns:a="http://schemas.openxmlformats.org/drawingml/2006/main">
            <a:srgbClr val="16876A"/>
          </a:solidFill>
          <a:ln xmlns:a="http://schemas.openxmlformats.org/drawingml/2006/main" w="9525">
            <a:solidFill>
              <a:srgbClr val="16876A"/>
            </a:solidFill>
            <a:prstDash val="solid"/>
          </a:ln>
        </p:spPr>
      </p:sp>
      <p:sp>
        <p:nvSpPr>
          <p:cNvPr id="21" name="">
            <a:extLst xmlns:a="http://schemas.openxmlformats.org/drawingml/2006/main">
              <a:ext uri="{FF2B5EF4-FFF2-40B4-BE49-F238E27FC236}">
                <a16:creationId xmlns:a16="http://schemas.microsoft.com/office/drawing/2014/main" id="{FBAF2900-4169-4259-B963-D7DCB88B104F}"/>
              </a:ext>
            </a:extLst>
          </p:cNvPr>
          <p:cNvSpPr>
            <a:spLocks xmlns:a="http://schemas.openxmlformats.org/drawingml/2006/main" noGrp="1"/>
          </p:cNvSpPr>
          <p:nvPr/>
        </p:nvSpPr>
        <p:spPr>
          <a:xfrm xmlns:a="http://schemas.openxmlformats.org/drawingml/2006/main">
            <a:off x="1238250" y="453390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FFFFF"/>
                </a:solidFill>
                <a:latin typeface="Aptos"/>
                <a:ea typeface="Aptos"/>
                <a:cs typeface="Aptos"/>
              </a:defRPr>
            </a:pPr>
            <a:r>
              <a:rPr sz="1350" b="1" i="0">
                <a:solidFill>
                  <a:srgbClr val="FFFFFF"/>
                </a:solidFill>
                <a:latin typeface="Aptos"/>
                <a:ea typeface="Aptos"/>
                <a:cs typeface="Aptos"/>
              </a:rPr>
              <a:t>✓</a:t>
            </a:r>
          </a:p>
        </p:txBody>
      </p:sp>
      <p:sp>
        <p:nvSpPr>
          <p:cNvPr id="22" name="">
            <a:extLst xmlns:a="http://schemas.openxmlformats.org/drawingml/2006/main">
              <a:ext uri="{FF2B5EF4-FFF2-40B4-BE49-F238E27FC236}">
                <a16:creationId xmlns:a16="http://schemas.microsoft.com/office/drawing/2014/main" id="{2005C7A6-9186-4FEC-9F0B-CE6F5CD23465}"/>
              </a:ext>
            </a:extLst>
          </p:cNvPr>
          <p:cNvSpPr>
            <a:spLocks xmlns:a="http://schemas.openxmlformats.org/drawingml/2006/main" noGrp="1"/>
          </p:cNvSpPr>
          <p:nvPr/>
        </p:nvSpPr>
        <p:spPr>
          <a:xfrm xmlns:a="http://schemas.openxmlformats.org/drawingml/2006/main">
            <a:off x="1657350" y="45053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0B1220"/>
                </a:solidFill>
                <a:latin typeface="Aptos"/>
                <a:ea typeface="Aptos"/>
                <a:cs typeface="Aptos"/>
              </a:defRPr>
            </a:pPr>
            <a:r>
              <a:rPr sz="1725" b="1" i="0">
                <a:solidFill>
                  <a:srgbClr val="0B1220"/>
                </a:solidFill>
                <a:latin typeface="Aptos"/>
                <a:ea typeface="Aptos"/>
                <a:cs typeface="Aptos"/>
              </a:rPr>
              <a:t>reported once on final test</a:t>
            </a:r>
          </a:p>
        </p:txBody>
      </p:sp>
      <p:sp>
        <p:nvSpPr>
          <p:cNvPr id="23" name="">
            <a:extLst xmlns:a="http://schemas.openxmlformats.org/drawingml/2006/main">
              <a:ext uri="{FF2B5EF4-FFF2-40B4-BE49-F238E27FC236}">
                <a16:creationId xmlns:a16="http://schemas.microsoft.com/office/drawing/2014/main" id="{8F117E9A-42DC-45CE-9C1C-CD7DE9152692}"/>
              </a:ext>
            </a:extLst>
          </p:cNvPr>
          <p:cNvSpPr>
            <a:spLocks xmlns:a="http://schemas.openxmlformats.org/drawingml/2006/main" noGrp="1"/>
          </p:cNvSpPr>
          <p:nvPr/>
        </p:nvSpPr>
        <p:spPr>
          <a:xfrm xmlns:a="http://schemas.openxmlformats.org/drawingml/2006/main">
            <a:off x="7381875" y="2019300"/>
            <a:ext cx="3762375" cy="552450"/>
          </a:xfrm>
          <a:prstGeom xmlns:a="http://schemas.openxmlformats.org/drawingml/2006/main" prst="roundRect">
            <a:avLst>
              <a:gd name="adj" fmla="val 20690"/>
            </a:avLst>
          </a:prstGeom>
          <a:solidFill xmlns:a="http://schemas.openxmlformats.org/drawingml/2006/main">
            <a:srgbClr val="FDEC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7DB91B3-6154-4946-A815-71F334663FC3}"/>
              </a:ext>
            </a:extLst>
          </p:cNvPr>
          <p:cNvSpPr>
            <a:spLocks xmlns:a="http://schemas.openxmlformats.org/drawingml/2006/main" noGrp="1"/>
          </p:cNvSpPr>
          <p:nvPr/>
        </p:nvSpPr>
        <p:spPr>
          <a:xfrm xmlns:a="http://schemas.openxmlformats.org/drawingml/2006/main">
            <a:off x="7572375" y="2171700"/>
            <a:ext cx="247650" cy="24765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25" name="">
            <a:extLst xmlns:a="http://schemas.openxmlformats.org/drawingml/2006/main">
              <a:ext uri="{FF2B5EF4-FFF2-40B4-BE49-F238E27FC236}">
                <a16:creationId xmlns:a16="http://schemas.microsoft.com/office/drawing/2014/main" id="{56A2A354-CA69-4CC1-B0F3-E380DDA29181}"/>
              </a:ext>
            </a:extLst>
          </p:cNvPr>
          <p:cNvSpPr>
            <a:spLocks xmlns:a="http://schemas.openxmlformats.org/drawingml/2006/main" noGrp="1"/>
          </p:cNvSpPr>
          <p:nvPr/>
        </p:nvSpPr>
        <p:spPr>
          <a:xfrm xmlns:a="http://schemas.openxmlformats.org/drawingml/2006/main">
            <a:off x="7572375" y="2181225"/>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FFFFF"/>
                </a:solidFill>
                <a:latin typeface="Aptos"/>
                <a:ea typeface="Aptos"/>
                <a:cs typeface="Aptos"/>
              </a:defRPr>
            </a:pPr>
            <a:r>
              <a:rPr sz="1350" b="1" i="0">
                <a:solidFill>
                  <a:srgbClr val="FFFFFF"/>
                </a:solidFill>
                <a:latin typeface="Aptos"/>
                <a:ea typeface="Aptos"/>
                <a:cs typeface="Aptos"/>
              </a:rPr>
              <a:t>—</a:t>
            </a:r>
          </a:p>
        </p:txBody>
      </p:sp>
      <p:sp>
        <p:nvSpPr>
          <p:cNvPr id="26" name="">
            <a:extLst xmlns:a="http://schemas.openxmlformats.org/drawingml/2006/main">
              <a:ext uri="{FF2B5EF4-FFF2-40B4-BE49-F238E27FC236}">
                <a16:creationId xmlns:a16="http://schemas.microsoft.com/office/drawing/2014/main" id="{FF2C9B3F-D25F-4431-8962-F3F8F7CE44C1}"/>
              </a:ext>
            </a:extLst>
          </p:cNvPr>
          <p:cNvSpPr>
            <a:spLocks xmlns:a="http://schemas.openxmlformats.org/drawingml/2006/main" noGrp="1"/>
          </p:cNvSpPr>
          <p:nvPr/>
        </p:nvSpPr>
        <p:spPr>
          <a:xfrm xmlns:a="http://schemas.openxmlformats.org/drawingml/2006/main">
            <a:off x="7991475" y="21621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0B1220"/>
                </a:solidFill>
                <a:latin typeface="Aptos"/>
                <a:ea typeface="Aptos"/>
                <a:cs typeface="Aptos"/>
              </a:defRPr>
            </a:pPr>
            <a:r>
              <a:rPr sz="1725" b="1" i="0">
                <a:solidFill>
                  <a:srgbClr val="0B1220"/>
                </a:solidFill>
                <a:latin typeface="Aptos"/>
                <a:ea typeface="Aptos"/>
                <a:cs typeface="Aptos"/>
              </a:rPr>
              <a:t>native workload + queue state</a:t>
            </a:r>
          </a:p>
        </p:txBody>
      </p:sp>
      <p:sp>
        <p:nvSpPr>
          <p:cNvPr id="27" name="">
            <a:extLst xmlns:a="http://schemas.openxmlformats.org/drawingml/2006/main">
              <a:ext uri="{FF2B5EF4-FFF2-40B4-BE49-F238E27FC236}">
                <a16:creationId xmlns:a16="http://schemas.microsoft.com/office/drawing/2014/main" id="{B2166CF6-BF39-4804-B84C-A26A3B2CC9A7}"/>
              </a:ext>
            </a:extLst>
          </p:cNvPr>
          <p:cNvSpPr>
            <a:spLocks xmlns:a="http://schemas.openxmlformats.org/drawingml/2006/main" noGrp="1"/>
          </p:cNvSpPr>
          <p:nvPr/>
        </p:nvSpPr>
        <p:spPr>
          <a:xfrm xmlns:a="http://schemas.openxmlformats.org/drawingml/2006/main">
            <a:off x="7381875" y="2800350"/>
            <a:ext cx="3762375" cy="552450"/>
          </a:xfrm>
          <a:prstGeom xmlns:a="http://schemas.openxmlformats.org/drawingml/2006/main" prst="roundRect">
            <a:avLst>
              <a:gd name="adj" fmla="val 20690"/>
            </a:avLst>
          </a:prstGeom>
          <a:solidFill xmlns:a="http://schemas.openxmlformats.org/drawingml/2006/main">
            <a:srgbClr val="FDECE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1D74C28-3D0F-4F5B-9F2A-C2D313343A51}"/>
              </a:ext>
            </a:extLst>
          </p:cNvPr>
          <p:cNvSpPr>
            <a:spLocks xmlns:a="http://schemas.openxmlformats.org/drawingml/2006/main" noGrp="1"/>
          </p:cNvSpPr>
          <p:nvPr/>
        </p:nvSpPr>
        <p:spPr>
          <a:xfrm xmlns:a="http://schemas.openxmlformats.org/drawingml/2006/main">
            <a:off x="7572375" y="2952750"/>
            <a:ext cx="247650" cy="24765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29" name="">
            <a:extLst xmlns:a="http://schemas.openxmlformats.org/drawingml/2006/main">
              <a:ext uri="{FF2B5EF4-FFF2-40B4-BE49-F238E27FC236}">
                <a16:creationId xmlns:a16="http://schemas.microsoft.com/office/drawing/2014/main" id="{ADD963A8-F73F-4164-9477-C12F89C5D895}"/>
              </a:ext>
            </a:extLst>
          </p:cNvPr>
          <p:cNvSpPr>
            <a:spLocks xmlns:a="http://schemas.openxmlformats.org/drawingml/2006/main" noGrp="1"/>
          </p:cNvSpPr>
          <p:nvPr/>
        </p:nvSpPr>
        <p:spPr>
          <a:xfrm xmlns:a="http://schemas.openxmlformats.org/drawingml/2006/main">
            <a:off x="7572375" y="2962275"/>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FFFFF"/>
                </a:solidFill>
                <a:latin typeface="Aptos"/>
                <a:ea typeface="Aptos"/>
                <a:cs typeface="Aptos"/>
              </a:defRPr>
            </a:pPr>
            <a:r>
              <a:rPr sz="1350" b="1" i="0">
                <a:solidFill>
                  <a:srgbClr val="FFFFFF"/>
                </a:solidFill>
                <a:latin typeface="Aptos"/>
                <a:ea typeface="Aptos"/>
                <a:cs typeface="Aptos"/>
              </a:rPr>
              <a:t>—</a:t>
            </a:r>
          </a:p>
        </p:txBody>
      </p:sp>
      <p:sp>
        <p:nvSpPr>
          <p:cNvPr id="30" name="">
            <a:extLst xmlns:a="http://schemas.openxmlformats.org/drawingml/2006/main">
              <a:ext uri="{FF2B5EF4-FFF2-40B4-BE49-F238E27FC236}">
                <a16:creationId xmlns:a16="http://schemas.microsoft.com/office/drawing/2014/main" id="{0C4DC3B1-A8E6-42F3-803A-28AEC77A4A8E}"/>
              </a:ext>
            </a:extLst>
          </p:cNvPr>
          <p:cNvSpPr>
            <a:spLocks xmlns:a="http://schemas.openxmlformats.org/drawingml/2006/main" noGrp="1"/>
          </p:cNvSpPr>
          <p:nvPr/>
        </p:nvSpPr>
        <p:spPr>
          <a:xfrm xmlns:a="http://schemas.openxmlformats.org/drawingml/2006/main">
            <a:off x="7991475" y="29432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0B1220"/>
                </a:solidFill>
                <a:latin typeface="Aptos"/>
                <a:ea typeface="Aptos"/>
                <a:cs typeface="Aptos"/>
              </a:defRPr>
            </a:pPr>
            <a:r>
              <a:rPr sz="1725" b="1" i="0">
                <a:solidFill>
                  <a:srgbClr val="0B1220"/>
                </a:solidFill>
                <a:latin typeface="Aptos"/>
                <a:ea typeface="Aptos"/>
                <a:cs typeface="Aptos"/>
              </a:rPr>
              <a:t>same cap-three resources</a:t>
            </a:r>
          </a:p>
        </p:txBody>
      </p:sp>
      <p:sp>
        <p:nvSpPr>
          <p:cNvPr id="31" name="">
            <a:extLst xmlns:a="http://schemas.openxmlformats.org/drawingml/2006/main">
              <a:ext uri="{FF2B5EF4-FFF2-40B4-BE49-F238E27FC236}">
                <a16:creationId xmlns:a16="http://schemas.microsoft.com/office/drawing/2014/main" id="{641CC470-DE56-4AB4-B145-996FB9B698C6}"/>
              </a:ext>
            </a:extLst>
          </p:cNvPr>
          <p:cNvSpPr>
            <a:spLocks xmlns:a="http://schemas.openxmlformats.org/drawingml/2006/main" noGrp="1"/>
          </p:cNvSpPr>
          <p:nvPr/>
        </p:nvSpPr>
        <p:spPr>
          <a:xfrm xmlns:a="http://schemas.openxmlformats.org/drawingml/2006/main">
            <a:off x="7381875" y="3581400"/>
            <a:ext cx="3762375" cy="552450"/>
          </a:xfrm>
          <a:prstGeom xmlns:a="http://schemas.openxmlformats.org/drawingml/2006/main" prst="roundRect">
            <a:avLst>
              <a:gd name="adj" fmla="val 20690"/>
            </a:avLst>
          </a:prstGeom>
          <a:solidFill xmlns:a="http://schemas.openxmlformats.org/drawingml/2006/main">
            <a:srgbClr val="FDECE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40C24D7-CE98-4F49-92CA-75D06C69FC18}"/>
              </a:ext>
            </a:extLst>
          </p:cNvPr>
          <p:cNvSpPr>
            <a:spLocks xmlns:a="http://schemas.openxmlformats.org/drawingml/2006/main" noGrp="1"/>
          </p:cNvSpPr>
          <p:nvPr/>
        </p:nvSpPr>
        <p:spPr>
          <a:xfrm xmlns:a="http://schemas.openxmlformats.org/drawingml/2006/main">
            <a:off x="7572375" y="3733800"/>
            <a:ext cx="247650" cy="24765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33" name="">
            <a:extLst xmlns:a="http://schemas.openxmlformats.org/drawingml/2006/main">
              <a:ext uri="{FF2B5EF4-FFF2-40B4-BE49-F238E27FC236}">
                <a16:creationId xmlns:a16="http://schemas.microsoft.com/office/drawing/2014/main" id="{338294B9-E57A-4478-A7D0-C9687B740305}"/>
              </a:ext>
            </a:extLst>
          </p:cNvPr>
          <p:cNvSpPr>
            <a:spLocks xmlns:a="http://schemas.openxmlformats.org/drawingml/2006/main" noGrp="1"/>
          </p:cNvSpPr>
          <p:nvPr/>
        </p:nvSpPr>
        <p:spPr>
          <a:xfrm xmlns:a="http://schemas.openxmlformats.org/drawingml/2006/main">
            <a:off x="7572375" y="3743325"/>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FFFFF"/>
                </a:solidFill>
                <a:latin typeface="Aptos"/>
                <a:ea typeface="Aptos"/>
                <a:cs typeface="Aptos"/>
              </a:defRPr>
            </a:pPr>
            <a:r>
              <a:rPr sz="1350" b="1" i="0">
                <a:solidFill>
                  <a:srgbClr val="FFFFFF"/>
                </a:solidFill>
                <a:latin typeface="Aptos"/>
                <a:ea typeface="Aptos"/>
                <a:cs typeface="Aptos"/>
              </a:rPr>
              <a:t>—</a:t>
            </a:r>
          </a:p>
        </p:txBody>
      </p:sp>
      <p:sp>
        <p:nvSpPr>
          <p:cNvPr id="34" name="">
            <a:extLst xmlns:a="http://schemas.openxmlformats.org/drawingml/2006/main">
              <a:ext uri="{FF2B5EF4-FFF2-40B4-BE49-F238E27FC236}">
                <a16:creationId xmlns:a16="http://schemas.microsoft.com/office/drawing/2014/main" id="{3E27E522-FAAB-4262-BC26-D338A59CD071}"/>
              </a:ext>
            </a:extLst>
          </p:cNvPr>
          <p:cNvSpPr>
            <a:spLocks xmlns:a="http://schemas.openxmlformats.org/drawingml/2006/main" noGrp="1"/>
          </p:cNvSpPr>
          <p:nvPr/>
        </p:nvSpPr>
        <p:spPr>
          <a:xfrm xmlns:a="http://schemas.openxmlformats.org/drawingml/2006/main">
            <a:off x="7991475" y="37242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0B1220"/>
                </a:solidFill>
                <a:latin typeface="Aptos"/>
                <a:ea typeface="Aptos"/>
                <a:cs typeface="Aptos"/>
              </a:defRPr>
            </a:pPr>
            <a:r>
              <a:rPr sz="1725" b="1" i="0">
                <a:solidFill>
                  <a:srgbClr val="0B1220"/>
                </a:solidFill>
                <a:latin typeface="Aptos"/>
                <a:ea typeface="Aptos"/>
                <a:cs typeface="Aptos"/>
              </a:rPr>
              <a:t>tests arrival-to-delay pathway</a:t>
            </a:r>
          </a:p>
        </p:txBody>
      </p:sp>
      <p:sp>
        <p:nvSpPr>
          <p:cNvPr id="35" name="">
            <a:extLst xmlns:a="http://schemas.openxmlformats.org/drawingml/2006/main">
              <a:ext uri="{FF2B5EF4-FFF2-40B4-BE49-F238E27FC236}">
                <a16:creationId xmlns:a16="http://schemas.microsoft.com/office/drawing/2014/main" id="{BB5F3F94-2013-4CC7-ADDF-DD433434ABF6}"/>
              </a:ext>
            </a:extLst>
          </p:cNvPr>
          <p:cNvSpPr>
            <a:spLocks xmlns:a="http://schemas.openxmlformats.org/drawingml/2006/main" noGrp="1"/>
          </p:cNvSpPr>
          <p:nvPr/>
        </p:nvSpPr>
        <p:spPr>
          <a:xfrm xmlns:a="http://schemas.openxmlformats.org/drawingml/2006/main">
            <a:off x="7381875" y="4362450"/>
            <a:ext cx="3762375" cy="552450"/>
          </a:xfrm>
          <a:prstGeom xmlns:a="http://schemas.openxmlformats.org/drawingml/2006/main" prst="roundRect">
            <a:avLst>
              <a:gd name="adj" fmla="val 20690"/>
            </a:avLst>
          </a:prstGeom>
          <a:solidFill xmlns:a="http://schemas.openxmlformats.org/drawingml/2006/main">
            <a:srgbClr val="FDECE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6265B9F-2FF9-4D02-99E9-64C6A74924AB}"/>
              </a:ext>
            </a:extLst>
          </p:cNvPr>
          <p:cNvSpPr>
            <a:spLocks xmlns:a="http://schemas.openxmlformats.org/drawingml/2006/main" noGrp="1"/>
          </p:cNvSpPr>
          <p:nvPr/>
        </p:nvSpPr>
        <p:spPr>
          <a:xfrm xmlns:a="http://schemas.openxmlformats.org/drawingml/2006/main">
            <a:off x="7572375" y="4514850"/>
            <a:ext cx="247650" cy="24765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37" name="">
            <a:extLst xmlns:a="http://schemas.openxmlformats.org/drawingml/2006/main">
              <a:ext uri="{FF2B5EF4-FFF2-40B4-BE49-F238E27FC236}">
                <a16:creationId xmlns:a16="http://schemas.microsoft.com/office/drawing/2014/main" id="{4778F6D4-F2FC-4EC3-B804-E4373F9C5FBD}"/>
              </a:ext>
            </a:extLst>
          </p:cNvPr>
          <p:cNvSpPr>
            <a:spLocks xmlns:a="http://schemas.openxmlformats.org/drawingml/2006/main" noGrp="1"/>
          </p:cNvSpPr>
          <p:nvPr/>
        </p:nvSpPr>
        <p:spPr>
          <a:xfrm xmlns:a="http://schemas.openxmlformats.org/drawingml/2006/main">
            <a:off x="7572375" y="4524375"/>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FFFFFF"/>
                </a:solidFill>
                <a:latin typeface="Aptos"/>
                <a:ea typeface="Aptos"/>
                <a:cs typeface="Aptos"/>
              </a:defRPr>
            </a:pPr>
            <a:r>
              <a:rPr sz="1350" b="1" i="0">
                <a:solidFill>
                  <a:srgbClr val="FFFFFF"/>
                </a:solidFill>
                <a:latin typeface="Aptos"/>
                <a:ea typeface="Aptos"/>
                <a:cs typeface="Aptos"/>
              </a:rPr>
              <a:t>—</a:t>
            </a:r>
          </a:p>
        </p:txBody>
      </p:sp>
      <p:sp>
        <p:nvSpPr>
          <p:cNvPr id="38" name="">
            <a:extLst xmlns:a="http://schemas.openxmlformats.org/drawingml/2006/main">
              <a:ext uri="{FF2B5EF4-FFF2-40B4-BE49-F238E27FC236}">
                <a16:creationId xmlns:a16="http://schemas.microsoft.com/office/drawing/2014/main" id="{FF3C75AA-32E9-400C-938B-2E5FA73E1D76}"/>
              </a:ext>
            </a:extLst>
          </p:cNvPr>
          <p:cNvSpPr>
            <a:spLocks xmlns:a="http://schemas.openxmlformats.org/drawingml/2006/main" noGrp="1"/>
          </p:cNvSpPr>
          <p:nvPr/>
        </p:nvSpPr>
        <p:spPr>
          <a:xfrm xmlns:a="http://schemas.openxmlformats.org/drawingml/2006/main">
            <a:off x="7991475" y="45053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0B1220"/>
                </a:solidFill>
                <a:latin typeface="Aptos"/>
                <a:ea typeface="Aptos"/>
                <a:cs typeface="Aptos"/>
              </a:defRPr>
            </a:pPr>
            <a:r>
              <a:rPr sz="1725" b="1" i="0">
                <a:solidFill>
                  <a:srgbClr val="0B1220"/>
                </a:solidFill>
                <a:latin typeface="Aptos"/>
                <a:ea typeface="Aptos"/>
                <a:cs typeface="Aptos"/>
              </a:rPr>
              <a:t>not a validated CTB forecast</a:t>
            </a:r>
          </a:p>
        </p:txBody>
      </p:sp>
      <p:sp>
        <p:nvSpPr>
          <p:cNvPr id="39" name="">
            <a:extLst xmlns:a="http://schemas.openxmlformats.org/drawingml/2006/main">
              <a:ext uri="{FF2B5EF4-FFF2-40B4-BE49-F238E27FC236}">
                <a16:creationId xmlns:a16="http://schemas.microsoft.com/office/drawing/2014/main" id="{0545494E-A271-40BD-B8D5-AA693C34CFD5}"/>
              </a:ext>
            </a:extLst>
          </p:cNvPr>
          <p:cNvSpPr>
            <a:spLocks xmlns:a="http://schemas.openxmlformats.org/drawingml/2006/main" noGrp="1"/>
          </p:cNvSpPr>
          <p:nvPr/>
        </p:nvSpPr>
        <p:spPr>
          <a:xfrm xmlns:a="http://schemas.openxmlformats.org/drawingml/2006/main">
            <a:off x="5600700" y="3190875"/>
            <a:ext cx="990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700" b="1" i="0">
                <a:solidFill>
                  <a:srgbClr val="98A2B3"/>
                </a:solidFill>
                <a:latin typeface="Aptos"/>
                <a:ea typeface="Aptos"/>
                <a:cs typeface="Aptos"/>
              </a:defRPr>
            </a:pPr>
            <a:r>
              <a:rPr sz="2700" b="1" i="0">
                <a:solidFill>
                  <a:srgbClr val="98A2B3"/>
                </a:solidFill>
                <a:latin typeface="Aptos"/>
                <a:ea typeface="Aptos"/>
                <a:cs typeface="Aptos"/>
              </a:rPr>
              <a:t>≠</a:t>
            </a:r>
          </a:p>
        </p:txBody>
      </p:sp>
      <p:sp>
        <p:nvSpPr>
          <p:cNvPr id="40" name="">
            <a:extLst xmlns:a="http://schemas.openxmlformats.org/drawingml/2006/main">
              <a:ext uri="{FF2B5EF4-FFF2-40B4-BE49-F238E27FC236}">
                <a16:creationId xmlns:a16="http://schemas.microsoft.com/office/drawing/2014/main" id="{F47E368E-B706-469D-90C1-FA9DCC8DAE36}"/>
              </a:ext>
            </a:extLst>
          </p:cNvPr>
          <p:cNvSpPr>
            <a:spLocks xmlns:a="http://schemas.openxmlformats.org/drawingml/2006/main" noGrp="1"/>
          </p:cNvSpPr>
          <p:nvPr/>
        </p:nvSpPr>
        <p:spPr>
          <a:xfrm xmlns:a="http://schemas.openxmlformats.org/drawingml/2006/main">
            <a:off x="5791200" y="3619500"/>
            <a:ext cx="609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C8102E"/>
                </a:solidFill>
                <a:latin typeface="Aptos"/>
                <a:ea typeface="Aptos"/>
                <a:cs typeface="Aptos"/>
              </a:defRPr>
            </a:pPr>
            <a:r>
              <a:rPr sz="1350" b="1" i="0">
                <a:solidFill>
                  <a:srgbClr val="C8102E"/>
                </a:solidFill>
                <a:latin typeface="Aptos"/>
                <a:ea typeface="Aptos"/>
                <a:cs typeface="Aptos"/>
              </a:rPr>
              <a:t>role</a:t>
            </a:r>
          </a:p>
        </p:txBody>
      </p:sp>
      <p:sp>
        <p:nvSpPr>
          <p:cNvPr id="41" name="">
            <a:extLst xmlns:a="http://schemas.openxmlformats.org/drawingml/2006/main">
              <a:ext uri="{FF2B5EF4-FFF2-40B4-BE49-F238E27FC236}">
                <a16:creationId xmlns:a16="http://schemas.microsoft.com/office/drawing/2014/main" id="{77A4501B-0909-407E-A5E0-E6C0E0627598}"/>
              </a:ext>
            </a:extLst>
          </p:cNvPr>
          <p:cNvSpPr>
            <a:spLocks xmlns:a="http://schemas.openxmlformats.org/drawingml/2006/main" noGrp="1"/>
          </p:cNvSpPr>
          <p:nvPr/>
        </p:nvSpPr>
        <p:spPr>
          <a:xfrm xmlns:a="http://schemas.openxmlformats.org/drawingml/2006/main">
            <a:off x="1857375" y="5572125"/>
            <a:ext cx="847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i="0">
                <a:solidFill>
                  <a:srgbClr val="0B1220"/>
                </a:solidFill>
                <a:latin typeface="Aptos"/>
                <a:ea typeface="Aptos"/>
                <a:cs typeface="Aptos"/>
              </a:defRPr>
            </a:pPr>
            <a:r>
              <a:rPr sz="2025" b="1" i="0">
                <a:solidFill>
                  <a:srgbClr val="0B1220"/>
                </a:solidFill>
                <a:latin typeface="Aptos"/>
                <a:ea typeface="Aptos"/>
                <a:cs typeface="Aptos"/>
              </a:rPr>
              <a:t>A model can reproduce history yet be structurally unable to respond to an intervention.</a:t>
            </a:r>
          </a:p>
        </p:txBody>
      </p:sp>
    </p:spTree>
    <p:extLst>
      <p:ext uri="{BB962C8B-B14F-4D97-AF65-F5344CB8AC3E}">
        <p14:creationId xmlns:p14="http://schemas.microsoft.com/office/powerpoint/2010/main" val="65064537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959271F6-C293-4C3F-8B75-EC35722002C2}"/>
              </a:ext>
            </a:extLst>
          </p:cNvPr>
          <p:cNvSpPr>
            <a:spLocks xmlns:a="http://schemas.openxmlformats.org/drawingml/2006/main" noGrp="1"/>
          </p:cNvSpPr>
          <p:nvPr/>
        </p:nvSpPr>
        <p:spPr>
          <a:xfrm xmlns:a="http://schemas.openxmlformats.org/drawingml/2006/main">
            <a:off x="457200" y="32385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0B1220"/>
                </a:solidFill>
                <a:latin typeface="Aptos"/>
                <a:ea typeface="Aptos"/>
                <a:cs typeface="Aptos"/>
              </a:defRPr>
            </a:pPr>
            <a:r>
              <a:rPr sz="3450" b="1" i="0">
                <a:solidFill>
                  <a:srgbClr val="0B1220"/>
                </a:solidFill>
                <a:latin typeface="Aptos"/>
                <a:ea typeface="Aptos"/>
                <a:cs typeface="Aptos"/>
              </a:rPr>
              <a:t>T22 closes in the model, but only as a resource-pool test</a:t>
            </a:r>
          </a:p>
        </p:txBody>
      </p:sp>
      <p:sp>
        <p:nvSpPr>
          <p:cNvPr id="2" name="">
            <a:extLst xmlns:a="http://schemas.openxmlformats.org/drawingml/2006/main">
              <a:ext uri="{FF2B5EF4-FFF2-40B4-BE49-F238E27FC236}">
                <a16:creationId xmlns:a16="http://schemas.microsoft.com/office/drawing/2014/main" id="{32E33DFD-C355-4F09-8D86-851D8DDAA991}"/>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 name="">
            <a:extLst xmlns:a="http://schemas.openxmlformats.org/drawingml/2006/main">
              <a:ext uri="{FF2B5EF4-FFF2-40B4-BE49-F238E27FC236}">
                <a16:creationId xmlns:a16="http://schemas.microsoft.com/office/drawing/2014/main" id="{887AAD31-E1D2-400D-B5BB-72E2317179BA}"/>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4" name="">
            <a:extLst xmlns:a="http://schemas.openxmlformats.org/drawingml/2006/main">
              <a:ext uri="{FF2B5EF4-FFF2-40B4-BE49-F238E27FC236}">
                <a16:creationId xmlns:a16="http://schemas.microsoft.com/office/drawing/2014/main" id="{275630ED-8700-4AF2-9334-2DCA1F7CF492}"/>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12</a:t>
            </a:r>
          </a:p>
        </p:txBody>
      </p:sp>
      <p:sp>
        <p:nvSpPr>
          <p:cNvPr id="5" name="">
            <a:extLst xmlns:a="http://schemas.openxmlformats.org/drawingml/2006/main">
              <a:ext uri="{FF2B5EF4-FFF2-40B4-BE49-F238E27FC236}">
                <a16:creationId xmlns:a16="http://schemas.microsoft.com/office/drawing/2014/main" id="{A2CC59C0-BB26-40AA-90DA-6A4B8F42BB5B}"/>
              </a:ext>
            </a:extLst>
          </p:cNvPr>
          <p:cNvSpPr>
            <a:spLocks xmlns:a="http://schemas.openxmlformats.org/drawingml/2006/main" noGrp="1"/>
          </p:cNvSpPr>
          <p:nvPr/>
        </p:nvSpPr>
        <p:spPr>
          <a:xfrm xmlns:a="http://schemas.openxmlformats.org/drawingml/2006/main">
            <a:off x="2714625" y="1543050"/>
            <a:ext cx="371475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6" name="">
            <a:extLst xmlns:a="http://schemas.openxmlformats.org/drawingml/2006/main">
              <a:ext uri="{FF2B5EF4-FFF2-40B4-BE49-F238E27FC236}">
                <a16:creationId xmlns:a16="http://schemas.microsoft.com/office/drawing/2014/main" id="{39E7B5A5-7BFB-4CC7-B540-274ABF6069F1}"/>
              </a:ext>
            </a:extLst>
          </p:cNvPr>
          <p:cNvSpPr>
            <a:spLocks xmlns:a="http://schemas.openxmlformats.org/drawingml/2006/main" noGrp="1"/>
          </p:cNvSpPr>
          <p:nvPr/>
        </p:nvSpPr>
        <p:spPr>
          <a:xfrm xmlns:a="http://schemas.openxmlformats.org/drawingml/2006/main">
            <a:off x="2714625" y="1485900"/>
            <a:ext cx="19050" cy="14287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7" name="">
            <a:extLst xmlns:a="http://schemas.openxmlformats.org/drawingml/2006/main">
              <a:ext uri="{FF2B5EF4-FFF2-40B4-BE49-F238E27FC236}">
                <a16:creationId xmlns:a16="http://schemas.microsoft.com/office/drawing/2014/main" id="{BEADE052-0C2D-4DDA-9469-60BAAAAFA813}"/>
              </a:ext>
            </a:extLst>
          </p:cNvPr>
          <p:cNvSpPr>
            <a:spLocks xmlns:a="http://schemas.openxmlformats.org/drawingml/2006/main" noGrp="1"/>
          </p:cNvSpPr>
          <p:nvPr/>
        </p:nvSpPr>
        <p:spPr>
          <a:xfrm xmlns:a="http://schemas.openxmlformats.org/drawingml/2006/main">
            <a:off x="2390775" y="1638300"/>
            <a:ext cx="647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0" i="0">
                <a:solidFill>
                  <a:srgbClr val="5F6B7A"/>
                </a:solidFill>
                <a:latin typeface="Aptos"/>
                <a:ea typeface="Aptos"/>
                <a:cs typeface="Aptos"/>
              </a:defRPr>
            </a:pPr>
            <a:r>
              <a:rPr sz="1200" b="0" i="0">
                <a:solidFill>
                  <a:srgbClr val="5F6B7A"/>
                </a:solidFill>
                <a:latin typeface="Aptos"/>
                <a:ea typeface="Aptos"/>
                <a:cs typeface="Aptos"/>
              </a:rPr>
              <a:t>-0.70</a:t>
            </a:r>
          </a:p>
        </p:txBody>
      </p:sp>
      <p:sp>
        <p:nvSpPr>
          <p:cNvPr id="8" name="">
            <a:extLst xmlns:a="http://schemas.openxmlformats.org/drawingml/2006/main">
              <a:ext uri="{FF2B5EF4-FFF2-40B4-BE49-F238E27FC236}">
                <a16:creationId xmlns:a16="http://schemas.microsoft.com/office/drawing/2014/main" id="{6188E101-AFC9-41CC-B234-781E7AE322B1}"/>
              </a:ext>
            </a:extLst>
          </p:cNvPr>
          <p:cNvSpPr>
            <a:spLocks xmlns:a="http://schemas.openxmlformats.org/drawingml/2006/main" noGrp="1"/>
          </p:cNvSpPr>
          <p:nvPr/>
        </p:nvSpPr>
        <p:spPr>
          <a:xfrm xmlns:a="http://schemas.openxmlformats.org/drawingml/2006/main">
            <a:off x="4572000" y="1485900"/>
            <a:ext cx="19050" cy="142875"/>
          </a:xfrm>
          <a:prstGeom xmlns:a="http://schemas.openxmlformats.org/drawingml/2006/main" prst="rect">
            <a:avLst/>
          </a:prstGeom>
          <a:solidFill xmlns:a="http://schemas.openxmlformats.org/drawingml/2006/main">
            <a:srgbClr val="0B1220"/>
          </a:solidFill>
          <a:ln xmlns:a="http://schemas.openxmlformats.org/drawingml/2006/main" w="0">
            <a:solidFill>
              <a:srgbClr val="0B1220"/>
            </a:solidFill>
            <a:prstDash val="solid"/>
          </a:ln>
        </p:spPr>
      </p:sp>
      <p:sp>
        <p:nvSpPr>
          <p:cNvPr id="9" name="">
            <a:extLst xmlns:a="http://schemas.openxmlformats.org/drawingml/2006/main">
              <a:ext uri="{FF2B5EF4-FFF2-40B4-BE49-F238E27FC236}">
                <a16:creationId xmlns:a16="http://schemas.microsoft.com/office/drawing/2014/main" id="{F98D095F-A4E3-44E4-B351-A7540C9D3D28}"/>
              </a:ext>
            </a:extLst>
          </p:cNvPr>
          <p:cNvSpPr>
            <a:spLocks xmlns:a="http://schemas.openxmlformats.org/drawingml/2006/main" noGrp="1"/>
          </p:cNvSpPr>
          <p:nvPr/>
        </p:nvSpPr>
        <p:spPr>
          <a:xfrm xmlns:a="http://schemas.openxmlformats.org/drawingml/2006/main">
            <a:off x="3783806" y="1638300"/>
            <a:ext cx="647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0" i="0">
                <a:solidFill>
                  <a:srgbClr val="5F6B7A"/>
                </a:solidFill>
                <a:latin typeface="Aptos"/>
                <a:ea typeface="Aptos"/>
                <a:cs typeface="Aptos"/>
              </a:defRPr>
            </a:pPr>
            <a:r>
              <a:rPr sz="1200" b="0" i="0">
                <a:solidFill>
                  <a:srgbClr val="5F6B7A"/>
                </a:solidFill>
                <a:latin typeface="Aptos"/>
                <a:ea typeface="Aptos"/>
                <a:cs typeface="Aptos"/>
              </a:rPr>
              <a:t>0.00</a:t>
            </a:r>
          </a:p>
        </p:txBody>
      </p:sp>
      <p:sp>
        <p:nvSpPr>
          <p:cNvPr id="10" name="">
            <a:extLst xmlns:a="http://schemas.openxmlformats.org/drawingml/2006/main">
              <a:ext uri="{FF2B5EF4-FFF2-40B4-BE49-F238E27FC236}">
                <a16:creationId xmlns:a16="http://schemas.microsoft.com/office/drawing/2014/main" id="{45E7D37B-B66C-41E0-A3E7-53A09E5251AD}"/>
              </a:ext>
            </a:extLst>
          </p:cNvPr>
          <p:cNvSpPr>
            <a:spLocks xmlns:a="http://schemas.openxmlformats.org/drawingml/2006/main" noGrp="1"/>
          </p:cNvSpPr>
          <p:nvPr/>
        </p:nvSpPr>
        <p:spPr>
          <a:xfrm xmlns:a="http://schemas.openxmlformats.org/drawingml/2006/main">
            <a:off x="6429375" y="1485900"/>
            <a:ext cx="19050" cy="14287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11" name="">
            <a:extLst xmlns:a="http://schemas.openxmlformats.org/drawingml/2006/main">
              <a:ext uri="{FF2B5EF4-FFF2-40B4-BE49-F238E27FC236}">
                <a16:creationId xmlns:a16="http://schemas.microsoft.com/office/drawing/2014/main" id="{6CBC5329-6DF4-4442-A94F-203B62ED4E6E}"/>
              </a:ext>
            </a:extLst>
          </p:cNvPr>
          <p:cNvSpPr>
            <a:spLocks xmlns:a="http://schemas.openxmlformats.org/drawingml/2006/main" noGrp="1"/>
          </p:cNvSpPr>
          <p:nvPr/>
        </p:nvSpPr>
        <p:spPr>
          <a:xfrm xmlns:a="http://schemas.openxmlformats.org/drawingml/2006/main">
            <a:off x="6105525" y="1638300"/>
            <a:ext cx="647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0" i="0">
                <a:solidFill>
                  <a:srgbClr val="5F6B7A"/>
                </a:solidFill>
                <a:latin typeface="Aptos"/>
                <a:ea typeface="Aptos"/>
                <a:cs typeface="Aptos"/>
              </a:defRPr>
            </a:pPr>
            <a:r>
              <a:rPr sz="1200" b="0" i="0">
                <a:solidFill>
                  <a:srgbClr val="5F6B7A"/>
                </a:solidFill>
                <a:latin typeface="Aptos"/>
                <a:ea typeface="Aptos"/>
                <a:cs typeface="Aptos"/>
              </a:rPr>
              <a:t>+0.70</a:t>
            </a:r>
          </a:p>
        </p:txBody>
      </p:sp>
      <p:sp>
        <p:nvSpPr>
          <p:cNvPr id="12" name="">
            <a:extLst xmlns:a="http://schemas.openxmlformats.org/drawingml/2006/main">
              <a:ext uri="{FF2B5EF4-FFF2-40B4-BE49-F238E27FC236}">
                <a16:creationId xmlns:a16="http://schemas.microsoft.com/office/drawing/2014/main" id="{74852092-1138-43B6-87ED-010F5D6AD7F3}"/>
              </a:ext>
            </a:extLst>
          </p:cNvPr>
          <p:cNvSpPr>
            <a:spLocks xmlns:a="http://schemas.openxmlformats.org/drawingml/2006/main" noGrp="1"/>
          </p:cNvSpPr>
          <p:nvPr/>
        </p:nvSpPr>
        <p:spPr>
          <a:xfrm xmlns:a="http://schemas.openxmlformats.org/drawingml/2006/main">
            <a:off x="4572000" y="1914525"/>
            <a:ext cx="19050" cy="2876550"/>
          </a:xfrm>
          <a:prstGeom xmlns:a="http://schemas.openxmlformats.org/drawingml/2006/main" prst="rect">
            <a:avLst/>
          </a:prstGeom>
          <a:solidFill xmlns:a="http://schemas.openxmlformats.org/drawingml/2006/main">
            <a:srgbClr val="98A2B3"/>
          </a:solidFill>
          <a:ln xmlns:a="http://schemas.openxmlformats.org/drawingml/2006/main" w="0">
            <a:solidFill>
              <a:srgbClr val="98A2B3"/>
            </a:solidFill>
            <a:prstDash val="solid"/>
          </a:ln>
        </p:spPr>
      </p:sp>
      <p:sp>
        <p:nvSpPr>
          <p:cNvPr id="13" name="">
            <a:extLst xmlns:a="http://schemas.openxmlformats.org/drawingml/2006/main">
              <a:ext uri="{FF2B5EF4-FFF2-40B4-BE49-F238E27FC236}">
                <a16:creationId xmlns:a16="http://schemas.microsoft.com/office/drawing/2014/main" id="{ABB4F33A-F269-4939-9316-61BCEA0C2328}"/>
              </a:ext>
            </a:extLst>
          </p:cNvPr>
          <p:cNvSpPr>
            <a:spLocks xmlns:a="http://schemas.openxmlformats.org/drawingml/2006/main" noGrp="1"/>
          </p:cNvSpPr>
          <p:nvPr/>
        </p:nvSpPr>
        <p:spPr>
          <a:xfrm xmlns:a="http://schemas.openxmlformats.org/drawingml/2006/main">
            <a:off x="476250" y="1819275"/>
            <a:ext cx="20669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i="0">
                <a:solidFill>
                  <a:srgbClr val="0B1220"/>
                </a:solidFill>
                <a:latin typeface="Aptos"/>
                <a:ea typeface="Aptos"/>
                <a:cs typeface="Aptos"/>
              </a:defRPr>
            </a:pPr>
            <a:r>
              <a:rPr sz="1575" b="1" i="0">
                <a:solidFill>
                  <a:srgbClr val="0B1220"/>
                </a:solidFill>
                <a:latin typeface="Aptos"/>
                <a:ea typeface="Aptos"/>
                <a:cs typeface="Aptos"/>
              </a:rPr>
              <a:t>Mean turnaround</a:t>
            </a:r>
          </a:p>
        </p:txBody>
      </p:sp>
      <p:sp>
        <p:nvSpPr>
          <p:cNvPr id="14" name="">
            <a:extLst xmlns:a="http://schemas.openxmlformats.org/drawingml/2006/main">
              <a:ext uri="{FF2B5EF4-FFF2-40B4-BE49-F238E27FC236}">
                <a16:creationId xmlns:a16="http://schemas.microsoft.com/office/drawing/2014/main" id="{4E158FB7-7C32-400B-A065-D883410D50D2}"/>
              </a:ext>
            </a:extLst>
          </p:cNvPr>
          <p:cNvSpPr>
            <a:spLocks xmlns:a="http://schemas.openxmlformats.org/drawingml/2006/main" noGrp="1"/>
          </p:cNvSpPr>
          <p:nvPr/>
        </p:nvSpPr>
        <p:spPr>
          <a:xfrm xmlns:a="http://schemas.openxmlformats.org/drawingml/2006/main">
            <a:off x="4126230" y="2038350"/>
            <a:ext cx="729615" cy="3810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15" name="">
            <a:extLst xmlns:a="http://schemas.openxmlformats.org/drawingml/2006/main">
              <a:ext uri="{FF2B5EF4-FFF2-40B4-BE49-F238E27FC236}">
                <a16:creationId xmlns:a16="http://schemas.microsoft.com/office/drawing/2014/main" id="{943CFC3F-A1B8-4F3F-BD15-9E2982B766A9}"/>
              </a:ext>
            </a:extLst>
          </p:cNvPr>
          <p:cNvSpPr>
            <a:spLocks xmlns:a="http://schemas.openxmlformats.org/drawingml/2006/main" noGrp="1"/>
          </p:cNvSpPr>
          <p:nvPr/>
        </p:nvSpPr>
        <p:spPr>
          <a:xfrm xmlns:a="http://schemas.openxmlformats.org/drawingml/2006/main">
            <a:off x="4116705" y="1962150"/>
            <a:ext cx="19050" cy="19050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16" name="">
            <a:extLst xmlns:a="http://schemas.openxmlformats.org/drawingml/2006/main">
              <a:ext uri="{FF2B5EF4-FFF2-40B4-BE49-F238E27FC236}">
                <a16:creationId xmlns:a16="http://schemas.microsoft.com/office/drawing/2014/main" id="{4EAFF142-9975-43D9-9C6F-5FCC2F9D9C1E}"/>
              </a:ext>
            </a:extLst>
          </p:cNvPr>
          <p:cNvSpPr>
            <a:spLocks xmlns:a="http://schemas.openxmlformats.org/drawingml/2006/main" noGrp="1"/>
          </p:cNvSpPr>
          <p:nvPr/>
        </p:nvSpPr>
        <p:spPr>
          <a:xfrm xmlns:a="http://schemas.openxmlformats.org/drawingml/2006/main">
            <a:off x="4846320" y="1962150"/>
            <a:ext cx="19050" cy="19050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17" name="">
            <a:extLst xmlns:a="http://schemas.openxmlformats.org/drawingml/2006/main">
              <a:ext uri="{FF2B5EF4-FFF2-40B4-BE49-F238E27FC236}">
                <a16:creationId xmlns:a16="http://schemas.microsoft.com/office/drawing/2014/main" id="{EF9E9145-ED1C-4011-8A89-A031D94B3448}"/>
              </a:ext>
            </a:extLst>
          </p:cNvPr>
          <p:cNvSpPr>
            <a:spLocks xmlns:a="http://schemas.openxmlformats.org/drawingml/2006/main" noGrp="1"/>
          </p:cNvSpPr>
          <p:nvPr/>
        </p:nvSpPr>
        <p:spPr>
          <a:xfrm xmlns:a="http://schemas.openxmlformats.org/drawingml/2006/main">
            <a:off x="4415790" y="1981200"/>
            <a:ext cx="152400" cy="152400"/>
          </a:xfrm>
          <a:prstGeom xmlns:a="http://schemas.openxmlformats.org/drawingml/2006/main" prst="ellipse">
            <a:avLst/>
          </a:prstGeom>
          <a:solidFill xmlns:a="http://schemas.openxmlformats.org/drawingml/2006/main">
            <a:srgbClr val="2F80ED"/>
          </a:solidFill>
          <a:ln xmlns:a="http://schemas.openxmlformats.org/drawingml/2006/main" w="9525">
            <a:solidFill>
              <a:srgbClr val="2F80ED"/>
            </a:solidFill>
            <a:prstDash val="solid"/>
          </a:ln>
        </p:spPr>
      </p:sp>
      <p:sp>
        <p:nvSpPr>
          <p:cNvPr id="18" name="">
            <a:extLst xmlns:a="http://schemas.openxmlformats.org/drawingml/2006/main">
              <a:ext uri="{FF2B5EF4-FFF2-40B4-BE49-F238E27FC236}">
                <a16:creationId xmlns:a16="http://schemas.microsoft.com/office/drawing/2014/main" id="{A3E0BFB8-D5BC-400E-A215-596E44998F4E}"/>
              </a:ext>
            </a:extLst>
          </p:cNvPr>
          <p:cNvSpPr>
            <a:spLocks xmlns:a="http://schemas.openxmlformats.org/drawingml/2006/main" noGrp="1"/>
          </p:cNvSpPr>
          <p:nvPr/>
        </p:nvSpPr>
        <p:spPr>
          <a:xfrm xmlns:a="http://schemas.openxmlformats.org/drawingml/2006/main">
            <a:off x="6572250" y="1866900"/>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-0.030  [-0.168, +0.107]</a:t>
            </a:r>
          </a:p>
        </p:txBody>
      </p:sp>
      <p:sp>
        <p:nvSpPr>
          <p:cNvPr id="19" name="">
            <a:extLst xmlns:a="http://schemas.openxmlformats.org/drawingml/2006/main">
              <a:ext uri="{FF2B5EF4-FFF2-40B4-BE49-F238E27FC236}">
                <a16:creationId xmlns:a16="http://schemas.microsoft.com/office/drawing/2014/main" id="{AEAB3682-24FE-4022-B49B-A5E3FAC65D50}"/>
              </a:ext>
            </a:extLst>
          </p:cNvPr>
          <p:cNvSpPr>
            <a:spLocks xmlns:a="http://schemas.openxmlformats.org/drawingml/2006/main" noGrp="1"/>
          </p:cNvSpPr>
          <p:nvPr/>
        </p:nvSpPr>
        <p:spPr>
          <a:xfrm xmlns:a="http://schemas.openxmlformats.org/drawingml/2006/main">
            <a:off x="476250" y="2847975"/>
            <a:ext cx="20669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i="0">
                <a:solidFill>
                  <a:srgbClr val="0B1220"/>
                </a:solidFill>
                <a:latin typeface="Aptos"/>
                <a:ea typeface="Aptos"/>
                <a:cs typeface="Aptos"/>
              </a:defRPr>
            </a:pPr>
            <a:r>
              <a:rPr sz="1575" b="1" i="0">
                <a:solidFill>
                  <a:srgbClr val="0B1220"/>
                </a:solidFill>
                <a:latin typeface="Aptos"/>
                <a:ea typeface="Aptos"/>
                <a:cs typeface="Aptos"/>
              </a:rPr>
              <a:t>P90 turnaround</a:t>
            </a:r>
          </a:p>
        </p:txBody>
      </p:sp>
      <p:sp>
        <p:nvSpPr>
          <p:cNvPr id="20" name="">
            <a:extLst xmlns:a="http://schemas.openxmlformats.org/drawingml/2006/main">
              <a:ext uri="{FF2B5EF4-FFF2-40B4-BE49-F238E27FC236}">
                <a16:creationId xmlns:a16="http://schemas.microsoft.com/office/drawing/2014/main" id="{48DB8115-F5E3-4C47-976C-D5A6BB625BEC}"/>
              </a:ext>
            </a:extLst>
          </p:cNvPr>
          <p:cNvSpPr>
            <a:spLocks xmlns:a="http://schemas.openxmlformats.org/drawingml/2006/main" noGrp="1"/>
          </p:cNvSpPr>
          <p:nvPr/>
        </p:nvSpPr>
        <p:spPr>
          <a:xfrm xmlns:a="http://schemas.openxmlformats.org/drawingml/2006/main">
            <a:off x="3436620" y="3067050"/>
            <a:ext cx="2802255" cy="3810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21" name="">
            <a:extLst xmlns:a="http://schemas.openxmlformats.org/drawingml/2006/main">
              <a:ext uri="{FF2B5EF4-FFF2-40B4-BE49-F238E27FC236}">
                <a16:creationId xmlns:a16="http://schemas.microsoft.com/office/drawing/2014/main" id="{D80B3CD3-3CA0-4C97-AAB7-7DEDA9C2CB2C}"/>
              </a:ext>
            </a:extLst>
          </p:cNvPr>
          <p:cNvSpPr>
            <a:spLocks xmlns:a="http://schemas.openxmlformats.org/drawingml/2006/main" noGrp="1"/>
          </p:cNvSpPr>
          <p:nvPr/>
        </p:nvSpPr>
        <p:spPr>
          <a:xfrm xmlns:a="http://schemas.openxmlformats.org/drawingml/2006/main">
            <a:off x="3427095" y="2990850"/>
            <a:ext cx="19050" cy="19050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22" name="">
            <a:extLst xmlns:a="http://schemas.openxmlformats.org/drawingml/2006/main">
              <a:ext uri="{FF2B5EF4-FFF2-40B4-BE49-F238E27FC236}">
                <a16:creationId xmlns:a16="http://schemas.microsoft.com/office/drawing/2014/main" id="{F2B4D5A2-E861-47B2-85B7-B66FCBB66D45}"/>
              </a:ext>
            </a:extLst>
          </p:cNvPr>
          <p:cNvSpPr>
            <a:spLocks xmlns:a="http://schemas.openxmlformats.org/drawingml/2006/main" noGrp="1"/>
          </p:cNvSpPr>
          <p:nvPr/>
        </p:nvSpPr>
        <p:spPr>
          <a:xfrm xmlns:a="http://schemas.openxmlformats.org/drawingml/2006/main">
            <a:off x="6229350" y="2990850"/>
            <a:ext cx="19050" cy="19050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23" name="">
            <a:extLst xmlns:a="http://schemas.openxmlformats.org/drawingml/2006/main">
              <a:ext uri="{FF2B5EF4-FFF2-40B4-BE49-F238E27FC236}">
                <a16:creationId xmlns:a16="http://schemas.microsoft.com/office/drawing/2014/main" id="{77A72475-53BD-4CE5-AFB6-659BD85F859A}"/>
              </a:ext>
            </a:extLst>
          </p:cNvPr>
          <p:cNvSpPr>
            <a:spLocks xmlns:a="http://schemas.openxmlformats.org/drawingml/2006/main" noGrp="1"/>
          </p:cNvSpPr>
          <p:nvPr/>
        </p:nvSpPr>
        <p:spPr>
          <a:xfrm xmlns:a="http://schemas.openxmlformats.org/drawingml/2006/main">
            <a:off x="4761548" y="3009900"/>
            <a:ext cx="152400" cy="152400"/>
          </a:xfrm>
          <a:prstGeom xmlns:a="http://schemas.openxmlformats.org/drawingml/2006/main" prst="ellipse">
            <a:avLst/>
          </a:prstGeom>
          <a:solidFill xmlns:a="http://schemas.openxmlformats.org/drawingml/2006/main">
            <a:srgbClr val="2F80ED"/>
          </a:solidFill>
          <a:ln xmlns:a="http://schemas.openxmlformats.org/drawingml/2006/main" w="9525">
            <a:solidFill>
              <a:srgbClr val="2F80ED"/>
            </a:solidFill>
            <a:prstDash val="solid"/>
          </a:ln>
        </p:spPr>
      </p:sp>
      <p:sp>
        <p:nvSpPr>
          <p:cNvPr id="24" name="">
            <a:extLst xmlns:a="http://schemas.openxmlformats.org/drawingml/2006/main">
              <a:ext uri="{FF2B5EF4-FFF2-40B4-BE49-F238E27FC236}">
                <a16:creationId xmlns:a16="http://schemas.microsoft.com/office/drawing/2014/main" id="{A9BAC6AA-6DDF-470D-AE5C-B05A424D3A82}"/>
              </a:ext>
            </a:extLst>
          </p:cNvPr>
          <p:cNvSpPr>
            <a:spLocks xmlns:a="http://schemas.openxmlformats.org/drawingml/2006/main" noGrp="1"/>
          </p:cNvSpPr>
          <p:nvPr/>
        </p:nvSpPr>
        <p:spPr>
          <a:xfrm xmlns:a="http://schemas.openxmlformats.org/drawingml/2006/main">
            <a:off x="6572250" y="2895600"/>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+0.100  [-0.428, +0.628]</a:t>
            </a:r>
          </a:p>
        </p:txBody>
      </p:sp>
      <p:sp>
        <p:nvSpPr>
          <p:cNvPr id="25" name="">
            <a:extLst xmlns:a="http://schemas.openxmlformats.org/drawingml/2006/main">
              <a:ext uri="{FF2B5EF4-FFF2-40B4-BE49-F238E27FC236}">
                <a16:creationId xmlns:a16="http://schemas.microsoft.com/office/drawing/2014/main" id="{D2178D9F-7B8C-4E93-8633-A7433D239F37}"/>
              </a:ext>
            </a:extLst>
          </p:cNvPr>
          <p:cNvSpPr>
            <a:spLocks xmlns:a="http://schemas.openxmlformats.org/drawingml/2006/main" noGrp="1"/>
          </p:cNvSpPr>
          <p:nvPr/>
        </p:nvSpPr>
        <p:spPr>
          <a:xfrm xmlns:a="http://schemas.openxmlformats.org/drawingml/2006/main">
            <a:off x="476250" y="3876675"/>
            <a:ext cx="20669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i="0">
                <a:solidFill>
                  <a:srgbClr val="0B1220"/>
                </a:solidFill>
                <a:latin typeface="Aptos"/>
                <a:ea typeface="Aptos"/>
                <a:cs typeface="Aptos"/>
              </a:defRPr>
            </a:pPr>
            <a:r>
              <a:rPr sz="1575" b="1" i="0">
                <a:solidFill>
                  <a:srgbClr val="0B1220"/>
                </a:solidFill>
                <a:latin typeface="Aptos"/>
                <a:ea typeface="Aptos"/>
                <a:cs typeface="Aptos"/>
              </a:rPr>
              <a:t>Mean RMG pre-service</a:t>
            </a:r>
          </a:p>
        </p:txBody>
      </p:sp>
      <p:sp>
        <p:nvSpPr>
          <p:cNvPr id="26" name="">
            <a:extLst xmlns:a="http://schemas.openxmlformats.org/drawingml/2006/main">
              <a:ext uri="{FF2B5EF4-FFF2-40B4-BE49-F238E27FC236}">
                <a16:creationId xmlns:a16="http://schemas.microsoft.com/office/drawing/2014/main" id="{DA47629B-4017-4B66-BF28-2EAB1E28265F}"/>
              </a:ext>
            </a:extLst>
          </p:cNvPr>
          <p:cNvSpPr>
            <a:spLocks xmlns:a="http://schemas.openxmlformats.org/drawingml/2006/main" noGrp="1"/>
          </p:cNvSpPr>
          <p:nvPr/>
        </p:nvSpPr>
        <p:spPr>
          <a:xfrm xmlns:a="http://schemas.openxmlformats.org/drawingml/2006/main">
            <a:off x="4184333" y="4095750"/>
            <a:ext cx="281940" cy="38100"/>
          </a:xfrm>
          <a:prstGeom xmlns:a="http://schemas.openxmlformats.org/drawingml/2006/main" prst="rect">
            <a:avLst/>
          </a:prstGeom>
          <a:solidFill xmlns:a="http://schemas.openxmlformats.org/drawingml/2006/main">
            <a:srgbClr val="C8102E"/>
          </a:solidFill>
          <a:ln xmlns:a="http://schemas.openxmlformats.org/drawingml/2006/main" w="0">
            <a:solidFill>
              <a:srgbClr val="C8102E"/>
            </a:solidFill>
            <a:prstDash val="solid"/>
          </a:ln>
        </p:spPr>
      </p:sp>
      <p:sp>
        <p:nvSpPr>
          <p:cNvPr id="27" name="">
            <a:extLst xmlns:a="http://schemas.openxmlformats.org/drawingml/2006/main">
              <a:ext uri="{FF2B5EF4-FFF2-40B4-BE49-F238E27FC236}">
                <a16:creationId xmlns:a16="http://schemas.microsoft.com/office/drawing/2014/main" id="{1338F29E-2F07-4A18-B053-59E0CD11225F}"/>
              </a:ext>
            </a:extLst>
          </p:cNvPr>
          <p:cNvSpPr>
            <a:spLocks xmlns:a="http://schemas.openxmlformats.org/drawingml/2006/main" noGrp="1"/>
          </p:cNvSpPr>
          <p:nvPr/>
        </p:nvSpPr>
        <p:spPr>
          <a:xfrm xmlns:a="http://schemas.openxmlformats.org/drawingml/2006/main">
            <a:off x="4174808" y="4019550"/>
            <a:ext cx="19050" cy="190500"/>
          </a:xfrm>
          <a:prstGeom xmlns:a="http://schemas.openxmlformats.org/drawingml/2006/main" prst="rect">
            <a:avLst/>
          </a:prstGeom>
          <a:solidFill xmlns:a="http://schemas.openxmlformats.org/drawingml/2006/main">
            <a:srgbClr val="C8102E"/>
          </a:solidFill>
          <a:ln xmlns:a="http://schemas.openxmlformats.org/drawingml/2006/main" w="0">
            <a:solidFill>
              <a:srgbClr val="C8102E"/>
            </a:solidFill>
            <a:prstDash val="solid"/>
          </a:ln>
        </p:spPr>
      </p:sp>
      <p:sp>
        <p:nvSpPr>
          <p:cNvPr id="28" name="">
            <a:extLst xmlns:a="http://schemas.openxmlformats.org/drawingml/2006/main">
              <a:ext uri="{FF2B5EF4-FFF2-40B4-BE49-F238E27FC236}">
                <a16:creationId xmlns:a16="http://schemas.microsoft.com/office/drawing/2014/main" id="{965417BF-FA88-4DCD-8AF2-46161E1CCF98}"/>
              </a:ext>
            </a:extLst>
          </p:cNvPr>
          <p:cNvSpPr>
            <a:spLocks xmlns:a="http://schemas.openxmlformats.org/drawingml/2006/main" noGrp="1"/>
          </p:cNvSpPr>
          <p:nvPr/>
        </p:nvSpPr>
        <p:spPr>
          <a:xfrm xmlns:a="http://schemas.openxmlformats.org/drawingml/2006/main">
            <a:off x="4456748" y="4019550"/>
            <a:ext cx="19050" cy="190500"/>
          </a:xfrm>
          <a:prstGeom xmlns:a="http://schemas.openxmlformats.org/drawingml/2006/main" prst="rect">
            <a:avLst/>
          </a:prstGeom>
          <a:solidFill xmlns:a="http://schemas.openxmlformats.org/drawingml/2006/main">
            <a:srgbClr val="C8102E"/>
          </a:solidFill>
          <a:ln xmlns:a="http://schemas.openxmlformats.org/drawingml/2006/main" w="0">
            <a:solidFill>
              <a:srgbClr val="C8102E"/>
            </a:solidFill>
            <a:prstDash val="solid"/>
          </a:ln>
        </p:spPr>
      </p:sp>
      <p:sp>
        <p:nvSpPr>
          <p:cNvPr id="29" name="">
            <a:extLst xmlns:a="http://schemas.openxmlformats.org/drawingml/2006/main">
              <a:ext uri="{FF2B5EF4-FFF2-40B4-BE49-F238E27FC236}">
                <a16:creationId xmlns:a16="http://schemas.microsoft.com/office/drawing/2014/main" id="{92704ABF-574C-4BB4-A1DB-75024A630A5E}"/>
              </a:ext>
            </a:extLst>
          </p:cNvPr>
          <p:cNvSpPr>
            <a:spLocks xmlns:a="http://schemas.openxmlformats.org/drawingml/2006/main" noGrp="1"/>
          </p:cNvSpPr>
          <p:nvPr/>
        </p:nvSpPr>
        <p:spPr>
          <a:xfrm xmlns:a="http://schemas.openxmlformats.org/drawingml/2006/main">
            <a:off x="4249103" y="4038600"/>
            <a:ext cx="152400" cy="15240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30" name="">
            <a:extLst xmlns:a="http://schemas.openxmlformats.org/drawingml/2006/main">
              <a:ext uri="{FF2B5EF4-FFF2-40B4-BE49-F238E27FC236}">
                <a16:creationId xmlns:a16="http://schemas.microsoft.com/office/drawing/2014/main" id="{256CC433-A21E-4B2E-8CBB-72AA42235AAE}"/>
              </a:ext>
            </a:extLst>
          </p:cNvPr>
          <p:cNvSpPr>
            <a:spLocks xmlns:a="http://schemas.openxmlformats.org/drawingml/2006/main" noGrp="1"/>
          </p:cNvSpPr>
          <p:nvPr/>
        </p:nvSpPr>
        <p:spPr>
          <a:xfrm xmlns:a="http://schemas.openxmlformats.org/drawingml/2006/main">
            <a:off x="6572250" y="3924300"/>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C8102E"/>
                </a:solidFill>
                <a:latin typeface="Aptos"/>
                <a:ea typeface="Aptos"/>
                <a:cs typeface="Aptos"/>
              </a:defRPr>
            </a:pPr>
            <a:r>
              <a:rPr sz="1350" b="1" i="0">
                <a:solidFill>
                  <a:srgbClr val="C8102E"/>
                </a:solidFill>
                <a:latin typeface="Aptos"/>
                <a:ea typeface="Aptos"/>
                <a:cs typeface="Aptos"/>
              </a:rPr>
              <a:t>-0.093  [-0.146, -0.040]</a:t>
            </a:r>
          </a:p>
        </p:txBody>
      </p:sp>
      <p:sp>
        <p:nvSpPr>
          <p:cNvPr id="31" name="">
            <a:extLst xmlns:a="http://schemas.openxmlformats.org/drawingml/2006/main">
              <a:ext uri="{FF2B5EF4-FFF2-40B4-BE49-F238E27FC236}">
                <a16:creationId xmlns:a16="http://schemas.microsoft.com/office/drawing/2014/main" id="{CF3684C9-1E8D-4195-BEC2-08CC71A0D171}"/>
              </a:ext>
            </a:extLst>
          </p:cNvPr>
          <p:cNvSpPr>
            <a:spLocks xmlns:a="http://schemas.openxmlformats.org/drawingml/2006/main" noGrp="1"/>
          </p:cNvSpPr>
          <p:nvPr/>
        </p:nvSpPr>
        <p:spPr>
          <a:xfrm xmlns:a="http://schemas.openxmlformats.org/drawingml/2006/main">
            <a:off x="8477250" y="1352550"/>
            <a:ext cx="3181350" cy="4324350"/>
          </a:xfrm>
          <a:prstGeom xmlns:a="http://schemas.openxmlformats.org/drawingml/2006/main" prst="roundRect">
            <a:avLst>
              <a:gd name="adj" fmla="val 3593"/>
            </a:avLst>
          </a:prstGeom>
          <a:solidFill xmlns:a="http://schemas.openxmlformats.org/drawingml/2006/main">
            <a:srgbClr val="F8FAFC"/>
          </a:solidFill>
          <a:ln xmlns:a="http://schemas.openxmlformats.org/drawingml/2006/main" w="9525">
            <a:solidFill>
              <a:srgbClr val="D0D5DD"/>
            </a:solidFill>
            <a:prstDash val="solid"/>
          </a:ln>
        </p:spPr>
      </p:sp>
      <p:sp>
        <p:nvSpPr>
          <p:cNvPr id="32" name="">
            <a:extLst xmlns:a="http://schemas.openxmlformats.org/drawingml/2006/main">
              <a:ext uri="{FF2B5EF4-FFF2-40B4-BE49-F238E27FC236}">
                <a16:creationId xmlns:a16="http://schemas.microsoft.com/office/drawing/2014/main" id="{DF19E99C-15E6-4732-AD87-42B89267F067}"/>
              </a:ext>
            </a:extLst>
          </p:cNvPr>
          <p:cNvSpPr>
            <a:spLocks xmlns:a="http://schemas.openxmlformats.org/drawingml/2006/main" noGrp="1"/>
          </p:cNvSpPr>
          <p:nvPr/>
        </p:nvSpPr>
        <p:spPr>
          <a:xfrm xmlns:a="http://schemas.openxmlformats.org/drawingml/2006/main">
            <a:off x="8743950" y="16002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16876A"/>
                </a:solidFill>
                <a:latin typeface="Aptos"/>
                <a:ea typeface="Aptos"/>
                <a:cs typeface="Aptos"/>
              </a:defRPr>
            </a:pPr>
            <a:r>
              <a:rPr sz="1500" b="1" i="0">
                <a:solidFill>
                  <a:srgbClr val="16876A"/>
                </a:solidFill>
                <a:latin typeface="Aptos"/>
                <a:ea typeface="Aptos"/>
                <a:cs typeface="Aptos"/>
              </a:rPr>
              <a:t>Intervention check</a:t>
            </a:r>
          </a:p>
        </p:txBody>
      </p:sp>
      <p:sp>
        <p:nvSpPr>
          <p:cNvPr id="33" name="">
            <a:extLst xmlns:a="http://schemas.openxmlformats.org/drawingml/2006/main">
              <a:ext uri="{FF2B5EF4-FFF2-40B4-BE49-F238E27FC236}">
                <a16:creationId xmlns:a16="http://schemas.microsoft.com/office/drawing/2014/main" id="{B0FF7D8F-E0E6-4AA9-B1DF-5238B3717B17}"/>
              </a:ext>
            </a:extLst>
          </p:cNvPr>
          <p:cNvSpPr>
            <a:spLocks xmlns:a="http://schemas.openxmlformats.org/drawingml/2006/main" noGrp="1"/>
          </p:cNvSpPr>
          <p:nvPr/>
        </p:nvSpPr>
        <p:spPr>
          <a:xfrm xmlns:a="http://schemas.openxmlformats.org/drawingml/2006/main">
            <a:off x="8743950" y="1971675"/>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i="0">
                <a:solidFill>
                  <a:srgbClr val="16876A"/>
                </a:solidFill>
                <a:latin typeface="Aptos"/>
                <a:ea typeface="Aptos"/>
                <a:cs typeface="Aptos"/>
              </a:defRPr>
            </a:pPr>
            <a:r>
              <a:rPr sz="3000" b="1" i="0">
                <a:solidFill>
                  <a:srgbClr val="16876A"/>
                </a:solidFill>
                <a:latin typeface="Aptos"/>
                <a:ea typeface="Aptos"/>
                <a:cs typeface="Aptos"/>
              </a:rPr>
              <a:t>T22: 0</a:t>
            </a:r>
          </a:p>
        </p:txBody>
      </p:sp>
      <p:sp>
        <p:nvSpPr>
          <p:cNvPr id="34" name="">
            <a:extLst xmlns:a="http://schemas.openxmlformats.org/drawingml/2006/main">
              <a:ext uri="{FF2B5EF4-FFF2-40B4-BE49-F238E27FC236}">
                <a16:creationId xmlns:a16="http://schemas.microsoft.com/office/drawing/2014/main" id="{935C5A03-DCEE-4D62-B864-8DDFEF166A19}"/>
              </a:ext>
            </a:extLst>
          </p:cNvPr>
          <p:cNvSpPr>
            <a:spLocks xmlns:a="http://schemas.openxmlformats.org/drawingml/2006/main" noGrp="1"/>
          </p:cNvSpPr>
          <p:nvPr/>
        </p:nvSpPr>
        <p:spPr>
          <a:xfrm xmlns:a="http://schemas.openxmlformats.org/drawingml/2006/main">
            <a:off x="8743950" y="254317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i="0">
                <a:solidFill>
                  <a:srgbClr val="5F6B7A"/>
                </a:solidFill>
                <a:latin typeface="Aptos"/>
                <a:ea typeface="Aptos"/>
                <a:cs typeface="Aptos"/>
              </a:defRPr>
            </a:pPr>
            <a:r>
              <a:rPr sz="1500" b="0" i="0">
                <a:solidFill>
                  <a:srgbClr val="5F6B7A"/>
                </a:solidFill>
                <a:latin typeface="Aptos"/>
                <a:ea typeface="Aptos"/>
                <a:cs typeface="Aptos"/>
              </a:rPr>
              <a:t>eligible assignments after closure</a:t>
            </a:r>
          </a:p>
        </p:txBody>
      </p:sp>
      <p:sp>
        <p:nvSpPr>
          <p:cNvPr id="35" name="">
            <a:extLst xmlns:a="http://schemas.openxmlformats.org/drawingml/2006/main">
              <a:ext uri="{FF2B5EF4-FFF2-40B4-BE49-F238E27FC236}">
                <a16:creationId xmlns:a16="http://schemas.microsoft.com/office/drawing/2014/main" id="{E8ABAFAF-BED5-4F41-8CB4-9CF986B51E88}"/>
              </a:ext>
            </a:extLst>
          </p:cNvPr>
          <p:cNvSpPr>
            <a:spLocks xmlns:a="http://schemas.openxmlformats.org/drawingml/2006/main" noGrp="1"/>
          </p:cNvSpPr>
          <p:nvPr/>
        </p:nvSpPr>
        <p:spPr>
          <a:xfrm xmlns:a="http://schemas.openxmlformats.org/drawingml/2006/main">
            <a:off x="8743950" y="3067050"/>
            <a:ext cx="238125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6" name="">
            <a:extLst xmlns:a="http://schemas.openxmlformats.org/drawingml/2006/main">
              <a:ext uri="{FF2B5EF4-FFF2-40B4-BE49-F238E27FC236}">
                <a16:creationId xmlns:a16="http://schemas.microsoft.com/office/drawing/2014/main" id="{2096F64B-4475-4B73-B528-501520C9AEFD}"/>
              </a:ext>
            </a:extLst>
          </p:cNvPr>
          <p:cNvSpPr>
            <a:spLocks xmlns:a="http://schemas.openxmlformats.org/drawingml/2006/main" noGrp="1"/>
          </p:cNvSpPr>
          <p:nvPr/>
        </p:nvSpPr>
        <p:spPr>
          <a:xfrm xmlns:a="http://schemas.openxmlformats.org/drawingml/2006/main">
            <a:off x="8743950" y="333375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What the experiment means</a:t>
            </a:r>
          </a:p>
        </p:txBody>
      </p:sp>
      <p:sp>
        <p:nvSpPr>
          <p:cNvPr id="37" name="">
            <a:extLst xmlns:a="http://schemas.openxmlformats.org/drawingml/2006/main">
              <a:ext uri="{FF2B5EF4-FFF2-40B4-BE49-F238E27FC236}">
                <a16:creationId xmlns:a16="http://schemas.microsoft.com/office/drawing/2014/main" id="{7149A638-7E7E-4D5C-A602-53541730BC79}"/>
              </a:ext>
            </a:extLst>
          </p:cNvPr>
          <p:cNvSpPr>
            <a:spLocks xmlns:a="http://schemas.openxmlformats.org/drawingml/2006/main" noGrp="1"/>
          </p:cNvSpPr>
          <p:nvPr/>
        </p:nvSpPr>
        <p:spPr>
          <a:xfrm xmlns:a="http://schemas.openxmlformats.org/drawingml/2006/main">
            <a:off x="8743950" y="3848100"/>
            <a:ext cx="2571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Work is reassigned within one interchangeable pool. Container location, relocation and added travel are absent.</a:t>
            </a:r>
          </a:p>
        </p:txBody>
      </p:sp>
      <p:sp>
        <p:nvSpPr>
          <p:cNvPr id="38" name="">
            <a:extLst xmlns:a="http://schemas.openxmlformats.org/drawingml/2006/main">
              <a:ext uri="{FF2B5EF4-FFF2-40B4-BE49-F238E27FC236}">
                <a16:creationId xmlns:a16="http://schemas.microsoft.com/office/drawing/2014/main" id="{86200BC5-54F4-493E-87A9-6217055241E9}"/>
              </a:ext>
            </a:extLst>
          </p:cNvPr>
          <p:cNvSpPr>
            <a:spLocks xmlns:a="http://schemas.openxmlformats.org/drawingml/2006/main" noGrp="1"/>
          </p:cNvSpPr>
          <p:nvPr/>
        </p:nvSpPr>
        <p:spPr>
          <a:xfrm xmlns:a="http://schemas.openxmlformats.org/drawingml/2006/main">
            <a:off x="8743950" y="52197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C8102E"/>
                </a:solidFill>
                <a:latin typeface="Aptos"/>
                <a:ea typeface="Aptos"/>
                <a:cs typeface="Aptos"/>
              </a:defRPr>
            </a:pPr>
            <a:r>
              <a:rPr sz="1500" b="1" i="0">
                <a:solidFill>
                  <a:srgbClr val="C8102E"/>
                </a:solidFill>
                <a:latin typeface="Aptos"/>
                <a:ea typeface="Aptos"/>
                <a:cs typeface="Aptos"/>
              </a:rPr>
              <a:t>Only RMG pre-service excludes zero.</a:t>
            </a:r>
          </a:p>
        </p:txBody>
      </p:sp>
    </p:spTree>
    <p:extLst>
      <p:ext uri="{BB962C8B-B14F-4D97-AF65-F5344CB8AC3E}">
        <p14:creationId xmlns:p14="http://schemas.microsoft.com/office/powerpoint/2010/main" val="56105284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2460D8E9-B9B2-4D75-B1C8-04E5EAA6981D}"/>
              </a:ext>
            </a:extLst>
          </p:cNvPr>
          <p:cNvSpPr>
            <a:spLocks xmlns:a="http://schemas.openxmlformats.org/drawingml/2006/main" noGrp="1"/>
          </p:cNvSpPr>
          <p:nvPr/>
        </p:nvSpPr>
        <p:spPr>
          <a:xfrm xmlns:a="http://schemas.openxmlformats.org/drawingml/2006/main">
            <a:off x="457200" y="32385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0B1220"/>
                </a:solidFill>
                <a:latin typeface="Aptos"/>
                <a:ea typeface="Aptos"/>
                <a:cs typeface="Aptos"/>
              </a:defRPr>
            </a:pPr>
            <a:r>
              <a:rPr sz="3450" b="1" i="0">
                <a:solidFill>
                  <a:srgbClr val="0B1220"/>
                </a:solidFill>
                <a:latin typeface="Aptos"/>
                <a:ea typeface="Aptos"/>
                <a:cs typeface="Aptos"/>
              </a:rPr>
              <a:t>+20% working-time demand remains below the model response region</a:t>
            </a:r>
          </a:p>
        </p:txBody>
      </p:sp>
      <p:sp>
        <p:nvSpPr>
          <p:cNvPr id="2" name="">
            <a:extLst xmlns:a="http://schemas.openxmlformats.org/drawingml/2006/main">
              <a:ext uri="{FF2B5EF4-FFF2-40B4-BE49-F238E27FC236}">
                <a16:creationId xmlns:a16="http://schemas.microsoft.com/office/drawing/2014/main" id="{6FC9A6C0-CADF-46B8-B73C-D777F9B3B215}"/>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 name="">
            <a:extLst xmlns:a="http://schemas.openxmlformats.org/drawingml/2006/main">
              <a:ext uri="{FF2B5EF4-FFF2-40B4-BE49-F238E27FC236}">
                <a16:creationId xmlns:a16="http://schemas.microsoft.com/office/drawing/2014/main" id="{3A367902-3B72-4177-A560-5479EEFF44A6}"/>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4" name="">
            <a:extLst xmlns:a="http://schemas.openxmlformats.org/drawingml/2006/main">
              <a:ext uri="{FF2B5EF4-FFF2-40B4-BE49-F238E27FC236}">
                <a16:creationId xmlns:a16="http://schemas.microsoft.com/office/drawing/2014/main" id="{4122CC1B-B446-4C8B-A81F-5F2DED17E77C}"/>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13</a:t>
            </a:r>
          </a:p>
        </p:txBody>
      </p:sp>
      <p:sp>
        <p:nvSpPr>
          <p:cNvPr id="5" name="">
            <a:extLst xmlns:a="http://schemas.openxmlformats.org/drawingml/2006/main">
              <a:ext uri="{FF2B5EF4-FFF2-40B4-BE49-F238E27FC236}">
                <a16:creationId xmlns:a16="http://schemas.microsoft.com/office/drawing/2014/main" id="{871C2711-509E-4512-B570-1F73152B5791}"/>
              </a:ext>
            </a:extLst>
          </p:cNvPr>
          <p:cNvSpPr>
            <a:spLocks xmlns:a="http://schemas.openxmlformats.org/drawingml/2006/main" noGrp="1"/>
          </p:cNvSpPr>
          <p:nvPr/>
        </p:nvSpPr>
        <p:spPr>
          <a:xfrm xmlns:a="http://schemas.openxmlformats.org/drawingml/2006/main">
            <a:off x="2714625" y="1543050"/>
            <a:ext cx="371475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6" name="">
            <a:extLst xmlns:a="http://schemas.openxmlformats.org/drawingml/2006/main">
              <a:ext uri="{FF2B5EF4-FFF2-40B4-BE49-F238E27FC236}">
                <a16:creationId xmlns:a16="http://schemas.microsoft.com/office/drawing/2014/main" id="{4C51305E-EECF-4679-8784-633449252848}"/>
              </a:ext>
            </a:extLst>
          </p:cNvPr>
          <p:cNvSpPr>
            <a:spLocks xmlns:a="http://schemas.openxmlformats.org/drawingml/2006/main" noGrp="1"/>
          </p:cNvSpPr>
          <p:nvPr/>
        </p:nvSpPr>
        <p:spPr>
          <a:xfrm xmlns:a="http://schemas.openxmlformats.org/drawingml/2006/main">
            <a:off x="2714625" y="1485900"/>
            <a:ext cx="19050" cy="14287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7" name="">
            <a:extLst xmlns:a="http://schemas.openxmlformats.org/drawingml/2006/main">
              <a:ext uri="{FF2B5EF4-FFF2-40B4-BE49-F238E27FC236}">
                <a16:creationId xmlns:a16="http://schemas.microsoft.com/office/drawing/2014/main" id="{F1159031-ECC7-4866-93BA-96B1DF28C820}"/>
              </a:ext>
            </a:extLst>
          </p:cNvPr>
          <p:cNvSpPr>
            <a:spLocks xmlns:a="http://schemas.openxmlformats.org/drawingml/2006/main" noGrp="1"/>
          </p:cNvSpPr>
          <p:nvPr/>
        </p:nvSpPr>
        <p:spPr>
          <a:xfrm xmlns:a="http://schemas.openxmlformats.org/drawingml/2006/main">
            <a:off x="2390775" y="1638300"/>
            <a:ext cx="647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0" i="0">
                <a:solidFill>
                  <a:srgbClr val="5F6B7A"/>
                </a:solidFill>
                <a:latin typeface="Aptos"/>
                <a:ea typeface="Aptos"/>
                <a:cs typeface="Aptos"/>
              </a:defRPr>
            </a:pPr>
            <a:r>
              <a:rPr sz="1200" b="0" i="0">
                <a:solidFill>
                  <a:srgbClr val="5F6B7A"/>
                </a:solidFill>
                <a:latin typeface="Aptos"/>
                <a:ea typeface="Aptos"/>
                <a:cs typeface="Aptos"/>
              </a:rPr>
              <a:t>-0.40</a:t>
            </a:r>
          </a:p>
        </p:txBody>
      </p:sp>
      <p:sp>
        <p:nvSpPr>
          <p:cNvPr id="8" name="">
            <a:extLst xmlns:a="http://schemas.openxmlformats.org/drawingml/2006/main">
              <a:ext uri="{FF2B5EF4-FFF2-40B4-BE49-F238E27FC236}">
                <a16:creationId xmlns:a16="http://schemas.microsoft.com/office/drawing/2014/main" id="{3BE7719F-AD54-4CCD-9164-C7B03FE3E470}"/>
              </a:ext>
            </a:extLst>
          </p:cNvPr>
          <p:cNvSpPr>
            <a:spLocks xmlns:a="http://schemas.openxmlformats.org/drawingml/2006/main" noGrp="1"/>
          </p:cNvSpPr>
          <p:nvPr/>
        </p:nvSpPr>
        <p:spPr>
          <a:xfrm xmlns:a="http://schemas.openxmlformats.org/drawingml/2006/main">
            <a:off x="4572000" y="1485900"/>
            <a:ext cx="19050" cy="142875"/>
          </a:xfrm>
          <a:prstGeom xmlns:a="http://schemas.openxmlformats.org/drawingml/2006/main" prst="rect">
            <a:avLst/>
          </a:prstGeom>
          <a:solidFill xmlns:a="http://schemas.openxmlformats.org/drawingml/2006/main">
            <a:srgbClr val="0B1220"/>
          </a:solidFill>
          <a:ln xmlns:a="http://schemas.openxmlformats.org/drawingml/2006/main" w="0">
            <a:solidFill>
              <a:srgbClr val="0B1220"/>
            </a:solidFill>
            <a:prstDash val="solid"/>
          </a:ln>
        </p:spPr>
      </p:sp>
      <p:sp>
        <p:nvSpPr>
          <p:cNvPr id="9" name="">
            <a:extLst xmlns:a="http://schemas.openxmlformats.org/drawingml/2006/main">
              <a:ext uri="{FF2B5EF4-FFF2-40B4-BE49-F238E27FC236}">
                <a16:creationId xmlns:a16="http://schemas.microsoft.com/office/drawing/2014/main" id="{0D865805-A7E2-4629-B193-9D05A6FD9E04}"/>
              </a:ext>
            </a:extLst>
          </p:cNvPr>
          <p:cNvSpPr>
            <a:spLocks xmlns:a="http://schemas.openxmlformats.org/drawingml/2006/main" noGrp="1"/>
          </p:cNvSpPr>
          <p:nvPr/>
        </p:nvSpPr>
        <p:spPr>
          <a:xfrm xmlns:a="http://schemas.openxmlformats.org/drawingml/2006/main">
            <a:off x="3275239" y="1638300"/>
            <a:ext cx="647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0" i="0">
                <a:solidFill>
                  <a:srgbClr val="5F6B7A"/>
                </a:solidFill>
                <a:latin typeface="Aptos"/>
                <a:ea typeface="Aptos"/>
                <a:cs typeface="Aptos"/>
              </a:defRPr>
            </a:pPr>
            <a:r>
              <a:rPr sz="1200" b="0" i="0">
                <a:solidFill>
                  <a:srgbClr val="5F6B7A"/>
                </a:solidFill>
                <a:latin typeface="Aptos"/>
                <a:ea typeface="Aptos"/>
                <a:cs typeface="Aptos"/>
              </a:rPr>
              <a:t>0.00</a:t>
            </a:r>
          </a:p>
        </p:txBody>
      </p:sp>
      <p:sp>
        <p:nvSpPr>
          <p:cNvPr id="10" name="">
            <a:extLst xmlns:a="http://schemas.openxmlformats.org/drawingml/2006/main">
              <a:ext uri="{FF2B5EF4-FFF2-40B4-BE49-F238E27FC236}">
                <a16:creationId xmlns:a16="http://schemas.microsoft.com/office/drawing/2014/main" id="{DD64BB91-433F-4733-98D8-6999700051F3}"/>
              </a:ext>
            </a:extLst>
          </p:cNvPr>
          <p:cNvSpPr>
            <a:spLocks xmlns:a="http://schemas.openxmlformats.org/drawingml/2006/main" noGrp="1"/>
          </p:cNvSpPr>
          <p:nvPr/>
        </p:nvSpPr>
        <p:spPr>
          <a:xfrm xmlns:a="http://schemas.openxmlformats.org/drawingml/2006/main">
            <a:off x="6429375" y="1485900"/>
            <a:ext cx="19050" cy="14287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11" name="">
            <a:extLst xmlns:a="http://schemas.openxmlformats.org/drawingml/2006/main">
              <a:ext uri="{FF2B5EF4-FFF2-40B4-BE49-F238E27FC236}">
                <a16:creationId xmlns:a16="http://schemas.microsoft.com/office/drawing/2014/main" id="{80DE7FC3-C16C-46F8-B306-39C3FD0E0BFF}"/>
              </a:ext>
            </a:extLst>
          </p:cNvPr>
          <p:cNvSpPr>
            <a:spLocks xmlns:a="http://schemas.openxmlformats.org/drawingml/2006/main" noGrp="1"/>
          </p:cNvSpPr>
          <p:nvPr/>
        </p:nvSpPr>
        <p:spPr>
          <a:xfrm xmlns:a="http://schemas.openxmlformats.org/drawingml/2006/main">
            <a:off x="6105525" y="1638300"/>
            <a:ext cx="647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0" i="0">
                <a:solidFill>
                  <a:srgbClr val="5F6B7A"/>
                </a:solidFill>
                <a:latin typeface="Aptos"/>
                <a:ea typeface="Aptos"/>
                <a:cs typeface="Aptos"/>
              </a:defRPr>
            </a:pPr>
            <a:r>
              <a:rPr sz="1200" b="0" i="0">
                <a:solidFill>
                  <a:srgbClr val="5F6B7A"/>
                </a:solidFill>
                <a:latin typeface="Aptos"/>
                <a:ea typeface="Aptos"/>
                <a:cs typeface="Aptos"/>
              </a:rPr>
              <a:t>+0.40</a:t>
            </a:r>
          </a:p>
        </p:txBody>
      </p:sp>
      <p:sp>
        <p:nvSpPr>
          <p:cNvPr id="12" name="">
            <a:extLst xmlns:a="http://schemas.openxmlformats.org/drawingml/2006/main">
              <a:ext uri="{FF2B5EF4-FFF2-40B4-BE49-F238E27FC236}">
                <a16:creationId xmlns:a16="http://schemas.microsoft.com/office/drawing/2014/main" id="{7EC27F6F-B420-4BDE-9CFB-FC534D1FB7E8}"/>
              </a:ext>
            </a:extLst>
          </p:cNvPr>
          <p:cNvSpPr>
            <a:spLocks xmlns:a="http://schemas.openxmlformats.org/drawingml/2006/main" noGrp="1"/>
          </p:cNvSpPr>
          <p:nvPr/>
        </p:nvSpPr>
        <p:spPr>
          <a:xfrm xmlns:a="http://schemas.openxmlformats.org/drawingml/2006/main">
            <a:off x="4572000" y="1914525"/>
            <a:ext cx="19050" cy="2876550"/>
          </a:xfrm>
          <a:prstGeom xmlns:a="http://schemas.openxmlformats.org/drawingml/2006/main" prst="rect">
            <a:avLst/>
          </a:prstGeom>
          <a:solidFill xmlns:a="http://schemas.openxmlformats.org/drawingml/2006/main">
            <a:srgbClr val="98A2B3"/>
          </a:solidFill>
          <a:ln xmlns:a="http://schemas.openxmlformats.org/drawingml/2006/main" w="0">
            <a:solidFill>
              <a:srgbClr val="98A2B3"/>
            </a:solidFill>
            <a:prstDash val="solid"/>
          </a:ln>
        </p:spPr>
      </p:sp>
      <p:sp>
        <p:nvSpPr>
          <p:cNvPr id="13" name="">
            <a:extLst xmlns:a="http://schemas.openxmlformats.org/drawingml/2006/main">
              <a:ext uri="{FF2B5EF4-FFF2-40B4-BE49-F238E27FC236}">
                <a16:creationId xmlns:a16="http://schemas.microsoft.com/office/drawing/2014/main" id="{E72D3C8F-078B-43A6-B13D-21C269C3FA23}"/>
              </a:ext>
            </a:extLst>
          </p:cNvPr>
          <p:cNvSpPr>
            <a:spLocks xmlns:a="http://schemas.openxmlformats.org/drawingml/2006/main" noGrp="1"/>
          </p:cNvSpPr>
          <p:nvPr/>
        </p:nvSpPr>
        <p:spPr>
          <a:xfrm xmlns:a="http://schemas.openxmlformats.org/drawingml/2006/main">
            <a:off x="476250" y="1819275"/>
            <a:ext cx="20669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i="0">
                <a:solidFill>
                  <a:srgbClr val="0B1220"/>
                </a:solidFill>
                <a:latin typeface="Aptos"/>
                <a:ea typeface="Aptos"/>
                <a:cs typeface="Aptos"/>
              </a:defRPr>
            </a:pPr>
            <a:r>
              <a:rPr sz="1575" b="1" i="0">
                <a:solidFill>
                  <a:srgbClr val="0B1220"/>
                </a:solidFill>
                <a:latin typeface="Aptos"/>
                <a:ea typeface="Aptos"/>
                <a:cs typeface="Aptos"/>
              </a:rPr>
              <a:t>Mean turnaround</a:t>
            </a:r>
          </a:p>
        </p:txBody>
      </p:sp>
      <p:sp>
        <p:nvSpPr>
          <p:cNvPr id="14" name="">
            <a:extLst xmlns:a="http://schemas.openxmlformats.org/drawingml/2006/main">
              <a:ext uri="{FF2B5EF4-FFF2-40B4-BE49-F238E27FC236}">
                <a16:creationId xmlns:a16="http://schemas.microsoft.com/office/drawing/2014/main" id="{4BCC2C67-A653-4C01-98D2-013B7F858749}"/>
              </a:ext>
            </a:extLst>
          </p:cNvPr>
          <p:cNvSpPr>
            <a:spLocks xmlns:a="http://schemas.openxmlformats.org/drawingml/2006/main" noGrp="1"/>
          </p:cNvSpPr>
          <p:nvPr/>
        </p:nvSpPr>
        <p:spPr>
          <a:xfrm xmlns:a="http://schemas.openxmlformats.org/drawingml/2006/main">
            <a:off x="3267075" y="2038350"/>
            <a:ext cx="1797368" cy="3810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15" name="">
            <a:extLst xmlns:a="http://schemas.openxmlformats.org/drawingml/2006/main">
              <a:ext uri="{FF2B5EF4-FFF2-40B4-BE49-F238E27FC236}">
                <a16:creationId xmlns:a16="http://schemas.microsoft.com/office/drawing/2014/main" id="{D282B7CF-6EF6-4644-AD38-0A6C84345457}"/>
              </a:ext>
            </a:extLst>
          </p:cNvPr>
          <p:cNvSpPr>
            <a:spLocks xmlns:a="http://schemas.openxmlformats.org/drawingml/2006/main" noGrp="1"/>
          </p:cNvSpPr>
          <p:nvPr/>
        </p:nvSpPr>
        <p:spPr>
          <a:xfrm xmlns:a="http://schemas.openxmlformats.org/drawingml/2006/main">
            <a:off x="3257550" y="1962150"/>
            <a:ext cx="19050" cy="19050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16" name="">
            <a:extLst xmlns:a="http://schemas.openxmlformats.org/drawingml/2006/main">
              <a:ext uri="{FF2B5EF4-FFF2-40B4-BE49-F238E27FC236}">
                <a16:creationId xmlns:a16="http://schemas.microsoft.com/office/drawing/2014/main" id="{DA0AF5F6-77B5-4CD1-AAE1-EA0B7A0C1FA6}"/>
              </a:ext>
            </a:extLst>
          </p:cNvPr>
          <p:cNvSpPr>
            <a:spLocks xmlns:a="http://schemas.openxmlformats.org/drawingml/2006/main" noGrp="1"/>
          </p:cNvSpPr>
          <p:nvPr/>
        </p:nvSpPr>
        <p:spPr>
          <a:xfrm xmlns:a="http://schemas.openxmlformats.org/drawingml/2006/main">
            <a:off x="5054918" y="1962150"/>
            <a:ext cx="19050" cy="19050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17" name="">
            <a:extLst xmlns:a="http://schemas.openxmlformats.org/drawingml/2006/main">
              <a:ext uri="{FF2B5EF4-FFF2-40B4-BE49-F238E27FC236}">
                <a16:creationId xmlns:a16="http://schemas.microsoft.com/office/drawing/2014/main" id="{E54F568A-2D39-4794-926B-CE58A9EF69D9}"/>
              </a:ext>
            </a:extLst>
          </p:cNvPr>
          <p:cNvSpPr>
            <a:spLocks xmlns:a="http://schemas.openxmlformats.org/drawingml/2006/main" noGrp="1"/>
          </p:cNvSpPr>
          <p:nvPr/>
        </p:nvSpPr>
        <p:spPr>
          <a:xfrm xmlns:a="http://schemas.openxmlformats.org/drawingml/2006/main">
            <a:off x="4091940" y="1981200"/>
            <a:ext cx="152400" cy="152400"/>
          </a:xfrm>
          <a:prstGeom xmlns:a="http://schemas.openxmlformats.org/drawingml/2006/main" prst="ellipse">
            <a:avLst/>
          </a:prstGeom>
          <a:solidFill xmlns:a="http://schemas.openxmlformats.org/drawingml/2006/main">
            <a:srgbClr val="2F80ED"/>
          </a:solidFill>
          <a:ln xmlns:a="http://schemas.openxmlformats.org/drawingml/2006/main" w="9525">
            <a:solidFill>
              <a:srgbClr val="2F80ED"/>
            </a:solidFill>
            <a:prstDash val="solid"/>
          </a:ln>
        </p:spPr>
      </p:sp>
      <p:sp>
        <p:nvSpPr>
          <p:cNvPr id="18" name="">
            <a:extLst xmlns:a="http://schemas.openxmlformats.org/drawingml/2006/main">
              <a:ext uri="{FF2B5EF4-FFF2-40B4-BE49-F238E27FC236}">
                <a16:creationId xmlns:a16="http://schemas.microsoft.com/office/drawing/2014/main" id="{350BB792-3F2B-4CA0-A0B6-181B0121679C}"/>
              </a:ext>
            </a:extLst>
          </p:cNvPr>
          <p:cNvSpPr>
            <a:spLocks xmlns:a="http://schemas.openxmlformats.org/drawingml/2006/main" noGrp="1"/>
          </p:cNvSpPr>
          <p:nvPr/>
        </p:nvSpPr>
        <p:spPr>
          <a:xfrm xmlns:a="http://schemas.openxmlformats.org/drawingml/2006/main">
            <a:off x="6572250" y="1866900"/>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-0.087  [-0.281, +0.106]</a:t>
            </a:r>
          </a:p>
        </p:txBody>
      </p:sp>
      <p:sp>
        <p:nvSpPr>
          <p:cNvPr id="19" name="">
            <a:extLst xmlns:a="http://schemas.openxmlformats.org/drawingml/2006/main">
              <a:ext uri="{FF2B5EF4-FFF2-40B4-BE49-F238E27FC236}">
                <a16:creationId xmlns:a16="http://schemas.microsoft.com/office/drawing/2014/main" id="{D4C6C028-D07B-452C-9665-2434A2005D7F}"/>
              </a:ext>
            </a:extLst>
          </p:cNvPr>
          <p:cNvSpPr>
            <a:spLocks xmlns:a="http://schemas.openxmlformats.org/drawingml/2006/main" noGrp="1"/>
          </p:cNvSpPr>
          <p:nvPr/>
        </p:nvSpPr>
        <p:spPr>
          <a:xfrm xmlns:a="http://schemas.openxmlformats.org/drawingml/2006/main">
            <a:off x="476250" y="2847975"/>
            <a:ext cx="20669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i="0">
                <a:solidFill>
                  <a:srgbClr val="0B1220"/>
                </a:solidFill>
                <a:latin typeface="Aptos"/>
                <a:ea typeface="Aptos"/>
                <a:cs typeface="Aptos"/>
              </a:defRPr>
            </a:pPr>
            <a:r>
              <a:rPr sz="1575" b="1" i="0">
                <a:solidFill>
                  <a:srgbClr val="0B1220"/>
                </a:solidFill>
                <a:latin typeface="Aptos"/>
                <a:ea typeface="Aptos"/>
                <a:cs typeface="Aptos"/>
              </a:rPr>
              <a:t>Mean RMG service</a:t>
            </a:r>
          </a:p>
        </p:txBody>
      </p:sp>
      <p:sp>
        <p:nvSpPr>
          <p:cNvPr id="20" name="">
            <a:extLst xmlns:a="http://schemas.openxmlformats.org/drawingml/2006/main">
              <a:ext uri="{FF2B5EF4-FFF2-40B4-BE49-F238E27FC236}">
                <a16:creationId xmlns:a16="http://schemas.microsoft.com/office/drawing/2014/main" id="{3FF46BBC-B8DB-4D37-A7D0-FAB8985AD283}"/>
              </a:ext>
            </a:extLst>
          </p:cNvPr>
          <p:cNvSpPr>
            <a:spLocks xmlns:a="http://schemas.openxmlformats.org/drawingml/2006/main" noGrp="1"/>
          </p:cNvSpPr>
          <p:nvPr/>
        </p:nvSpPr>
        <p:spPr>
          <a:xfrm xmlns:a="http://schemas.openxmlformats.org/drawingml/2006/main">
            <a:off x="4381500" y="3067050"/>
            <a:ext cx="840581" cy="3810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21" name="">
            <a:extLst xmlns:a="http://schemas.openxmlformats.org/drawingml/2006/main">
              <a:ext uri="{FF2B5EF4-FFF2-40B4-BE49-F238E27FC236}">
                <a16:creationId xmlns:a16="http://schemas.microsoft.com/office/drawing/2014/main" id="{4CCEC5B2-3BD7-4065-AC4E-EFD92038710E}"/>
              </a:ext>
            </a:extLst>
          </p:cNvPr>
          <p:cNvSpPr>
            <a:spLocks xmlns:a="http://schemas.openxmlformats.org/drawingml/2006/main" noGrp="1"/>
          </p:cNvSpPr>
          <p:nvPr/>
        </p:nvSpPr>
        <p:spPr>
          <a:xfrm xmlns:a="http://schemas.openxmlformats.org/drawingml/2006/main">
            <a:off x="4371975" y="2990850"/>
            <a:ext cx="19050" cy="19050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22" name="">
            <a:extLst xmlns:a="http://schemas.openxmlformats.org/drawingml/2006/main">
              <a:ext uri="{FF2B5EF4-FFF2-40B4-BE49-F238E27FC236}">
                <a16:creationId xmlns:a16="http://schemas.microsoft.com/office/drawing/2014/main" id="{2F429440-073A-41C0-8D4D-B284BAF16292}"/>
              </a:ext>
            </a:extLst>
          </p:cNvPr>
          <p:cNvSpPr>
            <a:spLocks xmlns:a="http://schemas.openxmlformats.org/drawingml/2006/main" noGrp="1"/>
          </p:cNvSpPr>
          <p:nvPr/>
        </p:nvSpPr>
        <p:spPr>
          <a:xfrm xmlns:a="http://schemas.openxmlformats.org/drawingml/2006/main">
            <a:off x="5212556" y="2990850"/>
            <a:ext cx="19050" cy="19050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23" name="">
            <a:extLst xmlns:a="http://schemas.openxmlformats.org/drawingml/2006/main">
              <a:ext uri="{FF2B5EF4-FFF2-40B4-BE49-F238E27FC236}">
                <a16:creationId xmlns:a16="http://schemas.microsoft.com/office/drawing/2014/main" id="{A39B2F15-D762-4613-9396-FF0376BA5473}"/>
              </a:ext>
            </a:extLst>
          </p:cNvPr>
          <p:cNvSpPr>
            <a:spLocks xmlns:a="http://schemas.openxmlformats.org/drawingml/2006/main" noGrp="1"/>
          </p:cNvSpPr>
          <p:nvPr/>
        </p:nvSpPr>
        <p:spPr>
          <a:xfrm xmlns:a="http://schemas.openxmlformats.org/drawingml/2006/main">
            <a:off x="4723448" y="3009900"/>
            <a:ext cx="152400" cy="152400"/>
          </a:xfrm>
          <a:prstGeom xmlns:a="http://schemas.openxmlformats.org/drawingml/2006/main" prst="ellipse">
            <a:avLst/>
          </a:prstGeom>
          <a:solidFill xmlns:a="http://schemas.openxmlformats.org/drawingml/2006/main">
            <a:srgbClr val="2F80ED"/>
          </a:solidFill>
          <a:ln xmlns:a="http://schemas.openxmlformats.org/drawingml/2006/main" w="9525">
            <a:solidFill>
              <a:srgbClr val="2F80ED"/>
            </a:solidFill>
            <a:prstDash val="solid"/>
          </a:ln>
        </p:spPr>
      </p:sp>
      <p:sp>
        <p:nvSpPr>
          <p:cNvPr id="24" name="">
            <a:extLst xmlns:a="http://schemas.openxmlformats.org/drawingml/2006/main">
              <a:ext uri="{FF2B5EF4-FFF2-40B4-BE49-F238E27FC236}">
                <a16:creationId xmlns:a16="http://schemas.microsoft.com/office/drawing/2014/main" id="{DA7BB82F-51F5-4E05-B892-8DF51F2AB378}"/>
              </a:ext>
            </a:extLst>
          </p:cNvPr>
          <p:cNvSpPr>
            <a:spLocks xmlns:a="http://schemas.openxmlformats.org/drawingml/2006/main" noGrp="1"/>
          </p:cNvSpPr>
          <p:nvPr/>
        </p:nvSpPr>
        <p:spPr>
          <a:xfrm xmlns:a="http://schemas.openxmlformats.org/drawingml/2006/main">
            <a:off x="6572250" y="2895600"/>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5F6B7A"/>
                </a:solidFill>
                <a:latin typeface="Aptos"/>
                <a:ea typeface="Aptos"/>
                <a:cs typeface="Aptos"/>
              </a:defRPr>
            </a:pPr>
            <a:r>
              <a:rPr sz="1350" b="0" i="0">
                <a:solidFill>
                  <a:srgbClr val="5F6B7A"/>
                </a:solidFill>
                <a:latin typeface="Aptos"/>
                <a:ea typeface="Aptos"/>
                <a:cs typeface="Aptos"/>
              </a:rPr>
              <a:t>+0.049  [-0.041, +0.140]</a:t>
            </a:r>
          </a:p>
        </p:txBody>
      </p:sp>
      <p:sp>
        <p:nvSpPr>
          <p:cNvPr id="25" name="">
            <a:extLst xmlns:a="http://schemas.openxmlformats.org/drawingml/2006/main">
              <a:ext uri="{FF2B5EF4-FFF2-40B4-BE49-F238E27FC236}">
                <a16:creationId xmlns:a16="http://schemas.microsoft.com/office/drawing/2014/main" id="{5F89C7BD-ED88-4368-BC04-168CFF55F6CC}"/>
              </a:ext>
            </a:extLst>
          </p:cNvPr>
          <p:cNvSpPr>
            <a:spLocks xmlns:a="http://schemas.openxmlformats.org/drawingml/2006/main" noGrp="1"/>
          </p:cNvSpPr>
          <p:nvPr/>
        </p:nvSpPr>
        <p:spPr>
          <a:xfrm xmlns:a="http://schemas.openxmlformats.org/drawingml/2006/main">
            <a:off x="476250" y="3876675"/>
            <a:ext cx="20669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i="0">
                <a:solidFill>
                  <a:srgbClr val="0B1220"/>
                </a:solidFill>
                <a:latin typeface="Aptos"/>
                <a:ea typeface="Aptos"/>
                <a:cs typeface="Aptos"/>
              </a:defRPr>
            </a:pPr>
            <a:r>
              <a:rPr sz="1575" b="1" i="0">
                <a:solidFill>
                  <a:srgbClr val="0B1220"/>
                </a:solidFill>
                <a:latin typeface="Aptos"/>
                <a:ea typeface="Aptos"/>
                <a:cs typeface="Aptos"/>
              </a:rPr>
              <a:t>Mean RMG pre-service</a:t>
            </a:r>
          </a:p>
        </p:txBody>
      </p:sp>
      <p:sp>
        <p:nvSpPr>
          <p:cNvPr id="26" name="">
            <a:extLst xmlns:a="http://schemas.openxmlformats.org/drawingml/2006/main">
              <a:ext uri="{FF2B5EF4-FFF2-40B4-BE49-F238E27FC236}">
                <a16:creationId xmlns:a16="http://schemas.microsoft.com/office/drawing/2014/main" id="{540230E1-4D34-469A-A245-4697E91C5F2A}"/>
              </a:ext>
            </a:extLst>
          </p:cNvPr>
          <p:cNvSpPr>
            <a:spLocks xmlns:a="http://schemas.openxmlformats.org/drawingml/2006/main" noGrp="1"/>
          </p:cNvSpPr>
          <p:nvPr/>
        </p:nvSpPr>
        <p:spPr>
          <a:xfrm xmlns:a="http://schemas.openxmlformats.org/drawingml/2006/main">
            <a:off x="3926205" y="4095750"/>
            <a:ext cx="710565" cy="38100"/>
          </a:xfrm>
          <a:prstGeom xmlns:a="http://schemas.openxmlformats.org/drawingml/2006/main" prst="rect">
            <a:avLst/>
          </a:prstGeom>
          <a:solidFill xmlns:a="http://schemas.openxmlformats.org/drawingml/2006/main">
            <a:srgbClr val="C8102E"/>
          </a:solidFill>
          <a:ln xmlns:a="http://schemas.openxmlformats.org/drawingml/2006/main" w="0">
            <a:solidFill>
              <a:srgbClr val="C8102E"/>
            </a:solidFill>
            <a:prstDash val="solid"/>
          </a:ln>
        </p:spPr>
      </p:sp>
      <p:sp>
        <p:nvSpPr>
          <p:cNvPr id="27" name="">
            <a:extLst xmlns:a="http://schemas.openxmlformats.org/drawingml/2006/main">
              <a:ext uri="{FF2B5EF4-FFF2-40B4-BE49-F238E27FC236}">
                <a16:creationId xmlns:a16="http://schemas.microsoft.com/office/drawing/2014/main" id="{79F8D216-77FF-427C-9F3D-351A02AE0231}"/>
              </a:ext>
            </a:extLst>
          </p:cNvPr>
          <p:cNvSpPr>
            <a:spLocks xmlns:a="http://schemas.openxmlformats.org/drawingml/2006/main" noGrp="1"/>
          </p:cNvSpPr>
          <p:nvPr/>
        </p:nvSpPr>
        <p:spPr>
          <a:xfrm xmlns:a="http://schemas.openxmlformats.org/drawingml/2006/main">
            <a:off x="3916680" y="4019550"/>
            <a:ext cx="19050" cy="190500"/>
          </a:xfrm>
          <a:prstGeom xmlns:a="http://schemas.openxmlformats.org/drawingml/2006/main" prst="rect">
            <a:avLst/>
          </a:prstGeom>
          <a:solidFill xmlns:a="http://schemas.openxmlformats.org/drawingml/2006/main">
            <a:srgbClr val="C8102E"/>
          </a:solidFill>
          <a:ln xmlns:a="http://schemas.openxmlformats.org/drawingml/2006/main" w="0">
            <a:solidFill>
              <a:srgbClr val="C8102E"/>
            </a:solidFill>
            <a:prstDash val="solid"/>
          </a:ln>
        </p:spPr>
      </p:sp>
      <p:sp>
        <p:nvSpPr>
          <p:cNvPr id="28" name="">
            <a:extLst xmlns:a="http://schemas.openxmlformats.org/drawingml/2006/main">
              <a:ext uri="{FF2B5EF4-FFF2-40B4-BE49-F238E27FC236}">
                <a16:creationId xmlns:a16="http://schemas.microsoft.com/office/drawing/2014/main" id="{4722C6E7-AC31-49B6-AEF6-F4B3F55FD495}"/>
              </a:ext>
            </a:extLst>
          </p:cNvPr>
          <p:cNvSpPr>
            <a:spLocks xmlns:a="http://schemas.openxmlformats.org/drawingml/2006/main" noGrp="1"/>
          </p:cNvSpPr>
          <p:nvPr/>
        </p:nvSpPr>
        <p:spPr>
          <a:xfrm xmlns:a="http://schemas.openxmlformats.org/drawingml/2006/main">
            <a:off x="4627245" y="4019550"/>
            <a:ext cx="19050" cy="190500"/>
          </a:xfrm>
          <a:prstGeom xmlns:a="http://schemas.openxmlformats.org/drawingml/2006/main" prst="rect">
            <a:avLst/>
          </a:prstGeom>
          <a:solidFill xmlns:a="http://schemas.openxmlformats.org/drawingml/2006/main">
            <a:srgbClr val="C8102E"/>
          </a:solidFill>
          <a:ln xmlns:a="http://schemas.openxmlformats.org/drawingml/2006/main" w="0">
            <a:solidFill>
              <a:srgbClr val="C8102E"/>
            </a:solidFill>
            <a:prstDash val="solid"/>
          </a:ln>
        </p:spPr>
      </p:sp>
      <p:sp>
        <p:nvSpPr>
          <p:cNvPr id="29" name="">
            <a:extLst xmlns:a="http://schemas.openxmlformats.org/drawingml/2006/main">
              <a:ext uri="{FF2B5EF4-FFF2-40B4-BE49-F238E27FC236}">
                <a16:creationId xmlns:a16="http://schemas.microsoft.com/office/drawing/2014/main" id="{3ECA3E33-F7F9-4E7A-9A94-2CB439FA50F4}"/>
              </a:ext>
            </a:extLst>
          </p:cNvPr>
          <p:cNvSpPr>
            <a:spLocks xmlns:a="http://schemas.openxmlformats.org/drawingml/2006/main" noGrp="1"/>
          </p:cNvSpPr>
          <p:nvPr/>
        </p:nvSpPr>
        <p:spPr>
          <a:xfrm xmlns:a="http://schemas.openxmlformats.org/drawingml/2006/main">
            <a:off x="4208145" y="4038600"/>
            <a:ext cx="152400" cy="15240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30" name="">
            <a:extLst xmlns:a="http://schemas.openxmlformats.org/drawingml/2006/main">
              <a:ext uri="{FF2B5EF4-FFF2-40B4-BE49-F238E27FC236}">
                <a16:creationId xmlns:a16="http://schemas.microsoft.com/office/drawing/2014/main" id="{204C518D-1CE0-4FB5-9DD1-EDC4F199179E}"/>
              </a:ext>
            </a:extLst>
          </p:cNvPr>
          <p:cNvSpPr>
            <a:spLocks xmlns:a="http://schemas.openxmlformats.org/drawingml/2006/main" noGrp="1"/>
          </p:cNvSpPr>
          <p:nvPr/>
        </p:nvSpPr>
        <p:spPr>
          <a:xfrm xmlns:a="http://schemas.openxmlformats.org/drawingml/2006/main">
            <a:off x="6572250" y="3924300"/>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C8102E"/>
                </a:solidFill>
                <a:latin typeface="Aptos"/>
                <a:ea typeface="Aptos"/>
                <a:cs typeface="Aptos"/>
              </a:defRPr>
            </a:pPr>
            <a:r>
              <a:rPr sz="1350" b="1" i="0">
                <a:solidFill>
                  <a:srgbClr val="C8102E"/>
                </a:solidFill>
                <a:latin typeface="Aptos"/>
                <a:ea typeface="Aptos"/>
                <a:cs typeface="Aptos"/>
              </a:rPr>
              <a:t>-0.062  [-0.139, +0.014]</a:t>
            </a:r>
          </a:p>
        </p:txBody>
      </p:sp>
      <p:sp>
        <p:nvSpPr>
          <p:cNvPr id="31" name="">
            <a:extLst xmlns:a="http://schemas.openxmlformats.org/drawingml/2006/main">
              <a:ext uri="{FF2B5EF4-FFF2-40B4-BE49-F238E27FC236}">
                <a16:creationId xmlns:a16="http://schemas.microsoft.com/office/drawing/2014/main" id="{A9DA0E9E-3E61-4A16-8E34-849601EC7CE4}"/>
              </a:ext>
            </a:extLst>
          </p:cNvPr>
          <p:cNvSpPr>
            <a:spLocks xmlns:a="http://schemas.openxmlformats.org/drawingml/2006/main" noGrp="1"/>
          </p:cNvSpPr>
          <p:nvPr/>
        </p:nvSpPr>
        <p:spPr>
          <a:xfrm xmlns:a="http://schemas.openxmlformats.org/drawingml/2006/main">
            <a:off x="8477250" y="1352550"/>
            <a:ext cx="3181350" cy="4324350"/>
          </a:xfrm>
          <a:prstGeom xmlns:a="http://schemas.openxmlformats.org/drawingml/2006/main" prst="roundRect">
            <a:avLst>
              <a:gd name="adj" fmla="val 3593"/>
            </a:avLst>
          </a:prstGeom>
          <a:solidFill xmlns:a="http://schemas.openxmlformats.org/drawingml/2006/main">
            <a:srgbClr val="F8FAFC"/>
          </a:solidFill>
          <a:ln xmlns:a="http://schemas.openxmlformats.org/drawingml/2006/main" w="9525">
            <a:solidFill>
              <a:srgbClr val="D0D5DD"/>
            </a:solidFill>
            <a:prstDash val="solid"/>
          </a:ln>
        </p:spPr>
      </p:sp>
      <p:sp>
        <p:nvSpPr>
          <p:cNvPr id="32" name="">
            <a:extLst xmlns:a="http://schemas.openxmlformats.org/drawingml/2006/main">
              <a:ext uri="{FF2B5EF4-FFF2-40B4-BE49-F238E27FC236}">
                <a16:creationId xmlns:a16="http://schemas.microsoft.com/office/drawing/2014/main" id="{82F7B81A-CA39-4BF6-BB74-6D0920A6326A}"/>
              </a:ext>
            </a:extLst>
          </p:cNvPr>
          <p:cNvSpPr>
            <a:spLocks xmlns:a="http://schemas.openxmlformats.org/drawingml/2006/main" noGrp="1"/>
          </p:cNvSpPr>
          <p:nvPr/>
        </p:nvSpPr>
        <p:spPr>
          <a:xfrm xmlns:a="http://schemas.openxmlformats.org/drawingml/2006/main">
            <a:off x="8743950" y="16002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16876A"/>
                </a:solidFill>
                <a:latin typeface="Aptos"/>
                <a:ea typeface="Aptos"/>
                <a:cs typeface="Aptos"/>
              </a:defRPr>
            </a:pPr>
            <a:r>
              <a:rPr sz="1500" b="1" i="0">
                <a:solidFill>
                  <a:srgbClr val="16876A"/>
                </a:solidFill>
                <a:latin typeface="Aptos"/>
                <a:ea typeface="Aptos"/>
                <a:cs typeface="Aptos"/>
              </a:rPr>
              <a:t>Intervention check</a:t>
            </a:r>
          </a:p>
        </p:txBody>
      </p:sp>
      <p:sp>
        <p:nvSpPr>
          <p:cNvPr id="33" name="">
            <a:extLst xmlns:a="http://schemas.openxmlformats.org/drawingml/2006/main">
              <a:ext uri="{FF2B5EF4-FFF2-40B4-BE49-F238E27FC236}">
                <a16:creationId xmlns:a16="http://schemas.microsoft.com/office/drawing/2014/main" id="{F3F679A3-260E-41B5-8655-2780F80EE29A}"/>
              </a:ext>
            </a:extLst>
          </p:cNvPr>
          <p:cNvSpPr>
            <a:spLocks xmlns:a="http://schemas.openxmlformats.org/drawingml/2006/main" noGrp="1"/>
          </p:cNvSpPr>
          <p:nvPr/>
        </p:nvSpPr>
        <p:spPr>
          <a:xfrm xmlns:a="http://schemas.openxmlformats.org/drawingml/2006/main">
            <a:off x="8743950" y="1971675"/>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i="0">
                <a:solidFill>
                  <a:srgbClr val="16876A"/>
                </a:solidFill>
                <a:latin typeface="Aptos"/>
                <a:ea typeface="Aptos"/>
                <a:cs typeface="Aptos"/>
              </a:defRPr>
            </a:pPr>
            <a:r>
              <a:rPr sz="3000" b="1" i="0">
                <a:solidFill>
                  <a:srgbClr val="16876A"/>
                </a:solidFill>
                <a:latin typeface="Aptos"/>
                <a:ea typeface="Aptos"/>
                <a:cs typeface="Aptos"/>
              </a:rPr>
              <a:t>+20.0%</a:t>
            </a:r>
          </a:p>
        </p:txBody>
      </p:sp>
      <p:sp>
        <p:nvSpPr>
          <p:cNvPr id="34" name="">
            <a:extLst xmlns:a="http://schemas.openxmlformats.org/drawingml/2006/main">
              <a:ext uri="{FF2B5EF4-FFF2-40B4-BE49-F238E27FC236}">
                <a16:creationId xmlns:a16="http://schemas.microsoft.com/office/drawing/2014/main" id="{4F67A8AD-8BA1-45AB-858E-E6985D2246BA}"/>
              </a:ext>
            </a:extLst>
          </p:cNvPr>
          <p:cNvSpPr>
            <a:spLocks xmlns:a="http://schemas.openxmlformats.org/drawingml/2006/main" noGrp="1"/>
          </p:cNvSpPr>
          <p:nvPr/>
        </p:nvSpPr>
        <p:spPr>
          <a:xfrm xmlns:a="http://schemas.openxmlformats.org/drawingml/2006/main">
            <a:off x="8743950" y="2543175"/>
            <a:ext cx="266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i="0">
                <a:solidFill>
                  <a:srgbClr val="5F6B7A"/>
                </a:solidFill>
                <a:latin typeface="Aptos"/>
                <a:ea typeface="Aptos"/>
                <a:cs typeface="Aptos"/>
              </a:defRPr>
            </a:pPr>
            <a:r>
              <a:rPr sz="1500" b="0" i="0">
                <a:solidFill>
                  <a:srgbClr val="5F6B7A"/>
                </a:solidFill>
                <a:latin typeface="Aptos"/>
                <a:ea typeface="Aptos"/>
                <a:cs typeface="Aptos"/>
              </a:rPr>
              <a:t>configured intensity; +15.910% per elapsed hour</a:t>
            </a:r>
          </a:p>
        </p:txBody>
      </p:sp>
      <p:sp>
        <p:nvSpPr>
          <p:cNvPr id="35" name="">
            <a:extLst xmlns:a="http://schemas.openxmlformats.org/drawingml/2006/main">
              <a:ext uri="{FF2B5EF4-FFF2-40B4-BE49-F238E27FC236}">
                <a16:creationId xmlns:a16="http://schemas.microsoft.com/office/drawing/2014/main" id="{E8DBEA1A-C948-4D90-BE0C-7C9FF587419B}"/>
              </a:ext>
            </a:extLst>
          </p:cNvPr>
          <p:cNvSpPr>
            <a:spLocks xmlns:a="http://schemas.openxmlformats.org/drawingml/2006/main" noGrp="1"/>
          </p:cNvSpPr>
          <p:nvPr/>
        </p:nvSpPr>
        <p:spPr>
          <a:xfrm xmlns:a="http://schemas.openxmlformats.org/drawingml/2006/main">
            <a:off x="8743950" y="3124200"/>
            <a:ext cx="238125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6" name="">
            <a:extLst xmlns:a="http://schemas.openxmlformats.org/drawingml/2006/main">
              <a:ext uri="{FF2B5EF4-FFF2-40B4-BE49-F238E27FC236}">
                <a16:creationId xmlns:a16="http://schemas.microsoft.com/office/drawing/2014/main" id="{E5DCD306-E4F3-49B2-994B-B0F864F60E43}"/>
              </a:ext>
            </a:extLst>
          </p:cNvPr>
          <p:cNvSpPr>
            <a:spLocks xmlns:a="http://schemas.openxmlformats.org/drawingml/2006/main" noGrp="1"/>
          </p:cNvSpPr>
          <p:nvPr/>
        </p:nvSpPr>
        <p:spPr>
          <a:xfrm xmlns:a="http://schemas.openxmlformats.org/drawingml/2006/main">
            <a:off x="8743950" y="33909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Diagnostic result</a:t>
            </a:r>
          </a:p>
        </p:txBody>
      </p:sp>
      <p:sp>
        <p:nvSpPr>
          <p:cNvPr id="37" name="">
            <a:extLst xmlns:a="http://schemas.openxmlformats.org/drawingml/2006/main">
              <a:ext uri="{FF2B5EF4-FFF2-40B4-BE49-F238E27FC236}">
                <a16:creationId xmlns:a16="http://schemas.microsoft.com/office/drawing/2014/main" id="{43D7BC95-86D0-4337-B6BF-DBD8C8ED9E8F}"/>
              </a:ext>
            </a:extLst>
          </p:cNvPr>
          <p:cNvSpPr>
            <a:spLocks xmlns:a="http://schemas.openxmlformats.org/drawingml/2006/main" noGrp="1"/>
          </p:cNvSpPr>
          <p:nvPr/>
        </p:nvSpPr>
        <p:spPr>
          <a:xfrm xmlns:a="http://schemas.openxmlformats.org/drawingml/2006/main">
            <a:off x="8743950" y="3905250"/>
            <a:ext cx="2571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Arrivals update native state, but the change does not reach a resolved handling or turnaround response.</a:t>
            </a:r>
          </a:p>
        </p:txBody>
      </p:sp>
      <p:sp>
        <p:nvSpPr>
          <p:cNvPr id="38" name="">
            <a:extLst xmlns:a="http://schemas.openxmlformats.org/drawingml/2006/main">
              <a:ext uri="{FF2B5EF4-FFF2-40B4-BE49-F238E27FC236}">
                <a16:creationId xmlns:a16="http://schemas.microsoft.com/office/drawing/2014/main" id="{C7A6EEBB-30AD-4955-B4EF-D3192F6E9791}"/>
              </a:ext>
            </a:extLst>
          </p:cNvPr>
          <p:cNvSpPr>
            <a:spLocks xmlns:a="http://schemas.openxmlformats.org/drawingml/2006/main" noGrp="1"/>
          </p:cNvSpPr>
          <p:nvPr/>
        </p:nvSpPr>
        <p:spPr>
          <a:xfrm xmlns:a="http://schemas.openxmlformats.org/drawingml/2006/main">
            <a:off x="8743950" y="51435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C8102E"/>
                </a:solidFill>
                <a:latin typeface="Aptos"/>
                <a:ea typeface="Aptos"/>
                <a:cs typeface="Aptos"/>
              </a:defRPr>
            </a:pPr>
            <a:r>
              <a:rPr sz="1500" b="1" i="0">
                <a:solidFill>
                  <a:srgbClr val="C8102E"/>
                </a:solidFill>
                <a:latin typeface="Aptos"/>
                <a:ea typeface="Aptos"/>
                <a:cs typeface="Aptos"/>
              </a:rPr>
              <a:t>All primary paired intervals include zero.</a:t>
            </a:r>
          </a:p>
        </p:txBody>
      </p:sp>
    </p:spTree>
    <p:extLst>
      <p:ext uri="{BB962C8B-B14F-4D97-AF65-F5344CB8AC3E}">
        <p14:creationId xmlns:p14="http://schemas.microsoft.com/office/powerpoint/2010/main" val="48048389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702A2B3-3C3E-4DF0-83EB-4C65166F00F7}"/>
              </a:ext>
            </a:extLst>
          </p:cNvPr>
          <p:cNvSpPr>
            <a:spLocks xmlns:a="http://schemas.openxmlformats.org/drawingml/2006/main" noGrp="1"/>
          </p:cNvSpPr>
          <p:nvPr/>
        </p:nvSpPr>
        <p:spPr>
          <a:xfrm xmlns:a="http://schemas.openxmlformats.org/drawingml/2006/main">
            <a:off x="457200" y="32385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0B1220"/>
                </a:solidFill>
                <a:latin typeface="Aptos"/>
                <a:ea typeface="Aptos"/>
                <a:cs typeface="Aptos"/>
              </a:defRPr>
            </a:pPr>
            <a:r>
              <a:rPr sz="3450" b="1" i="0">
                <a:solidFill>
                  <a:srgbClr val="0B1220"/>
                </a:solidFill>
                <a:latin typeface="Aptos"/>
                <a:ea typeface="Aptos"/>
                <a:cs typeface="Aptos"/>
              </a:rPr>
              <a:t>Native workload responds only at much higher demand</a:t>
            </a:r>
          </a:p>
        </p:txBody>
      </p:sp>
      <p:sp>
        <p:nvSpPr>
          <p:cNvPr id="2" name="">
            <a:extLst xmlns:a="http://schemas.openxmlformats.org/drawingml/2006/main">
              <a:ext uri="{FF2B5EF4-FFF2-40B4-BE49-F238E27FC236}">
                <a16:creationId xmlns:a16="http://schemas.microsoft.com/office/drawing/2014/main" id="{5E5A8381-730C-42B7-A1C8-780D600364D9}"/>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 name="">
            <a:extLst xmlns:a="http://schemas.openxmlformats.org/drawingml/2006/main">
              <a:ext uri="{FF2B5EF4-FFF2-40B4-BE49-F238E27FC236}">
                <a16:creationId xmlns:a16="http://schemas.microsoft.com/office/drawing/2014/main" id="{1C604B6E-0A26-4172-93EB-0AFF08EE3194}"/>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4" name="">
            <a:extLst xmlns:a="http://schemas.openxmlformats.org/drawingml/2006/main">
              <a:ext uri="{FF2B5EF4-FFF2-40B4-BE49-F238E27FC236}">
                <a16:creationId xmlns:a16="http://schemas.microsoft.com/office/drawing/2014/main" id="{2B2D811D-E537-4258-A3D7-9A11A4E7421F}"/>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14</a:t>
            </a:r>
          </a:p>
        </p:txBody>
      </p:sp>
      <p:sp>
        <p:nvSpPr>
          <p:cNvPr id="5" name="">
            <a:extLst xmlns:a="http://schemas.openxmlformats.org/drawingml/2006/main">
              <a:ext uri="{FF2B5EF4-FFF2-40B4-BE49-F238E27FC236}">
                <a16:creationId xmlns:a16="http://schemas.microsoft.com/office/drawing/2014/main" id="{63DC5B22-E9FE-42D5-B302-7724653BBFAE}"/>
              </a:ext>
            </a:extLst>
          </p:cNvPr>
          <p:cNvSpPr>
            <a:spLocks xmlns:a="http://schemas.openxmlformats.org/drawingml/2006/main" noGrp="1"/>
          </p:cNvSpPr>
          <p:nvPr/>
        </p:nvSpPr>
        <p:spPr>
          <a:xfrm xmlns:a="http://schemas.openxmlformats.org/drawingml/2006/main">
            <a:off x="457200" y="1200150"/>
            <a:ext cx="7572375" cy="4905375"/>
          </a:xfrm>
          <a:prstGeom xmlns:a="http://schemas.openxmlformats.org/drawingml/2006/main" prst="roundRect">
            <a:avLst>
              <a:gd name="adj" fmla="val 2330"/>
            </a:avLst>
          </a:prstGeom>
          <a:solidFill xmlns:a="http://schemas.openxmlformats.org/drawingml/2006/main">
            <a:srgbClr val="F8FAFC"/>
          </a:solidFill>
          <a:ln xmlns:a="http://schemas.openxmlformats.org/drawingml/2006/main" w="0">
            <a:no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e35404cded34253"/>
          <a:stretch xmlns:a="http://schemas.openxmlformats.org/drawingml/2006/main"/>
        </p:blipFill>
        <p:spPr>
          <a:xfrm xmlns:a="http://schemas.openxmlformats.org/drawingml/2006/main">
            <a:off x="0" y="0"/>
            <a:ext cx="9525" cy="95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CDE627A-202F-4B41-9B70-3E89E7FF6F9C}"/>
              </a:ext>
            </a:extLst>
          </p:cNvPr>
          <p:cNvSpPr>
            <a:spLocks xmlns:a="http://schemas.openxmlformats.org/drawingml/2006/main" noGrp="1"/>
          </p:cNvSpPr>
          <p:nvPr/>
        </p:nvSpPr>
        <p:spPr>
          <a:xfrm xmlns:a="http://schemas.openxmlformats.org/drawingml/2006/main">
            <a:off x="1085850" y="5505450"/>
            <a:ext cx="632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5F6B7A"/>
                </a:solidFill>
                <a:latin typeface="Aptos"/>
                <a:ea typeface="Aptos"/>
                <a:cs typeface="Aptos"/>
              </a:defRPr>
            </a:pPr>
            <a:r>
              <a:rPr sz="1650" b="1" i="0">
                <a:solidFill>
                  <a:srgbClr val="5F6B7A"/>
                </a:solidFill>
                <a:latin typeface="Aptos"/>
                <a:ea typeface="Aptos"/>
                <a:cs typeface="Aptos"/>
              </a:rPr>
              <a:t>Visit-only remains invariant. The response is a fitted-model transition, not a CTB capacity threshold.</a:t>
            </a:r>
          </a:p>
        </p:txBody>
      </p:sp>
      <p:sp>
        <p:nvSpPr>
          <p:cNvPr id="8" name="">
            <a:extLst xmlns:a="http://schemas.openxmlformats.org/drawingml/2006/main">
              <a:ext uri="{FF2B5EF4-FFF2-40B4-BE49-F238E27FC236}">
                <a16:creationId xmlns:a16="http://schemas.microsoft.com/office/drawing/2014/main" id="{DBFF75F0-C418-4027-8349-29BB9FDE9E0E}"/>
              </a:ext>
            </a:extLst>
          </p:cNvPr>
          <p:cNvSpPr>
            <a:spLocks xmlns:a="http://schemas.openxmlformats.org/drawingml/2006/main" noGrp="1"/>
          </p:cNvSpPr>
          <p:nvPr/>
        </p:nvSpPr>
        <p:spPr>
          <a:xfrm xmlns:a="http://schemas.openxmlformats.org/drawingml/2006/main">
            <a:off x="8324850" y="1238250"/>
            <a:ext cx="3333750" cy="1390650"/>
          </a:xfrm>
          <a:prstGeom xmlns:a="http://schemas.openxmlformats.org/drawingml/2006/main" prst="roundRect">
            <a:avLst>
              <a:gd name="adj" fmla="val 8219"/>
            </a:avLst>
          </a:prstGeom>
          <a:solidFill xmlns:a="http://schemas.openxmlformats.org/drawingml/2006/main">
            <a:srgbClr val="EAF8F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24DB52D-2F7A-4578-ABE4-FC482835C550}"/>
              </a:ext>
            </a:extLst>
          </p:cNvPr>
          <p:cNvSpPr>
            <a:spLocks xmlns:a="http://schemas.openxmlformats.org/drawingml/2006/main" noGrp="1"/>
          </p:cNvSpPr>
          <p:nvPr/>
        </p:nvSpPr>
        <p:spPr>
          <a:xfrm xmlns:a="http://schemas.openxmlformats.org/drawingml/2006/main">
            <a:off x="8324850" y="1238250"/>
            <a:ext cx="66675" cy="1390650"/>
          </a:xfrm>
          <a:prstGeom xmlns:a="http://schemas.openxmlformats.org/drawingml/2006/main" prst="rect">
            <a:avLst/>
          </a:prstGeom>
          <a:solidFill xmlns:a="http://schemas.openxmlformats.org/drawingml/2006/main">
            <a:srgbClr val="16876A"/>
          </a:solidFill>
          <a:ln xmlns:a="http://schemas.openxmlformats.org/drawingml/2006/main" w="0">
            <a:solidFill>
              <a:srgbClr val="16876A"/>
            </a:solidFill>
            <a:prstDash val="solid"/>
          </a:ln>
        </p:spPr>
      </p:sp>
      <p:sp>
        <p:nvSpPr>
          <p:cNvPr id="10" name="">
            <a:extLst xmlns:a="http://schemas.openxmlformats.org/drawingml/2006/main">
              <a:ext uri="{FF2B5EF4-FFF2-40B4-BE49-F238E27FC236}">
                <a16:creationId xmlns:a16="http://schemas.microsoft.com/office/drawing/2014/main" id="{C90821DB-98EE-484D-B23E-507CF335E9B5}"/>
              </a:ext>
            </a:extLst>
          </p:cNvPr>
          <p:cNvSpPr>
            <a:spLocks xmlns:a="http://schemas.openxmlformats.org/drawingml/2006/main" noGrp="1"/>
          </p:cNvSpPr>
          <p:nvPr/>
        </p:nvSpPr>
        <p:spPr>
          <a:xfrm xmlns:a="http://schemas.openxmlformats.org/drawingml/2006/main">
            <a:off x="8572500" y="1428750"/>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16876A"/>
                </a:solidFill>
                <a:latin typeface="Aptos"/>
                <a:ea typeface="Aptos"/>
                <a:cs typeface="Aptos"/>
              </a:defRPr>
            </a:pPr>
            <a:r>
              <a:rPr sz="3450" b="1" i="0">
                <a:solidFill>
                  <a:srgbClr val="16876A"/>
                </a:solidFill>
                <a:latin typeface="Aptos"/>
                <a:ea typeface="Aptos"/>
                <a:cs typeface="Aptos"/>
              </a:rPr>
              <a:t>2.37-2.83x</a:t>
            </a:r>
          </a:p>
        </p:txBody>
      </p:sp>
      <p:sp>
        <p:nvSpPr>
          <p:cNvPr id="11" name="">
            <a:extLst xmlns:a="http://schemas.openxmlformats.org/drawingml/2006/main">
              <a:ext uri="{FF2B5EF4-FFF2-40B4-BE49-F238E27FC236}">
                <a16:creationId xmlns:a16="http://schemas.microsoft.com/office/drawing/2014/main" id="{FCCD63CA-352F-4B92-9AD4-4738637D906A}"/>
              </a:ext>
            </a:extLst>
          </p:cNvPr>
          <p:cNvSpPr>
            <a:spLocks xmlns:a="http://schemas.openxmlformats.org/drawingml/2006/main" noGrp="1"/>
          </p:cNvSpPr>
          <p:nvPr/>
        </p:nvSpPr>
        <p:spPr>
          <a:xfrm xmlns:a="http://schemas.openxmlformats.org/drawingml/2006/main">
            <a:off x="8572500" y="2038350"/>
            <a:ext cx="2838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first resolved response interval</a:t>
            </a:r>
          </a:p>
        </p:txBody>
      </p:sp>
      <p:sp>
        <p:nvSpPr>
          <p:cNvPr id="12" name="">
            <a:extLst xmlns:a="http://schemas.openxmlformats.org/drawingml/2006/main">
              <a:ext uri="{FF2B5EF4-FFF2-40B4-BE49-F238E27FC236}">
                <a16:creationId xmlns:a16="http://schemas.microsoft.com/office/drawing/2014/main" id="{F4A95385-906F-49FA-A5FB-A2E43C6D519F}"/>
              </a:ext>
            </a:extLst>
          </p:cNvPr>
          <p:cNvSpPr>
            <a:spLocks xmlns:a="http://schemas.openxmlformats.org/drawingml/2006/main" noGrp="1"/>
          </p:cNvSpPr>
          <p:nvPr/>
        </p:nvSpPr>
        <p:spPr>
          <a:xfrm xmlns:a="http://schemas.openxmlformats.org/drawingml/2006/main">
            <a:off x="8324850" y="2838450"/>
            <a:ext cx="3333750" cy="1390650"/>
          </a:xfrm>
          <a:prstGeom xmlns:a="http://schemas.openxmlformats.org/drawingml/2006/main" prst="roundRect">
            <a:avLst>
              <a:gd name="adj" fmla="val 8219"/>
            </a:avLst>
          </a:prstGeom>
          <a:solidFill xmlns:a="http://schemas.openxmlformats.org/drawingml/2006/main">
            <a:srgbClr val="EAF3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E2199C3-E19B-4D5F-816B-467E29D5D82B}"/>
              </a:ext>
            </a:extLst>
          </p:cNvPr>
          <p:cNvSpPr>
            <a:spLocks xmlns:a="http://schemas.openxmlformats.org/drawingml/2006/main" noGrp="1"/>
          </p:cNvSpPr>
          <p:nvPr/>
        </p:nvSpPr>
        <p:spPr>
          <a:xfrm xmlns:a="http://schemas.openxmlformats.org/drawingml/2006/main">
            <a:off x="8324850" y="2838450"/>
            <a:ext cx="66675" cy="139065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14" name="">
            <a:extLst xmlns:a="http://schemas.openxmlformats.org/drawingml/2006/main">
              <a:ext uri="{FF2B5EF4-FFF2-40B4-BE49-F238E27FC236}">
                <a16:creationId xmlns:a16="http://schemas.microsoft.com/office/drawing/2014/main" id="{F012EB2F-2160-4964-AC7B-4B411C90AC3D}"/>
              </a:ext>
            </a:extLst>
          </p:cNvPr>
          <p:cNvSpPr>
            <a:spLocks xmlns:a="http://schemas.openxmlformats.org/drawingml/2006/main" noGrp="1"/>
          </p:cNvSpPr>
          <p:nvPr/>
        </p:nvSpPr>
        <p:spPr>
          <a:xfrm xmlns:a="http://schemas.openxmlformats.org/drawingml/2006/main">
            <a:off x="8572500" y="3028950"/>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2F80ED"/>
                </a:solidFill>
                <a:latin typeface="Aptos"/>
                <a:ea typeface="Aptos"/>
                <a:cs typeface="Aptos"/>
              </a:defRPr>
            </a:pPr>
            <a:r>
              <a:rPr sz="3450" b="1" i="0">
                <a:solidFill>
                  <a:srgbClr val="2F80ED"/>
                </a:solidFill>
                <a:latin typeface="Aptos"/>
                <a:ea typeface="Aptos"/>
                <a:cs typeface="Aptos"/>
              </a:rPr>
              <a:t>+1.815 min</a:t>
            </a:r>
          </a:p>
        </p:txBody>
      </p:sp>
      <p:sp>
        <p:nvSpPr>
          <p:cNvPr id="15" name="">
            <a:extLst xmlns:a="http://schemas.openxmlformats.org/drawingml/2006/main">
              <a:ext uri="{FF2B5EF4-FFF2-40B4-BE49-F238E27FC236}">
                <a16:creationId xmlns:a16="http://schemas.microsoft.com/office/drawing/2014/main" id="{299CEA90-68EB-43F0-AB7D-6DEFA0648967}"/>
              </a:ext>
            </a:extLst>
          </p:cNvPr>
          <p:cNvSpPr>
            <a:spLocks xmlns:a="http://schemas.openxmlformats.org/drawingml/2006/main" noGrp="1"/>
          </p:cNvSpPr>
          <p:nvPr/>
        </p:nvSpPr>
        <p:spPr>
          <a:xfrm xmlns:a="http://schemas.openxmlformats.org/drawingml/2006/main">
            <a:off x="8572500" y="3638550"/>
            <a:ext cx="2838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turnaround at 2.825x realised rate</a:t>
            </a:r>
          </a:p>
        </p:txBody>
      </p:sp>
      <p:sp>
        <p:nvSpPr>
          <p:cNvPr id="16" name="">
            <a:extLst xmlns:a="http://schemas.openxmlformats.org/drawingml/2006/main">
              <a:ext uri="{FF2B5EF4-FFF2-40B4-BE49-F238E27FC236}">
                <a16:creationId xmlns:a16="http://schemas.microsoft.com/office/drawing/2014/main" id="{DDF796F9-3AB1-4382-B3D7-CC27C0C7D72D}"/>
              </a:ext>
            </a:extLst>
          </p:cNvPr>
          <p:cNvSpPr>
            <a:spLocks xmlns:a="http://schemas.openxmlformats.org/drawingml/2006/main" noGrp="1"/>
          </p:cNvSpPr>
          <p:nvPr/>
        </p:nvSpPr>
        <p:spPr>
          <a:xfrm xmlns:a="http://schemas.openxmlformats.org/drawingml/2006/main">
            <a:off x="8324850" y="4438650"/>
            <a:ext cx="3333750" cy="1390650"/>
          </a:xfrm>
          <a:prstGeom xmlns:a="http://schemas.openxmlformats.org/drawingml/2006/main" prst="roundRect">
            <a:avLst>
              <a:gd name="adj" fmla="val 8219"/>
            </a:avLst>
          </a:prstGeom>
          <a:solidFill xmlns:a="http://schemas.openxmlformats.org/drawingml/2006/main">
            <a:srgbClr val="FDEC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7BFEB45-180A-436B-9213-2BD0C6AF122E}"/>
              </a:ext>
            </a:extLst>
          </p:cNvPr>
          <p:cNvSpPr>
            <a:spLocks xmlns:a="http://schemas.openxmlformats.org/drawingml/2006/main" noGrp="1"/>
          </p:cNvSpPr>
          <p:nvPr/>
        </p:nvSpPr>
        <p:spPr>
          <a:xfrm xmlns:a="http://schemas.openxmlformats.org/drawingml/2006/main">
            <a:off x="8324850" y="4438650"/>
            <a:ext cx="66675" cy="1390650"/>
          </a:xfrm>
          <a:prstGeom xmlns:a="http://schemas.openxmlformats.org/drawingml/2006/main" prst="rect">
            <a:avLst/>
          </a:prstGeom>
          <a:solidFill xmlns:a="http://schemas.openxmlformats.org/drawingml/2006/main">
            <a:srgbClr val="C8102E"/>
          </a:solidFill>
          <a:ln xmlns:a="http://schemas.openxmlformats.org/drawingml/2006/main" w="0">
            <a:solidFill>
              <a:srgbClr val="C8102E"/>
            </a:solidFill>
            <a:prstDash val="solid"/>
          </a:ln>
        </p:spPr>
      </p:sp>
      <p:sp>
        <p:nvSpPr>
          <p:cNvPr id="18" name="">
            <a:extLst xmlns:a="http://schemas.openxmlformats.org/drawingml/2006/main">
              <a:ext uri="{FF2B5EF4-FFF2-40B4-BE49-F238E27FC236}">
                <a16:creationId xmlns:a16="http://schemas.microsoft.com/office/drawing/2014/main" id="{31342187-F7D8-4613-8023-9B9806310223}"/>
              </a:ext>
            </a:extLst>
          </p:cNvPr>
          <p:cNvSpPr>
            <a:spLocks xmlns:a="http://schemas.openxmlformats.org/drawingml/2006/main" noGrp="1"/>
          </p:cNvSpPr>
          <p:nvPr/>
        </p:nvSpPr>
        <p:spPr>
          <a:xfrm xmlns:a="http://schemas.openxmlformats.org/drawingml/2006/main">
            <a:off x="8572500" y="4629150"/>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C8102E"/>
                </a:solidFill>
                <a:latin typeface="Aptos"/>
                <a:ea typeface="Aptos"/>
                <a:cs typeface="Aptos"/>
              </a:defRPr>
            </a:pPr>
            <a:r>
              <a:rPr sz="3450" b="1" i="0">
                <a:solidFill>
                  <a:srgbClr val="C8102E"/>
                </a:solidFill>
                <a:latin typeface="Aptos"/>
                <a:ea typeface="Aptos"/>
                <a:cs typeface="Aptos"/>
              </a:rPr>
              <a:t>+2.318 min</a:t>
            </a:r>
          </a:p>
        </p:txBody>
      </p:sp>
      <p:sp>
        <p:nvSpPr>
          <p:cNvPr id="19" name="">
            <a:extLst xmlns:a="http://schemas.openxmlformats.org/drawingml/2006/main">
              <a:ext uri="{FF2B5EF4-FFF2-40B4-BE49-F238E27FC236}">
                <a16:creationId xmlns:a16="http://schemas.microsoft.com/office/drawing/2014/main" id="{4DCA3A8B-126F-47BA-ABB8-1177DEC1B8DE}"/>
              </a:ext>
            </a:extLst>
          </p:cNvPr>
          <p:cNvSpPr>
            <a:spLocks xmlns:a="http://schemas.openxmlformats.org/drawingml/2006/main" noGrp="1"/>
          </p:cNvSpPr>
          <p:nvPr/>
        </p:nvSpPr>
        <p:spPr>
          <a:xfrm xmlns:a="http://schemas.openxmlformats.org/drawingml/2006/main">
            <a:off x="8572500" y="5238750"/>
            <a:ext cx="2838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RMG pre-service at 2.825x</a:t>
            </a:r>
          </a:p>
        </p:txBody>
      </p:sp>
      <p:graphicFrame>
        <p:nvGraphicFramePr>
          <p:cNvPr id="42" name="Chart"/>
          <p:cNvGraphicFramePr/>
          <p:nvPr/>
        </p:nvGraphicFramePr>
        <p:xfrm>
          <a:off xmlns:a="http://schemas.openxmlformats.org/drawingml/2006/main" x="781050" y="1619250"/>
          <a:ext xmlns:a="http://schemas.openxmlformats.org/drawingml/2006/main" cx="6810375" cy="3333750"/>
        </p:xfrm>
        <a:graphic xmlns:a="http://schemas.openxmlformats.org/drawingml/2006/main">
          <a:graphicData uri="http://schemas.openxmlformats.org/drawingml/2006/chart">
            <c:chart xmlns:r="http://schemas.openxmlformats.org/officeDocument/2006/relationships" xmlns:c="http://schemas.openxmlformats.org/drawingml/2006/chart" r:id="Rc06d16822ece4649"/>
          </a:graphicData>
        </a:graphic>
      </p:graphicFrame>
    </p:spTree>
    <p:extLst>
      <p:ext uri="{BB962C8B-B14F-4D97-AF65-F5344CB8AC3E}">
        <p14:creationId xmlns:p14="http://schemas.microsoft.com/office/powerpoint/2010/main" val="39675941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CE28C1E-4D5B-4AD9-A7DA-B355B934E6F7}"/>
              </a:ext>
            </a:extLst>
          </p:cNvPr>
          <p:cNvSpPr>
            <a:spLocks xmlns:a="http://schemas.openxmlformats.org/drawingml/2006/main" noGrp="1"/>
          </p:cNvSpPr>
          <p:nvPr/>
        </p:nvSpPr>
        <p:spPr>
          <a:xfrm xmlns:a="http://schemas.openxmlformats.org/drawingml/2006/main">
            <a:off x="457200" y="32385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0B1220"/>
                </a:solidFill>
                <a:latin typeface="Aptos"/>
                <a:ea typeface="Aptos"/>
                <a:cs typeface="Aptos"/>
              </a:defRPr>
            </a:pPr>
            <a:r>
              <a:rPr sz="3450" b="1" i="0">
                <a:solidFill>
                  <a:srgbClr val="0B1220"/>
                </a:solidFill>
                <a:latin typeface="Aptos"/>
                <a:ea typeface="Aptos"/>
                <a:cs typeface="Aptos"/>
              </a:rPr>
              <a:t>The contribution is a layered audit of where automation stops</a:t>
            </a:r>
          </a:p>
        </p:txBody>
      </p:sp>
      <p:sp>
        <p:nvSpPr>
          <p:cNvPr id="2" name="">
            <a:extLst xmlns:a="http://schemas.openxmlformats.org/drawingml/2006/main">
              <a:ext uri="{FF2B5EF4-FFF2-40B4-BE49-F238E27FC236}">
                <a16:creationId xmlns:a16="http://schemas.microsoft.com/office/drawing/2014/main" id="{4E2094B7-ECC5-4B93-AA60-C4E88DC39A00}"/>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 name="">
            <a:extLst xmlns:a="http://schemas.openxmlformats.org/drawingml/2006/main">
              <a:ext uri="{FF2B5EF4-FFF2-40B4-BE49-F238E27FC236}">
                <a16:creationId xmlns:a16="http://schemas.microsoft.com/office/drawing/2014/main" id="{A1FA94A3-4A2E-4F1F-AF66-F50D3A085C1B}"/>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4" name="">
            <a:extLst xmlns:a="http://schemas.openxmlformats.org/drawingml/2006/main">
              <a:ext uri="{FF2B5EF4-FFF2-40B4-BE49-F238E27FC236}">
                <a16:creationId xmlns:a16="http://schemas.microsoft.com/office/drawing/2014/main" id="{2AD658F4-7502-4B08-9D9E-B296B4D3370F}"/>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15</a:t>
            </a:r>
          </a:p>
        </p:txBody>
      </p:sp>
      <p:sp>
        <p:nvSpPr>
          <p:cNvPr id="5" name="">
            <a:extLst xmlns:a="http://schemas.openxmlformats.org/drawingml/2006/main">
              <a:ext uri="{FF2B5EF4-FFF2-40B4-BE49-F238E27FC236}">
                <a16:creationId xmlns:a16="http://schemas.microsoft.com/office/drawing/2014/main" id="{286D1D6A-1DC4-4A14-9823-1CE6B827F4EC}"/>
              </a:ext>
            </a:extLst>
          </p:cNvPr>
          <p:cNvSpPr>
            <a:spLocks xmlns:a="http://schemas.openxmlformats.org/drawingml/2006/main" noGrp="1"/>
          </p:cNvSpPr>
          <p:nvPr/>
        </p:nvSpPr>
        <p:spPr>
          <a:xfrm xmlns:a="http://schemas.openxmlformats.org/drawingml/2006/main">
            <a:off x="609600" y="1438275"/>
            <a:ext cx="3486150" cy="2400300"/>
          </a:xfrm>
          <a:prstGeom xmlns:a="http://schemas.openxmlformats.org/drawingml/2006/main" prst="roundRect">
            <a:avLst>
              <a:gd name="adj" fmla="val 4762"/>
            </a:avLst>
          </a:prstGeom>
          <a:solidFill xmlns:a="http://schemas.openxmlformats.org/drawingml/2006/main">
            <a:srgbClr val="F8FAFC"/>
          </a:solidFill>
          <a:ln xmlns:a="http://schemas.openxmlformats.org/drawingml/2006/main" w="9525">
            <a:solidFill>
              <a:srgbClr val="D0D5DD"/>
            </a:solidFill>
            <a:prstDash val="solid"/>
          </a:ln>
        </p:spPr>
      </p:sp>
      <p:sp>
        <p:nvSpPr>
          <p:cNvPr id="6" name="">
            <a:extLst xmlns:a="http://schemas.openxmlformats.org/drawingml/2006/main">
              <a:ext uri="{FF2B5EF4-FFF2-40B4-BE49-F238E27FC236}">
                <a16:creationId xmlns:a16="http://schemas.microsoft.com/office/drawing/2014/main" id="{71834458-FBF5-445D-A0AF-053EF269C541}"/>
              </a:ext>
            </a:extLst>
          </p:cNvPr>
          <p:cNvSpPr>
            <a:spLocks xmlns:a="http://schemas.openxmlformats.org/drawingml/2006/main" noGrp="1"/>
          </p:cNvSpPr>
          <p:nvPr/>
        </p:nvSpPr>
        <p:spPr>
          <a:xfrm xmlns:a="http://schemas.openxmlformats.org/drawingml/2006/main">
            <a:off x="838200" y="1666875"/>
            <a:ext cx="400050" cy="400050"/>
          </a:xfrm>
          <a:prstGeom xmlns:a="http://schemas.openxmlformats.org/drawingml/2006/main" prst="ellipse">
            <a:avLst/>
          </a:prstGeom>
          <a:solidFill xmlns:a="http://schemas.openxmlformats.org/drawingml/2006/main">
            <a:srgbClr val="16876A"/>
          </a:solidFill>
          <a:ln xmlns:a="http://schemas.openxmlformats.org/drawingml/2006/main" w="9525">
            <a:solidFill>
              <a:srgbClr val="16876A"/>
            </a:solidFill>
            <a:prstDash val="solid"/>
          </a:ln>
        </p:spPr>
      </p:sp>
      <p:sp>
        <p:nvSpPr>
          <p:cNvPr id="7" name="">
            <a:extLst xmlns:a="http://schemas.openxmlformats.org/drawingml/2006/main">
              <a:ext uri="{FF2B5EF4-FFF2-40B4-BE49-F238E27FC236}">
                <a16:creationId xmlns:a16="http://schemas.microsoft.com/office/drawing/2014/main" id="{CC12B887-441E-4651-ABE7-EC7B388DB457}"/>
              </a:ext>
            </a:extLst>
          </p:cNvPr>
          <p:cNvSpPr>
            <a:spLocks xmlns:a="http://schemas.openxmlformats.org/drawingml/2006/main" noGrp="1"/>
          </p:cNvSpPr>
          <p:nvPr/>
        </p:nvSpPr>
        <p:spPr>
          <a:xfrm xmlns:a="http://schemas.openxmlformats.org/drawingml/2006/main">
            <a:off x="838200" y="1714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E2AE7324-A414-4F10-93C8-D95854E45EE0}"/>
              </a:ext>
            </a:extLst>
          </p:cNvPr>
          <p:cNvSpPr>
            <a:spLocks xmlns:a="http://schemas.openxmlformats.org/drawingml/2006/main" noGrp="1"/>
          </p:cNvSpPr>
          <p:nvPr/>
        </p:nvSpPr>
        <p:spPr>
          <a:xfrm xmlns:a="http://schemas.openxmlformats.org/drawingml/2006/main">
            <a:off x="1409700" y="1628775"/>
            <a:ext cx="2457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0B1220"/>
                </a:solidFill>
                <a:latin typeface="Aptos"/>
                <a:ea typeface="Aptos"/>
                <a:cs typeface="Aptos"/>
              </a:defRPr>
            </a:pPr>
            <a:r>
              <a:rPr sz="1875" b="1" i="0">
                <a:solidFill>
                  <a:srgbClr val="0B1220"/>
                </a:solidFill>
                <a:latin typeface="Aptos"/>
                <a:ea typeface="Aptos"/>
                <a:cs typeface="Aptos"/>
              </a:rPr>
              <a:t>Control flow</a:t>
            </a:r>
          </a:p>
        </p:txBody>
      </p:sp>
      <p:sp>
        <p:nvSpPr>
          <p:cNvPr id="9" name="">
            <a:extLst xmlns:a="http://schemas.openxmlformats.org/drawingml/2006/main">
              <a:ext uri="{FF2B5EF4-FFF2-40B4-BE49-F238E27FC236}">
                <a16:creationId xmlns:a16="http://schemas.microsoft.com/office/drawing/2014/main" id="{3A537993-A6F8-4E09-B31E-42F9270E5CBA}"/>
              </a:ext>
            </a:extLst>
          </p:cNvPr>
          <p:cNvSpPr>
            <a:spLocks xmlns:a="http://schemas.openxmlformats.org/drawingml/2006/main" noGrp="1"/>
          </p:cNvSpPr>
          <p:nvPr/>
        </p:nvSpPr>
        <p:spPr>
          <a:xfrm xmlns:a="http://schemas.openxmlformats.org/drawingml/2006/main">
            <a:off x="1409700" y="2276475"/>
            <a:ext cx="24574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The repaired sequential Petri net fits the final test. Raw discovery alone is not physically admissible.</a:t>
            </a:r>
          </a:p>
        </p:txBody>
      </p:sp>
      <p:sp>
        <p:nvSpPr>
          <p:cNvPr id="10" name="">
            <a:extLst xmlns:a="http://schemas.openxmlformats.org/drawingml/2006/main">
              <a:ext uri="{FF2B5EF4-FFF2-40B4-BE49-F238E27FC236}">
                <a16:creationId xmlns:a16="http://schemas.microsoft.com/office/drawing/2014/main" id="{84B621B8-DA7C-4802-835B-B2DD11E3A353}"/>
              </a:ext>
            </a:extLst>
          </p:cNvPr>
          <p:cNvSpPr>
            <a:spLocks xmlns:a="http://schemas.openxmlformats.org/drawingml/2006/main" noGrp="1"/>
          </p:cNvSpPr>
          <p:nvPr/>
        </p:nvSpPr>
        <p:spPr>
          <a:xfrm xmlns:a="http://schemas.openxmlformats.org/drawingml/2006/main">
            <a:off x="4352925" y="1438275"/>
            <a:ext cx="3486150" cy="2400300"/>
          </a:xfrm>
          <a:prstGeom xmlns:a="http://schemas.openxmlformats.org/drawingml/2006/main" prst="roundRect">
            <a:avLst>
              <a:gd name="adj" fmla="val 4762"/>
            </a:avLst>
          </a:prstGeom>
          <a:solidFill xmlns:a="http://schemas.openxmlformats.org/drawingml/2006/main">
            <a:srgbClr val="F8FAFC"/>
          </a:solidFill>
          <a:ln xmlns:a="http://schemas.openxmlformats.org/drawingml/2006/main" w="9525">
            <a:solidFill>
              <a:srgbClr val="D0D5DD"/>
            </a:solidFill>
            <a:prstDash val="solid"/>
          </a:ln>
        </p:spPr>
      </p:sp>
      <p:sp>
        <p:nvSpPr>
          <p:cNvPr id="11" name="">
            <a:extLst xmlns:a="http://schemas.openxmlformats.org/drawingml/2006/main">
              <a:ext uri="{FF2B5EF4-FFF2-40B4-BE49-F238E27FC236}">
                <a16:creationId xmlns:a16="http://schemas.microsoft.com/office/drawing/2014/main" id="{94B4F72F-36B2-4A63-B48A-94B15805292E}"/>
              </a:ext>
            </a:extLst>
          </p:cNvPr>
          <p:cNvSpPr>
            <a:spLocks xmlns:a="http://schemas.openxmlformats.org/drawingml/2006/main" noGrp="1"/>
          </p:cNvSpPr>
          <p:nvPr/>
        </p:nvSpPr>
        <p:spPr>
          <a:xfrm xmlns:a="http://schemas.openxmlformats.org/drawingml/2006/main">
            <a:off x="4581525" y="1666875"/>
            <a:ext cx="400050" cy="400050"/>
          </a:xfrm>
          <a:prstGeom xmlns:a="http://schemas.openxmlformats.org/drawingml/2006/main" prst="ellipse">
            <a:avLst/>
          </a:prstGeom>
          <a:solidFill xmlns:a="http://schemas.openxmlformats.org/drawingml/2006/main">
            <a:srgbClr val="C98200"/>
          </a:solidFill>
          <a:ln xmlns:a="http://schemas.openxmlformats.org/drawingml/2006/main" w="9525">
            <a:solidFill>
              <a:srgbClr val="C98200"/>
            </a:solidFill>
            <a:prstDash val="solid"/>
          </a:ln>
        </p:spPr>
      </p:sp>
      <p:sp>
        <p:nvSpPr>
          <p:cNvPr id="12" name="">
            <a:extLst xmlns:a="http://schemas.openxmlformats.org/drawingml/2006/main">
              <a:ext uri="{FF2B5EF4-FFF2-40B4-BE49-F238E27FC236}">
                <a16:creationId xmlns:a16="http://schemas.microsoft.com/office/drawing/2014/main" id="{22266646-D666-47C2-8516-1FB5FC7FF95A}"/>
              </a:ext>
            </a:extLst>
          </p:cNvPr>
          <p:cNvSpPr>
            <a:spLocks xmlns:a="http://schemas.openxmlformats.org/drawingml/2006/main" noGrp="1"/>
          </p:cNvSpPr>
          <p:nvPr/>
        </p:nvSpPr>
        <p:spPr>
          <a:xfrm xmlns:a="http://schemas.openxmlformats.org/drawingml/2006/main">
            <a:off x="4581525" y="1714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2CB56700-1BFD-400A-8741-629E0DFED01E}"/>
              </a:ext>
            </a:extLst>
          </p:cNvPr>
          <p:cNvSpPr>
            <a:spLocks xmlns:a="http://schemas.openxmlformats.org/drawingml/2006/main" noGrp="1"/>
          </p:cNvSpPr>
          <p:nvPr/>
        </p:nvSpPr>
        <p:spPr>
          <a:xfrm xmlns:a="http://schemas.openxmlformats.org/drawingml/2006/main">
            <a:off x="5153025" y="1628775"/>
            <a:ext cx="2457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0B1220"/>
                </a:solidFill>
                <a:latin typeface="Aptos"/>
                <a:ea typeface="Aptos"/>
                <a:cs typeface="Aptos"/>
              </a:defRPr>
            </a:pPr>
            <a:r>
              <a:rPr sz="1875" b="1" i="0">
                <a:solidFill>
                  <a:srgbClr val="0B1220"/>
                </a:solidFill>
                <a:latin typeface="Aptos"/>
                <a:ea typeface="Aptos"/>
                <a:cs typeface="Aptos"/>
              </a:rPr>
              <a:t>Historical fidelity</a:t>
            </a:r>
          </a:p>
        </p:txBody>
      </p:sp>
      <p:sp>
        <p:nvSpPr>
          <p:cNvPr id="14" name="">
            <a:extLst xmlns:a="http://schemas.openxmlformats.org/drawingml/2006/main">
              <a:ext uri="{FF2B5EF4-FFF2-40B4-BE49-F238E27FC236}">
                <a16:creationId xmlns:a16="http://schemas.microsoft.com/office/drawing/2014/main" id="{11C0852C-A4B7-44E1-8C78-A3F69B6F8159}"/>
              </a:ext>
            </a:extLst>
          </p:cNvPr>
          <p:cNvSpPr>
            <a:spLocks xmlns:a="http://schemas.openxmlformats.org/drawingml/2006/main" noGrp="1"/>
          </p:cNvSpPr>
          <p:nvPr/>
        </p:nvSpPr>
        <p:spPr>
          <a:xfrm xmlns:a="http://schemas.openxmlformats.org/drawingml/2006/main">
            <a:off x="5153025" y="2276475"/>
            <a:ext cx="24574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Arrivals and service partly transfer, while mean turnaround remains 5.930 minutes too short.</a:t>
            </a:r>
          </a:p>
        </p:txBody>
      </p:sp>
      <p:sp>
        <p:nvSpPr>
          <p:cNvPr id="15" name="">
            <a:extLst xmlns:a="http://schemas.openxmlformats.org/drawingml/2006/main">
              <a:ext uri="{FF2B5EF4-FFF2-40B4-BE49-F238E27FC236}">
                <a16:creationId xmlns:a16="http://schemas.microsoft.com/office/drawing/2014/main" id="{5BC4FD2B-6C56-4D72-82BB-9B186588DFD8}"/>
              </a:ext>
            </a:extLst>
          </p:cNvPr>
          <p:cNvSpPr>
            <a:spLocks xmlns:a="http://schemas.openxmlformats.org/drawingml/2006/main" noGrp="1"/>
          </p:cNvSpPr>
          <p:nvPr/>
        </p:nvSpPr>
        <p:spPr>
          <a:xfrm xmlns:a="http://schemas.openxmlformats.org/drawingml/2006/main">
            <a:off x="8096250" y="1438275"/>
            <a:ext cx="3486150" cy="2400300"/>
          </a:xfrm>
          <a:prstGeom xmlns:a="http://schemas.openxmlformats.org/drawingml/2006/main" prst="roundRect">
            <a:avLst>
              <a:gd name="adj" fmla="val 4762"/>
            </a:avLst>
          </a:prstGeom>
          <a:solidFill xmlns:a="http://schemas.openxmlformats.org/drawingml/2006/main">
            <a:srgbClr val="F8FAFC"/>
          </a:solidFill>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93F0FBCE-A4AF-4C8A-9029-106758DBDCF8}"/>
              </a:ext>
            </a:extLst>
          </p:cNvPr>
          <p:cNvSpPr>
            <a:spLocks xmlns:a="http://schemas.openxmlformats.org/drawingml/2006/main" noGrp="1"/>
          </p:cNvSpPr>
          <p:nvPr/>
        </p:nvSpPr>
        <p:spPr>
          <a:xfrm xmlns:a="http://schemas.openxmlformats.org/drawingml/2006/main">
            <a:off x="8324850" y="1666875"/>
            <a:ext cx="400050" cy="40005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17" name="">
            <a:extLst xmlns:a="http://schemas.openxmlformats.org/drawingml/2006/main">
              <a:ext uri="{FF2B5EF4-FFF2-40B4-BE49-F238E27FC236}">
                <a16:creationId xmlns:a16="http://schemas.microsoft.com/office/drawing/2014/main" id="{51D3170A-7E13-412D-9676-B725DE4F108C}"/>
              </a:ext>
            </a:extLst>
          </p:cNvPr>
          <p:cNvSpPr>
            <a:spLocks xmlns:a="http://schemas.openxmlformats.org/drawingml/2006/main" noGrp="1"/>
          </p:cNvSpPr>
          <p:nvPr/>
        </p:nvSpPr>
        <p:spPr>
          <a:xfrm xmlns:a="http://schemas.openxmlformats.org/drawingml/2006/main">
            <a:off x="8324850" y="1714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3E1AAC16-804E-4EBB-94A1-645F87C9297E}"/>
              </a:ext>
            </a:extLst>
          </p:cNvPr>
          <p:cNvSpPr>
            <a:spLocks xmlns:a="http://schemas.openxmlformats.org/drawingml/2006/main" noGrp="1"/>
          </p:cNvSpPr>
          <p:nvPr/>
        </p:nvSpPr>
        <p:spPr>
          <a:xfrm xmlns:a="http://schemas.openxmlformats.org/drawingml/2006/main">
            <a:off x="8896350" y="1628775"/>
            <a:ext cx="2457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0B1220"/>
                </a:solidFill>
                <a:latin typeface="Aptos"/>
                <a:ea typeface="Aptos"/>
                <a:cs typeface="Aptos"/>
              </a:defRPr>
            </a:pPr>
            <a:r>
              <a:rPr sz="1875" b="1" i="0">
                <a:solidFill>
                  <a:srgbClr val="0B1220"/>
                </a:solidFill>
                <a:latin typeface="Aptos"/>
                <a:ea typeface="Aptos"/>
                <a:cs typeface="Aptos"/>
              </a:rPr>
              <a:t>Intervention validity</a:t>
            </a:r>
          </a:p>
        </p:txBody>
      </p:sp>
      <p:sp>
        <p:nvSpPr>
          <p:cNvPr id="19" name="">
            <a:extLst xmlns:a="http://schemas.openxmlformats.org/drawingml/2006/main">
              <a:ext uri="{FF2B5EF4-FFF2-40B4-BE49-F238E27FC236}">
                <a16:creationId xmlns:a16="http://schemas.microsoft.com/office/drawing/2014/main" id="{DE1FB228-967B-43E4-9EBD-2FDA50766710}"/>
              </a:ext>
            </a:extLst>
          </p:cNvPr>
          <p:cNvSpPr>
            <a:spLocks xmlns:a="http://schemas.openxmlformats.org/drawingml/2006/main" noGrp="1"/>
          </p:cNvSpPr>
          <p:nvPr/>
        </p:nvSpPr>
        <p:spPr>
          <a:xfrm xmlns:a="http://schemas.openxmlformats.org/drawingml/2006/main">
            <a:off x="8896350" y="2276475"/>
            <a:ext cx="24574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Demand needs endogenous state. T22 needs spatial state. Neither response is yet a physical forecast.</a:t>
            </a:r>
          </a:p>
        </p:txBody>
      </p:sp>
      <p:sp>
        <p:nvSpPr>
          <p:cNvPr id="20" name="">
            <a:extLst xmlns:a="http://schemas.openxmlformats.org/drawingml/2006/main">
              <a:ext uri="{FF2B5EF4-FFF2-40B4-BE49-F238E27FC236}">
                <a16:creationId xmlns:a16="http://schemas.microsoft.com/office/drawing/2014/main" id="{207428BF-F1B2-4449-A7C4-315B79D06229}"/>
              </a:ext>
            </a:extLst>
          </p:cNvPr>
          <p:cNvSpPr>
            <a:spLocks xmlns:a="http://schemas.openxmlformats.org/drawingml/2006/main" noGrp="1"/>
          </p:cNvSpPr>
          <p:nvPr/>
        </p:nvSpPr>
        <p:spPr>
          <a:xfrm xmlns:a="http://schemas.openxmlformats.org/drawingml/2006/main">
            <a:off x="1104900" y="4438650"/>
            <a:ext cx="9982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475" b="1" i="0">
                <a:solidFill>
                  <a:srgbClr val="0B1220"/>
                </a:solidFill>
                <a:latin typeface="Aptos"/>
                <a:ea typeface="Aptos"/>
                <a:cs typeface="Aptos"/>
              </a:defRPr>
            </a:pPr>
            <a:r>
              <a:rPr sz="2475" b="1" i="0">
                <a:solidFill>
                  <a:srgbClr val="0B1220"/>
                </a:solidFill>
                <a:latin typeface="Aptos"/>
                <a:ea typeface="Aptos"/>
                <a:cs typeface="Aptos"/>
              </a:rPr>
              <a:t>Data-aware simulation is an auditable diagnostic.</a:t>
            </a:r>
          </a:p>
          <a:p xmlns:a="http://schemas.openxmlformats.org/drawingml/2006/main">
            <a:pPr algn="ctr">
              <a:buNone/>
              <a:defRPr sz="2475" b="1" i="0">
                <a:solidFill>
                  <a:srgbClr val="0B1220"/>
                </a:solidFill>
                <a:latin typeface="Aptos"/>
                <a:ea typeface="Aptos"/>
                <a:cs typeface="Aptos"/>
              </a:defRPr>
            </a:pPr>
            <a:r>
              <a:rPr sz="2475" b="1" i="0">
                <a:solidFill>
                  <a:srgbClr val="0B1220"/>
                </a:solidFill>
                <a:latin typeface="Aptos"/>
                <a:ea typeface="Aptos"/>
                <a:cs typeface="Aptos"/>
              </a:rPr>
              <a:t>Decision-valid logistics simulation needs intervention-specific state and validation.</a:t>
            </a:r>
          </a:p>
        </p:txBody>
      </p:sp>
      <p:sp>
        <p:nvSpPr>
          <p:cNvPr id="21" name="">
            <a:extLst xmlns:a="http://schemas.openxmlformats.org/drawingml/2006/main">
              <a:ext uri="{FF2B5EF4-FFF2-40B4-BE49-F238E27FC236}">
                <a16:creationId xmlns:a16="http://schemas.microsoft.com/office/drawing/2014/main" id="{0F51FB34-F681-42F1-9497-0171C000F38E}"/>
              </a:ext>
            </a:extLst>
          </p:cNvPr>
          <p:cNvSpPr>
            <a:spLocks xmlns:a="http://schemas.openxmlformats.org/drawingml/2006/main" noGrp="1"/>
          </p:cNvSpPr>
          <p:nvPr/>
        </p:nvSpPr>
        <p:spPr>
          <a:xfrm xmlns:a="http://schemas.openxmlformats.org/drawingml/2006/main">
            <a:off x="4629150" y="5619750"/>
            <a:ext cx="2933700" cy="552450"/>
          </a:xfrm>
          <a:prstGeom xmlns:a="http://schemas.openxmlformats.org/drawingml/2006/main" prst="roundRect">
            <a:avLst>
              <a:gd name="adj" fmla="val 20690"/>
            </a:avLst>
          </a:prstGeom>
          <a:solidFill xmlns:a="http://schemas.openxmlformats.org/drawingml/2006/main">
            <a:srgbClr val="0B122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4469AF4-B27B-4742-AADF-75DB5B1495D7}"/>
              </a:ext>
            </a:extLst>
          </p:cNvPr>
          <p:cNvSpPr>
            <a:spLocks xmlns:a="http://schemas.openxmlformats.org/drawingml/2006/main" noGrp="1"/>
          </p:cNvSpPr>
          <p:nvPr/>
        </p:nvSpPr>
        <p:spPr>
          <a:xfrm xmlns:a="http://schemas.openxmlformats.org/drawingml/2006/main">
            <a:off x="4629150" y="573405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75" b="1" i="0">
                <a:solidFill>
                  <a:srgbClr val="FFFFFF"/>
                </a:solidFill>
                <a:latin typeface="Aptos"/>
                <a:ea typeface="Aptos"/>
                <a:cs typeface="Aptos"/>
              </a:defRPr>
            </a:pPr>
            <a:r>
              <a:rPr sz="1875" b="1" i="0">
                <a:solidFill>
                  <a:srgbClr val="FFFFFF"/>
                </a:solidFill>
                <a:latin typeface="Aptos"/>
                <a:ea typeface="Aptos"/>
                <a:cs typeface="Aptos"/>
              </a:rPr>
              <a:t>Questions</a:t>
            </a:r>
          </a:p>
        </p:txBody>
      </p:sp>
    </p:spTree>
    <p:extLst>
      <p:ext uri="{BB962C8B-B14F-4D97-AF65-F5344CB8AC3E}">
        <p14:creationId xmlns:p14="http://schemas.microsoft.com/office/powerpoint/2010/main" val="55247610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5F73D77-0F7E-4D67-9149-226127DEB859}"/>
              </a:ext>
            </a:extLst>
          </p:cNvPr>
          <p:cNvSpPr>
            <a:spLocks xmlns:a="http://schemas.openxmlformats.org/drawingml/2006/main" noGrp="1"/>
          </p:cNvSpPr>
          <p:nvPr/>
        </p:nvSpPr>
        <p:spPr>
          <a:xfrm xmlns:a="http://schemas.openxmlformats.org/drawingml/2006/main">
            <a:off x="457200" y="228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C8102E"/>
                </a:solidFill>
                <a:latin typeface="Aptos"/>
                <a:ea typeface="Aptos"/>
                <a:cs typeface="Aptos"/>
              </a:defRPr>
            </a:pPr>
            <a:r>
              <a:rPr sz="1275" b="1" i="0">
                <a:solidFill>
                  <a:srgbClr val="C8102E"/>
                </a:solidFill>
                <a:latin typeface="Aptos"/>
                <a:ea typeface="Aptos"/>
                <a:cs typeface="Aptos"/>
              </a:rPr>
              <a:t>APPENDIX</a:t>
            </a:r>
          </a:p>
        </p:txBody>
      </p:sp>
      <p:sp>
        <p:nvSpPr>
          <p:cNvPr id="2" name="">
            <a:extLst xmlns:a="http://schemas.openxmlformats.org/drawingml/2006/main">
              <a:ext uri="{FF2B5EF4-FFF2-40B4-BE49-F238E27FC236}">
                <a16:creationId xmlns:a16="http://schemas.microsoft.com/office/drawing/2014/main" id="{65D12554-EBED-4D8D-92C3-D8033AA5A3C9}"/>
              </a:ext>
            </a:extLst>
          </p:cNvPr>
          <p:cNvSpPr>
            <a:spLocks xmlns:a="http://schemas.openxmlformats.org/drawingml/2006/main" noGrp="1"/>
          </p:cNvSpPr>
          <p:nvPr/>
        </p:nvSpPr>
        <p:spPr>
          <a:xfrm xmlns:a="http://schemas.openxmlformats.org/drawingml/2006/main">
            <a:off x="457200" y="485775"/>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00" b="1" i="0">
                <a:solidFill>
                  <a:srgbClr val="0B1220"/>
                </a:solidFill>
                <a:latin typeface="Aptos"/>
                <a:ea typeface="Aptos"/>
                <a:cs typeface="Aptos"/>
              </a:defRPr>
            </a:pPr>
            <a:r>
              <a:rPr sz="3300" b="1" i="0">
                <a:solidFill>
                  <a:srgbClr val="0B1220"/>
                </a:solidFill>
                <a:latin typeface="Aptos"/>
                <a:ea typeface="Aptos"/>
                <a:cs typeface="Aptos"/>
              </a:rPr>
              <a:t>Research questions and final answers</a:t>
            </a:r>
          </a:p>
        </p:txBody>
      </p:sp>
      <p:sp>
        <p:nvSpPr>
          <p:cNvPr id="3" name="">
            <a:extLst xmlns:a="http://schemas.openxmlformats.org/drawingml/2006/main">
              <a:ext uri="{FF2B5EF4-FFF2-40B4-BE49-F238E27FC236}">
                <a16:creationId xmlns:a16="http://schemas.microsoft.com/office/drawing/2014/main" id="{C260D176-697F-4AEB-92CD-BEABA7AC1D1B}"/>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4" name="">
            <a:extLst xmlns:a="http://schemas.openxmlformats.org/drawingml/2006/main">
              <a:ext uri="{FF2B5EF4-FFF2-40B4-BE49-F238E27FC236}">
                <a16:creationId xmlns:a16="http://schemas.microsoft.com/office/drawing/2014/main" id="{AAB97705-AD2A-4008-A4E2-583CCF2BE15C}"/>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5" name="">
            <a:extLst xmlns:a="http://schemas.openxmlformats.org/drawingml/2006/main">
              <a:ext uri="{FF2B5EF4-FFF2-40B4-BE49-F238E27FC236}">
                <a16:creationId xmlns:a16="http://schemas.microsoft.com/office/drawing/2014/main" id="{F031EADF-7F55-49C5-B9BC-216490A6A78E}"/>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16</a:t>
            </a:r>
          </a:p>
        </p:txBody>
      </p:sp>
      <p:sp>
        <p:nvSpPr>
          <p:cNvPr id="6" name="">
            <a:extLst xmlns:a="http://schemas.openxmlformats.org/drawingml/2006/main">
              <a:ext uri="{FF2B5EF4-FFF2-40B4-BE49-F238E27FC236}">
                <a16:creationId xmlns:a16="http://schemas.microsoft.com/office/drawing/2014/main" id="{9D5E66DD-2E74-454A-AF55-54A547E68145}"/>
              </a:ext>
            </a:extLst>
          </p:cNvPr>
          <p:cNvSpPr>
            <a:spLocks xmlns:a="http://schemas.openxmlformats.org/drawingml/2006/main" noGrp="1"/>
          </p:cNvSpPr>
          <p:nvPr/>
        </p:nvSpPr>
        <p:spPr>
          <a:xfrm xmlns:a="http://schemas.openxmlformats.org/drawingml/2006/main">
            <a:off x="628650" y="1257300"/>
            <a:ext cx="10934700" cy="971550"/>
          </a:xfrm>
          <a:prstGeom xmlns:a="http://schemas.openxmlformats.org/drawingml/2006/main" prst="roundRect">
            <a:avLst>
              <a:gd name="adj" fmla="val 11765"/>
            </a:avLst>
          </a:prstGeom>
          <a:solidFill xmlns:a="http://schemas.openxmlformats.org/drawingml/2006/main">
            <a:srgbClr val="F8FAFC"/>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969A1D27-603D-4424-AAEA-7F8380293027}"/>
              </a:ext>
            </a:extLst>
          </p:cNvPr>
          <p:cNvSpPr>
            <a:spLocks xmlns:a="http://schemas.openxmlformats.org/drawingml/2006/main" noGrp="1"/>
          </p:cNvSpPr>
          <p:nvPr/>
        </p:nvSpPr>
        <p:spPr>
          <a:xfrm xmlns:a="http://schemas.openxmlformats.org/drawingml/2006/main">
            <a:off x="838200" y="148590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2F80ED"/>
                </a:solidFill>
                <a:latin typeface="Aptos"/>
                <a:ea typeface="Aptos"/>
                <a:cs typeface="Aptos"/>
              </a:defRPr>
            </a:pPr>
            <a:r>
              <a:rPr sz="1725" b="1" i="0">
                <a:solidFill>
                  <a:srgbClr val="2F80ED"/>
                </a:solidFill>
                <a:latin typeface="Aptos"/>
                <a:ea typeface="Aptos"/>
                <a:cs typeface="Aptos"/>
              </a:rPr>
              <a:t>RQ1</a:t>
            </a:r>
          </a:p>
        </p:txBody>
      </p:sp>
      <p:sp>
        <p:nvSpPr>
          <p:cNvPr id="8" name="">
            <a:extLst xmlns:a="http://schemas.openxmlformats.org/drawingml/2006/main">
              <a:ext uri="{FF2B5EF4-FFF2-40B4-BE49-F238E27FC236}">
                <a16:creationId xmlns:a16="http://schemas.microsoft.com/office/drawing/2014/main" id="{F72469EA-A670-4FEA-8819-2065E49EBCD5}"/>
              </a:ext>
            </a:extLst>
          </p:cNvPr>
          <p:cNvSpPr>
            <a:spLocks xmlns:a="http://schemas.openxmlformats.org/drawingml/2006/main" noGrp="1"/>
          </p:cNvSpPr>
          <p:nvPr/>
        </p:nvSpPr>
        <p:spPr>
          <a:xfrm xmlns:a="http://schemas.openxmlformats.org/drawingml/2006/main">
            <a:off x="1790700" y="14478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i="0">
                <a:solidFill>
                  <a:srgbClr val="0B1220"/>
                </a:solidFill>
                <a:latin typeface="Aptos"/>
                <a:ea typeface="Aptos"/>
                <a:cs typeface="Aptos"/>
              </a:defRPr>
            </a:pPr>
            <a:r>
              <a:rPr sz="1950" b="1" i="0">
                <a:solidFill>
                  <a:srgbClr val="0B1220"/>
                </a:solidFill>
                <a:latin typeface="Aptos"/>
                <a:ea typeface="Aptos"/>
                <a:cs typeface="Aptos"/>
              </a:rPr>
              <a:t>Historical fidelity</a:t>
            </a:r>
          </a:p>
        </p:txBody>
      </p:sp>
      <p:sp>
        <p:nvSpPr>
          <p:cNvPr id="9" name="">
            <a:extLst xmlns:a="http://schemas.openxmlformats.org/drawingml/2006/main">
              <a:ext uri="{FF2B5EF4-FFF2-40B4-BE49-F238E27FC236}">
                <a16:creationId xmlns:a16="http://schemas.microsoft.com/office/drawing/2014/main" id="{4A38285D-6572-4163-9F01-FBCD08576D2D}"/>
              </a:ext>
            </a:extLst>
          </p:cNvPr>
          <p:cNvSpPr>
            <a:spLocks xmlns:a="http://schemas.openxmlformats.org/drawingml/2006/main" noGrp="1"/>
          </p:cNvSpPr>
          <p:nvPr/>
        </p:nvSpPr>
        <p:spPr>
          <a:xfrm xmlns:a="http://schemas.openxmlformats.org/drawingml/2006/main">
            <a:off x="5067300" y="1447800"/>
            <a:ext cx="6115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Partial: arrivals and yard service transfer better than complete turnaround.</a:t>
            </a:r>
          </a:p>
        </p:txBody>
      </p:sp>
      <p:sp>
        <p:nvSpPr>
          <p:cNvPr id="10" name="">
            <a:extLst xmlns:a="http://schemas.openxmlformats.org/drawingml/2006/main">
              <a:ext uri="{FF2B5EF4-FFF2-40B4-BE49-F238E27FC236}">
                <a16:creationId xmlns:a16="http://schemas.microsoft.com/office/drawing/2014/main" id="{DE802DA5-0672-4194-9BFB-18ADCEA19CAE}"/>
              </a:ext>
            </a:extLst>
          </p:cNvPr>
          <p:cNvSpPr>
            <a:spLocks xmlns:a="http://schemas.openxmlformats.org/drawingml/2006/main" noGrp="1"/>
          </p:cNvSpPr>
          <p:nvPr/>
        </p:nvSpPr>
        <p:spPr>
          <a:xfrm xmlns:a="http://schemas.openxmlformats.org/drawingml/2006/main">
            <a:off x="628650" y="2457450"/>
            <a:ext cx="1093470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0D5DD"/>
            </a:solidFill>
            <a:prstDash val="solid"/>
          </a:ln>
        </p:spPr>
      </p:sp>
      <p:sp>
        <p:nvSpPr>
          <p:cNvPr id="11" name="">
            <a:extLst xmlns:a="http://schemas.openxmlformats.org/drawingml/2006/main">
              <a:ext uri="{FF2B5EF4-FFF2-40B4-BE49-F238E27FC236}">
                <a16:creationId xmlns:a16="http://schemas.microsoft.com/office/drawing/2014/main" id="{D7C64D75-BA1D-4A71-948C-E7DAC2572F6A}"/>
              </a:ext>
            </a:extLst>
          </p:cNvPr>
          <p:cNvSpPr>
            <a:spLocks xmlns:a="http://schemas.openxmlformats.org/drawingml/2006/main" noGrp="1"/>
          </p:cNvSpPr>
          <p:nvPr/>
        </p:nvSpPr>
        <p:spPr>
          <a:xfrm xmlns:a="http://schemas.openxmlformats.org/drawingml/2006/main">
            <a:off x="838200" y="26860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2F80ED"/>
                </a:solidFill>
                <a:latin typeface="Aptos"/>
                <a:ea typeface="Aptos"/>
                <a:cs typeface="Aptos"/>
              </a:defRPr>
            </a:pPr>
            <a:r>
              <a:rPr sz="1725" b="1" i="0">
                <a:solidFill>
                  <a:srgbClr val="2F80ED"/>
                </a:solidFill>
                <a:latin typeface="Aptos"/>
                <a:ea typeface="Aptos"/>
                <a:cs typeface="Aptos"/>
              </a:rPr>
              <a:t>RQ2</a:t>
            </a:r>
          </a:p>
        </p:txBody>
      </p:sp>
      <p:sp>
        <p:nvSpPr>
          <p:cNvPr id="12" name="">
            <a:extLst xmlns:a="http://schemas.openxmlformats.org/drawingml/2006/main">
              <a:ext uri="{FF2B5EF4-FFF2-40B4-BE49-F238E27FC236}">
                <a16:creationId xmlns:a16="http://schemas.microsoft.com/office/drawing/2014/main" id="{1B25B374-6DAF-4FDF-BEA8-3EEAE691083D}"/>
              </a:ext>
            </a:extLst>
          </p:cNvPr>
          <p:cNvSpPr>
            <a:spLocks xmlns:a="http://schemas.openxmlformats.org/drawingml/2006/main" noGrp="1"/>
          </p:cNvSpPr>
          <p:nvPr/>
        </p:nvSpPr>
        <p:spPr>
          <a:xfrm xmlns:a="http://schemas.openxmlformats.org/drawingml/2006/main">
            <a:off x="1790700" y="26479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i="0">
                <a:solidFill>
                  <a:srgbClr val="0B1220"/>
                </a:solidFill>
                <a:latin typeface="Aptos"/>
                <a:ea typeface="Aptos"/>
                <a:cs typeface="Aptos"/>
              </a:defRPr>
            </a:pPr>
            <a:r>
              <a:rPr sz="1950" b="1" i="0">
                <a:solidFill>
                  <a:srgbClr val="0B1220"/>
                </a:solidFill>
                <a:latin typeface="Aptos"/>
                <a:ea typeface="Aptos"/>
                <a:cs typeface="Aptos"/>
              </a:rPr>
              <a:t>Process structure</a:t>
            </a:r>
          </a:p>
        </p:txBody>
      </p:sp>
      <p:sp>
        <p:nvSpPr>
          <p:cNvPr id="13" name="">
            <a:extLst xmlns:a="http://schemas.openxmlformats.org/drawingml/2006/main">
              <a:ext uri="{FF2B5EF4-FFF2-40B4-BE49-F238E27FC236}">
                <a16:creationId xmlns:a16="http://schemas.microsoft.com/office/drawing/2014/main" id="{1E96D6DC-63E8-42A1-97F4-605CC7AF755A}"/>
              </a:ext>
            </a:extLst>
          </p:cNvPr>
          <p:cNvSpPr>
            <a:spLocks xmlns:a="http://schemas.openxmlformats.org/drawingml/2006/main" noGrp="1"/>
          </p:cNvSpPr>
          <p:nvPr/>
        </p:nvSpPr>
        <p:spPr>
          <a:xfrm xmlns:a="http://schemas.openxmlformats.org/drawingml/2006/main">
            <a:off x="5067300" y="2647950"/>
            <a:ext cx="6115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Expert-repaired net: fitness 1.0, precision 0.7641, sequential case contract satisfied.</a:t>
            </a:r>
          </a:p>
        </p:txBody>
      </p:sp>
      <p:sp>
        <p:nvSpPr>
          <p:cNvPr id="14" name="">
            <a:extLst xmlns:a="http://schemas.openxmlformats.org/drawingml/2006/main">
              <a:ext uri="{FF2B5EF4-FFF2-40B4-BE49-F238E27FC236}">
                <a16:creationId xmlns:a16="http://schemas.microsoft.com/office/drawing/2014/main" id="{4452D4BA-A94A-4220-A9C8-EB94EE943070}"/>
              </a:ext>
            </a:extLst>
          </p:cNvPr>
          <p:cNvSpPr>
            <a:spLocks xmlns:a="http://schemas.openxmlformats.org/drawingml/2006/main" noGrp="1"/>
          </p:cNvSpPr>
          <p:nvPr/>
        </p:nvSpPr>
        <p:spPr>
          <a:xfrm xmlns:a="http://schemas.openxmlformats.org/drawingml/2006/main">
            <a:off x="628650" y="3657600"/>
            <a:ext cx="10934700" cy="971550"/>
          </a:xfrm>
          <a:prstGeom xmlns:a="http://schemas.openxmlformats.org/drawingml/2006/main" prst="roundRect">
            <a:avLst>
              <a:gd name="adj" fmla="val 11765"/>
            </a:avLst>
          </a:prstGeom>
          <a:solidFill xmlns:a="http://schemas.openxmlformats.org/drawingml/2006/main">
            <a:srgbClr val="F8FAFC"/>
          </a:solidFill>
          <a:ln xmlns:a="http://schemas.openxmlformats.org/drawingml/2006/main" w="9525">
            <a:solidFill>
              <a:srgbClr val="D0D5DD"/>
            </a:solidFill>
            <a:prstDash val="solid"/>
          </a:ln>
        </p:spPr>
      </p:sp>
      <p:sp>
        <p:nvSpPr>
          <p:cNvPr id="15" name="">
            <a:extLst xmlns:a="http://schemas.openxmlformats.org/drawingml/2006/main">
              <a:ext uri="{FF2B5EF4-FFF2-40B4-BE49-F238E27FC236}">
                <a16:creationId xmlns:a16="http://schemas.microsoft.com/office/drawing/2014/main" id="{C25BB46F-952E-4F29-839E-E0D43DBAEE64}"/>
              </a:ext>
            </a:extLst>
          </p:cNvPr>
          <p:cNvSpPr>
            <a:spLocks xmlns:a="http://schemas.openxmlformats.org/drawingml/2006/main" noGrp="1"/>
          </p:cNvSpPr>
          <p:nvPr/>
        </p:nvSpPr>
        <p:spPr>
          <a:xfrm xmlns:a="http://schemas.openxmlformats.org/drawingml/2006/main">
            <a:off x="838200" y="388620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2F80ED"/>
                </a:solidFill>
                <a:latin typeface="Aptos"/>
                <a:ea typeface="Aptos"/>
                <a:cs typeface="Aptos"/>
              </a:defRPr>
            </a:pPr>
            <a:r>
              <a:rPr sz="1725" b="1" i="0">
                <a:solidFill>
                  <a:srgbClr val="2F80ED"/>
                </a:solidFill>
                <a:latin typeface="Aptos"/>
                <a:ea typeface="Aptos"/>
                <a:cs typeface="Aptos"/>
              </a:rPr>
              <a:t>RQ3</a:t>
            </a:r>
          </a:p>
        </p:txBody>
      </p:sp>
      <p:sp>
        <p:nvSpPr>
          <p:cNvPr id="16" name="">
            <a:extLst xmlns:a="http://schemas.openxmlformats.org/drawingml/2006/main">
              <a:ext uri="{FF2B5EF4-FFF2-40B4-BE49-F238E27FC236}">
                <a16:creationId xmlns:a16="http://schemas.microsoft.com/office/drawing/2014/main" id="{B019E938-27E6-4880-8396-C438C5F48C48}"/>
              </a:ext>
            </a:extLst>
          </p:cNvPr>
          <p:cNvSpPr>
            <a:spLocks xmlns:a="http://schemas.openxmlformats.org/drawingml/2006/main" noGrp="1"/>
          </p:cNvSpPr>
          <p:nvPr/>
        </p:nvSpPr>
        <p:spPr>
          <a:xfrm xmlns:a="http://schemas.openxmlformats.org/drawingml/2006/main">
            <a:off x="1790700" y="38481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i="0">
                <a:solidFill>
                  <a:srgbClr val="0B1220"/>
                </a:solidFill>
                <a:latin typeface="Aptos"/>
                <a:ea typeface="Aptos"/>
                <a:cs typeface="Aptos"/>
              </a:defRPr>
            </a:pPr>
            <a:r>
              <a:rPr sz="1950" b="1" i="0">
                <a:solidFill>
                  <a:srgbClr val="0B1220"/>
                </a:solidFill>
                <a:latin typeface="Aptos"/>
                <a:ea typeface="Aptos"/>
                <a:cs typeface="Aptos"/>
              </a:rPr>
              <a:t>State sources</a:t>
            </a:r>
          </a:p>
        </p:txBody>
      </p:sp>
      <p:sp>
        <p:nvSpPr>
          <p:cNvPr id="17" name="">
            <a:extLst xmlns:a="http://schemas.openxmlformats.org/drawingml/2006/main">
              <a:ext uri="{FF2B5EF4-FFF2-40B4-BE49-F238E27FC236}">
                <a16:creationId xmlns:a16="http://schemas.microsoft.com/office/drawing/2014/main" id="{44B36C6A-1F71-4282-8A42-56C6392C7F03}"/>
              </a:ext>
            </a:extLst>
          </p:cNvPr>
          <p:cNvSpPr>
            <a:spLocks xmlns:a="http://schemas.openxmlformats.org/drawingml/2006/main" noGrp="1"/>
          </p:cNvSpPr>
          <p:nvPr/>
        </p:nvSpPr>
        <p:spPr>
          <a:xfrm xmlns:a="http://schemas.openxmlformats.org/drawingml/2006/main">
            <a:off x="5067300" y="3848100"/>
            <a:ext cx="6115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No added state gives a resolved multi-perspective validation improvement.</a:t>
            </a:r>
          </a:p>
        </p:txBody>
      </p:sp>
      <p:sp>
        <p:nvSpPr>
          <p:cNvPr id="18" name="">
            <a:extLst xmlns:a="http://schemas.openxmlformats.org/drawingml/2006/main">
              <a:ext uri="{FF2B5EF4-FFF2-40B4-BE49-F238E27FC236}">
                <a16:creationId xmlns:a16="http://schemas.microsoft.com/office/drawing/2014/main" id="{B0955560-8EA3-4BE3-AFDD-133610524745}"/>
              </a:ext>
            </a:extLst>
          </p:cNvPr>
          <p:cNvSpPr>
            <a:spLocks xmlns:a="http://schemas.openxmlformats.org/drawingml/2006/main" noGrp="1"/>
          </p:cNvSpPr>
          <p:nvPr/>
        </p:nvSpPr>
        <p:spPr>
          <a:xfrm xmlns:a="http://schemas.openxmlformats.org/drawingml/2006/main">
            <a:off x="628650" y="4857750"/>
            <a:ext cx="10934700" cy="9715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0D5DD"/>
            </a:solidFill>
            <a:prstDash val="solid"/>
          </a:ln>
        </p:spPr>
      </p:sp>
      <p:sp>
        <p:nvSpPr>
          <p:cNvPr id="19" name="">
            <a:extLst xmlns:a="http://schemas.openxmlformats.org/drawingml/2006/main">
              <a:ext uri="{FF2B5EF4-FFF2-40B4-BE49-F238E27FC236}">
                <a16:creationId xmlns:a16="http://schemas.microsoft.com/office/drawing/2014/main" id="{0445B230-A02B-4D74-B27D-19C328AD089E}"/>
              </a:ext>
            </a:extLst>
          </p:cNvPr>
          <p:cNvSpPr>
            <a:spLocks xmlns:a="http://schemas.openxmlformats.org/drawingml/2006/main" noGrp="1"/>
          </p:cNvSpPr>
          <p:nvPr/>
        </p:nvSpPr>
        <p:spPr>
          <a:xfrm xmlns:a="http://schemas.openxmlformats.org/drawingml/2006/main">
            <a:off x="838200" y="50863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C8102E"/>
                </a:solidFill>
                <a:latin typeface="Aptos"/>
                <a:ea typeface="Aptos"/>
                <a:cs typeface="Aptos"/>
              </a:defRPr>
            </a:pPr>
            <a:r>
              <a:rPr sz="1725" b="1" i="0">
                <a:solidFill>
                  <a:srgbClr val="C8102E"/>
                </a:solidFill>
                <a:latin typeface="Aptos"/>
                <a:ea typeface="Aptos"/>
                <a:cs typeface="Aptos"/>
              </a:rPr>
              <a:t>RQ4</a:t>
            </a:r>
          </a:p>
        </p:txBody>
      </p:sp>
      <p:sp>
        <p:nvSpPr>
          <p:cNvPr id="20" name="">
            <a:extLst xmlns:a="http://schemas.openxmlformats.org/drawingml/2006/main">
              <a:ext uri="{FF2B5EF4-FFF2-40B4-BE49-F238E27FC236}">
                <a16:creationId xmlns:a16="http://schemas.microsoft.com/office/drawing/2014/main" id="{8050AC3E-7B11-4CF7-8BD3-2901F4BE7245}"/>
              </a:ext>
            </a:extLst>
          </p:cNvPr>
          <p:cNvSpPr>
            <a:spLocks xmlns:a="http://schemas.openxmlformats.org/drawingml/2006/main" noGrp="1"/>
          </p:cNvSpPr>
          <p:nvPr/>
        </p:nvSpPr>
        <p:spPr>
          <a:xfrm xmlns:a="http://schemas.openxmlformats.org/drawingml/2006/main">
            <a:off x="1790700" y="50482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i="0">
                <a:solidFill>
                  <a:srgbClr val="0B1220"/>
                </a:solidFill>
                <a:latin typeface="Aptos"/>
                <a:ea typeface="Aptos"/>
                <a:cs typeface="Aptos"/>
              </a:defRPr>
            </a:pPr>
            <a:r>
              <a:rPr sz="1950" b="1" i="0">
                <a:solidFill>
                  <a:srgbClr val="0B1220"/>
                </a:solidFill>
                <a:latin typeface="Aptos"/>
                <a:ea typeface="Aptos"/>
                <a:cs typeface="Aptos"/>
              </a:rPr>
              <a:t>What-if decision support</a:t>
            </a:r>
          </a:p>
        </p:txBody>
      </p:sp>
      <p:sp>
        <p:nvSpPr>
          <p:cNvPr id="21" name="">
            <a:extLst xmlns:a="http://schemas.openxmlformats.org/drawingml/2006/main">
              <a:ext uri="{FF2B5EF4-FFF2-40B4-BE49-F238E27FC236}">
                <a16:creationId xmlns:a16="http://schemas.microsoft.com/office/drawing/2014/main" id="{6C2D0F48-E0B6-4C9A-B7D7-B81FE476E642}"/>
              </a:ext>
            </a:extLst>
          </p:cNvPr>
          <p:cNvSpPr>
            <a:spLocks xmlns:a="http://schemas.openxmlformats.org/drawingml/2006/main" noGrp="1"/>
          </p:cNvSpPr>
          <p:nvPr/>
        </p:nvSpPr>
        <p:spPr>
          <a:xfrm xmlns:a="http://schemas.openxmlformats.org/drawingml/2006/main">
            <a:off x="5067300" y="5048250"/>
            <a:ext cx="6115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Interventions execute, but physical counterfactual validity is not established.</a:t>
            </a:r>
          </a:p>
        </p:txBody>
      </p:sp>
    </p:spTree>
    <p:extLst>
      <p:ext uri="{BB962C8B-B14F-4D97-AF65-F5344CB8AC3E}">
        <p14:creationId xmlns:p14="http://schemas.microsoft.com/office/powerpoint/2010/main" val="153643304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EB95F83-2762-4817-B01D-8DB5AE7920CC}"/>
              </a:ext>
            </a:extLst>
          </p:cNvPr>
          <p:cNvSpPr>
            <a:spLocks xmlns:a="http://schemas.openxmlformats.org/drawingml/2006/main" noGrp="1"/>
          </p:cNvSpPr>
          <p:nvPr/>
        </p:nvSpPr>
        <p:spPr>
          <a:xfrm xmlns:a="http://schemas.openxmlformats.org/drawingml/2006/main">
            <a:off x="457200" y="228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C8102E"/>
                </a:solidFill>
                <a:latin typeface="Aptos"/>
                <a:ea typeface="Aptos"/>
                <a:cs typeface="Aptos"/>
              </a:defRPr>
            </a:pPr>
            <a:r>
              <a:rPr sz="1275" b="1" i="0">
                <a:solidFill>
                  <a:srgbClr val="C8102E"/>
                </a:solidFill>
                <a:latin typeface="Aptos"/>
                <a:ea typeface="Aptos"/>
                <a:cs typeface="Aptos"/>
              </a:rPr>
              <a:t>APPENDIX</a:t>
            </a:r>
          </a:p>
        </p:txBody>
      </p:sp>
      <p:sp>
        <p:nvSpPr>
          <p:cNvPr id="2" name="">
            <a:extLst xmlns:a="http://schemas.openxmlformats.org/drawingml/2006/main">
              <a:ext uri="{FF2B5EF4-FFF2-40B4-BE49-F238E27FC236}">
                <a16:creationId xmlns:a16="http://schemas.microsoft.com/office/drawing/2014/main" id="{2F6DB072-EBAF-4CAD-AEAA-1F9E90D69BF1}"/>
              </a:ext>
            </a:extLst>
          </p:cNvPr>
          <p:cNvSpPr>
            <a:spLocks xmlns:a="http://schemas.openxmlformats.org/drawingml/2006/main" noGrp="1"/>
          </p:cNvSpPr>
          <p:nvPr/>
        </p:nvSpPr>
        <p:spPr>
          <a:xfrm xmlns:a="http://schemas.openxmlformats.org/drawingml/2006/main">
            <a:off x="457200" y="485775"/>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00" b="1" i="0">
                <a:solidFill>
                  <a:srgbClr val="0B1220"/>
                </a:solidFill>
                <a:latin typeface="Aptos"/>
                <a:ea typeface="Aptos"/>
                <a:cs typeface="Aptos"/>
              </a:defRPr>
            </a:pPr>
            <a:r>
              <a:rPr sz="3300" b="1" i="0">
                <a:solidFill>
                  <a:srgbClr val="0B1220"/>
                </a:solidFill>
                <a:latin typeface="Aptos"/>
                <a:ea typeface="Aptos"/>
                <a:cs typeface="Aptos"/>
              </a:rPr>
              <a:t>What exactly is represented - and excluded?</a:t>
            </a:r>
          </a:p>
        </p:txBody>
      </p:sp>
      <p:sp>
        <p:nvSpPr>
          <p:cNvPr id="3" name="">
            <a:extLst xmlns:a="http://schemas.openxmlformats.org/drawingml/2006/main">
              <a:ext uri="{FF2B5EF4-FFF2-40B4-BE49-F238E27FC236}">
                <a16:creationId xmlns:a16="http://schemas.microsoft.com/office/drawing/2014/main" id="{04488D1A-D78E-4BD9-85A7-4355FEEA28BA}"/>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4" name="">
            <a:extLst xmlns:a="http://schemas.openxmlformats.org/drawingml/2006/main">
              <a:ext uri="{FF2B5EF4-FFF2-40B4-BE49-F238E27FC236}">
                <a16:creationId xmlns:a16="http://schemas.microsoft.com/office/drawing/2014/main" id="{CCB7EF12-D991-4D84-93BF-2475232862DC}"/>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5" name="">
            <a:extLst xmlns:a="http://schemas.openxmlformats.org/drawingml/2006/main">
              <a:ext uri="{FF2B5EF4-FFF2-40B4-BE49-F238E27FC236}">
                <a16:creationId xmlns:a16="http://schemas.microsoft.com/office/drawing/2014/main" id="{E91D38EB-5CC5-4DE2-A06A-416B245DE096}"/>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17</a:t>
            </a:r>
          </a:p>
        </p:txBody>
      </p:sp>
      <p:sp>
        <p:nvSpPr>
          <p:cNvPr id="6" name="">
            <a:extLst xmlns:a="http://schemas.openxmlformats.org/drawingml/2006/main">
              <a:ext uri="{FF2B5EF4-FFF2-40B4-BE49-F238E27FC236}">
                <a16:creationId xmlns:a16="http://schemas.microsoft.com/office/drawing/2014/main" id="{6A317D90-56EF-4B4D-88ED-51829C3C7194}"/>
              </a:ext>
            </a:extLst>
          </p:cNvPr>
          <p:cNvSpPr>
            <a:spLocks xmlns:a="http://schemas.openxmlformats.org/drawingml/2006/main" noGrp="1"/>
          </p:cNvSpPr>
          <p:nvPr/>
        </p:nvSpPr>
        <p:spPr>
          <a:xfrm xmlns:a="http://schemas.openxmlformats.org/drawingml/2006/main">
            <a:off x="552450" y="1276350"/>
            <a:ext cx="3352800" cy="1638300"/>
          </a:xfrm>
          <a:prstGeom xmlns:a="http://schemas.openxmlformats.org/drawingml/2006/main" prst="roundRect">
            <a:avLst>
              <a:gd name="adj" fmla="val 6977"/>
            </a:avLst>
          </a:prstGeom>
          <a:solidFill xmlns:a="http://schemas.openxmlformats.org/drawingml/2006/main">
            <a:srgbClr val="EA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97A1D43-6C06-4A2C-9A4D-166D25F510C3}"/>
              </a:ext>
            </a:extLst>
          </p:cNvPr>
          <p:cNvSpPr>
            <a:spLocks xmlns:a="http://schemas.openxmlformats.org/drawingml/2006/main" noGrp="1"/>
          </p:cNvSpPr>
          <p:nvPr/>
        </p:nvSpPr>
        <p:spPr>
          <a:xfrm xmlns:a="http://schemas.openxmlformats.org/drawingml/2006/main">
            <a:off x="552450" y="1276350"/>
            <a:ext cx="66675" cy="1638300"/>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8" name="">
            <a:extLst xmlns:a="http://schemas.openxmlformats.org/drawingml/2006/main">
              <a:ext uri="{FF2B5EF4-FFF2-40B4-BE49-F238E27FC236}">
                <a16:creationId xmlns:a16="http://schemas.microsoft.com/office/drawing/2014/main" id="{3FCD9519-E1C8-4396-9BDE-5608705357DD}"/>
              </a:ext>
            </a:extLst>
          </p:cNvPr>
          <p:cNvSpPr>
            <a:spLocks xmlns:a="http://schemas.openxmlformats.org/drawingml/2006/main" noGrp="1"/>
          </p:cNvSpPr>
          <p:nvPr/>
        </p:nvSpPr>
        <p:spPr>
          <a:xfrm xmlns:a="http://schemas.openxmlformats.org/drawingml/2006/main">
            <a:off x="800100" y="14668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2F80ED"/>
                </a:solidFill>
                <a:latin typeface="Aptos"/>
                <a:ea typeface="Aptos"/>
                <a:cs typeface="Aptos"/>
              </a:defRPr>
            </a:pPr>
            <a:r>
              <a:rPr sz="3450" b="1" i="0">
                <a:solidFill>
                  <a:srgbClr val="2F80ED"/>
                </a:solidFill>
                <a:latin typeface="Aptos"/>
                <a:ea typeface="Aptos"/>
                <a:cs typeface="Aptos"/>
              </a:rPr>
              <a:t>89,460</a:t>
            </a:r>
          </a:p>
        </p:txBody>
      </p:sp>
      <p:sp>
        <p:nvSpPr>
          <p:cNvPr id="9" name="">
            <a:extLst xmlns:a="http://schemas.openxmlformats.org/drawingml/2006/main">
              <a:ext uri="{FF2B5EF4-FFF2-40B4-BE49-F238E27FC236}">
                <a16:creationId xmlns:a16="http://schemas.microsoft.com/office/drawing/2014/main" id="{2B83C282-1FE6-4F09-99C3-349E54419F5E}"/>
              </a:ext>
            </a:extLst>
          </p:cNvPr>
          <p:cNvSpPr>
            <a:spLocks xmlns:a="http://schemas.openxmlformats.org/drawingml/2006/main" noGrp="1"/>
          </p:cNvSpPr>
          <p:nvPr/>
        </p:nvSpPr>
        <p:spPr>
          <a:xfrm xmlns:a="http://schemas.openxmlformats.org/drawingml/2006/main">
            <a:off x="800100" y="207645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retained one-RMG truck visits</a:t>
            </a:r>
          </a:p>
        </p:txBody>
      </p:sp>
      <p:sp>
        <p:nvSpPr>
          <p:cNvPr id="10" name="">
            <a:extLst xmlns:a="http://schemas.openxmlformats.org/drawingml/2006/main">
              <a:ext uri="{FF2B5EF4-FFF2-40B4-BE49-F238E27FC236}">
                <a16:creationId xmlns:a16="http://schemas.microsoft.com/office/drawing/2014/main" id="{A3825E98-AF82-4019-9E08-33D6C98CD96F}"/>
              </a:ext>
            </a:extLst>
          </p:cNvPr>
          <p:cNvSpPr>
            <a:spLocks xmlns:a="http://schemas.openxmlformats.org/drawingml/2006/main" noGrp="1"/>
          </p:cNvSpPr>
          <p:nvPr/>
        </p:nvSpPr>
        <p:spPr>
          <a:xfrm xmlns:a="http://schemas.openxmlformats.org/drawingml/2006/main">
            <a:off x="4419600" y="1276350"/>
            <a:ext cx="3352800" cy="1638300"/>
          </a:xfrm>
          <a:prstGeom xmlns:a="http://schemas.openxmlformats.org/drawingml/2006/main" prst="roundRect">
            <a:avLst>
              <a:gd name="adj" fmla="val 6977"/>
            </a:avLst>
          </a:prstGeom>
          <a:solidFill xmlns:a="http://schemas.openxmlformats.org/drawingml/2006/main">
            <a:srgbClr val="EAF8F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0A02C89-B775-4739-8FFD-BA8F6D44E51A}"/>
              </a:ext>
            </a:extLst>
          </p:cNvPr>
          <p:cNvSpPr>
            <a:spLocks xmlns:a="http://schemas.openxmlformats.org/drawingml/2006/main" noGrp="1"/>
          </p:cNvSpPr>
          <p:nvPr/>
        </p:nvSpPr>
        <p:spPr>
          <a:xfrm xmlns:a="http://schemas.openxmlformats.org/drawingml/2006/main">
            <a:off x="4419600" y="1276350"/>
            <a:ext cx="66675" cy="1638300"/>
          </a:xfrm>
          <a:prstGeom xmlns:a="http://schemas.openxmlformats.org/drawingml/2006/main" prst="rect">
            <a:avLst/>
          </a:prstGeom>
          <a:solidFill xmlns:a="http://schemas.openxmlformats.org/drawingml/2006/main">
            <a:srgbClr val="16876A"/>
          </a:solidFill>
          <a:ln xmlns:a="http://schemas.openxmlformats.org/drawingml/2006/main" w="0">
            <a:solidFill>
              <a:srgbClr val="16876A"/>
            </a:solidFill>
            <a:prstDash val="solid"/>
          </a:ln>
        </p:spPr>
      </p:sp>
      <p:sp>
        <p:nvSpPr>
          <p:cNvPr id="12" name="">
            <a:extLst xmlns:a="http://schemas.openxmlformats.org/drawingml/2006/main">
              <a:ext uri="{FF2B5EF4-FFF2-40B4-BE49-F238E27FC236}">
                <a16:creationId xmlns:a16="http://schemas.microsoft.com/office/drawing/2014/main" id="{05F56C77-4648-45C1-9C58-9CB6EAA45300}"/>
              </a:ext>
            </a:extLst>
          </p:cNvPr>
          <p:cNvSpPr>
            <a:spLocks xmlns:a="http://schemas.openxmlformats.org/drawingml/2006/main" noGrp="1"/>
          </p:cNvSpPr>
          <p:nvPr/>
        </p:nvSpPr>
        <p:spPr>
          <a:xfrm xmlns:a="http://schemas.openxmlformats.org/drawingml/2006/main">
            <a:off x="4667250" y="14668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16876A"/>
                </a:solidFill>
                <a:latin typeface="Aptos"/>
                <a:ea typeface="Aptos"/>
                <a:cs typeface="Aptos"/>
              </a:defRPr>
            </a:pPr>
            <a:r>
              <a:rPr sz="3450" b="1" i="0">
                <a:solidFill>
                  <a:srgbClr val="16876A"/>
                </a:solidFill>
                <a:latin typeface="Aptos"/>
                <a:ea typeface="Aptos"/>
                <a:cs typeface="Aptos"/>
              </a:rPr>
              <a:t>275,408</a:t>
            </a:r>
          </a:p>
        </p:txBody>
      </p:sp>
      <p:sp>
        <p:nvSpPr>
          <p:cNvPr id="13" name="">
            <a:extLst xmlns:a="http://schemas.openxmlformats.org/drawingml/2006/main">
              <a:ext uri="{FF2B5EF4-FFF2-40B4-BE49-F238E27FC236}">
                <a16:creationId xmlns:a16="http://schemas.microsoft.com/office/drawing/2014/main" id="{CC554614-9051-41DA-83F4-BDAE9125B9BB}"/>
              </a:ext>
            </a:extLst>
          </p:cNvPr>
          <p:cNvSpPr>
            <a:spLocks xmlns:a="http://schemas.openxmlformats.org/drawingml/2006/main" noGrp="1"/>
          </p:cNvSpPr>
          <p:nvPr/>
        </p:nvSpPr>
        <p:spPr>
          <a:xfrm xmlns:a="http://schemas.openxmlformats.org/drawingml/2006/main">
            <a:off x="4667250" y="207645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activity events</a:t>
            </a:r>
          </a:p>
        </p:txBody>
      </p:sp>
      <p:sp>
        <p:nvSpPr>
          <p:cNvPr id="14" name="">
            <a:extLst xmlns:a="http://schemas.openxmlformats.org/drawingml/2006/main">
              <a:ext uri="{FF2B5EF4-FFF2-40B4-BE49-F238E27FC236}">
                <a16:creationId xmlns:a16="http://schemas.microsoft.com/office/drawing/2014/main" id="{0638AAAB-04BE-43BC-8F6C-CFCC34EE6279}"/>
              </a:ext>
            </a:extLst>
          </p:cNvPr>
          <p:cNvSpPr>
            <a:spLocks xmlns:a="http://schemas.openxmlformats.org/drawingml/2006/main" noGrp="1"/>
          </p:cNvSpPr>
          <p:nvPr/>
        </p:nvSpPr>
        <p:spPr>
          <a:xfrm xmlns:a="http://schemas.openxmlformats.org/drawingml/2006/main">
            <a:off x="8286750" y="1276350"/>
            <a:ext cx="3352800" cy="1638300"/>
          </a:xfrm>
          <a:prstGeom xmlns:a="http://schemas.openxmlformats.org/drawingml/2006/main" prst="roundRect">
            <a:avLst>
              <a:gd name="adj" fmla="val 6977"/>
            </a:avLst>
          </a:prstGeom>
          <a:solidFill xmlns:a="http://schemas.openxmlformats.org/drawingml/2006/main">
            <a:srgbClr val="FFF4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71C8F54-7792-4E49-B02C-78CC6579E2A9}"/>
              </a:ext>
            </a:extLst>
          </p:cNvPr>
          <p:cNvSpPr>
            <a:spLocks xmlns:a="http://schemas.openxmlformats.org/drawingml/2006/main" noGrp="1"/>
          </p:cNvSpPr>
          <p:nvPr/>
        </p:nvSpPr>
        <p:spPr>
          <a:xfrm xmlns:a="http://schemas.openxmlformats.org/drawingml/2006/main">
            <a:off x="8286750" y="1276350"/>
            <a:ext cx="66675" cy="1638300"/>
          </a:xfrm>
          <a:prstGeom xmlns:a="http://schemas.openxmlformats.org/drawingml/2006/main" prst="rect">
            <a:avLst/>
          </a:prstGeom>
          <a:solidFill xmlns:a="http://schemas.openxmlformats.org/drawingml/2006/main">
            <a:srgbClr val="C98200"/>
          </a:solidFill>
          <a:ln xmlns:a="http://schemas.openxmlformats.org/drawingml/2006/main" w="0">
            <a:solidFill>
              <a:srgbClr val="C98200"/>
            </a:solidFill>
            <a:prstDash val="solid"/>
          </a:ln>
        </p:spPr>
      </p:sp>
      <p:sp>
        <p:nvSpPr>
          <p:cNvPr id="16" name="">
            <a:extLst xmlns:a="http://schemas.openxmlformats.org/drawingml/2006/main">
              <a:ext uri="{FF2B5EF4-FFF2-40B4-BE49-F238E27FC236}">
                <a16:creationId xmlns:a16="http://schemas.microsoft.com/office/drawing/2014/main" id="{ECB57F90-1C44-463C-88CD-91146B85C5CE}"/>
              </a:ext>
            </a:extLst>
          </p:cNvPr>
          <p:cNvSpPr>
            <a:spLocks xmlns:a="http://schemas.openxmlformats.org/drawingml/2006/main" noGrp="1"/>
          </p:cNvSpPr>
          <p:nvPr/>
        </p:nvSpPr>
        <p:spPr>
          <a:xfrm xmlns:a="http://schemas.openxmlformats.org/drawingml/2006/main">
            <a:off x="8534400" y="14668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C98200"/>
                </a:solidFill>
                <a:latin typeface="Aptos"/>
                <a:ea typeface="Aptos"/>
                <a:cs typeface="Aptos"/>
              </a:defRPr>
            </a:pPr>
            <a:r>
              <a:rPr sz="3450" b="1" i="0">
                <a:solidFill>
                  <a:srgbClr val="C98200"/>
                </a:solidFill>
                <a:latin typeface="Aptos"/>
                <a:ea typeface="Aptos"/>
                <a:cs typeface="Aptos"/>
              </a:rPr>
              <a:t>2 months</a:t>
            </a:r>
          </a:p>
        </p:txBody>
      </p:sp>
      <p:sp>
        <p:nvSpPr>
          <p:cNvPr id="17" name="">
            <a:extLst xmlns:a="http://schemas.openxmlformats.org/drawingml/2006/main">
              <a:ext uri="{FF2B5EF4-FFF2-40B4-BE49-F238E27FC236}">
                <a16:creationId xmlns:a16="http://schemas.microsoft.com/office/drawing/2014/main" id="{345A75B8-8288-4F8A-8AF4-C7A56033FDE1}"/>
              </a:ext>
            </a:extLst>
          </p:cNvPr>
          <p:cNvSpPr>
            <a:spLocks xmlns:a="http://schemas.openxmlformats.org/drawingml/2006/main" noGrp="1"/>
          </p:cNvSpPr>
          <p:nvPr/>
        </p:nvSpPr>
        <p:spPr>
          <a:xfrm xmlns:a="http://schemas.openxmlformats.org/drawingml/2006/main">
            <a:off x="8534400" y="207645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continuous CTB data</a:t>
            </a:r>
          </a:p>
        </p:txBody>
      </p:sp>
      <p:sp>
        <p:nvSpPr>
          <p:cNvPr id="18" name="">
            <a:extLst xmlns:a="http://schemas.openxmlformats.org/drawingml/2006/main">
              <a:ext uri="{FF2B5EF4-FFF2-40B4-BE49-F238E27FC236}">
                <a16:creationId xmlns:a16="http://schemas.microsoft.com/office/drawing/2014/main" id="{D954D883-D15D-4B17-9DA5-D816F8E8B00B}"/>
              </a:ext>
            </a:extLst>
          </p:cNvPr>
          <p:cNvSpPr>
            <a:spLocks xmlns:a="http://schemas.openxmlformats.org/drawingml/2006/main" noGrp="1"/>
          </p:cNvSpPr>
          <p:nvPr/>
        </p:nvSpPr>
        <p:spPr>
          <a:xfrm xmlns:a="http://schemas.openxmlformats.org/drawingml/2006/main">
            <a:off x="552450" y="3257550"/>
            <a:ext cx="7124700" cy="2533650"/>
          </a:xfrm>
          <a:prstGeom xmlns:a="http://schemas.openxmlformats.org/drawingml/2006/main" prst="roundRect">
            <a:avLst>
              <a:gd name="adj" fmla="val 4511"/>
            </a:avLst>
          </a:prstGeom>
          <a:solidFill xmlns:a="http://schemas.openxmlformats.org/drawingml/2006/main">
            <a:srgbClr val="F8FAFC"/>
          </a:solidFill>
          <a:ln xmlns:a="http://schemas.openxmlformats.org/drawingml/2006/main" w="9525">
            <a:solidFill>
              <a:srgbClr val="D0D5DD"/>
            </a:solidFill>
            <a:prstDash val="solid"/>
          </a:ln>
        </p:spPr>
      </p:sp>
      <p:sp>
        <p:nvSpPr>
          <p:cNvPr id="19" name="">
            <a:extLst xmlns:a="http://schemas.openxmlformats.org/drawingml/2006/main">
              <a:ext uri="{FF2B5EF4-FFF2-40B4-BE49-F238E27FC236}">
                <a16:creationId xmlns:a16="http://schemas.microsoft.com/office/drawing/2014/main" id="{9CF3EB49-2345-4C50-AD74-C3CC917D9C2C}"/>
              </a:ext>
            </a:extLst>
          </p:cNvPr>
          <p:cNvSpPr>
            <a:spLocks xmlns:a="http://schemas.openxmlformats.org/drawingml/2006/main" noGrp="1"/>
          </p:cNvSpPr>
          <p:nvPr/>
        </p:nvSpPr>
        <p:spPr>
          <a:xfrm xmlns:a="http://schemas.openxmlformats.org/drawingml/2006/main">
            <a:off x="800100" y="35242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0B1220"/>
                </a:solidFill>
                <a:latin typeface="Aptos"/>
                <a:ea typeface="Aptos"/>
                <a:cs typeface="Aptos"/>
              </a:defRPr>
            </a:pPr>
            <a:r>
              <a:rPr sz="2025" b="1" i="0">
                <a:solidFill>
                  <a:srgbClr val="0B1220"/>
                </a:solidFill>
                <a:latin typeface="Aptos"/>
                <a:ea typeface="Aptos"/>
                <a:cs typeface="Aptos"/>
              </a:rPr>
              <a:t>Case semantics</a:t>
            </a:r>
          </a:p>
        </p:txBody>
      </p:sp>
      <p:sp>
        <p:nvSpPr>
          <p:cNvPr id="20" name="">
            <a:extLst xmlns:a="http://schemas.openxmlformats.org/drawingml/2006/main">
              <a:ext uri="{FF2B5EF4-FFF2-40B4-BE49-F238E27FC236}">
                <a16:creationId xmlns:a16="http://schemas.microsoft.com/office/drawing/2014/main" id="{84D909DD-13EE-4FAE-A3DE-F0E7973CE8A6}"/>
              </a:ext>
            </a:extLst>
          </p:cNvPr>
          <p:cNvSpPr>
            <a:spLocks xmlns:a="http://schemas.openxmlformats.org/drawingml/2006/main" noGrp="1"/>
          </p:cNvSpPr>
          <p:nvPr/>
        </p:nvSpPr>
        <p:spPr>
          <a:xfrm xmlns:a="http://schemas.openxmlformats.org/drawingml/2006/main">
            <a:off x="952500" y="4238625"/>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i="0">
                <a:solidFill>
                  <a:srgbClr val="0B1220"/>
                </a:solidFill>
                <a:latin typeface="Aptos"/>
                <a:ea typeface="Aptos"/>
                <a:cs typeface="Aptos"/>
              </a:defRPr>
            </a:pPr>
            <a:r>
              <a:rPr sz="1725" b="1" i="0">
                <a:solidFill>
                  <a:srgbClr val="0B1220"/>
                </a:solidFill>
                <a:latin typeface="Aptos"/>
                <a:ea typeface="Aptos"/>
                <a:cs typeface="Aptos"/>
              </a:rPr>
              <a:t>Gate In</a:t>
            </a:r>
          </a:p>
        </p:txBody>
      </p:sp>
      <p:sp>
        <p:nvSpPr>
          <p:cNvPr id="21" name="">
            <a:extLst xmlns:a="http://schemas.openxmlformats.org/drawingml/2006/main">
              <a:ext uri="{FF2B5EF4-FFF2-40B4-BE49-F238E27FC236}">
                <a16:creationId xmlns:a16="http://schemas.microsoft.com/office/drawing/2014/main" id="{01E7D305-10FA-430A-87D5-C9146B032B1A}"/>
              </a:ext>
            </a:extLst>
          </p:cNvPr>
          <p:cNvSpPr>
            <a:spLocks xmlns:a="http://schemas.openxmlformats.org/drawingml/2006/main" noGrp="1"/>
          </p:cNvSpPr>
          <p:nvPr/>
        </p:nvSpPr>
        <p:spPr>
          <a:xfrm xmlns:a="http://schemas.openxmlformats.org/drawingml/2006/main">
            <a:off x="2209800" y="4257675"/>
            <a:ext cx="47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700" b="1" i="0">
                <a:solidFill>
                  <a:srgbClr val="98A2B3"/>
                </a:solidFill>
                <a:latin typeface="Aptos"/>
                <a:ea typeface="Aptos"/>
                <a:cs typeface="Aptos"/>
              </a:defRPr>
            </a:pPr>
            <a:r>
              <a:rPr sz="2700" b="1" i="0">
                <a:solidFill>
                  <a:srgbClr val="98A2B3"/>
                </a:solidFill>
                <a:latin typeface="Aptos"/>
                <a:ea typeface="Aptos"/>
                <a:cs typeface="Aptos"/>
              </a:rPr>
              <a:t>→</a:t>
            </a:r>
          </a:p>
        </p:txBody>
      </p:sp>
      <p:sp>
        <p:nvSpPr>
          <p:cNvPr id="22" name="">
            <a:extLst xmlns:a="http://schemas.openxmlformats.org/drawingml/2006/main">
              <a:ext uri="{FF2B5EF4-FFF2-40B4-BE49-F238E27FC236}">
                <a16:creationId xmlns:a16="http://schemas.microsoft.com/office/drawing/2014/main" id="{276C8E1A-36B4-4699-9C93-734533309393}"/>
              </a:ext>
            </a:extLst>
          </p:cNvPr>
          <p:cNvSpPr>
            <a:spLocks xmlns:a="http://schemas.openxmlformats.org/drawingml/2006/main" noGrp="1"/>
          </p:cNvSpPr>
          <p:nvPr/>
        </p:nvSpPr>
        <p:spPr>
          <a:xfrm xmlns:a="http://schemas.openxmlformats.org/drawingml/2006/main">
            <a:off x="2781300" y="4238625"/>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i="0">
                <a:solidFill>
                  <a:srgbClr val="0B1220"/>
                </a:solidFill>
                <a:latin typeface="Aptos"/>
                <a:ea typeface="Aptos"/>
                <a:cs typeface="Aptos"/>
              </a:defRPr>
            </a:pPr>
            <a:r>
              <a:rPr sz="1725" b="1" i="0">
                <a:solidFill>
                  <a:srgbClr val="0B1220"/>
                </a:solidFill>
                <a:latin typeface="Aptos"/>
                <a:ea typeface="Aptos"/>
                <a:cs typeface="Aptos"/>
              </a:rPr>
              <a:t>1+ yard activities</a:t>
            </a:r>
          </a:p>
        </p:txBody>
      </p:sp>
      <p:sp>
        <p:nvSpPr>
          <p:cNvPr id="23" name="">
            <a:extLst xmlns:a="http://schemas.openxmlformats.org/drawingml/2006/main">
              <a:ext uri="{FF2B5EF4-FFF2-40B4-BE49-F238E27FC236}">
                <a16:creationId xmlns:a16="http://schemas.microsoft.com/office/drawing/2014/main" id="{862625A6-4C63-470D-889E-DE1ED52B9C68}"/>
              </a:ext>
            </a:extLst>
          </p:cNvPr>
          <p:cNvSpPr>
            <a:spLocks xmlns:a="http://schemas.openxmlformats.org/drawingml/2006/main" noGrp="1"/>
          </p:cNvSpPr>
          <p:nvPr/>
        </p:nvSpPr>
        <p:spPr>
          <a:xfrm xmlns:a="http://schemas.openxmlformats.org/drawingml/2006/main">
            <a:off x="4905375" y="4257675"/>
            <a:ext cx="47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700" b="1" i="0">
                <a:solidFill>
                  <a:srgbClr val="98A2B3"/>
                </a:solidFill>
                <a:latin typeface="Aptos"/>
                <a:ea typeface="Aptos"/>
                <a:cs typeface="Aptos"/>
              </a:defRPr>
            </a:pPr>
            <a:r>
              <a:rPr sz="2700" b="1" i="0">
                <a:solidFill>
                  <a:srgbClr val="98A2B3"/>
                </a:solidFill>
                <a:latin typeface="Aptos"/>
                <a:ea typeface="Aptos"/>
                <a:cs typeface="Aptos"/>
              </a:rPr>
              <a:t>→</a:t>
            </a:r>
          </a:p>
        </p:txBody>
      </p:sp>
      <p:sp>
        <p:nvSpPr>
          <p:cNvPr id="24" name="">
            <a:extLst xmlns:a="http://schemas.openxmlformats.org/drawingml/2006/main">
              <a:ext uri="{FF2B5EF4-FFF2-40B4-BE49-F238E27FC236}">
                <a16:creationId xmlns:a16="http://schemas.microsoft.com/office/drawing/2014/main" id="{5ADF1197-8951-4E04-8296-7170F9379A36}"/>
              </a:ext>
            </a:extLst>
          </p:cNvPr>
          <p:cNvSpPr>
            <a:spLocks xmlns:a="http://schemas.openxmlformats.org/drawingml/2006/main" noGrp="1"/>
          </p:cNvSpPr>
          <p:nvPr/>
        </p:nvSpPr>
        <p:spPr>
          <a:xfrm xmlns:a="http://schemas.openxmlformats.org/drawingml/2006/main">
            <a:off x="5476875" y="4238625"/>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i="0">
                <a:solidFill>
                  <a:srgbClr val="0B1220"/>
                </a:solidFill>
                <a:latin typeface="Aptos"/>
                <a:ea typeface="Aptos"/>
                <a:cs typeface="Aptos"/>
              </a:defRPr>
            </a:pPr>
            <a:r>
              <a:rPr sz="1725" b="1" i="0">
                <a:solidFill>
                  <a:srgbClr val="0B1220"/>
                </a:solidFill>
                <a:latin typeface="Aptos"/>
                <a:ea typeface="Aptos"/>
                <a:cs typeface="Aptos"/>
              </a:rPr>
              <a:t>Gate Out</a:t>
            </a:r>
          </a:p>
        </p:txBody>
      </p:sp>
      <p:sp>
        <p:nvSpPr>
          <p:cNvPr id="25" name="">
            <a:extLst xmlns:a="http://schemas.openxmlformats.org/drawingml/2006/main">
              <a:ext uri="{FF2B5EF4-FFF2-40B4-BE49-F238E27FC236}">
                <a16:creationId xmlns:a16="http://schemas.microsoft.com/office/drawing/2014/main" id="{9A15CE53-CD46-4CD0-943C-91A53045157D}"/>
              </a:ext>
            </a:extLst>
          </p:cNvPr>
          <p:cNvSpPr>
            <a:spLocks xmlns:a="http://schemas.openxmlformats.org/drawingml/2006/main" noGrp="1"/>
          </p:cNvSpPr>
          <p:nvPr/>
        </p:nvSpPr>
        <p:spPr>
          <a:xfrm xmlns:a="http://schemas.openxmlformats.org/drawingml/2006/main">
            <a:off x="952500" y="5048250"/>
            <a:ext cx="577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i="0">
                <a:solidFill>
                  <a:srgbClr val="5F6B7A"/>
                </a:solidFill>
                <a:latin typeface="Aptos"/>
                <a:ea typeface="Aptos"/>
                <a:cs typeface="Aptos"/>
              </a:defRPr>
            </a:pPr>
            <a:r>
              <a:rPr sz="1575" b="0" i="0">
                <a:solidFill>
                  <a:srgbClr val="5F6B7A"/>
                </a:solidFill>
                <a:latin typeface="Aptos"/>
                <a:ea typeface="Aptos"/>
                <a:cs typeface="Aptos"/>
              </a:rPr>
              <a:t>A case is one truck visit. ITS schedule order is authoritative; start and complete are observed.</a:t>
            </a:r>
          </a:p>
        </p:txBody>
      </p:sp>
      <p:sp>
        <p:nvSpPr>
          <p:cNvPr id="26" name="">
            <a:extLst xmlns:a="http://schemas.openxmlformats.org/drawingml/2006/main">
              <a:ext uri="{FF2B5EF4-FFF2-40B4-BE49-F238E27FC236}">
                <a16:creationId xmlns:a16="http://schemas.microsoft.com/office/drawing/2014/main" id="{2A8A931B-8B40-49DA-A887-2DBED8A9F26F}"/>
              </a:ext>
            </a:extLst>
          </p:cNvPr>
          <p:cNvSpPr>
            <a:spLocks xmlns:a="http://schemas.openxmlformats.org/drawingml/2006/main" noGrp="1"/>
          </p:cNvSpPr>
          <p:nvPr/>
        </p:nvSpPr>
        <p:spPr>
          <a:xfrm xmlns:a="http://schemas.openxmlformats.org/drawingml/2006/main">
            <a:off x="7981950" y="3257550"/>
            <a:ext cx="3657600" cy="2533650"/>
          </a:xfrm>
          <a:prstGeom xmlns:a="http://schemas.openxmlformats.org/drawingml/2006/main" prst="roundRect">
            <a:avLst>
              <a:gd name="adj" fmla="val 4511"/>
            </a:avLst>
          </a:prstGeom>
          <a:solidFill xmlns:a="http://schemas.openxmlformats.org/drawingml/2006/main">
            <a:srgbClr val="FDECE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302CCF6-B7C3-45A2-BDD4-D369706B2FB1}"/>
              </a:ext>
            </a:extLst>
          </p:cNvPr>
          <p:cNvSpPr>
            <a:spLocks xmlns:a="http://schemas.openxmlformats.org/drawingml/2006/main" noGrp="1"/>
          </p:cNvSpPr>
          <p:nvPr/>
        </p:nvSpPr>
        <p:spPr>
          <a:xfrm xmlns:a="http://schemas.openxmlformats.org/drawingml/2006/main">
            <a:off x="8239125" y="35242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C8102E"/>
                </a:solidFill>
                <a:latin typeface="Aptos"/>
                <a:ea typeface="Aptos"/>
                <a:cs typeface="Aptos"/>
              </a:defRPr>
            </a:pPr>
            <a:r>
              <a:rPr sz="1875" b="1" i="0">
                <a:solidFill>
                  <a:srgbClr val="C8102E"/>
                </a:solidFill>
                <a:latin typeface="Aptos"/>
                <a:ea typeface="Aptos"/>
                <a:cs typeface="Aptos"/>
              </a:rPr>
              <a:t>Scope and timestamp boundary</a:t>
            </a:r>
          </a:p>
        </p:txBody>
      </p:sp>
      <p:sp>
        <p:nvSpPr>
          <p:cNvPr id="28" name="">
            <a:extLst xmlns:a="http://schemas.openxmlformats.org/drawingml/2006/main">
              <a:ext uri="{FF2B5EF4-FFF2-40B4-BE49-F238E27FC236}">
                <a16:creationId xmlns:a16="http://schemas.microsoft.com/office/drawing/2014/main" id="{A63051E2-08DC-4D2B-8856-478C8D0E36FA}"/>
              </a:ext>
            </a:extLst>
          </p:cNvPr>
          <p:cNvSpPr>
            <a:spLocks xmlns:a="http://schemas.openxmlformats.org/drawingml/2006/main" noGrp="1"/>
          </p:cNvSpPr>
          <p:nvPr/>
        </p:nvSpPr>
        <p:spPr>
          <a:xfrm xmlns:a="http://schemas.openxmlformats.org/drawingml/2006/main">
            <a:off x="8239125" y="4143375"/>
            <a:ext cx="3048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0B1220"/>
                </a:solidFill>
                <a:latin typeface="Aptos"/>
                <a:ea typeface="Aptos"/>
                <a:cs typeface="Aptos"/>
              </a:defRPr>
            </a:pPr>
            <a:r>
              <a:rPr sz="1650" b="0" i="0">
                <a:solidFill>
                  <a:srgbClr val="0B1220"/>
                </a:solidFill>
                <a:latin typeface="Aptos"/>
                <a:ea typeface="Aptos"/>
                <a:cs typeface="Aptos"/>
              </a:rPr>
              <a:t>1,693 multi-RMG visits (6,820 events) are excluded. No physical enablement, queue-entry or movement timestamp is observed.</a:t>
            </a:r>
          </a:p>
        </p:txBody>
      </p:sp>
    </p:spTree>
    <p:extLst>
      <p:ext uri="{BB962C8B-B14F-4D97-AF65-F5344CB8AC3E}">
        <p14:creationId xmlns:p14="http://schemas.microsoft.com/office/powerpoint/2010/main" val="174366569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326056A-2EE3-430A-8AA0-B6B2DD5D6359}"/>
              </a:ext>
            </a:extLst>
          </p:cNvPr>
          <p:cNvSpPr>
            <a:spLocks xmlns:a="http://schemas.openxmlformats.org/drawingml/2006/main" noGrp="1"/>
          </p:cNvSpPr>
          <p:nvPr/>
        </p:nvSpPr>
        <p:spPr>
          <a:xfrm xmlns:a="http://schemas.openxmlformats.org/drawingml/2006/main">
            <a:off x="457200" y="228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C8102E"/>
                </a:solidFill>
                <a:latin typeface="Aptos"/>
                <a:ea typeface="Aptos"/>
                <a:cs typeface="Aptos"/>
              </a:defRPr>
            </a:pPr>
            <a:r>
              <a:rPr sz="1275" b="1" i="0">
                <a:solidFill>
                  <a:srgbClr val="C8102E"/>
                </a:solidFill>
                <a:latin typeface="Aptos"/>
                <a:ea typeface="Aptos"/>
                <a:cs typeface="Aptos"/>
              </a:rPr>
              <a:t>APPENDIX</a:t>
            </a:r>
          </a:p>
        </p:txBody>
      </p:sp>
      <p:sp>
        <p:nvSpPr>
          <p:cNvPr id="2" name="">
            <a:extLst xmlns:a="http://schemas.openxmlformats.org/drawingml/2006/main">
              <a:ext uri="{FF2B5EF4-FFF2-40B4-BE49-F238E27FC236}">
                <a16:creationId xmlns:a16="http://schemas.microsoft.com/office/drawing/2014/main" id="{1ED7DD53-08D0-496B-9DD3-0743E23AE5E5}"/>
              </a:ext>
            </a:extLst>
          </p:cNvPr>
          <p:cNvSpPr>
            <a:spLocks xmlns:a="http://schemas.openxmlformats.org/drawingml/2006/main" noGrp="1"/>
          </p:cNvSpPr>
          <p:nvPr/>
        </p:nvSpPr>
        <p:spPr>
          <a:xfrm xmlns:a="http://schemas.openxmlformats.org/drawingml/2006/main">
            <a:off x="552450" y="485775"/>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00" b="1" i="0">
                <a:solidFill>
                  <a:srgbClr val="0B1220"/>
                </a:solidFill>
                <a:latin typeface="Aptos"/>
                <a:ea typeface="Aptos"/>
                <a:cs typeface="Aptos"/>
              </a:defRPr>
            </a:pPr>
            <a:r>
              <a:rPr sz="3300" b="1" i="0">
                <a:solidFill>
                  <a:srgbClr val="0B1220"/>
                </a:solidFill>
                <a:latin typeface="Aptos"/>
                <a:ea typeface="Aptos"/>
                <a:cs typeface="Aptos"/>
              </a:rPr>
              <a:t>Why 64/16/20 and ten seeds?</a:t>
            </a:r>
          </a:p>
        </p:txBody>
      </p:sp>
      <p:sp>
        <p:nvSpPr>
          <p:cNvPr id="3" name="">
            <a:extLst xmlns:a="http://schemas.openxmlformats.org/drawingml/2006/main">
              <a:ext uri="{FF2B5EF4-FFF2-40B4-BE49-F238E27FC236}">
                <a16:creationId xmlns:a16="http://schemas.microsoft.com/office/drawing/2014/main" id="{FCECD525-7037-4A35-BF3A-612889C0ACDF}"/>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4" name="">
            <a:extLst xmlns:a="http://schemas.openxmlformats.org/drawingml/2006/main">
              <a:ext uri="{FF2B5EF4-FFF2-40B4-BE49-F238E27FC236}">
                <a16:creationId xmlns:a16="http://schemas.microsoft.com/office/drawing/2014/main" id="{F5FE76B9-2E34-4B38-A400-D98328430678}"/>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5" name="">
            <a:extLst xmlns:a="http://schemas.openxmlformats.org/drawingml/2006/main">
              <a:ext uri="{FF2B5EF4-FFF2-40B4-BE49-F238E27FC236}">
                <a16:creationId xmlns:a16="http://schemas.microsoft.com/office/drawing/2014/main" id="{AF5B8FF4-2FAC-4DAB-ADB5-0FDE3EA4D396}"/>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18</a:t>
            </a:r>
          </a:p>
        </p:txBody>
      </p:sp>
      <p:sp>
        <p:nvSpPr>
          <p:cNvPr id="6" name="">
            <a:extLst xmlns:a="http://schemas.openxmlformats.org/drawingml/2006/main">
              <a:ext uri="{FF2B5EF4-FFF2-40B4-BE49-F238E27FC236}">
                <a16:creationId xmlns:a16="http://schemas.microsoft.com/office/drawing/2014/main" id="{E4EC110B-3F06-4E0D-8E92-95CC18155132}"/>
              </a:ext>
            </a:extLst>
          </p:cNvPr>
          <p:cNvSpPr>
            <a:spLocks xmlns:a="http://schemas.openxmlformats.org/drawingml/2006/main" noGrp="1"/>
          </p:cNvSpPr>
          <p:nvPr/>
        </p:nvSpPr>
        <p:spPr>
          <a:xfrm xmlns:a="http://schemas.openxmlformats.org/drawingml/2006/main">
            <a:off x="609600" y="1314450"/>
            <a:ext cx="5219700" cy="1885950"/>
          </a:xfrm>
          <a:prstGeom xmlns:a="http://schemas.openxmlformats.org/drawingml/2006/main" prst="roundRect">
            <a:avLst>
              <a:gd name="adj" fmla="val 6061"/>
            </a:avLst>
          </a:prstGeom>
          <a:solidFill xmlns:a="http://schemas.openxmlformats.org/drawingml/2006/main">
            <a:srgbClr val="F8FAFC"/>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977C47FE-8739-4BEE-AC52-A84D33CB2223}"/>
              </a:ext>
            </a:extLst>
          </p:cNvPr>
          <p:cNvSpPr>
            <a:spLocks xmlns:a="http://schemas.openxmlformats.org/drawingml/2006/main" noGrp="1"/>
          </p:cNvSpPr>
          <p:nvPr/>
        </p:nvSpPr>
        <p:spPr>
          <a:xfrm xmlns:a="http://schemas.openxmlformats.org/drawingml/2006/main">
            <a:off x="838200" y="1543050"/>
            <a:ext cx="400050" cy="400050"/>
          </a:xfrm>
          <a:prstGeom xmlns:a="http://schemas.openxmlformats.org/drawingml/2006/main" prst="ellipse">
            <a:avLst/>
          </a:prstGeom>
          <a:solidFill xmlns:a="http://schemas.openxmlformats.org/drawingml/2006/main">
            <a:srgbClr val="16876A"/>
          </a:solidFill>
          <a:ln xmlns:a="http://schemas.openxmlformats.org/drawingml/2006/main" w="9525">
            <a:solidFill>
              <a:srgbClr val="16876A"/>
            </a:solidFill>
            <a:prstDash val="solid"/>
          </a:ln>
        </p:spPr>
      </p:sp>
      <p:sp>
        <p:nvSpPr>
          <p:cNvPr id="8" name="">
            <a:extLst xmlns:a="http://schemas.openxmlformats.org/drawingml/2006/main">
              <a:ext uri="{FF2B5EF4-FFF2-40B4-BE49-F238E27FC236}">
                <a16:creationId xmlns:a16="http://schemas.microsoft.com/office/drawing/2014/main" id="{16722403-3FA7-40E8-8E1B-853FC3C7ADC8}"/>
              </a:ext>
            </a:extLst>
          </p:cNvPr>
          <p:cNvSpPr>
            <a:spLocks xmlns:a="http://schemas.openxmlformats.org/drawingml/2006/main" noGrp="1"/>
          </p:cNvSpPr>
          <p:nvPr/>
        </p:nvSpPr>
        <p:spPr>
          <a:xfrm xmlns:a="http://schemas.openxmlformats.org/drawingml/2006/main">
            <a:off x="838200" y="1590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BBD9C901-E2AA-4874-8E45-A7567215645E}"/>
              </a:ext>
            </a:extLst>
          </p:cNvPr>
          <p:cNvSpPr>
            <a:spLocks xmlns:a="http://schemas.openxmlformats.org/drawingml/2006/main" noGrp="1"/>
          </p:cNvSpPr>
          <p:nvPr/>
        </p:nvSpPr>
        <p:spPr>
          <a:xfrm xmlns:a="http://schemas.openxmlformats.org/drawingml/2006/main">
            <a:off x="1409700" y="1504950"/>
            <a:ext cx="4191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0B1220"/>
                </a:solidFill>
                <a:latin typeface="Aptos"/>
                <a:ea typeface="Aptos"/>
                <a:cs typeface="Aptos"/>
              </a:defRPr>
            </a:pPr>
            <a:r>
              <a:rPr sz="1875" b="1" i="0">
                <a:solidFill>
                  <a:srgbClr val="0B1220"/>
                </a:solidFill>
                <a:latin typeface="Aptos"/>
                <a:ea typeface="Aptos"/>
                <a:cs typeface="Aptos"/>
              </a:rPr>
              <a:t>64% discovery</a:t>
            </a:r>
          </a:p>
        </p:txBody>
      </p:sp>
      <p:sp>
        <p:nvSpPr>
          <p:cNvPr id="10" name="">
            <a:extLst xmlns:a="http://schemas.openxmlformats.org/drawingml/2006/main">
              <a:ext uri="{FF2B5EF4-FFF2-40B4-BE49-F238E27FC236}">
                <a16:creationId xmlns:a16="http://schemas.microsoft.com/office/drawing/2014/main" id="{8EA0C592-3908-4CCE-B255-F3A696E398B3}"/>
              </a:ext>
            </a:extLst>
          </p:cNvPr>
          <p:cNvSpPr>
            <a:spLocks xmlns:a="http://schemas.openxmlformats.org/drawingml/2006/main" noGrp="1"/>
          </p:cNvSpPr>
          <p:nvPr/>
        </p:nvSpPr>
        <p:spPr>
          <a:xfrm xmlns:a="http://schemas.openxmlformats.org/drawingml/2006/main">
            <a:off x="1409700" y="2152650"/>
            <a:ext cx="4191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57,254 early cases discover four configurations without future-period leakage.</a:t>
            </a:r>
          </a:p>
        </p:txBody>
      </p:sp>
      <p:sp>
        <p:nvSpPr>
          <p:cNvPr id="11" name="">
            <a:extLst xmlns:a="http://schemas.openxmlformats.org/drawingml/2006/main">
              <a:ext uri="{FF2B5EF4-FFF2-40B4-BE49-F238E27FC236}">
                <a16:creationId xmlns:a16="http://schemas.microsoft.com/office/drawing/2014/main" id="{22A07D8C-2E54-4B18-981C-E9135EE4C220}"/>
              </a:ext>
            </a:extLst>
          </p:cNvPr>
          <p:cNvSpPr>
            <a:spLocks xmlns:a="http://schemas.openxmlformats.org/drawingml/2006/main" noGrp="1"/>
          </p:cNvSpPr>
          <p:nvPr/>
        </p:nvSpPr>
        <p:spPr>
          <a:xfrm xmlns:a="http://schemas.openxmlformats.org/drawingml/2006/main">
            <a:off x="6248400" y="1314450"/>
            <a:ext cx="5219700" cy="1885950"/>
          </a:xfrm>
          <a:prstGeom xmlns:a="http://schemas.openxmlformats.org/drawingml/2006/main" prst="roundRect">
            <a:avLst>
              <a:gd name="adj" fmla="val 6061"/>
            </a:avLst>
          </a:prstGeom>
          <a:solidFill xmlns:a="http://schemas.openxmlformats.org/drawingml/2006/main">
            <a:srgbClr val="F8FAFC"/>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00464F31-25C2-4D3D-B458-3CEEA14D43AF}"/>
              </a:ext>
            </a:extLst>
          </p:cNvPr>
          <p:cNvSpPr>
            <a:spLocks xmlns:a="http://schemas.openxmlformats.org/drawingml/2006/main" noGrp="1"/>
          </p:cNvSpPr>
          <p:nvPr/>
        </p:nvSpPr>
        <p:spPr>
          <a:xfrm xmlns:a="http://schemas.openxmlformats.org/drawingml/2006/main">
            <a:off x="6477000" y="1543050"/>
            <a:ext cx="400050" cy="400050"/>
          </a:xfrm>
          <a:prstGeom xmlns:a="http://schemas.openxmlformats.org/drawingml/2006/main" prst="ellipse">
            <a:avLst/>
          </a:prstGeom>
          <a:solidFill xmlns:a="http://schemas.openxmlformats.org/drawingml/2006/main">
            <a:srgbClr val="2F80ED"/>
          </a:solidFill>
          <a:ln xmlns:a="http://schemas.openxmlformats.org/drawingml/2006/main" w="9525">
            <a:solidFill>
              <a:srgbClr val="2F80ED"/>
            </a:solidFill>
            <a:prstDash val="solid"/>
          </a:ln>
        </p:spPr>
      </p:sp>
      <p:sp>
        <p:nvSpPr>
          <p:cNvPr id="13" name="">
            <a:extLst xmlns:a="http://schemas.openxmlformats.org/drawingml/2006/main">
              <a:ext uri="{FF2B5EF4-FFF2-40B4-BE49-F238E27FC236}">
                <a16:creationId xmlns:a16="http://schemas.microsoft.com/office/drawing/2014/main" id="{571E9DE4-77F9-415F-B545-6C6C8604FDEB}"/>
              </a:ext>
            </a:extLst>
          </p:cNvPr>
          <p:cNvSpPr>
            <a:spLocks xmlns:a="http://schemas.openxmlformats.org/drawingml/2006/main" noGrp="1"/>
          </p:cNvSpPr>
          <p:nvPr/>
        </p:nvSpPr>
        <p:spPr>
          <a:xfrm xmlns:a="http://schemas.openxmlformats.org/drawingml/2006/main">
            <a:off x="6477000" y="1590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2</a:t>
            </a:r>
          </a:p>
        </p:txBody>
      </p:sp>
      <p:sp>
        <p:nvSpPr>
          <p:cNvPr id="14" name="">
            <a:extLst xmlns:a="http://schemas.openxmlformats.org/drawingml/2006/main">
              <a:ext uri="{FF2B5EF4-FFF2-40B4-BE49-F238E27FC236}">
                <a16:creationId xmlns:a16="http://schemas.microsoft.com/office/drawing/2014/main" id="{4D8B63C5-6747-4A68-AF4C-B6530375FD82}"/>
              </a:ext>
            </a:extLst>
          </p:cNvPr>
          <p:cNvSpPr>
            <a:spLocks xmlns:a="http://schemas.openxmlformats.org/drawingml/2006/main" noGrp="1"/>
          </p:cNvSpPr>
          <p:nvPr/>
        </p:nvSpPr>
        <p:spPr>
          <a:xfrm xmlns:a="http://schemas.openxmlformats.org/drawingml/2006/main">
            <a:off x="7048500" y="1504950"/>
            <a:ext cx="4191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0B1220"/>
                </a:solidFill>
                <a:latin typeface="Aptos"/>
                <a:ea typeface="Aptos"/>
                <a:cs typeface="Aptos"/>
              </a:defRPr>
            </a:pPr>
            <a:r>
              <a:rPr sz="1875" b="1" i="0">
                <a:solidFill>
                  <a:srgbClr val="0B1220"/>
                </a:solidFill>
                <a:latin typeface="Aptos"/>
                <a:ea typeface="Aptos"/>
                <a:cs typeface="Aptos"/>
              </a:rPr>
              <a:t>16% validation</a:t>
            </a:r>
          </a:p>
        </p:txBody>
      </p:sp>
      <p:sp>
        <p:nvSpPr>
          <p:cNvPr id="15" name="">
            <a:extLst xmlns:a="http://schemas.openxmlformats.org/drawingml/2006/main">
              <a:ext uri="{FF2B5EF4-FFF2-40B4-BE49-F238E27FC236}">
                <a16:creationId xmlns:a16="http://schemas.microsoft.com/office/drawing/2014/main" id="{972515DE-CA42-4CA2-9C36-92D5BDD0A0DB}"/>
              </a:ext>
            </a:extLst>
          </p:cNvPr>
          <p:cNvSpPr>
            <a:spLocks xmlns:a="http://schemas.openxmlformats.org/drawingml/2006/main" noGrp="1"/>
          </p:cNvSpPr>
          <p:nvPr/>
        </p:nvSpPr>
        <p:spPr>
          <a:xfrm xmlns:a="http://schemas.openxmlformats.org/drawingml/2006/main">
            <a:off x="7048500" y="2152650"/>
            <a:ext cx="4191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14,314 later cases apply the pre-specified historical-fidelity selection rule.</a:t>
            </a:r>
          </a:p>
        </p:txBody>
      </p:sp>
      <p:sp>
        <p:nvSpPr>
          <p:cNvPr id="16" name="">
            <a:extLst xmlns:a="http://schemas.openxmlformats.org/drawingml/2006/main">
              <a:ext uri="{FF2B5EF4-FFF2-40B4-BE49-F238E27FC236}">
                <a16:creationId xmlns:a16="http://schemas.microsoft.com/office/drawing/2014/main" id="{1813E9ED-EDCA-4AEA-9D7B-2475722A41FA}"/>
              </a:ext>
            </a:extLst>
          </p:cNvPr>
          <p:cNvSpPr>
            <a:spLocks xmlns:a="http://schemas.openxmlformats.org/drawingml/2006/main" noGrp="1"/>
          </p:cNvSpPr>
          <p:nvPr/>
        </p:nvSpPr>
        <p:spPr>
          <a:xfrm xmlns:a="http://schemas.openxmlformats.org/drawingml/2006/main">
            <a:off x="609600" y="3581400"/>
            <a:ext cx="5219700" cy="1885950"/>
          </a:xfrm>
          <a:prstGeom xmlns:a="http://schemas.openxmlformats.org/drawingml/2006/main" prst="roundRect">
            <a:avLst>
              <a:gd name="adj" fmla="val 6061"/>
            </a:avLst>
          </a:prstGeom>
          <a:solidFill xmlns:a="http://schemas.openxmlformats.org/drawingml/2006/main">
            <a:srgbClr val="F8FAFC"/>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427A6098-7650-4F67-AC31-886B249BFD14}"/>
              </a:ext>
            </a:extLst>
          </p:cNvPr>
          <p:cNvSpPr>
            <a:spLocks xmlns:a="http://schemas.openxmlformats.org/drawingml/2006/main" noGrp="1"/>
          </p:cNvSpPr>
          <p:nvPr/>
        </p:nvSpPr>
        <p:spPr>
          <a:xfrm xmlns:a="http://schemas.openxmlformats.org/drawingml/2006/main">
            <a:off x="838200" y="3810000"/>
            <a:ext cx="400050" cy="400050"/>
          </a:xfrm>
          <a:prstGeom xmlns:a="http://schemas.openxmlformats.org/drawingml/2006/main" prst="ellipse">
            <a:avLst/>
          </a:prstGeom>
          <a:solidFill xmlns:a="http://schemas.openxmlformats.org/drawingml/2006/main">
            <a:srgbClr val="C98200"/>
          </a:solidFill>
          <a:ln xmlns:a="http://schemas.openxmlformats.org/drawingml/2006/main" w="9525">
            <a:solidFill>
              <a:srgbClr val="C98200"/>
            </a:solidFill>
            <a:prstDash val="solid"/>
          </a:ln>
        </p:spPr>
      </p:sp>
      <p:sp>
        <p:nvSpPr>
          <p:cNvPr id="18" name="">
            <a:extLst xmlns:a="http://schemas.openxmlformats.org/drawingml/2006/main">
              <a:ext uri="{FF2B5EF4-FFF2-40B4-BE49-F238E27FC236}">
                <a16:creationId xmlns:a16="http://schemas.microsoft.com/office/drawing/2014/main" id="{9C530B44-732A-4448-985A-CC3C58EF2916}"/>
              </a:ext>
            </a:extLst>
          </p:cNvPr>
          <p:cNvSpPr>
            <a:spLocks xmlns:a="http://schemas.openxmlformats.org/drawingml/2006/main" noGrp="1"/>
          </p:cNvSpPr>
          <p:nvPr/>
        </p:nvSpPr>
        <p:spPr>
          <a:xfrm xmlns:a="http://schemas.openxmlformats.org/drawingml/2006/main">
            <a:off x="838200" y="38576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3</a:t>
            </a:r>
          </a:p>
        </p:txBody>
      </p:sp>
      <p:sp>
        <p:nvSpPr>
          <p:cNvPr id="19" name="">
            <a:extLst xmlns:a="http://schemas.openxmlformats.org/drawingml/2006/main">
              <a:ext uri="{FF2B5EF4-FFF2-40B4-BE49-F238E27FC236}">
                <a16:creationId xmlns:a16="http://schemas.microsoft.com/office/drawing/2014/main" id="{AEC42867-2AE8-48D2-965C-CC62DB2A05B1}"/>
              </a:ext>
            </a:extLst>
          </p:cNvPr>
          <p:cNvSpPr>
            <a:spLocks xmlns:a="http://schemas.openxmlformats.org/drawingml/2006/main" noGrp="1"/>
          </p:cNvSpPr>
          <p:nvPr/>
        </p:nvSpPr>
        <p:spPr>
          <a:xfrm xmlns:a="http://schemas.openxmlformats.org/drawingml/2006/main">
            <a:off x="1409700" y="3771900"/>
            <a:ext cx="4191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0B1220"/>
                </a:solidFill>
                <a:latin typeface="Aptos"/>
                <a:ea typeface="Aptos"/>
                <a:cs typeface="Aptos"/>
              </a:defRPr>
            </a:pPr>
            <a:r>
              <a:rPr sz="1875" b="1" i="0">
                <a:solidFill>
                  <a:srgbClr val="0B1220"/>
                </a:solidFill>
                <a:latin typeface="Aptos"/>
                <a:ea typeface="Aptos"/>
                <a:cs typeface="Aptos"/>
              </a:rPr>
              <a:t>80% rediscovery</a:t>
            </a:r>
          </a:p>
        </p:txBody>
      </p:sp>
      <p:sp>
        <p:nvSpPr>
          <p:cNvPr id="20" name="">
            <a:extLst xmlns:a="http://schemas.openxmlformats.org/drawingml/2006/main">
              <a:ext uri="{FF2B5EF4-FFF2-40B4-BE49-F238E27FC236}">
                <a16:creationId xmlns:a16="http://schemas.microsoft.com/office/drawing/2014/main" id="{7160A0B0-F569-482E-9952-C41EBE088F8E}"/>
              </a:ext>
            </a:extLst>
          </p:cNvPr>
          <p:cNvSpPr>
            <a:spLocks xmlns:a="http://schemas.openxmlformats.org/drawingml/2006/main" noGrp="1"/>
          </p:cNvSpPr>
          <p:nvPr/>
        </p:nvSpPr>
        <p:spPr>
          <a:xfrm xmlns:a="http://schemas.openxmlformats.org/drawingml/2006/main">
            <a:off x="1409700" y="4419600"/>
            <a:ext cx="4191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The selected visit-only reference is refitted on 71,568 development cases.</a:t>
            </a:r>
          </a:p>
        </p:txBody>
      </p:sp>
      <p:sp>
        <p:nvSpPr>
          <p:cNvPr id="21" name="">
            <a:extLst xmlns:a="http://schemas.openxmlformats.org/drawingml/2006/main">
              <a:ext uri="{FF2B5EF4-FFF2-40B4-BE49-F238E27FC236}">
                <a16:creationId xmlns:a16="http://schemas.microsoft.com/office/drawing/2014/main" id="{4DD66416-34C6-4F6B-82E0-E7FE73212FE2}"/>
              </a:ext>
            </a:extLst>
          </p:cNvPr>
          <p:cNvSpPr>
            <a:spLocks xmlns:a="http://schemas.openxmlformats.org/drawingml/2006/main" noGrp="1"/>
          </p:cNvSpPr>
          <p:nvPr/>
        </p:nvSpPr>
        <p:spPr>
          <a:xfrm xmlns:a="http://schemas.openxmlformats.org/drawingml/2006/main">
            <a:off x="6248400" y="3581400"/>
            <a:ext cx="5219700" cy="1885950"/>
          </a:xfrm>
          <a:prstGeom xmlns:a="http://schemas.openxmlformats.org/drawingml/2006/main" prst="roundRect">
            <a:avLst>
              <a:gd name="adj" fmla="val 6061"/>
            </a:avLst>
          </a:prstGeom>
          <a:solidFill xmlns:a="http://schemas.openxmlformats.org/drawingml/2006/main">
            <a:srgbClr val="F8FAFC"/>
          </a:solidFill>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460CA80C-2ACC-49C7-A0AC-738FC0EED1FE}"/>
              </a:ext>
            </a:extLst>
          </p:cNvPr>
          <p:cNvSpPr>
            <a:spLocks xmlns:a="http://schemas.openxmlformats.org/drawingml/2006/main" noGrp="1"/>
          </p:cNvSpPr>
          <p:nvPr/>
        </p:nvSpPr>
        <p:spPr>
          <a:xfrm xmlns:a="http://schemas.openxmlformats.org/drawingml/2006/main">
            <a:off x="6477000" y="3810000"/>
            <a:ext cx="400050" cy="40005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23" name="">
            <a:extLst xmlns:a="http://schemas.openxmlformats.org/drawingml/2006/main">
              <a:ext uri="{FF2B5EF4-FFF2-40B4-BE49-F238E27FC236}">
                <a16:creationId xmlns:a16="http://schemas.microsoft.com/office/drawing/2014/main" id="{0E503107-9941-41A2-8DF0-D171F9A8FE3B}"/>
              </a:ext>
            </a:extLst>
          </p:cNvPr>
          <p:cNvSpPr>
            <a:spLocks xmlns:a="http://schemas.openxmlformats.org/drawingml/2006/main" noGrp="1"/>
          </p:cNvSpPr>
          <p:nvPr/>
        </p:nvSpPr>
        <p:spPr>
          <a:xfrm xmlns:a="http://schemas.openxmlformats.org/drawingml/2006/main">
            <a:off x="6477000" y="38576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4</a:t>
            </a:r>
          </a:p>
        </p:txBody>
      </p:sp>
      <p:sp>
        <p:nvSpPr>
          <p:cNvPr id="24" name="">
            <a:extLst xmlns:a="http://schemas.openxmlformats.org/drawingml/2006/main">
              <a:ext uri="{FF2B5EF4-FFF2-40B4-BE49-F238E27FC236}">
                <a16:creationId xmlns:a16="http://schemas.microsoft.com/office/drawing/2014/main" id="{35C81E02-4CCC-41D1-95BA-47F620D2D3BB}"/>
              </a:ext>
            </a:extLst>
          </p:cNvPr>
          <p:cNvSpPr>
            <a:spLocks xmlns:a="http://schemas.openxmlformats.org/drawingml/2006/main" noGrp="1"/>
          </p:cNvSpPr>
          <p:nvPr/>
        </p:nvSpPr>
        <p:spPr>
          <a:xfrm xmlns:a="http://schemas.openxmlformats.org/drawingml/2006/main">
            <a:off x="7048500" y="3771900"/>
            <a:ext cx="4191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0B1220"/>
                </a:solidFill>
                <a:latin typeface="Aptos"/>
                <a:ea typeface="Aptos"/>
                <a:cs typeface="Aptos"/>
              </a:defRPr>
            </a:pPr>
            <a:r>
              <a:rPr sz="1875" b="1" i="0">
                <a:solidFill>
                  <a:srgbClr val="0B1220"/>
                </a:solidFill>
                <a:latin typeface="Aptos"/>
                <a:ea typeface="Aptos"/>
                <a:cs typeface="Aptos"/>
              </a:rPr>
              <a:t>20% final test + 10 seeds</a:t>
            </a:r>
          </a:p>
        </p:txBody>
      </p:sp>
      <p:sp>
        <p:nvSpPr>
          <p:cNvPr id="25" name="">
            <a:extLst xmlns:a="http://schemas.openxmlformats.org/drawingml/2006/main">
              <a:ext uri="{FF2B5EF4-FFF2-40B4-BE49-F238E27FC236}">
                <a16:creationId xmlns:a16="http://schemas.microsoft.com/office/drawing/2014/main" id="{15F42F39-C767-41EF-9B97-EDC1B64F0BEC}"/>
              </a:ext>
            </a:extLst>
          </p:cNvPr>
          <p:cNvSpPr>
            <a:spLocks xmlns:a="http://schemas.openxmlformats.org/drawingml/2006/main" noGrp="1"/>
          </p:cNvSpPr>
          <p:nvPr/>
        </p:nvSpPr>
        <p:spPr>
          <a:xfrm xmlns:a="http://schemas.openxmlformats.org/drawingml/2006/main">
            <a:off x="7048500" y="4419600"/>
            <a:ext cx="4191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17,892 untouched cases; seeds 42-51 quantify conditional Monte-Carlo variation.</a:t>
            </a:r>
          </a:p>
        </p:txBody>
      </p:sp>
      <p:sp>
        <p:nvSpPr>
          <p:cNvPr id="26" name="">
            <a:extLst xmlns:a="http://schemas.openxmlformats.org/drawingml/2006/main">
              <a:ext uri="{FF2B5EF4-FFF2-40B4-BE49-F238E27FC236}">
                <a16:creationId xmlns:a16="http://schemas.microsoft.com/office/drawing/2014/main" id="{52DAEE77-35C6-4C77-9511-23C96A817A5B}"/>
              </a:ext>
            </a:extLst>
          </p:cNvPr>
          <p:cNvSpPr>
            <a:spLocks xmlns:a="http://schemas.openxmlformats.org/drawingml/2006/main" noGrp="1"/>
          </p:cNvSpPr>
          <p:nvPr/>
        </p:nvSpPr>
        <p:spPr>
          <a:xfrm xmlns:a="http://schemas.openxmlformats.org/drawingml/2006/main">
            <a:off x="2257425" y="5943600"/>
            <a:ext cx="7677150" cy="381000"/>
          </a:xfrm>
          <a:prstGeom xmlns:a="http://schemas.openxmlformats.org/drawingml/2006/main" prst="roundRect">
            <a:avLst>
              <a:gd name="adj" fmla="val 30000"/>
            </a:avLst>
          </a:prstGeom>
          <a:solidFill xmlns:a="http://schemas.openxmlformats.org/drawingml/2006/main">
            <a:srgbClr val="F8FAFC"/>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0D6B80A-46A5-4676-B198-CF64ED03ACA8}"/>
              </a:ext>
            </a:extLst>
          </p:cNvPr>
          <p:cNvSpPr>
            <a:spLocks xmlns:a="http://schemas.openxmlformats.org/drawingml/2006/main" noGrp="1"/>
          </p:cNvSpPr>
          <p:nvPr/>
        </p:nvSpPr>
        <p:spPr>
          <a:xfrm xmlns:a="http://schemas.openxmlformats.org/drawingml/2006/main">
            <a:off x="2257425" y="5810250"/>
            <a:ext cx="7677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i="0">
                <a:solidFill>
                  <a:srgbClr val="C8102E"/>
                </a:solidFill>
                <a:latin typeface="Aptos"/>
                <a:ea typeface="Aptos"/>
                <a:cs typeface="Aptos"/>
              </a:defRPr>
            </a:pPr>
            <a:r>
              <a:rPr sz="1500" b="1" i="0">
                <a:solidFill>
                  <a:srgbClr val="C8102E"/>
                </a:solidFill>
                <a:latin typeface="Aptos"/>
                <a:ea typeface="Aptos"/>
                <a:cs typeface="Aptos"/>
              </a:rPr>
              <a:t>Matched-seed scenario intervals exclude discovery, period and structural uncertainty.</a:t>
            </a:r>
          </a:p>
        </p:txBody>
      </p:sp>
    </p:spTree>
    <p:extLst>
      <p:ext uri="{BB962C8B-B14F-4D97-AF65-F5344CB8AC3E}">
        <p14:creationId xmlns:p14="http://schemas.microsoft.com/office/powerpoint/2010/main" val="4346534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ACAEE40-A2D6-4EB4-88F1-A97F42AF8E80}"/>
              </a:ext>
            </a:extLst>
          </p:cNvPr>
          <p:cNvSpPr>
            <a:spLocks xmlns:a="http://schemas.openxmlformats.org/drawingml/2006/main" noGrp="1"/>
          </p:cNvSpPr>
          <p:nvPr/>
        </p:nvSpPr>
        <p:spPr>
          <a:xfrm xmlns:a="http://schemas.openxmlformats.org/drawingml/2006/main">
            <a:off x="457200" y="228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C8102E"/>
                </a:solidFill>
                <a:latin typeface="Aptos"/>
                <a:ea typeface="Aptos"/>
                <a:cs typeface="Aptos"/>
              </a:defRPr>
            </a:pPr>
            <a:r>
              <a:rPr sz="1275" b="1" i="0">
                <a:solidFill>
                  <a:srgbClr val="C8102E"/>
                </a:solidFill>
                <a:latin typeface="Aptos"/>
                <a:ea typeface="Aptos"/>
                <a:cs typeface="Aptos"/>
              </a:rPr>
              <a:t>APPENDIX</a:t>
            </a:r>
          </a:p>
        </p:txBody>
      </p:sp>
      <p:sp>
        <p:nvSpPr>
          <p:cNvPr id="2" name="">
            <a:extLst xmlns:a="http://schemas.openxmlformats.org/drawingml/2006/main">
              <a:ext uri="{FF2B5EF4-FFF2-40B4-BE49-F238E27FC236}">
                <a16:creationId xmlns:a16="http://schemas.microsoft.com/office/drawing/2014/main" id="{AE5A22A3-5B76-481F-9C01-EEE93AA81275}"/>
              </a:ext>
            </a:extLst>
          </p:cNvPr>
          <p:cNvSpPr>
            <a:spLocks xmlns:a="http://schemas.openxmlformats.org/drawingml/2006/main" noGrp="1"/>
          </p:cNvSpPr>
          <p:nvPr/>
        </p:nvSpPr>
        <p:spPr>
          <a:xfrm xmlns:a="http://schemas.openxmlformats.org/drawingml/2006/main">
            <a:off x="457200" y="485775"/>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00" b="1" i="0">
                <a:solidFill>
                  <a:srgbClr val="0B1220"/>
                </a:solidFill>
                <a:latin typeface="Aptos"/>
                <a:ea typeface="Aptos"/>
                <a:cs typeface="Aptos"/>
              </a:defRPr>
            </a:pPr>
            <a:r>
              <a:rPr sz="3300" b="1" i="0">
                <a:solidFill>
                  <a:srgbClr val="0B1220"/>
                </a:solidFill>
                <a:latin typeface="Aptos"/>
                <a:ea typeface="Aptos"/>
                <a:cs typeface="Aptos"/>
              </a:rPr>
              <a:t>How to interpret the validation metrics</a:t>
            </a:r>
          </a:p>
        </p:txBody>
      </p:sp>
      <p:sp>
        <p:nvSpPr>
          <p:cNvPr id="3" name="">
            <a:extLst xmlns:a="http://schemas.openxmlformats.org/drawingml/2006/main">
              <a:ext uri="{FF2B5EF4-FFF2-40B4-BE49-F238E27FC236}">
                <a16:creationId xmlns:a16="http://schemas.microsoft.com/office/drawing/2014/main" id="{FA1D1CAB-5454-4DE5-8613-2871926C7666}"/>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4" name="">
            <a:extLst xmlns:a="http://schemas.openxmlformats.org/drawingml/2006/main">
              <a:ext uri="{FF2B5EF4-FFF2-40B4-BE49-F238E27FC236}">
                <a16:creationId xmlns:a16="http://schemas.microsoft.com/office/drawing/2014/main" id="{0B061AD7-A9B4-431D-AB02-73B70DB1ACBC}"/>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5" name="">
            <a:extLst xmlns:a="http://schemas.openxmlformats.org/drawingml/2006/main">
              <a:ext uri="{FF2B5EF4-FFF2-40B4-BE49-F238E27FC236}">
                <a16:creationId xmlns:a16="http://schemas.microsoft.com/office/drawing/2014/main" id="{9BE26D8A-F251-4634-9724-8DAEB2755F60}"/>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19</a:t>
            </a:r>
          </a:p>
        </p:txBody>
      </p:sp>
      <p:sp>
        <p:nvSpPr>
          <p:cNvPr id="6" name="">
            <a:extLst xmlns:a="http://schemas.openxmlformats.org/drawingml/2006/main">
              <a:ext uri="{FF2B5EF4-FFF2-40B4-BE49-F238E27FC236}">
                <a16:creationId xmlns:a16="http://schemas.microsoft.com/office/drawing/2014/main" id="{3E1A3B9C-7378-4673-8134-A111E7F21AAA}"/>
              </a:ext>
            </a:extLst>
          </p:cNvPr>
          <p:cNvSpPr>
            <a:spLocks xmlns:a="http://schemas.openxmlformats.org/drawingml/2006/main" noGrp="1"/>
          </p:cNvSpPr>
          <p:nvPr/>
        </p:nvSpPr>
        <p:spPr>
          <a:xfrm xmlns:a="http://schemas.openxmlformats.org/drawingml/2006/main">
            <a:off x="571500" y="1200150"/>
            <a:ext cx="11049000" cy="628650"/>
          </a:xfrm>
          <a:prstGeom xmlns:a="http://schemas.openxmlformats.org/drawingml/2006/main" prst="roundRect">
            <a:avLst>
              <a:gd name="adj" fmla="val 18182"/>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97F3B36-41F8-498B-B735-BF151A3E73CF}"/>
              </a:ext>
            </a:extLst>
          </p:cNvPr>
          <p:cNvSpPr>
            <a:spLocks xmlns:a="http://schemas.openxmlformats.org/drawingml/2006/main" noGrp="1"/>
          </p:cNvSpPr>
          <p:nvPr/>
        </p:nvSpPr>
        <p:spPr>
          <a:xfrm xmlns:a="http://schemas.openxmlformats.org/drawingml/2006/main">
            <a:off x="781050" y="1362075"/>
            <a:ext cx="2714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0B1220"/>
                </a:solidFill>
                <a:latin typeface="Aptos"/>
                <a:ea typeface="Aptos"/>
                <a:cs typeface="Aptos"/>
              </a:defRPr>
            </a:pPr>
            <a:r>
              <a:rPr sz="1650" b="1" i="0">
                <a:solidFill>
                  <a:srgbClr val="0B1220"/>
                </a:solidFill>
                <a:latin typeface="Aptos"/>
                <a:ea typeface="Aptos"/>
                <a:cs typeface="Aptos"/>
              </a:rPr>
              <a:t>EMD / Wasserstein</a:t>
            </a:r>
          </a:p>
        </p:txBody>
      </p:sp>
      <p:sp>
        <p:nvSpPr>
          <p:cNvPr id="8" name="">
            <a:extLst xmlns:a="http://schemas.openxmlformats.org/drawingml/2006/main">
              <a:ext uri="{FF2B5EF4-FFF2-40B4-BE49-F238E27FC236}">
                <a16:creationId xmlns:a16="http://schemas.microsoft.com/office/drawing/2014/main" id="{C83A052E-4BB7-4467-87FA-6271A5395009}"/>
              </a:ext>
            </a:extLst>
          </p:cNvPr>
          <p:cNvSpPr>
            <a:spLocks xmlns:a="http://schemas.openxmlformats.org/drawingml/2006/main" noGrp="1"/>
          </p:cNvSpPr>
          <p:nvPr/>
        </p:nvSpPr>
        <p:spPr>
          <a:xfrm xmlns:a="http://schemas.openxmlformats.org/drawingml/2006/main">
            <a:off x="3676650" y="1343025"/>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Average distributional shift in the metric’s units; lower is better.</a:t>
            </a:r>
          </a:p>
        </p:txBody>
      </p:sp>
      <p:sp>
        <p:nvSpPr>
          <p:cNvPr id="9" name="">
            <a:extLst xmlns:a="http://schemas.openxmlformats.org/drawingml/2006/main">
              <a:ext uri="{FF2B5EF4-FFF2-40B4-BE49-F238E27FC236}">
                <a16:creationId xmlns:a16="http://schemas.microsoft.com/office/drawing/2014/main" id="{BEAE82D1-4A50-451A-BF71-42EA259E1FB8}"/>
              </a:ext>
            </a:extLst>
          </p:cNvPr>
          <p:cNvSpPr>
            <a:spLocks xmlns:a="http://schemas.openxmlformats.org/drawingml/2006/main" noGrp="1"/>
          </p:cNvSpPr>
          <p:nvPr/>
        </p:nvSpPr>
        <p:spPr>
          <a:xfrm xmlns:a="http://schemas.openxmlformats.org/drawingml/2006/main">
            <a:off x="571500" y="2000250"/>
            <a:ext cx="110490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DF7436-DB4C-470D-89A6-A422104E90CA}"/>
              </a:ext>
            </a:extLst>
          </p:cNvPr>
          <p:cNvSpPr>
            <a:spLocks xmlns:a="http://schemas.openxmlformats.org/drawingml/2006/main" noGrp="1"/>
          </p:cNvSpPr>
          <p:nvPr/>
        </p:nvSpPr>
        <p:spPr>
          <a:xfrm xmlns:a="http://schemas.openxmlformats.org/drawingml/2006/main">
            <a:off x="781050" y="2162175"/>
            <a:ext cx="2714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0B1220"/>
                </a:solidFill>
                <a:latin typeface="Aptos"/>
                <a:ea typeface="Aptos"/>
                <a:cs typeface="Aptos"/>
              </a:defRPr>
            </a:pPr>
            <a:r>
              <a:rPr sz="1650" b="1" i="0">
                <a:solidFill>
                  <a:srgbClr val="0B1220"/>
                </a:solidFill>
                <a:latin typeface="Aptos"/>
                <a:ea typeface="Aptos"/>
                <a:cs typeface="Aptos"/>
              </a:rPr>
              <a:t>KS statistic</a:t>
            </a:r>
          </a:p>
        </p:txBody>
      </p:sp>
      <p:sp>
        <p:nvSpPr>
          <p:cNvPr id="11" name="">
            <a:extLst xmlns:a="http://schemas.openxmlformats.org/drawingml/2006/main">
              <a:ext uri="{FF2B5EF4-FFF2-40B4-BE49-F238E27FC236}">
                <a16:creationId xmlns:a16="http://schemas.microsoft.com/office/drawing/2014/main" id="{B005E610-5066-430F-BB5E-CD8CB575BCB1}"/>
              </a:ext>
            </a:extLst>
          </p:cNvPr>
          <p:cNvSpPr>
            <a:spLocks xmlns:a="http://schemas.openxmlformats.org/drawingml/2006/main" noGrp="1"/>
          </p:cNvSpPr>
          <p:nvPr/>
        </p:nvSpPr>
        <p:spPr>
          <a:xfrm xmlns:a="http://schemas.openxmlformats.org/drawingml/2006/main">
            <a:off x="3676650" y="2143125"/>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Maximum CDF separation; lower is better, but it has no time unit.</a:t>
            </a:r>
          </a:p>
        </p:txBody>
      </p:sp>
      <p:sp>
        <p:nvSpPr>
          <p:cNvPr id="12" name="">
            <a:extLst xmlns:a="http://schemas.openxmlformats.org/drawingml/2006/main">
              <a:ext uri="{FF2B5EF4-FFF2-40B4-BE49-F238E27FC236}">
                <a16:creationId xmlns:a16="http://schemas.microsoft.com/office/drawing/2014/main" id="{475AE948-E83E-46A2-89CD-BD017B990770}"/>
              </a:ext>
            </a:extLst>
          </p:cNvPr>
          <p:cNvSpPr>
            <a:spLocks xmlns:a="http://schemas.openxmlformats.org/drawingml/2006/main" noGrp="1"/>
          </p:cNvSpPr>
          <p:nvPr/>
        </p:nvSpPr>
        <p:spPr>
          <a:xfrm xmlns:a="http://schemas.openxmlformats.org/drawingml/2006/main">
            <a:off x="571500" y="2800350"/>
            <a:ext cx="11049000" cy="628650"/>
          </a:xfrm>
          <a:prstGeom xmlns:a="http://schemas.openxmlformats.org/drawingml/2006/main" prst="roundRect">
            <a:avLst>
              <a:gd name="adj" fmla="val 18182"/>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385E192-8723-41E6-A796-751500606FC8}"/>
              </a:ext>
            </a:extLst>
          </p:cNvPr>
          <p:cNvSpPr>
            <a:spLocks xmlns:a="http://schemas.openxmlformats.org/drawingml/2006/main" noGrp="1"/>
          </p:cNvSpPr>
          <p:nvPr/>
        </p:nvSpPr>
        <p:spPr>
          <a:xfrm xmlns:a="http://schemas.openxmlformats.org/drawingml/2006/main">
            <a:off x="781050" y="2962275"/>
            <a:ext cx="2714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0B1220"/>
                </a:solidFill>
                <a:latin typeface="Aptos"/>
                <a:ea typeface="Aptos"/>
                <a:cs typeface="Aptos"/>
              </a:defRPr>
            </a:pPr>
            <a:r>
              <a:rPr sz="1650" b="1" i="0">
                <a:solidFill>
                  <a:srgbClr val="0B1220"/>
                </a:solidFill>
                <a:latin typeface="Aptos"/>
                <a:ea typeface="Aptos"/>
                <a:cs typeface="Aptos"/>
              </a:rPr>
              <a:t>Fitness</a:t>
            </a:r>
          </a:p>
        </p:txBody>
      </p:sp>
      <p:sp>
        <p:nvSpPr>
          <p:cNvPr id="14" name="">
            <a:extLst xmlns:a="http://schemas.openxmlformats.org/drawingml/2006/main">
              <a:ext uri="{FF2B5EF4-FFF2-40B4-BE49-F238E27FC236}">
                <a16:creationId xmlns:a16="http://schemas.microsoft.com/office/drawing/2014/main" id="{023E6063-20A4-46D0-9E29-8ECDC8439AAF}"/>
              </a:ext>
            </a:extLst>
          </p:cNvPr>
          <p:cNvSpPr>
            <a:spLocks xmlns:a="http://schemas.openxmlformats.org/drawingml/2006/main" noGrp="1"/>
          </p:cNvSpPr>
          <p:nvPr/>
        </p:nvSpPr>
        <p:spPr>
          <a:xfrm xmlns:a="http://schemas.openxmlformats.org/drawingml/2006/main">
            <a:off x="3676650" y="2943225"/>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Can the model replay observed traces? High fitness does not imply precise timing.</a:t>
            </a:r>
          </a:p>
        </p:txBody>
      </p:sp>
      <p:sp>
        <p:nvSpPr>
          <p:cNvPr id="15" name="">
            <a:extLst xmlns:a="http://schemas.openxmlformats.org/drawingml/2006/main">
              <a:ext uri="{FF2B5EF4-FFF2-40B4-BE49-F238E27FC236}">
                <a16:creationId xmlns:a16="http://schemas.microsoft.com/office/drawing/2014/main" id="{CF97C841-A894-4A50-ACF1-F3C3D01277CE}"/>
              </a:ext>
            </a:extLst>
          </p:cNvPr>
          <p:cNvSpPr>
            <a:spLocks xmlns:a="http://schemas.openxmlformats.org/drawingml/2006/main" noGrp="1"/>
          </p:cNvSpPr>
          <p:nvPr/>
        </p:nvSpPr>
        <p:spPr>
          <a:xfrm xmlns:a="http://schemas.openxmlformats.org/drawingml/2006/main">
            <a:off x="571500" y="3600450"/>
            <a:ext cx="110490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B43874F-FB9F-41A5-930B-AF6691C39A65}"/>
              </a:ext>
            </a:extLst>
          </p:cNvPr>
          <p:cNvSpPr>
            <a:spLocks xmlns:a="http://schemas.openxmlformats.org/drawingml/2006/main" noGrp="1"/>
          </p:cNvSpPr>
          <p:nvPr/>
        </p:nvSpPr>
        <p:spPr>
          <a:xfrm xmlns:a="http://schemas.openxmlformats.org/drawingml/2006/main">
            <a:off x="781050" y="3762375"/>
            <a:ext cx="2714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0B1220"/>
                </a:solidFill>
                <a:latin typeface="Aptos"/>
                <a:ea typeface="Aptos"/>
                <a:cs typeface="Aptos"/>
              </a:defRPr>
            </a:pPr>
            <a:r>
              <a:rPr sz="1650" b="1" i="0">
                <a:solidFill>
                  <a:srgbClr val="0B1220"/>
                </a:solidFill>
                <a:latin typeface="Aptos"/>
                <a:ea typeface="Aptos"/>
                <a:cs typeface="Aptos"/>
              </a:rPr>
              <a:t>Precision</a:t>
            </a:r>
          </a:p>
        </p:txBody>
      </p:sp>
      <p:sp>
        <p:nvSpPr>
          <p:cNvPr id="17" name="">
            <a:extLst xmlns:a="http://schemas.openxmlformats.org/drawingml/2006/main">
              <a:ext uri="{FF2B5EF4-FFF2-40B4-BE49-F238E27FC236}">
                <a16:creationId xmlns:a16="http://schemas.microsoft.com/office/drawing/2014/main" id="{4E1495D8-EBE6-419E-BC87-55CD5E1716FE}"/>
              </a:ext>
            </a:extLst>
          </p:cNvPr>
          <p:cNvSpPr>
            <a:spLocks xmlns:a="http://schemas.openxmlformats.org/drawingml/2006/main" noGrp="1"/>
          </p:cNvSpPr>
          <p:nvPr/>
        </p:nvSpPr>
        <p:spPr>
          <a:xfrm xmlns:a="http://schemas.openxmlformats.org/drawingml/2006/main">
            <a:off x="3676650" y="3743325"/>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How much extra behaviour does the model allow? Lower precision can reflect deliberate generalisation.</a:t>
            </a:r>
          </a:p>
        </p:txBody>
      </p:sp>
      <p:sp>
        <p:nvSpPr>
          <p:cNvPr id="18" name="">
            <a:extLst xmlns:a="http://schemas.openxmlformats.org/drawingml/2006/main">
              <a:ext uri="{FF2B5EF4-FFF2-40B4-BE49-F238E27FC236}">
                <a16:creationId xmlns:a16="http://schemas.microsoft.com/office/drawing/2014/main" id="{76190D99-C914-49F8-B939-3EB76B4E8885}"/>
              </a:ext>
            </a:extLst>
          </p:cNvPr>
          <p:cNvSpPr>
            <a:spLocks xmlns:a="http://schemas.openxmlformats.org/drawingml/2006/main" noGrp="1"/>
          </p:cNvSpPr>
          <p:nvPr/>
        </p:nvSpPr>
        <p:spPr>
          <a:xfrm xmlns:a="http://schemas.openxmlformats.org/drawingml/2006/main">
            <a:off x="571500" y="4400550"/>
            <a:ext cx="11049000" cy="628650"/>
          </a:xfrm>
          <a:prstGeom xmlns:a="http://schemas.openxmlformats.org/drawingml/2006/main" prst="roundRect">
            <a:avLst>
              <a:gd name="adj" fmla="val 18182"/>
            </a:avLst>
          </a:prstGeom>
          <a:solidFill xmlns:a="http://schemas.openxmlformats.org/drawingml/2006/main">
            <a:srgbClr val="F8FAF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A010939-B950-4221-AA8C-ADC0A5120805}"/>
              </a:ext>
            </a:extLst>
          </p:cNvPr>
          <p:cNvSpPr>
            <a:spLocks xmlns:a="http://schemas.openxmlformats.org/drawingml/2006/main" noGrp="1"/>
          </p:cNvSpPr>
          <p:nvPr/>
        </p:nvSpPr>
        <p:spPr>
          <a:xfrm xmlns:a="http://schemas.openxmlformats.org/drawingml/2006/main">
            <a:off x="781050" y="4562475"/>
            <a:ext cx="2714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0B1220"/>
                </a:solidFill>
                <a:latin typeface="Aptos"/>
                <a:ea typeface="Aptos"/>
                <a:cs typeface="Aptos"/>
              </a:defRPr>
            </a:pPr>
            <a:r>
              <a:rPr sz="1650" b="1" i="0">
                <a:solidFill>
                  <a:srgbClr val="0B1220"/>
                </a:solidFill>
                <a:latin typeface="Aptos"/>
                <a:ea typeface="Aptos"/>
                <a:cs typeface="Aptos"/>
              </a:rPr>
              <a:t>Activity-rate L1</a:t>
            </a:r>
          </a:p>
        </p:txBody>
      </p:sp>
      <p:sp>
        <p:nvSpPr>
          <p:cNvPr id="20" name="">
            <a:extLst xmlns:a="http://schemas.openxmlformats.org/drawingml/2006/main">
              <a:ext uri="{FF2B5EF4-FFF2-40B4-BE49-F238E27FC236}">
                <a16:creationId xmlns:a16="http://schemas.microsoft.com/office/drawing/2014/main" id="{CE142809-5387-4035-9DC4-1733508BCE3B}"/>
              </a:ext>
            </a:extLst>
          </p:cNvPr>
          <p:cNvSpPr>
            <a:spLocks xmlns:a="http://schemas.openxmlformats.org/drawingml/2006/main" noGrp="1"/>
          </p:cNvSpPr>
          <p:nvPr/>
        </p:nvSpPr>
        <p:spPr>
          <a:xfrm xmlns:a="http://schemas.openxmlformats.org/drawingml/2006/main">
            <a:off x="3676650" y="4543425"/>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Absolute mismatch in yard-activity incidence per case; lower is better.</a:t>
            </a:r>
          </a:p>
        </p:txBody>
      </p:sp>
      <p:sp>
        <p:nvSpPr>
          <p:cNvPr id="21" name="">
            <a:extLst xmlns:a="http://schemas.openxmlformats.org/drawingml/2006/main">
              <a:ext uri="{FF2B5EF4-FFF2-40B4-BE49-F238E27FC236}">
                <a16:creationId xmlns:a16="http://schemas.microsoft.com/office/drawing/2014/main" id="{9E00C05D-CDF4-4D9E-A770-80E51F6B5E2C}"/>
              </a:ext>
            </a:extLst>
          </p:cNvPr>
          <p:cNvSpPr>
            <a:spLocks xmlns:a="http://schemas.openxmlformats.org/drawingml/2006/main" noGrp="1"/>
          </p:cNvSpPr>
          <p:nvPr/>
        </p:nvSpPr>
        <p:spPr>
          <a:xfrm xmlns:a="http://schemas.openxmlformats.org/drawingml/2006/main">
            <a:off x="571500" y="5200650"/>
            <a:ext cx="110490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F53B21E-20B7-4737-96B9-EBC8B86AF6D3}"/>
              </a:ext>
            </a:extLst>
          </p:cNvPr>
          <p:cNvSpPr>
            <a:spLocks xmlns:a="http://schemas.openxmlformats.org/drawingml/2006/main" noGrp="1"/>
          </p:cNvSpPr>
          <p:nvPr/>
        </p:nvSpPr>
        <p:spPr>
          <a:xfrm xmlns:a="http://schemas.openxmlformats.org/drawingml/2006/main">
            <a:off x="781050" y="5362575"/>
            <a:ext cx="2714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0B1220"/>
                </a:solidFill>
                <a:latin typeface="Aptos"/>
                <a:ea typeface="Aptos"/>
                <a:cs typeface="Aptos"/>
              </a:defRPr>
            </a:pPr>
            <a:r>
              <a:rPr sz="1650" b="1" i="0">
                <a:solidFill>
                  <a:srgbClr val="0B1220"/>
                </a:solidFill>
                <a:latin typeface="Aptos"/>
                <a:ea typeface="Aptos"/>
                <a:cs typeface="Aptos"/>
              </a:rPr>
              <a:t>3-gram NGD</a:t>
            </a:r>
          </a:p>
        </p:txBody>
      </p:sp>
      <p:sp>
        <p:nvSpPr>
          <p:cNvPr id="23" name="">
            <a:extLst xmlns:a="http://schemas.openxmlformats.org/drawingml/2006/main">
              <a:ext uri="{FF2B5EF4-FFF2-40B4-BE49-F238E27FC236}">
                <a16:creationId xmlns:a16="http://schemas.microsoft.com/office/drawing/2014/main" id="{E688328A-1A57-4721-9E96-7B53BCA8FCB6}"/>
              </a:ext>
            </a:extLst>
          </p:cNvPr>
          <p:cNvSpPr>
            <a:spLocks xmlns:a="http://schemas.openxmlformats.org/drawingml/2006/main" noGrp="1"/>
          </p:cNvSpPr>
          <p:nvPr/>
        </p:nvSpPr>
        <p:spPr>
          <a:xfrm xmlns:a="http://schemas.openxmlformats.org/drawingml/2006/main">
            <a:off x="3676650" y="5343525"/>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Frequency distance between real and simulated local three-activity sequences; lower is better.</a:t>
            </a:r>
          </a:p>
        </p:txBody>
      </p:sp>
    </p:spTree>
    <p:extLst>
      <p:ext uri="{BB962C8B-B14F-4D97-AF65-F5344CB8AC3E}">
        <p14:creationId xmlns:p14="http://schemas.microsoft.com/office/powerpoint/2010/main" val="192925060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17C2C77-4053-4444-BCE6-81B2CC1D7080}"/>
              </a:ext>
            </a:extLst>
          </p:cNvPr>
          <p:cNvSpPr>
            <a:spLocks xmlns:a="http://schemas.openxmlformats.org/drawingml/2006/main" noGrp="1"/>
          </p:cNvSpPr>
          <p:nvPr/>
        </p:nvSpPr>
        <p:spPr>
          <a:xfrm xmlns:a="http://schemas.openxmlformats.org/drawingml/2006/main">
            <a:off x="457200" y="228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C8102E"/>
                </a:solidFill>
                <a:latin typeface="Aptos"/>
                <a:ea typeface="Aptos"/>
                <a:cs typeface="Aptos"/>
              </a:defRPr>
            </a:pPr>
            <a:r>
              <a:rPr sz="1275" b="1" i="0">
                <a:solidFill>
                  <a:srgbClr val="C8102E"/>
                </a:solidFill>
                <a:latin typeface="Aptos"/>
                <a:ea typeface="Aptos"/>
                <a:cs typeface="Aptos"/>
              </a:rPr>
              <a:t>APPENDIX</a:t>
            </a:r>
          </a:p>
        </p:txBody>
      </p:sp>
      <p:sp>
        <p:nvSpPr>
          <p:cNvPr id="2" name="">
            <a:extLst xmlns:a="http://schemas.openxmlformats.org/drawingml/2006/main">
              <a:ext uri="{FF2B5EF4-FFF2-40B4-BE49-F238E27FC236}">
                <a16:creationId xmlns:a16="http://schemas.microsoft.com/office/drawing/2014/main" id="{C41BFBBA-B4B4-42A6-AC3C-A0AAD00EA68E}"/>
              </a:ext>
            </a:extLst>
          </p:cNvPr>
          <p:cNvSpPr>
            <a:spLocks xmlns:a="http://schemas.openxmlformats.org/drawingml/2006/main" noGrp="1"/>
          </p:cNvSpPr>
          <p:nvPr/>
        </p:nvSpPr>
        <p:spPr>
          <a:xfrm xmlns:a="http://schemas.openxmlformats.org/drawingml/2006/main">
            <a:off x="457200" y="485775"/>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00" b="1" i="0">
                <a:solidFill>
                  <a:srgbClr val="0B1220"/>
                </a:solidFill>
                <a:latin typeface="Aptos"/>
                <a:ea typeface="Aptos"/>
                <a:cs typeface="Aptos"/>
              </a:defRPr>
            </a:pPr>
            <a:r>
              <a:rPr sz="3300" b="1" i="0">
                <a:solidFill>
                  <a:srgbClr val="0B1220"/>
                </a:solidFill>
                <a:latin typeface="Aptos"/>
                <a:ea typeface="Aptos"/>
                <a:cs typeface="Aptos"/>
              </a:rPr>
              <a:t>Control-flow evidence: fitness is not the whole argument</a:t>
            </a:r>
          </a:p>
        </p:txBody>
      </p:sp>
      <p:sp>
        <p:nvSpPr>
          <p:cNvPr id="3" name="">
            <a:extLst xmlns:a="http://schemas.openxmlformats.org/drawingml/2006/main">
              <a:ext uri="{FF2B5EF4-FFF2-40B4-BE49-F238E27FC236}">
                <a16:creationId xmlns:a16="http://schemas.microsoft.com/office/drawing/2014/main" id="{A991A801-2EA3-4F40-B0DF-76BA59DEDAF4}"/>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4" name="">
            <a:extLst xmlns:a="http://schemas.openxmlformats.org/drawingml/2006/main">
              <a:ext uri="{FF2B5EF4-FFF2-40B4-BE49-F238E27FC236}">
                <a16:creationId xmlns:a16="http://schemas.microsoft.com/office/drawing/2014/main" id="{A23F0C6E-8A5C-4013-947B-D97E7A15CEA4}"/>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5" name="">
            <a:extLst xmlns:a="http://schemas.openxmlformats.org/drawingml/2006/main">
              <a:ext uri="{FF2B5EF4-FFF2-40B4-BE49-F238E27FC236}">
                <a16:creationId xmlns:a16="http://schemas.microsoft.com/office/drawing/2014/main" id="{58C46CEF-C5ED-472E-8E31-07B8AB420F17}"/>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20</a:t>
            </a:r>
          </a:p>
        </p:txBody>
      </p:sp>
      <p:sp>
        <p:nvSpPr>
          <p:cNvPr id="6" name="">
            <a:extLst xmlns:a="http://schemas.openxmlformats.org/drawingml/2006/main">
              <a:ext uri="{FF2B5EF4-FFF2-40B4-BE49-F238E27FC236}">
                <a16:creationId xmlns:a16="http://schemas.microsoft.com/office/drawing/2014/main" id="{202DD7C0-A9B6-4502-9B2F-4DA9746A0CDD}"/>
              </a:ext>
            </a:extLst>
          </p:cNvPr>
          <p:cNvSpPr>
            <a:spLocks xmlns:a="http://schemas.openxmlformats.org/drawingml/2006/main" noGrp="1"/>
          </p:cNvSpPr>
          <p:nvPr/>
        </p:nvSpPr>
        <p:spPr>
          <a:xfrm xmlns:a="http://schemas.openxmlformats.org/drawingml/2006/main">
            <a:off x="590550" y="1304925"/>
            <a:ext cx="3352800" cy="1743075"/>
          </a:xfrm>
          <a:prstGeom xmlns:a="http://schemas.openxmlformats.org/drawingml/2006/main" prst="roundRect">
            <a:avLst>
              <a:gd name="adj" fmla="val 6557"/>
            </a:avLst>
          </a:prstGeom>
          <a:solidFill xmlns:a="http://schemas.openxmlformats.org/drawingml/2006/main">
            <a:srgbClr val="EAF8F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55788EC-6E77-447A-BFE7-34B25FB31041}"/>
              </a:ext>
            </a:extLst>
          </p:cNvPr>
          <p:cNvSpPr>
            <a:spLocks xmlns:a="http://schemas.openxmlformats.org/drawingml/2006/main" noGrp="1"/>
          </p:cNvSpPr>
          <p:nvPr/>
        </p:nvSpPr>
        <p:spPr>
          <a:xfrm xmlns:a="http://schemas.openxmlformats.org/drawingml/2006/main">
            <a:off x="590550" y="1304925"/>
            <a:ext cx="66675" cy="1743075"/>
          </a:xfrm>
          <a:prstGeom xmlns:a="http://schemas.openxmlformats.org/drawingml/2006/main" prst="rect">
            <a:avLst/>
          </a:prstGeom>
          <a:solidFill xmlns:a="http://schemas.openxmlformats.org/drawingml/2006/main">
            <a:srgbClr val="16876A"/>
          </a:solidFill>
          <a:ln xmlns:a="http://schemas.openxmlformats.org/drawingml/2006/main" w="0">
            <a:solidFill>
              <a:srgbClr val="16876A"/>
            </a:solidFill>
            <a:prstDash val="solid"/>
          </a:ln>
        </p:spPr>
      </p:sp>
      <p:sp>
        <p:nvSpPr>
          <p:cNvPr id="8" name="">
            <a:extLst xmlns:a="http://schemas.openxmlformats.org/drawingml/2006/main">
              <a:ext uri="{FF2B5EF4-FFF2-40B4-BE49-F238E27FC236}">
                <a16:creationId xmlns:a16="http://schemas.microsoft.com/office/drawing/2014/main" id="{D9F7918F-FC54-433A-B97C-4ADB65D2FE00}"/>
              </a:ext>
            </a:extLst>
          </p:cNvPr>
          <p:cNvSpPr>
            <a:spLocks xmlns:a="http://schemas.openxmlformats.org/drawingml/2006/main" noGrp="1"/>
          </p:cNvSpPr>
          <p:nvPr/>
        </p:nvSpPr>
        <p:spPr>
          <a:xfrm xmlns:a="http://schemas.openxmlformats.org/drawingml/2006/main">
            <a:off x="838200" y="149542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16876A"/>
                </a:solidFill>
                <a:latin typeface="Aptos"/>
                <a:ea typeface="Aptos"/>
                <a:cs typeface="Aptos"/>
              </a:defRPr>
            </a:pPr>
            <a:r>
              <a:rPr sz="3450" b="1" i="0">
                <a:solidFill>
                  <a:srgbClr val="16876A"/>
                </a:solidFill>
                <a:latin typeface="Aptos"/>
                <a:ea typeface="Aptos"/>
                <a:cs typeface="Aptos"/>
              </a:rPr>
              <a:t>1.0000</a:t>
            </a:r>
          </a:p>
        </p:txBody>
      </p:sp>
      <p:sp>
        <p:nvSpPr>
          <p:cNvPr id="9" name="">
            <a:extLst xmlns:a="http://schemas.openxmlformats.org/drawingml/2006/main">
              <a:ext uri="{FF2B5EF4-FFF2-40B4-BE49-F238E27FC236}">
                <a16:creationId xmlns:a16="http://schemas.microsoft.com/office/drawing/2014/main" id="{63394E62-11E9-4367-B94D-503FC16F8200}"/>
              </a:ext>
            </a:extLst>
          </p:cNvPr>
          <p:cNvSpPr>
            <a:spLocks xmlns:a="http://schemas.openxmlformats.org/drawingml/2006/main" noGrp="1"/>
          </p:cNvSpPr>
          <p:nvPr/>
        </p:nvSpPr>
        <p:spPr>
          <a:xfrm xmlns:a="http://schemas.openxmlformats.org/drawingml/2006/main">
            <a:off x="838200" y="2105025"/>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held-out fitness</a:t>
            </a:r>
          </a:p>
        </p:txBody>
      </p:sp>
      <p:sp>
        <p:nvSpPr>
          <p:cNvPr id="10" name="">
            <a:extLst xmlns:a="http://schemas.openxmlformats.org/drawingml/2006/main">
              <a:ext uri="{FF2B5EF4-FFF2-40B4-BE49-F238E27FC236}">
                <a16:creationId xmlns:a16="http://schemas.microsoft.com/office/drawing/2014/main" id="{D50FB42A-7195-4637-B915-AAAB6F7496DA}"/>
              </a:ext>
            </a:extLst>
          </p:cNvPr>
          <p:cNvSpPr>
            <a:spLocks xmlns:a="http://schemas.openxmlformats.org/drawingml/2006/main" noGrp="1"/>
          </p:cNvSpPr>
          <p:nvPr/>
        </p:nvSpPr>
        <p:spPr>
          <a:xfrm xmlns:a="http://schemas.openxmlformats.org/drawingml/2006/main">
            <a:off x="4419600" y="1304925"/>
            <a:ext cx="3352800" cy="1743075"/>
          </a:xfrm>
          <a:prstGeom xmlns:a="http://schemas.openxmlformats.org/drawingml/2006/main" prst="roundRect">
            <a:avLst>
              <a:gd name="adj" fmla="val 6557"/>
            </a:avLst>
          </a:prstGeom>
          <a:solidFill xmlns:a="http://schemas.openxmlformats.org/drawingml/2006/main">
            <a:srgbClr val="FFF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0297254-8649-491C-849B-784B9B726B71}"/>
              </a:ext>
            </a:extLst>
          </p:cNvPr>
          <p:cNvSpPr>
            <a:spLocks xmlns:a="http://schemas.openxmlformats.org/drawingml/2006/main" noGrp="1"/>
          </p:cNvSpPr>
          <p:nvPr/>
        </p:nvSpPr>
        <p:spPr>
          <a:xfrm xmlns:a="http://schemas.openxmlformats.org/drawingml/2006/main">
            <a:off x="4419600" y="1304925"/>
            <a:ext cx="66675" cy="1743075"/>
          </a:xfrm>
          <a:prstGeom xmlns:a="http://schemas.openxmlformats.org/drawingml/2006/main" prst="rect">
            <a:avLst/>
          </a:prstGeom>
          <a:solidFill xmlns:a="http://schemas.openxmlformats.org/drawingml/2006/main">
            <a:srgbClr val="C98200"/>
          </a:solidFill>
          <a:ln xmlns:a="http://schemas.openxmlformats.org/drawingml/2006/main" w="0">
            <a:solidFill>
              <a:srgbClr val="C98200"/>
            </a:solidFill>
            <a:prstDash val="solid"/>
          </a:ln>
        </p:spPr>
      </p:sp>
      <p:sp>
        <p:nvSpPr>
          <p:cNvPr id="12" name="">
            <a:extLst xmlns:a="http://schemas.openxmlformats.org/drawingml/2006/main">
              <a:ext uri="{FF2B5EF4-FFF2-40B4-BE49-F238E27FC236}">
                <a16:creationId xmlns:a16="http://schemas.microsoft.com/office/drawing/2014/main" id="{B0A6CDDB-D2EA-49A8-88B2-80B75467D053}"/>
              </a:ext>
            </a:extLst>
          </p:cNvPr>
          <p:cNvSpPr>
            <a:spLocks xmlns:a="http://schemas.openxmlformats.org/drawingml/2006/main" noGrp="1"/>
          </p:cNvSpPr>
          <p:nvPr/>
        </p:nvSpPr>
        <p:spPr>
          <a:xfrm xmlns:a="http://schemas.openxmlformats.org/drawingml/2006/main">
            <a:off x="4667250" y="149542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C98200"/>
                </a:solidFill>
                <a:latin typeface="Aptos"/>
                <a:ea typeface="Aptos"/>
                <a:cs typeface="Aptos"/>
              </a:defRPr>
            </a:pPr>
            <a:r>
              <a:rPr sz="3450" b="1" i="0">
                <a:solidFill>
                  <a:srgbClr val="C98200"/>
                </a:solidFill>
                <a:latin typeface="Aptos"/>
                <a:ea typeface="Aptos"/>
                <a:cs typeface="Aptos"/>
              </a:rPr>
              <a:t>0.7641</a:t>
            </a:r>
          </a:p>
        </p:txBody>
      </p:sp>
      <p:sp>
        <p:nvSpPr>
          <p:cNvPr id="13" name="">
            <a:extLst xmlns:a="http://schemas.openxmlformats.org/drawingml/2006/main">
              <a:ext uri="{FF2B5EF4-FFF2-40B4-BE49-F238E27FC236}">
                <a16:creationId xmlns:a16="http://schemas.microsoft.com/office/drawing/2014/main" id="{4C722A49-2A85-44B9-968E-5BBE64BB91C5}"/>
              </a:ext>
            </a:extLst>
          </p:cNvPr>
          <p:cNvSpPr>
            <a:spLocks xmlns:a="http://schemas.openxmlformats.org/drawingml/2006/main" noGrp="1"/>
          </p:cNvSpPr>
          <p:nvPr/>
        </p:nvSpPr>
        <p:spPr>
          <a:xfrm xmlns:a="http://schemas.openxmlformats.org/drawingml/2006/main">
            <a:off x="4667250" y="2105025"/>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held-out precision</a:t>
            </a:r>
          </a:p>
        </p:txBody>
      </p:sp>
      <p:sp>
        <p:nvSpPr>
          <p:cNvPr id="14" name="">
            <a:extLst xmlns:a="http://schemas.openxmlformats.org/drawingml/2006/main">
              <a:ext uri="{FF2B5EF4-FFF2-40B4-BE49-F238E27FC236}">
                <a16:creationId xmlns:a16="http://schemas.microsoft.com/office/drawing/2014/main" id="{15E38099-D835-431E-8656-2198D2100910}"/>
              </a:ext>
            </a:extLst>
          </p:cNvPr>
          <p:cNvSpPr>
            <a:spLocks xmlns:a="http://schemas.openxmlformats.org/drawingml/2006/main" noGrp="1"/>
          </p:cNvSpPr>
          <p:nvPr/>
        </p:nvSpPr>
        <p:spPr>
          <a:xfrm xmlns:a="http://schemas.openxmlformats.org/drawingml/2006/main">
            <a:off x="8248650" y="1304925"/>
            <a:ext cx="3352800" cy="1743075"/>
          </a:xfrm>
          <a:prstGeom xmlns:a="http://schemas.openxmlformats.org/drawingml/2006/main" prst="roundRect">
            <a:avLst>
              <a:gd name="adj" fmla="val 6557"/>
            </a:avLst>
          </a:prstGeom>
          <a:solidFill xmlns:a="http://schemas.openxmlformats.org/drawingml/2006/main">
            <a:srgbClr val="EAF3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83EC92F-2183-4A83-AE03-00D6BAEB0DBE}"/>
              </a:ext>
            </a:extLst>
          </p:cNvPr>
          <p:cNvSpPr>
            <a:spLocks xmlns:a="http://schemas.openxmlformats.org/drawingml/2006/main" noGrp="1"/>
          </p:cNvSpPr>
          <p:nvPr/>
        </p:nvSpPr>
        <p:spPr>
          <a:xfrm xmlns:a="http://schemas.openxmlformats.org/drawingml/2006/main">
            <a:off x="8248650" y="1304925"/>
            <a:ext cx="66675" cy="1743075"/>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16" name="">
            <a:extLst xmlns:a="http://schemas.openxmlformats.org/drawingml/2006/main">
              <a:ext uri="{FF2B5EF4-FFF2-40B4-BE49-F238E27FC236}">
                <a16:creationId xmlns:a16="http://schemas.microsoft.com/office/drawing/2014/main" id="{B255F9D2-A9E0-46B6-A0C2-12D7536C83F3}"/>
              </a:ext>
            </a:extLst>
          </p:cNvPr>
          <p:cNvSpPr>
            <a:spLocks xmlns:a="http://schemas.openxmlformats.org/drawingml/2006/main" noGrp="1"/>
          </p:cNvSpPr>
          <p:nvPr/>
        </p:nvSpPr>
        <p:spPr>
          <a:xfrm xmlns:a="http://schemas.openxmlformats.org/drawingml/2006/main">
            <a:off x="8496300" y="149542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2F80ED"/>
                </a:solidFill>
                <a:latin typeface="Aptos"/>
                <a:ea typeface="Aptos"/>
                <a:cs typeface="Aptos"/>
              </a:defRPr>
            </a:pPr>
            <a:r>
              <a:rPr sz="3450" b="1" i="0">
                <a:solidFill>
                  <a:srgbClr val="2F80ED"/>
                </a:solidFill>
                <a:latin typeface="Aptos"/>
                <a:ea typeface="Aptos"/>
                <a:cs typeface="Aptos"/>
              </a:rPr>
              <a:t>0.9488</a:t>
            </a:r>
          </a:p>
        </p:txBody>
      </p:sp>
      <p:sp>
        <p:nvSpPr>
          <p:cNvPr id="17" name="">
            <a:extLst xmlns:a="http://schemas.openxmlformats.org/drawingml/2006/main">
              <a:ext uri="{FF2B5EF4-FFF2-40B4-BE49-F238E27FC236}">
                <a16:creationId xmlns:a16="http://schemas.microsoft.com/office/drawing/2014/main" id="{4E6C27EC-D436-4462-A4C5-6BB61B5A0921}"/>
              </a:ext>
            </a:extLst>
          </p:cNvPr>
          <p:cNvSpPr>
            <a:spLocks xmlns:a="http://schemas.openxmlformats.org/drawingml/2006/main" noGrp="1"/>
          </p:cNvSpPr>
          <p:nvPr/>
        </p:nvSpPr>
        <p:spPr>
          <a:xfrm xmlns:a="http://schemas.openxmlformats.org/drawingml/2006/main">
            <a:off x="8496300" y="2105025"/>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0B1220"/>
                </a:solidFill>
                <a:latin typeface="Aptos"/>
                <a:ea typeface="Aptos"/>
                <a:cs typeface="Aptos"/>
              </a:defRPr>
            </a:pPr>
            <a:r>
              <a:rPr sz="1800" b="1" i="0">
                <a:solidFill>
                  <a:srgbClr val="0B1220"/>
                </a:solidFill>
                <a:latin typeface="Aptos"/>
                <a:ea typeface="Aptos"/>
                <a:cs typeface="Aptos"/>
              </a:rPr>
              <a:t>held-out generalisation</a:t>
            </a:r>
          </a:p>
        </p:txBody>
      </p:sp>
      <p:sp>
        <p:nvSpPr>
          <p:cNvPr id="18" name="">
            <a:extLst xmlns:a="http://schemas.openxmlformats.org/drawingml/2006/main">
              <a:ext uri="{FF2B5EF4-FFF2-40B4-BE49-F238E27FC236}">
                <a16:creationId xmlns:a16="http://schemas.microsoft.com/office/drawing/2014/main" id="{F0C712E3-826B-47E3-9198-3C9F717DB17D}"/>
              </a:ext>
            </a:extLst>
          </p:cNvPr>
          <p:cNvSpPr>
            <a:spLocks xmlns:a="http://schemas.openxmlformats.org/drawingml/2006/main" noGrp="1"/>
          </p:cNvSpPr>
          <p:nvPr/>
        </p:nvSpPr>
        <p:spPr>
          <a:xfrm xmlns:a="http://schemas.openxmlformats.org/drawingml/2006/main">
            <a:off x="590550" y="3429000"/>
            <a:ext cx="5219700" cy="2343150"/>
          </a:xfrm>
          <a:prstGeom xmlns:a="http://schemas.openxmlformats.org/drawingml/2006/main" prst="roundRect">
            <a:avLst>
              <a:gd name="adj" fmla="val 4878"/>
            </a:avLst>
          </a:prstGeom>
          <a:solidFill xmlns:a="http://schemas.openxmlformats.org/drawingml/2006/main">
            <a:srgbClr val="F8FAFC"/>
          </a:solidFill>
          <a:ln xmlns:a="http://schemas.openxmlformats.org/drawingml/2006/main" w="9525">
            <a:solidFill>
              <a:srgbClr val="D0D5DD"/>
            </a:solidFill>
            <a:prstDash val="solid"/>
          </a:ln>
        </p:spPr>
      </p:sp>
      <p:sp>
        <p:nvSpPr>
          <p:cNvPr id="19" name="">
            <a:extLst xmlns:a="http://schemas.openxmlformats.org/drawingml/2006/main">
              <a:ext uri="{FF2B5EF4-FFF2-40B4-BE49-F238E27FC236}">
                <a16:creationId xmlns:a16="http://schemas.microsoft.com/office/drawing/2014/main" id="{053B136B-9631-4712-AA56-ED7FE3001ED1}"/>
              </a:ext>
            </a:extLst>
          </p:cNvPr>
          <p:cNvSpPr>
            <a:spLocks xmlns:a="http://schemas.openxmlformats.org/drawingml/2006/main" noGrp="1"/>
          </p:cNvSpPr>
          <p:nvPr/>
        </p:nvSpPr>
        <p:spPr>
          <a:xfrm xmlns:a="http://schemas.openxmlformats.org/drawingml/2006/main">
            <a:off x="857250" y="369570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i="0">
                <a:solidFill>
                  <a:srgbClr val="0B1220"/>
                </a:solidFill>
                <a:latin typeface="Aptos"/>
                <a:ea typeface="Aptos"/>
                <a:cs typeface="Aptos"/>
              </a:defRPr>
            </a:pPr>
            <a:r>
              <a:rPr sz="1950" b="1" i="0">
                <a:solidFill>
                  <a:srgbClr val="0B1220"/>
                </a:solidFill>
                <a:latin typeface="Aptos"/>
                <a:ea typeface="Aptos"/>
                <a:cs typeface="Aptos"/>
              </a:rPr>
              <a:t>Why precision below one is acceptable</a:t>
            </a:r>
          </a:p>
        </p:txBody>
      </p:sp>
      <p:sp>
        <p:nvSpPr>
          <p:cNvPr id="20" name="">
            <a:extLst xmlns:a="http://schemas.openxmlformats.org/drawingml/2006/main">
              <a:ext uri="{FF2B5EF4-FFF2-40B4-BE49-F238E27FC236}">
                <a16:creationId xmlns:a16="http://schemas.microsoft.com/office/drawing/2014/main" id="{DA090644-33E3-425C-90A7-F920FBBA85DB}"/>
              </a:ext>
            </a:extLst>
          </p:cNvPr>
          <p:cNvSpPr>
            <a:spLocks xmlns:a="http://schemas.openxmlformats.org/drawingml/2006/main" noGrp="1"/>
          </p:cNvSpPr>
          <p:nvPr/>
        </p:nvSpPr>
        <p:spPr>
          <a:xfrm xmlns:a="http://schemas.openxmlformats.org/drawingml/2006/main">
            <a:off x="857250" y="4295775"/>
            <a:ext cx="457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i="0">
                <a:solidFill>
                  <a:srgbClr val="5F6B7A"/>
                </a:solidFill>
                <a:latin typeface="Aptos"/>
                <a:ea typeface="Aptos"/>
                <a:cs typeface="Aptos"/>
              </a:defRPr>
            </a:pPr>
            <a:r>
              <a:rPr sz="1650" b="0" i="0">
                <a:solidFill>
                  <a:srgbClr val="5F6B7A"/>
                </a:solidFill>
                <a:latin typeface="Aptos"/>
                <a:ea typeface="Aptos"/>
                <a:cs typeface="Aptos"/>
              </a:rPr>
              <a:t>Experts allow arbitrary sequential yard combinations and repetitions. The domain forbids truck concurrency, not unseen orderings.</a:t>
            </a:r>
          </a:p>
        </p:txBody>
      </p:sp>
      <p:sp>
        <p:nvSpPr>
          <p:cNvPr id="21" name="">
            <a:extLst xmlns:a="http://schemas.openxmlformats.org/drawingml/2006/main">
              <a:ext uri="{FF2B5EF4-FFF2-40B4-BE49-F238E27FC236}">
                <a16:creationId xmlns:a16="http://schemas.microsoft.com/office/drawing/2014/main" id="{4D8A815F-F9D4-4A18-8817-05DA549140BB}"/>
              </a:ext>
            </a:extLst>
          </p:cNvPr>
          <p:cNvSpPr>
            <a:spLocks xmlns:a="http://schemas.openxmlformats.org/drawingml/2006/main" noGrp="1"/>
          </p:cNvSpPr>
          <p:nvPr/>
        </p:nvSpPr>
        <p:spPr>
          <a:xfrm xmlns:a="http://schemas.openxmlformats.org/drawingml/2006/main">
            <a:off x="6305550" y="3429000"/>
            <a:ext cx="5295900" cy="2343150"/>
          </a:xfrm>
          <a:prstGeom xmlns:a="http://schemas.openxmlformats.org/drawingml/2006/main" prst="roundRect">
            <a:avLst>
              <a:gd name="adj" fmla="val 4878"/>
            </a:avLst>
          </a:prstGeom>
          <a:solidFill xmlns:a="http://schemas.openxmlformats.org/drawingml/2006/main">
            <a:srgbClr val="FDECE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6ACBC86-20B1-412F-ABC1-9D02A74A07C3}"/>
              </a:ext>
            </a:extLst>
          </p:cNvPr>
          <p:cNvSpPr>
            <a:spLocks xmlns:a="http://schemas.openxmlformats.org/drawingml/2006/main" noGrp="1"/>
          </p:cNvSpPr>
          <p:nvPr/>
        </p:nvSpPr>
        <p:spPr>
          <a:xfrm xmlns:a="http://schemas.openxmlformats.org/drawingml/2006/main">
            <a:off x="6572250" y="36957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i="0">
                <a:solidFill>
                  <a:srgbClr val="C8102E"/>
                </a:solidFill>
                <a:latin typeface="Aptos"/>
                <a:ea typeface="Aptos"/>
                <a:cs typeface="Aptos"/>
              </a:defRPr>
            </a:pPr>
            <a:r>
              <a:rPr sz="1950" b="1" i="0">
                <a:solidFill>
                  <a:srgbClr val="C8102E"/>
                </a:solidFill>
                <a:latin typeface="Aptos"/>
                <a:ea typeface="Aptos"/>
                <a:cs typeface="Aptos"/>
              </a:rPr>
              <a:t>Why expert repair is necessary</a:t>
            </a:r>
          </a:p>
        </p:txBody>
      </p:sp>
      <p:sp>
        <p:nvSpPr>
          <p:cNvPr id="23" name="">
            <a:extLst xmlns:a="http://schemas.openxmlformats.org/drawingml/2006/main">
              <a:ext uri="{FF2B5EF4-FFF2-40B4-BE49-F238E27FC236}">
                <a16:creationId xmlns:a16="http://schemas.microsoft.com/office/drawing/2014/main" id="{294457BE-3492-4DAA-853F-7E503A75F068}"/>
              </a:ext>
            </a:extLst>
          </p:cNvPr>
          <p:cNvSpPr>
            <a:spLocks xmlns:a="http://schemas.openxmlformats.org/drawingml/2006/main" noGrp="1"/>
          </p:cNvSpPr>
          <p:nvPr/>
        </p:nvSpPr>
        <p:spPr>
          <a:xfrm xmlns:a="http://schemas.openxmlformats.org/drawingml/2006/main">
            <a:off x="6572250" y="4257675"/>
            <a:ext cx="46482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0B1220"/>
                </a:solidFill>
                <a:latin typeface="Aptos"/>
                <a:ea typeface="Aptos"/>
                <a:cs typeface="Aptos"/>
              </a:defRPr>
            </a:pPr>
            <a:r>
              <a:rPr sz="1575" b="0" i="0">
                <a:solidFill>
                  <a:srgbClr val="0B1220"/>
                </a:solidFill>
                <a:latin typeface="Aptos"/>
                <a:ea typeface="Aptos"/>
                <a:cs typeface="Aptos"/>
              </a:rPr>
              <a:t>The raw 64% tree has three parallel cuts and a gate-only bypass. Both are removed transparently before validation and parameter discovery.</a:t>
            </a:r>
          </a:p>
        </p:txBody>
      </p:sp>
    </p:spTree>
    <p:extLst>
      <p:ext uri="{BB962C8B-B14F-4D97-AF65-F5344CB8AC3E}">
        <p14:creationId xmlns:p14="http://schemas.microsoft.com/office/powerpoint/2010/main" val="193909837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6D33ADE9-61DB-47CB-9A06-A7A829FDDE9E}"/>
              </a:ext>
            </a:extLst>
          </p:cNvPr>
          <p:cNvSpPr>
            <a:spLocks xmlns:a="http://schemas.openxmlformats.org/drawingml/2006/main" noGrp="1"/>
          </p:cNvSpPr>
          <p:nvPr/>
        </p:nvSpPr>
        <p:spPr>
          <a:xfrm xmlns:a="http://schemas.openxmlformats.org/drawingml/2006/main">
            <a:off x="457200" y="228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C8102E"/>
                </a:solidFill>
                <a:latin typeface="Aptos"/>
                <a:ea typeface="Aptos"/>
                <a:cs typeface="Aptos"/>
              </a:defRPr>
            </a:pPr>
            <a:r>
              <a:rPr sz="1275" b="1" i="0">
                <a:solidFill>
                  <a:srgbClr val="C8102E"/>
                </a:solidFill>
                <a:latin typeface="Aptos"/>
                <a:ea typeface="Aptos"/>
                <a:cs typeface="Aptos"/>
              </a:rPr>
              <a:t>APPENDIX</a:t>
            </a:r>
          </a:p>
        </p:txBody>
      </p:sp>
      <p:sp>
        <p:nvSpPr>
          <p:cNvPr id="2" name="">
            <a:extLst xmlns:a="http://schemas.openxmlformats.org/drawingml/2006/main">
              <a:ext uri="{FF2B5EF4-FFF2-40B4-BE49-F238E27FC236}">
                <a16:creationId xmlns:a16="http://schemas.microsoft.com/office/drawing/2014/main" id="{8B81E705-3417-4BF6-BBB7-060F35909AE8}"/>
              </a:ext>
            </a:extLst>
          </p:cNvPr>
          <p:cNvSpPr>
            <a:spLocks xmlns:a="http://schemas.openxmlformats.org/drawingml/2006/main" noGrp="1"/>
          </p:cNvSpPr>
          <p:nvPr/>
        </p:nvSpPr>
        <p:spPr>
          <a:xfrm xmlns:a="http://schemas.openxmlformats.org/drawingml/2006/main">
            <a:off x="457200" y="485775"/>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00" b="1" i="0">
                <a:solidFill>
                  <a:srgbClr val="0B1220"/>
                </a:solidFill>
                <a:latin typeface="Aptos"/>
                <a:ea typeface="Aptos"/>
                <a:cs typeface="Aptos"/>
              </a:defRPr>
            </a:pPr>
            <a:r>
              <a:rPr sz="3300" b="1" i="0">
                <a:solidFill>
                  <a:srgbClr val="0B1220"/>
                </a:solidFill>
                <a:latin typeface="Aptos"/>
                <a:ea typeface="Aptos"/>
                <a:cs typeface="Aptos"/>
              </a:rPr>
              <a:t>Full validation screening: visit / static / native / both</a:t>
            </a:r>
          </a:p>
        </p:txBody>
      </p:sp>
      <p:sp>
        <p:nvSpPr>
          <p:cNvPr id="3" name="">
            <a:extLst xmlns:a="http://schemas.openxmlformats.org/drawingml/2006/main">
              <a:ext uri="{FF2B5EF4-FFF2-40B4-BE49-F238E27FC236}">
                <a16:creationId xmlns:a16="http://schemas.microsoft.com/office/drawing/2014/main" id="{F53D7F63-0997-4730-BFF4-A6231B94B904}"/>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4" name="">
            <a:extLst xmlns:a="http://schemas.openxmlformats.org/drawingml/2006/main">
              <a:ext uri="{FF2B5EF4-FFF2-40B4-BE49-F238E27FC236}">
                <a16:creationId xmlns:a16="http://schemas.microsoft.com/office/drawing/2014/main" id="{BAAB7CC4-B926-4388-B30F-ECC849BB198F}"/>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5" name="">
            <a:extLst xmlns:a="http://schemas.openxmlformats.org/drawingml/2006/main">
              <a:ext uri="{FF2B5EF4-FFF2-40B4-BE49-F238E27FC236}">
                <a16:creationId xmlns:a16="http://schemas.microsoft.com/office/drawing/2014/main" id="{04316358-D0FA-43C0-A30F-F6FBECD0F033}"/>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21</a:t>
            </a:r>
          </a:p>
        </p:txBody>
      </p:sp>
      <p:sp>
        <p:nvSpPr>
          <p:cNvPr id="6" name="">
            <a:extLst xmlns:a="http://schemas.openxmlformats.org/drawingml/2006/main">
              <a:ext uri="{FF2B5EF4-FFF2-40B4-BE49-F238E27FC236}">
                <a16:creationId xmlns:a16="http://schemas.microsoft.com/office/drawing/2014/main" id="{75E011A2-20A6-451F-86B1-4011CF4CF71F}"/>
              </a:ext>
            </a:extLst>
          </p:cNvPr>
          <p:cNvSpPr>
            <a:spLocks xmlns:a="http://schemas.openxmlformats.org/drawingml/2006/main" noGrp="1"/>
          </p:cNvSpPr>
          <p:nvPr/>
        </p:nvSpPr>
        <p:spPr>
          <a:xfrm xmlns:a="http://schemas.openxmlformats.org/drawingml/2006/main">
            <a:off x="666750" y="11620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5F6B7A"/>
                </a:solidFill>
                <a:latin typeface="Aptos"/>
                <a:ea typeface="Aptos"/>
                <a:cs typeface="Aptos"/>
              </a:defRPr>
            </a:pPr>
            <a:r>
              <a:rPr sz="1575" b="1" i="0">
                <a:solidFill>
                  <a:srgbClr val="5F6B7A"/>
                </a:solidFill>
                <a:latin typeface="Aptos"/>
                <a:ea typeface="Aptos"/>
                <a:cs typeface="Aptos"/>
              </a:rPr>
              <a:t>Metric</a:t>
            </a:r>
          </a:p>
        </p:txBody>
      </p:sp>
      <p:sp>
        <p:nvSpPr>
          <p:cNvPr id="7" name="">
            <a:extLst xmlns:a="http://schemas.openxmlformats.org/drawingml/2006/main">
              <a:ext uri="{FF2B5EF4-FFF2-40B4-BE49-F238E27FC236}">
                <a16:creationId xmlns:a16="http://schemas.microsoft.com/office/drawing/2014/main" id="{D1CEB790-4338-470C-AFB3-0F94FF9351B8}"/>
              </a:ext>
            </a:extLst>
          </p:cNvPr>
          <p:cNvSpPr>
            <a:spLocks xmlns:a="http://schemas.openxmlformats.org/drawingml/2006/main" noGrp="1"/>
          </p:cNvSpPr>
          <p:nvPr/>
        </p:nvSpPr>
        <p:spPr>
          <a:xfrm xmlns:a="http://schemas.openxmlformats.org/drawingml/2006/main">
            <a:off x="5257800" y="11620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i="0">
                <a:solidFill>
                  <a:srgbClr val="5F6B7A"/>
                </a:solidFill>
                <a:latin typeface="Aptos"/>
                <a:ea typeface="Aptos"/>
                <a:cs typeface="Aptos"/>
              </a:defRPr>
            </a:pPr>
            <a:r>
              <a:rPr sz="1575" b="1" i="0">
                <a:solidFill>
                  <a:srgbClr val="5F6B7A"/>
                </a:solidFill>
                <a:latin typeface="Aptos"/>
                <a:ea typeface="Aptos"/>
                <a:cs typeface="Aptos"/>
              </a:rPr>
              <a:t>Values: v | s | n | b</a:t>
            </a:r>
          </a:p>
        </p:txBody>
      </p:sp>
      <p:sp>
        <p:nvSpPr>
          <p:cNvPr id="8" name="">
            <a:extLst xmlns:a="http://schemas.openxmlformats.org/drawingml/2006/main">
              <a:ext uri="{FF2B5EF4-FFF2-40B4-BE49-F238E27FC236}">
                <a16:creationId xmlns:a16="http://schemas.microsoft.com/office/drawing/2014/main" id="{6741737D-1619-489D-B25C-350B2C1AB1AE}"/>
              </a:ext>
            </a:extLst>
          </p:cNvPr>
          <p:cNvSpPr>
            <a:spLocks xmlns:a="http://schemas.openxmlformats.org/drawingml/2006/main" noGrp="1"/>
          </p:cNvSpPr>
          <p:nvPr/>
        </p:nvSpPr>
        <p:spPr>
          <a:xfrm xmlns:a="http://schemas.openxmlformats.org/drawingml/2006/main">
            <a:off x="8020050" y="11620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i="0">
                <a:solidFill>
                  <a:srgbClr val="2F80ED"/>
                </a:solidFill>
                <a:latin typeface="Aptos"/>
                <a:ea typeface="Aptos"/>
                <a:cs typeface="Aptos"/>
              </a:defRPr>
            </a:pPr>
            <a:r>
              <a:rPr sz="1575" b="1" i="0">
                <a:solidFill>
                  <a:srgbClr val="2F80ED"/>
                </a:solidFill>
                <a:latin typeface="Aptos"/>
                <a:ea typeface="Aptos"/>
                <a:cs typeface="Aptos"/>
              </a:rPr>
              <a:t>Interpretation</a:t>
            </a:r>
          </a:p>
        </p:txBody>
      </p:sp>
      <p:sp>
        <p:nvSpPr>
          <p:cNvPr id="9" name="">
            <a:extLst xmlns:a="http://schemas.openxmlformats.org/drawingml/2006/main">
              <a:ext uri="{FF2B5EF4-FFF2-40B4-BE49-F238E27FC236}">
                <a16:creationId xmlns:a16="http://schemas.microsoft.com/office/drawing/2014/main" id="{6AC3FD55-EB2F-48A8-8BCB-989A5001DFD7}"/>
              </a:ext>
            </a:extLst>
          </p:cNvPr>
          <p:cNvSpPr>
            <a:spLocks xmlns:a="http://schemas.openxmlformats.org/drawingml/2006/main" noGrp="1"/>
          </p:cNvSpPr>
          <p:nvPr/>
        </p:nvSpPr>
        <p:spPr>
          <a:xfrm xmlns:a="http://schemas.openxmlformats.org/drawingml/2006/main">
            <a:off x="552450" y="1533525"/>
            <a:ext cx="11087100" cy="457200"/>
          </a:xfrm>
          <a:prstGeom xmlns:a="http://schemas.openxmlformats.org/drawingml/2006/main" prst="roundRect">
            <a:avLst>
              <a:gd name="adj" fmla="val 25000"/>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F8C5031-948A-4B8B-A021-2B9EFCDE9497}"/>
              </a:ext>
            </a:extLst>
          </p:cNvPr>
          <p:cNvSpPr>
            <a:spLocks xmlns:a="http://schemas.openxmlformats.org/drawingml/2006/main" noGrp="1"/>
          </p:cNvSpPr>
          <p:nvPr/>
        </p:nvSpPr>
        <p:spPr>
          <a:xfrm xmlns:a="http://schemas.openxmlformats.org/drawingml/2006/main">
            <a:off x="723900" y="162877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Turnaround EMD (min)</a:t>
            </a:r>
          </a:p>
        </p:txBody>
      </p:sp>
      <p:sp>
        <p:nvSpPr>
          <p:cNvPr id="11" name="">
            <a:extLst xmlns:a="http://schemas.openxmlformats.org/drawingml/2006/main">
              <a:ext uri="{FF2B5EF4-FFF2-40B4-BE49-F238E27FC236}">
                <a16:creationId xmlns:a16="http://schemas.microsoft.com/office/drawing/2014/main" id="{B3A79166-B687-4519-AD0E-19A9AB0D620A}"/>
              </a:ext>
            </a:extLst>
          </p:cNvPr>
          <p:cNvSpPr>
            <a:spLocks xmlns:a="http://schemas.openxmlformats.org/drawingml/2006/main" noGrp="1"/>
          </p:cNvSpPr>
          <p:nvPr/>
        </p:nvSpPr>
        <p:spPr>
          <a:xfrm xmlns:a="http://schemas.openxmlformats.org/drawingml/2006/main">
            <a:off x="4686300" y="16287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5F6B7A"/>
                </a:solidFill>
                <a:latin typeface="Aptos"/>
                <a:ea typeface="Aptos"/>
                <a:cs typeface="Aptos"/>
              </a:defRPr>
            </a:pPr>
            <a:r>
              <a:rPr sz="1425" b="0" i="0">
                <a:solidFill>
                  <a:srgbClr val="5F6B7A"/>
                </a:solidFill>
                <a:latin typeface="Aptos"/>
                <a:ea typeface="Aptos"/>
                <a:cs typeface="Aptos"/>
              </a:rPr>
              <a:t>9.149 | 9.163 | 9.253 | 9.173</a:t>
            </a:r>
          </a:p>
        </p:txBody>
      </p:sp>
      <p:sp>
        <p:nvSpPr>
          <p:cNvPr id="12" name="">
            <a:extLst xmlns:a="http://schemas.openxmlformats.org/drawingml/2006/main">
              <a:ext uri="{FF2B5EF4-FFF2-40B4-BE49-F238E27FC236}">
                <a16:creationId xmlns:a16="http://schemas.microsoft.com/office/drawing/2014/main" id="{05BDA8AB-A2DE-45D8-B5AB-32FEE2D84BDF}"/>
              </a:ext>
            </a:extLst>
          </p:cNvPr>
          <p:cNvSpPr>
            <a:spLocks xmlns:a="http://schemas.openxmlformats.org/drawingml/2006/main" noGrp="1"/>
          </p:cNvSpPr>
          <p:nvPr/>
        </p:nvSpPr>
        <p:spPr>
          <a:xfrm xmlns:a="http://schemas.openxmlformats.org/drawingml/2006/main">
            <a:off x="8858250" y="16287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2F80ED"/>
                </a:solidFill>
                <a:latin typeface="Aptos"/>
                <a:ea typeface="Aptos"/>
                <a:cs typeface="Aptos"/>
              </a:defRPr>
            </a:pPr>
            <a:r>
              <a:rPr sz="1425" b="0" i="0">
                <a:solidFill>
                  <a:srgbClr val="2F80ED"/>
                </a:solidFill>
                <a:latin typeface="Aptos"/>
                <a:ea typeface="Aptos"/>
                <a:cs typeface="Aptos"/>
              </a:rPr>
              <a:t>lower is better</a:t>
            </a:r>
          </a:p>
        </p:txBody>
      </p:sp>
      <p:sp>
        <p:nvSpPr>
          <p:cNvPr id="13" name="">
            <a:extLst xmlns:a="http://schemas.openxmlformats.org/drawingml/2006/main">
              <a:ext uri="{FF2B5EF4-FFF2-40B4-BE49-F238E27FC236}">
                <a16:creationId xmlns:a16="http://schemas.microsoft.com/office/drawing/2014/main" id="{47529D03-1871-48A6-A058-40B61040FE0D}"/>
              </a:ext>
            </a:extLst>
          </p:cNvPr>
          <p:cNvSpPr>
            <a:spLocks xmlns:a="http://schemas.openxmlformats.org/drawingml/2006/main" noGrp="1"/>
          </p:cNvSpPr>
          <p:nvPr/>
        </p:nvSpPr>
        <p:spPr>
          <a:xfrm xmlns:a="http://schemas.openxmlformats.org/drawingml/2006/main">
            <a:off x="552450" y="2066925"/>
            <a:ext cx="110871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EA7A5BE-1145-460B-8EFD-557D71277A42}"/>
              </a:ext>
            </a:extLst>
          </p:cNvPr>
          <p:cNvSpPr>
            <a:spLocks xmlns:a="http://schemas.openxmlformats.org/drawingml/2006/main" noGrp="1"/>
          </p:cNvSpPr>
          <p:nvPr/>
        </p:nvSpPr>
        <p:spPr>
          <a:xfrm xmlns:a="http://schemas.openxmlformats.org/drawingml/2006/main">
            <a:off x="723900" y="216217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Weighted service EMD (min)</a:t>
            </a:r>
          </a:p>
        </p:txBody>
      </p:sp>
      <p:sp>
        <p:nvSpPr>
          <p:cNvPr id="15" name="">
            <a:extLst xmlns:a="http://schemas.openxmlformats.org/drawingml/2006/main">
              <a:ext uri="{FF2B5EF4-FFF2-40B4-BE49-F238E27FC236}">
                <a16:creationId xmlns:a16="http://schemas.microsoft.com/office/drawing/2014/main" id="{F0FD0188-905F-418A-8DC3-366F897200AF}"/>
              </a:ext>
            </a:extLst>
          </p:cNvPr>
          <p:cNvSpPr>
            <a:spLocks xmlns:a="http://schemas.openxmlformats.org/drawingml/2006/main" noGrp="1"/>
          </p:cNvSpPr>
          <p:nvPr/>
        </p:nvSpPr>
        <p:spPr>
          <a:xfrm xmlns:a="http://schemas.openxmlformats.org/drawingml/2006/main">
            <a:off x="4686300" y="21621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5F6B7A"/>
                </a:solidFill>
                <a:latin typeface="Aptos"/>
                <a:ea typeface="Aptos"/>
                <a:cs typeface="Aptos"/>
              </a:defRPr>
            </a:pPr>
            <a:r>
              <a:rPr sz="1425" b="0" i="0">
                <a:solidFill>
                  <a:srgbClr val="5F6B7A"/>
                </a:solidFill>
                <a:latin typeface="Aptos"/>
                <a:ea typeface="Aptos"/>
                <a:cs typeface="Aptos"/>
              </a:rPr>
              <a:t>1.735 | 1.760 | 1.773 | 1.715</a:t>
            </a:r>
          </a:p>
        </p:txBody>
      </p:sp>
      <p:sp>
        <p:nvSpPr>
          <p:cNvPr id="16" name="">
            <a:extLst xmlns:a="http://schemas.openxmlformats.org/drawingml/2006/main">
              <a:ext uri="{FF2B5EF4-FFF2-40B4-BE49-F238E27FC236}">
                <a16:creationId xmlns:a16="http://schemas.microsoft.com/office/drawing/2014/main" id="{00C836BB-592A-486E-A977-EA6564217604}"/>
              </a:ext>
            </a:extLst>
          </p:cNvPr>
          <p:cNvSpPr>
            <a:spLocks xmlns:a="http://schemas.openxmlformats.org/drawingml/2006/main" noGrp="1"/>
          </p:cNvSpPr>
          <p:nvPr/>
        </p:nvSpPr>
        <p:spPr>
          <a:xfrm xmlns:a="http://schemas.openxmlformats.org/drawingml/2006/main">
            <a:off x="8858250" y="21621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2F80ED"/>
                </a:solidFill>
                <a:latin typeface="Aptos"/>
                <a:ea typeface="Aptos"/>
                <a:cs typeface="Aptos"/>
              </a:defRPr>
            </a:pPr>
            <a:r>
              <a:rPr sz="1425" b="0" i="0">
                <a:solidFill>
                  <a:srgbClr val="2F80ED"/>
                </a:solidFill>
                <a:latin typeface="Aptos"/>
                <a:ea typeface="Aptos"/>
                <a:cs typeface="Aptos"/>
              </a:rPr>
              <a:t>lower is better</a:t>
            </a:r>
          </a:p>
        </p:txBody>
      </p:sp>
      <p:sp>
        <p:nvSpPr>
          <p:cNvPr id="17" name="">
            <a:extLst xmlns:a="http://schemas.openxmlformats.org/drawingml/2006/main">
              <a:ext uri="{FF2B5EF4-FFF2-40B4-BE49-F238E27FC236}">
                <a16:creationId xmlns:a16="http://schemas.microsoft.com/office/drawing/2014/main" id="{3768C512-28D6-41F4-8398-257AA20A5D0A}"/>
              </a:ext>
            </a:extLst>
          </p:cNvPr>
          <p:cNvSpPr>
            <a:spLocks xmlns:a="http://schemas.openxmlformats.org/drawingml/2006/main" noGrp="1"/>
          </p:cNvSpPr>
          <p:nvPr/>
        </p:nvSpPr>
        <p:spPr>
          <a:xfrm xmlns:a="http://schemas.openxmlformats.org/drawingml/2006/main">
            <a:off x="552450" y="2600325"/>
            <a:ext cx="11087100" cy="457200"/>
          </a:xfrm>
          <a:prstGeom xmlns:a="http://schemas.openxmlformats.org/drawingml/2006/main" prst="roundRect">
            <a:avLst>
              <a:gd name="adj" fmla="val 25000"/>
            </a:avLst>
          </a:prstGeom>
          <a:solidFill xmlns:a="http://schemas.openxmlformats.org/drawingml/2006/main">
            <a:srgbClr val="F8FAF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12B83EA-B6AB-4D21-ACC7-DBC043E28C79}"/>
              </a:ext>
            </a:extLst>
          </p:cNvPr>
          <p:cNvSpPr>
            <a:spLocks xmlns:a="http://schemas.openxmlformats.org/drawingml/2006/main" noGrp="1"/>
          </p:cNvSpPr>
          <p:nvPr/>
        </p:nvSpPr>
        <p:spPr>
          <a:xfrm xmlns:a="http://schemas.openxmlformats.org/drawingml/2006/main">
            <a:off x="723900" y="269557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Activity-rate L1</a:t>
            </a:r>
          </a:p>
        </p:txBody>
      </p:sp>
      <p:sp>
        <p:nvSpPr>
          <p:cNvPr id="19" name="">
            <a:extLst xmlns:a="http://schemas.openxmlformats.org/drawingml/2006/main">
              <a:ext uri="{FF2B5EF4-FFF2-40B4-BE49-F238E27FC236}">
                <a16:creationId xmlns:a16="http://schemas.microsoft.com/office/drawing/2014/main" id="{39D67C42-13ED-40A5-A151-5356830B1ECD}"/>
              </a:ext>
            </a:extLst>
          </p:cNvPr>
          <p:cNvSpPr>
            <a:spLocks xmlns:a="http://schemas.openxmlformats.org/drawingml/2006/main" noGrp="1"/>
          </p:cNvSpPr>
          <p:nvPr/>
        </p:nvSpPr>
        <p:spPr>
          <a:xfrm xmlns:a="http://schemas.openxmlformats.org/drawingml/2006/main">
            <a:off x="4686300" y="26955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5F6B7A"/>
                </a:solidFill>
                <a:latin typeface="Aptos"/>
                <a:ea typeface="Aptos"/>
                <a:cs typeface="Aptos"/>
              </a:defRPr>
            </a:pPr>
            <a:r>
              <a:rPr sz="1425" b="0" i="0">
                <a:solidFill>
                  <a:srgbClr val="5F6B7A"/>
                </a:solidFill>
                <a:latin typeface="Aptos"/>
                <a:ea typeface="Aptos"/>
                <a:cs typeface="Aptos"/>
              </a:rPr>
              <a:t>0.1285 | 0.1305 | 0.1291 | 0.1305</a:t>
            </a:r>
          </a:p>
        </p:txBody>
      </p:sp>
      <p:sp>
        <p:nvSpPr>
          <p:cNvPr id="20" name="">
            <a:extLst xmlns:a="http://schemas.openxmlformats.org/drawingml/2006/main">
              <a:ext uri="{FF2B5EF4-FFF2-40B4-BE49-F238E27FC236}">
                <a16:creationId xmlns:a16="http://schemas.microsoft.com/office/drawing/2014/main" id="{CB4A4000-3E12-42BD-96CB-7E6AA4BA213E}"/>
              </a:ext>
            </a:extLst>
          </p:cNvPr>
          <p:cNvSpPr>
            <a:spLocks xmlns:a="http://schemas.openxmlformats.org/drawingml/2006/main" noGrp="1"/>
          </p:cNvSpPr>
          <p:nvPr/>
        </p:nvSpPr>
        <p:spPr>
          <a:xfrm xmlns:a="http://schemas.openxmlformats.org/drawingml/2006/main">
            <a:off x="8858250" y="26955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2F80ED"/>
                </a:solidFill>
                <a:latin typeface="Aptos"/>
                <a:ea typeface="Aptos"/>
                <a:cs typeface="Aptos"/>
              </a:defRPr>
            </a:pPr>
            <a:r>
              <a:rPr sz="1425" b="0" i="0">
                <a:solidFill>
                  <a:srgbClr val="2F80ED"/>
                </a:solidFill>
                <a:latin typeface="Aptos"/>
                <a:ea typeface="Aptos"/>
                <a:cs typeface="Aptos"/>
              </a:rPr>
              <a:t>lower is better</a:t>
            </a:r>
          </a:p>
        </p:txBody>
      </p:sp>
      <p:sp>
        <p:nvSpPr>
          <p:cNvPr id="21" name="">
            <a:extLst xmlns:a="http://schemas.openxmlformats.org/drawingml/2006/main">
              <a:ext uri="{FF2B5EF4-FFF2-40B4-BE49-F238E27FC236}">
                <a16:creationId xmlns:a16="http://schemas.microsoft.com/office/drawing/2014/main" id="{005DF5E7-A6ED-4928-8018-583F18C24469}"/>
              </a:ext>
            </a:extLst>
          </p:cNvPr>
          <p:cNvSpPr>
            <a:spLocks xmlns:a="http://schemas.openxmlformats.org/drawingml/2006/main" noGrp="1"/>
          </p:cNvSpPr>
          <p:nvPr/>
        </p:nvSpPr>
        <p:spPr>
          <a:xfrm xmlns:a="http://schemas.openxmlformats.org/drawingml/2006/main">
            <a:off x="552450" y="3133725"/>
            <a:ext cx="110871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8DDE394-F73D-4CB8-8F0E-F3EC9BA6597A}"/>
              </a:ext>
            </a:extLst>
          </p:cNvPr>
          <p:cNvSpPr>
            <a:spLocks xmlns:a="http://schemas.openxmlformats.org/drawingml/2006/main" noGrp="1"/>
          </p:cNvSpPr>
          <p:nvPr/>
        </p:nvSpPr>
        <p:spPr>
          <a:xfrm xmlns:a="http://schemas.openxmlformats.org/drawingml/2006/main">
            <a:off x="723900" y="322897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3-gram NGD</a:t>
            </a:r>
          </a:p>
        </p:txBody>
      </p:sp>
      <p:sp>
        <p:nvSpPr>
          <p:cNvPr id="23" name="">
            <a:extLst xmlns:a="http://schemas.openxmlformats.org/drawingml/2006/main">
              <a:ext uri="{FF2B5EF4-FFF2-40B4-BE49-F238E27FC236}">
                <a16:creationId xmlns:a16="http://schemas.microsoft.com/office/drawing/2014/main" id="{07FFB014-EE1E-498A-B32B-E28ECAF4BE23}"/>
              </a:ext>
            </a:extLst>
          </p:cNvPr>
          <p:cNvSpPr>
            <a:spLocks xmlns:a="http://schemas.openxmlformats.org/drawingml/2006/main" noGrp="1"/>
          </p:cNvSpPr>
          <p:nvPr/>
        </p:nvSpPr>
        <p:spPr>
          <a:xfrm xmlns:a="http://schemas.openxmlformats.org/drawingml/2006/main">
            <a:off x="4686300" y="32289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5F6B7A"/>
                </a:solidFill>
                <a:latin typeface="Aptos"/>
                <a:ea typeface="Aptos"/>
                <a:cs typeface="Aptos"/>
              </a:defRPr>
            </a:pPr>
            <a:r>
              <a:rPr sz="1425" b="0" i="0">
                <a:solidFill>
                  <a:srgbClr val="5F6B7A"/>
                </a:solidFill>
                <a:latin typeface="Aptos"/>
                <a:ea typeface="Aptos"/>
                <a:cs typeface="Aptos"/>
              </a:rPr>
              <a:t>0.04857 | 0.04915 | 0.04863 | 0.04884</a:t>
            </a:r>
          </a:p>
        </p:txBody>
      </p:sp>
      <p:sp>
        <p:nvSpPr>
          <p:cNvPr id="24" name="">
            <a:extLst xmlns:a="http://schemas.openxmlformats.org/drawingml/2006/main">
              <a:ext uri="{FF2B5EF4-FFF2-40B4-BE49-F238E27FC236}">
                <a16:creationId xmlns:a16="http://schemas.microsoft.com/office/drawing/2014/main" id="{CFC68CC6-9007-4DA9-9A56-4D3C14248397}"/>
              </a:ext>
            </a:extLst>
          </p:cNvPr>
          <p:cNvSpPr>
            <a:spLocks xmlns:a="http://schemas.openxmlformats.org/drawingml/2006/main" noGrp="1"/>
          </p:cNvSpPr>
          <p:nvPr/>
        </p:nvSpPr>
        <p:spPr>
          <a:xfrm xmlns:a="http://schemas.openxmlformats.org/drawingml/2006/main">
            <a:off x="8858250" y="32289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2F80ED"/>
                </a:solidFill>
                <a:latin typeface="Aptos"/>
                <a:ea typeface="Aptos"/>
                <a:cs typeface="Aptos"/>
              </a:defRPr>
            </a:pPr>
            <a:r>
              <a:rPr sz="1425" b="0" i="0">
                <a:solidFill>
                  <a:srgbClr val="2F80ED"/>
                </a:solidFill>
                <a:latin typeface="Aptos"/>
                <a:ea typeface="Aptos"/>
                <a:cs typeface="Aptos"/>
              </a:rPr>
              <a:t>lower is better</a:t>
            </a:r>
          </a:p>
        </p:txBody>
      </p:sp>
      <p:sp>
        <p:nvSpPr>
          <p:cNvPr id="25" name="">
            <a:extLst xmlns:a="http://schemas.openxmlformats.org/drawingml/2006/main">
              <a:ext uri="{FF2B5EF4-FFF2-40B4-BE49-F238E27FC236}">
                <a16:creationId xmlns:a16="http://schemas.microsoft.com/office/drawing/2014/main" id="{E3512D21-5BA6-43C8-B213-845642B66075}"/>
              </a:ext>
            </a:extLst>
          </p:cNvPr>
          <p:cNvSpPr>
            <a:spLocks xmlns:a="http://schemas.openxmlformats.org/drawingml/2006/main" noGrp="1"/>
          </p:cNvSpPr>
          <p:nvPr/>
        </p:nvSpPr>
        <p:spPr>
          <a:xfrm xmlns:a="http://schemas.openxmlformats.org/drawingml/2006/main">
            <a:off x="552450" y="3667125"/>
            <a:ext cx="11087100" cy="457200"/>
          </a:xfrm>
          <a:prstGeom xmlns:a="http://schemas.openxmlformats.org/drawingml/2006/main" prst="roundRect">
            <a:avLst>
              <a:gd name="adj" fmla="val 25000"/>
            </a:avLst>
          </a:prstGeom>
          <a:solidFill xmlns:a="http://schemas.openxmlformats.org/drawingml/2006/main">
            <a:srgbClr val="F8FAF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F128918-8B49-4649-BD22-E6678532FAB8}"/>
              </a:ext>
            </a:extLst>
          </p:cNvPr>
          <p:cNvSpPr>
            <a:spLocks xmlns:a="http://schemas.openxmlformats.org/drawingml/2006/main" noGrp="1"/>
          </p:cNvSpPr>
          <p:nvPr/>
        </p:nvSpPr>
        <p:spPr>
          <a:xfrm xmlns:a="http://schemas.openxmlformats.org/drawingml/2006/main">
            <a:off x="723900" y="376237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Paired comparison</a:t>
            </a:r>
          </a:p>
        </p:txBody>
      </p:sp>
      <p:sp>
        <p:nvSpPr>
          <p:cNvPr id="27" name="">
            <a:extLst xmlns:a="http://schemas.openxmlformats.org/drawingml/2006/main">
              <a:ext uri="{FF2B5EF4-FFF2-40B4-BE49-F238E27FC236}">
                <a16:creationId xmlns:a16="http://schemas.microsoft.com/office/drawing/2014/main" id="{CD1FBCC8-A008-46E8-8192-54D38F35CB1C}"/>
              </a:ext>
            </a:extLst>
          </p:cNvPr>
          <p:cNvSpPr>
            <a:spLocks xmlns:a="http://schemas.openxmlformats.org/drawingml/2006/main" noGrp="1"/>
          </p:cNvSpPr>
          <p:nvPr/>
        </p:nvSpPr>
        <p:spPr>
          <a:xfrm xmlns:a="http://schemas.openxmlformats.org/drawingml/2006/main">
            <a:off x="4686300" y="37623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5F6B7A"/>
                </a:solidFill>
                <a:latin typeface="Aptos"/>
                <a:ea typeface="Aptos"/>
                <a:cs typeface="Aptos"/>
              </a:defRPr>
            </a:pPr>
            <a:r>
              <a:rPr sz="1425" b="0" i="0">
                <a:solidFill>
                  <a:srgbClr val="5F6B7A"/>
                </a:solidFill>
                <a:latin typeface="Aptos"/>
                <a:ea typeface="Aptos"/>
                <a:cs typeface="Aptos"/>
              </a:rPr>
              <a:t>all paired 95% intervals include zero</a:t>
            </a:r>
          </a:p>
        </p:txBody>
      </p:sp>
      <p:sp>
        <p:nvSpPr>
          <p:cNvPr id="28" name="">
            <a:extLst xmlns:a="http://schemas.openxmlformats.org/drawingml/2006/main">
              <a:ext uri="{FF2B5EF4-FFF2-40B4-BE49-F238E27FC236}">
                <a16:creationId xmlns:a16="http://schemas.microsoft.com/office/drawing/2014/main" id="{FA1421EB-7757-4CE9-9688-9A875F21271B}"/>
              </a:ext>
            </a:extLst>
          </p:cNvPr>
          <p:cNvSpPr>
            <a:spLocks xmlns:a="http://schemas.openxmlformats.org/drawingml/2006/main" noGrp="1"/>
          </p:cNvSpPr>
          <p:nvPr/>
        </p:nvSpPr>
        <p:spPr>
          <a:xfrm xmlns:a="http://schemas.openxmlformats.org/drawingml/2006/main">
            <a:off x="8858250" y="37623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2F80ED"/>
                </a:solidFill>
                <a:latin typeface="Aptos"/>
                <a:ea typeface="Aptos"/>
                <a:cs typeface="Aptos"/>
              </a:defRPr>
            </a:pPr>
            <a:r>
              <a:rPr sz="1425" b="0" i="0">
                <a:solidFill>
                  <a:srgbClr val="2F80ED"/>
                </a:solidFill>
                <a:latin typeface="Aptos"/>
                <a:ea typeface="Aptos"/>
                <a:cs typeface="Aptos"/>
              </a:rPr>
              <a:t>no resolved gain</a:t>
            </a:r>
          </a:p>
        </p:txBody>
      </p:sp>
      <p:sp>
        <p:nvSpPr>
          <p:cNvPr id="29" name="">
            <a:extLst xmlns:a="http://schemas.openxmlformats.org/drawingml/2006/main">
              <a:ext uri="{FF2B5EF4-FFF2-40B4-BE49-F238E27FC236}">
                <a16:creationId xmlns:a16="http://schemas.microsoft.com/office/drawing/2014/main" id="{4F7854F6-207A-43CA-8E0F-2525F537E6D5}"/>
              </a:ext>
            </a:extLst>
          </p:cNvPr>
          <p:cNvSpPr>
            <a:spLocks xmlns:a="http://schemas.openxmlformats.org/drawingml/2006/main" noGrp="1"/>
          </p:cNvSpPr>
          <p:nvPr/>
        </p:nvSpPr>
        <p:spPr>
          <a:xfrm xmlns:a="http://schemas.openxmlformats.org/drawingml/2006/main">
            <a:off x="552450" y="4200525"/>
            <a:ext cx="110871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26A240B-6655-4D67-B6FF-63AC564BAAC3}"/>
              </a:ext>
            </a:extLst>
          </p:cNvPr>
          <p:cNvSpPr>
            <a:spLocks xmlns:a="http://schemas.openxmlformats.org/drawingml/2006/main" noGrp="1"/>
          </p:cNvSpPr>
          <p:nvPr/>
        </p:nvSpPr>
        <p:spPr>
          <a:xfrm xmlns:a="http://schemas.openxmlformats.org/drawingml/2006/main">
            <a:off x="723900" y="429577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Retained rules</a:t>
            </a:r>
          </a:p>
        </p:txBody>
      </p:sp>
      <p:sp>
        <p:nvSpPr>
          <p:cNvPr id="31" name="">
            <a:extLst xmlns:a="http://schemas.openxmlformats.org/drawingml/2006/main">
              <a:ext uri="{FF2B5EF4-FFF2-40B4-BE49-F238E27FC236}">
                <a16:creationId xmlns:a16="http://schemas.microsoft.com/office/drawing/2014/main" id="{7046D9B4-67BF-4A3C-8D85-1A0440566E77}"/>
              </a:ext>
            </a:extLst>
          </p:cNvPr>
          <p:cNvSpPr>
            <a:spLocks xmlns:a="http://schemas.openxmlformats.org/drawingml/2006/main" noGrp="1"/>
          </p:cNvSpPr>
          <p:nvPr/>
        </p:nvSpPr>
        <p:spPr>
          <a:xfrm xmlns:a="http://schemas.openxmlformats.org/drawingml/2006/main">
            <a:off x="4686300" y="42957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5F6B7A"/>
                </a:solidFill>
                <a:latin typeface="Aptos"/>
                <a:ea typeface="Aptos"/>
                <a:cs typeface="Aptos"/>
              </a:defRPr>
            </a:pPr>
            <a:r>
              <a:rPr sz="1425" b="0" i="0">
                <a:solidFill>
                  <a:srgbClr val="5F6B7A"/>
                </a:solidFill>
                <a:latin typeface="Aptos"/>
                <a:ea typeface="Aptos"/>
                <a:cs typeface="Aptos"/>
              </a:rPr>
              <a:t>static variables and queue_length retained</a:t>
            </a:r>
          </a:p>
        </p:txBody>
      </p:sp>
      <p:sp>
        <p:nvSpPr>
          <p:cNvPr id="32" name="">
            <a:extLst xmlns:a="http://schemas.openxmlformats.org/drawingml/2006/main">
              <a:ext uri="{FF2B5EF4-FFF2-40B4-BE49-F238E27FC236}">
                <a16:creationId xmlns:a16="http://schemas.microsoft.com/office/drawing/2014/main" id="{2F9A97A6-D561-484B-8294-4E51D36D16CC}"/>
              </a:ext>
            </a:extLst>
          </p:cNvPr>
          <p:cNvSpPr>
            <a:spLocks xmlns:a="http://schemas.openxmlformats.org/drawingml/2006/main" noGrp="1"/>
          </p:cNvSpPr>
          <p:nvPr/>
        </p:nvSpPr>
        <p:spPr>
          <a:xfrm xmlns:a="http://schemas.openxmlformats.org/drawingml/2006/main">
            <a:off x="8858250" y="42957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2F80ED"/>
                </a:solidFill>
                <a:latin typeface="Aptos"/>
                <a:ea typeface="Aptos"/>
                <a:cs typeface="Aptos"/>
              </a:defRPr>
            </a:pPr>
            <a:r>
              <a:rPr sz="1425" b="0" i="0">
                <a:solidFill>
                  <a:srgbClr val="2F80ED"/>
                </a:solidFill>
                <a:latin typeface="Aptos"/>
                <a:ea typeface="Aptos"/>
                <a:cs typeface="Aptos"/>
              </a:rPr>
              <a:t>state is used locally</a:t>
            </a:r>
          </a:p>
        </p:txBody>
      </p:sp>
      <p:sp>
        <p:nvSpPr>
          <p:cNvPr id="33" name="">
            <a:extLst xmlns:a="http://schemas.openxmlformats.org/drawingml/2006/main">
              <a:ext uri="{FF2B5EF4-FFF2-40B4-BE49-F238E27FC236}">
                <a16:creationId xmlns:a16="http://schemas.microsoft.com/office/drawing/2014/main" id="{A06F4FCD-DCE8-4C50-B9A7-B9C20BB7ABD4}"/>
              </a:ext>
            </a:extLst>
          </p:cNvPr>
          <p:cNvSpPr>
            <a:spLocks xmlns:a="http://schemas.openxmlformats.org/drawingml/2006/main" noGrp="1"/>
          </p:cNvSpPr>
          <p:nvPr/>
        </p:nvSpPr>
        <p:spPr>
          <a:xfrm xmlns:a="http://schemas.openxmlformats.org/drawingml/2006/main">
            <a:off x="552450" y="4733925"/>
            <a:ext cx="11087100" cy="457200"/>
          </a:xfrm>
          <a:prstGeom xmlns:a="http://schemas.openxmlformats.org/drawingml/2006/main" prst="roundRect">
            <a:avLst>
              <a:gd name="adj" fmla="val 25000"/>
            </a:avLst>
          </a:prstGeom>
          <a:solidFill xmlns:a="http://schemas.openxmlformats.org/drawingml/2006/main">
            <a:srgbClr val="F8FAFC"/>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FFF48F8-85D8-4935-8CC5-E79FB99A786B}"/>
              </a:ext>
            </a:extLst>
          </p:cNvPr>
          <p:cNvSpPr>
            <a:spLocks xmlns:a="http://schemas.openxmlformats.org/drawingml/2006/main" noGrp="1"/>
          </p:cNvSpPr>
          <p:nvPr/>
        </p:nvSpPr>
        <p:spPr>
          <a:xfrm xmlns:a="http://schemas.openxmlformats.org/drawingml/2006/main">
            <a:off x="723900" y="482917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Historical reference</a:t>
            </a:r>
          </a:p>
        </p:txBody>
      </p:sp>
      <p:sp>
        <p:nvSpPr>
          <p:cNvPr id="35" name="">
            <a:extLst xmlns:a="http://schemas.openxmlformats.org/drawingml/2006/main">
              <a:ext uri="{FF2B5EF4-FFF2-40B4-BE49-F238E27FC236}">
                <a16:creationId xmlns:a16="http://schemas.microsoft.com/office/drawing/2014/main" id="{F80D56CA-3730-4F06-A8E5-CB536D3E4F58}"/>
              </a:ext>
            </a:extLst>
          </p:cNvPr>
          <p:cNvSpPr>
            <a:spLocks xmlns:a="http://schemas.openxmlformats.org/drawingml/2006/main" noGrp="1"/>
          </p:cNvSpPr>
          <p:nvPr/>
        </p:nvSpPr>
        <p:spPr>
          <a:xfrm xmlns:a="http://schemas.openxmlformats.org/drawingml/2006/main">
            <a:off x="4686300" y="48291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5F6B7A"/>
                </a:solidFill>
                <a:latin typeface="Aptos"/>
                <a:ea typeface="Aptos"/>
                <a:cs typeface="Aptos"/>
              </a:defRPr>
            </a:pPr>
            <a:r>
              <a:rPr sz="1425" b="0" i="0">
                <a:solidFill>
                  <a:srgbClr val="5F6B7A"/>
                </a:solidFill>
                <a:latin typeface="Aptos"/>
                <a:ea typeface="Aptos"/>
                <a:cs typeface="Aptos"/>
              </a:rPr>
              <a:t>visit-only</a:t>
            </a:r>
          </a:p>
        </p:txBody>
      </p:sp>
      <p:sp>
        <p:nvSpPr>
          <p:cNvPr id="36" name="">
            <a:extLst xmlns:a="http://schemas.openxmlformats.org/drawingml/2006/main">
              <a:ext uri="{FF2B5EF4-FFF2-40B4-BE49-F238E27FC236}">
                <a16:creationId xmlns:a16="http://schemas.microsoft.com/office/drawing/2014/main" id="{177D1EA2-3D89-42BE-8D7F-A1E0104A8975}"/>
              </a:ext>
            </a:extLst>
          </p:cNvPr>
          <p:cNvSpPr>
            <a:spLocks xmlns:a="http://schemas.openxmlformats.org/drawingml/2006/main" noGrp="1"/>
          </p:cNvSpPr>
          <p:nvPr/>
        </p:nvSpPr>
        <p:spPr>
          <a:xfrm xmlns:a="http://schemas.openxmlformats.org/drawingml/2006/main">
            <a:off x="8858250" y="48291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2F80ED"/>
                </a:solidFill>
                <a:latin typeface="Aptos"/>
                <a:ea typeface="Aptos"/>
                <a:cs typeface="Aptos"/>
              </a:defRPr>
            </a:pPr>
            <a:r>
              <a:rPr sz="1425" b="0" i="0">
                <a:solidFill>
                  <a:srgbClr val="2F80ED"/>
                </a:solidFill>
                <a:latin typeface="Aptos"/>
                <a:ea typeface="Aptos"/>
                <a:cs typeface="Aptos"/>
              </a:rPr>
              <a:t>pre-specified selection</a:t>
            </a:r>
          </a:p>
        </p:txBody>
      </p:sp>
      <p:sp>
        <p:nvSpPr>
          <p:cNvPr id="37" name="">
            <a:extLst xmlns:a="http://schemas.openxmlformats.org/drawingml/2006/main">
              <a:ext uri="{FF2B5EF4-FFF2-40B4-BE49-F238E27FC236}">
                <a16:creationId xmlns:a16="http://schemas.microsoft.com/office/drawing/2014/main" id="{2997B065-9347-4C11-826A-1D04FD83EF37}"/>
              </a:ext>
            </a:extLst>
          </p:cNvPr>
          <p:cNvSpPr>
            <a:spLocks xmlns:a="http://schemas.openxmlformats.org/drawingml/2006/main" noGrp="1"/>
          </p:cNvSpPr>
          <p:nvPr/>
        </p:nvSpPr>
        <p:spPr>
          <a:xfrm xmlns:a="http://schemas.openxmlformats.org/drawingml/2006/main">
            <a:off x="552450" y="5267325"/>
            <a:ext cx="110871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2853308-F3C1-42E2-8B12-F6B57D860460}"/>
              </a:ext>
            </a:extLst>
          </p:cNvPr>
          <p:cNvSpPr>
            <a:spLocks xmlns:a="http://schemas.openxmlformats.org/drawingml/2006/main" noGrp="1"/>
          </p:cNvSpPr>
          <p:nvPr/>
        </p:nvSpPr>
        <p:spPr>
          <a:xfrm xmlns:a="http://schemas.openxmlformats.org/drawingml/2006/main">
            <a:off x="723900" y="536257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Inferential scope</a:t>
            </a:r>
          </a:p>
        </p:txBody>
      </p:sp>
      <p:sp>
        <p:nvSpPr>
          <p:cNvPr id="39" name="">
            <a:extLst xmlns:a="http://schemas.openxmlformats.org/drawingml/2006/main">
              <a:ext uri="{FF2B5EF4-FFF2-40B4-BE49-F238E27FC236}">
                <a16:creationId xmlns:a16="http://schemas.microsoft.com/office/drawing/2014/main" id="{B21AA1DE-1AA3-4EB3-AED8-943B0F532CB0}"/>
              </a:ext>
            </a:extLst>
          </p:cNvPr>
          <p:cNvSpPr>
            <a:spLocks xmlns:a="http://schemas.openxmlformats.org/drawingml/2006/main" noGrp="1"/>
          </p:cNvSpPr>
          <p:nvPr/>
        </p:nvSpPr>
        <p:spPr>
          <a:xfrm xmlns:a="http://schemas.openxmlformats.org/drawingml/2006/main">
            <a:off x="4686300" y="53625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5F6B7A"/>
                </a:solidFill>
                <a:latin typeface="Aptos"/>
                <a:ea typeface="Aptos"/>
                <a:cs typeface="Aptos"/>
              </a:defRPr>
            </a:pPr>
            <a:r>
              <a:rPr sz="1425" b="0" i="0">
                <a:solidFill>
                  <a:srgbClr val="5F6B7A"/>
                </a:solidFill>
                <a:latin typeface="Aptos"/>
                <a:ea typeface="Aptos"/>
                <a:cs typeface="Aptos"/>
              </a:rPr>
              <a:t>not tested as equivalence</a:t>
            </a:r>
          </a:p>
        </p:txBody>
      </p:sp>
      <p:sp>
        <p:nvSpPr>
          <p:cNvPr id="40" name="">
            <a:extLst xmlns:a="http://schemas.openxmlformats.org/drawingml/2006/main">
              <a:ext uri="{FF2B5EF4-FFF2-40B4-BE49-F238E27FC236}">
                <a16:creationId xmlns:a16="http://schemas.microsoft.com/office/drawing/2014/main" id="{F15D7FE3-9D22-4601-AB6D-DF4CC713A9AC}"/>
              </a:ext>
            </a:extLst>
          </p:cNvPr>
          <p:cNvSpPr>
            <a:spLocks xmlns:a="http://schemas.openxmlformats.org/drawingml/2006/main" noGrp="1"/>
          </p:cNvSpPr>
          <p:nvPr/>
        </p:nvSpPr>
        <p:spPr>
          <a:xfrm xmlns:a="http://schemas.openxmlformats.org/drawingml/2006/main">
            <a:off x="8858250" y="53625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2F80ED"/>
                </a:solidFill>
                <a:latin typeface="Aptos"/>
                <a:ea typeface="Aptos"/>
                <a:cs typeface="Aptos"/>
              </a:defRPr>
            </a:pPr>
            <a:r>
              <a:rPr sz="1425" b="0" i="0">
                <a:solidFill>
                  <a:srgbClr val="2F80ED"/>
                </a:solidFill>
                <a:latin typeface="Aptos"/>
                <a:ea typeface="Aptos"/>
                <a:cs typeface="Aptos"/>
              </a:rPr>
              <a:t>small differences remain unresolved</a:t>
            </a:r>
          </a:p>
        </p:txBody>
      </p:sp>
      <p:sp>
        <p:nvSpPr>
          <p:cNvPr id="41" name="">
            <a:extLst xmlns:a="http://schemas.openxmlformats.org/drawingml/2006/main">
              <a:ext uri="{FF2B5EF4-FFF2-40B4-BE49-F238E27FC236}">
                <a16:creationId xmlns:a16="http://schemas.microsoft.com/office/drawing/2014/main" id="{3305E7C9-DC17-4EE3-A0D1-964940F44DD1}"/>
              </a:ext>
            </a:extLst>
          </p:cNvPr>
          <p:cNvSpPr>
            <a:spLocks xmlns:a="http://schemas.openxmlformats.org/drawingml/2006/main" noGrp="1"/>
          </p:cNvSpPr>
          <p:nvPr/>
        </p:nvSpPr>
        <p:spPr>
          <a:xfrm xmlns:a="http://schemas.openxmlformats.org/drawingml/2006/main">
            <a:off x="2762250" y="596265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i="0">
                <a:solidFill>
                  <a:srgbClr val="C8102E"/>
                </a:solidFill>
                <a:latin typeface="Aptos"/>
                <a:ea typeface="Aptos"/>
                <a:cs typeface="Aptos"/>
              </a:defRPr>
            </a:pPr>
            <a:r>
              <a:rPr sz="1500" b="1" i="0">
                <a:solidFill>
                  <a:srgbClr val="C8102E"/>
                </a:solidFill>
                <a:latin typeface="Aptos"/>
                <a:ea typeface="Aptos"/>
                <a:cs typeface="Aptos"/>
              </a:rPr>
              <a:t>Selection rule: replace visit-only only for resolved improvement without resolved deterioration elsewhere.</a:t>
            </a:r>
          </a:p>
        </p:txBody>
      </p:sp>
    </p:spTree>
    <p:extLst>
      <p:ext uri="{BB962C8B-B14F-4D97-AF65-F5344CB8AC3E}">
        <p14:creationId xmlns:p14="http://schemas.microsoft.com/office/powerpoint/2010/main" val="28684240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9C9466C-0D47-4E87-90E8-6A01C9A4FD45}"/>
              </a:ext>
            </a:extLst>
          </p:cNvPr>
          <p:cNvSpPr>
            <a:spLocks xmlns:a="http://schemas.openxmlformats.org/drawingml/2006/main" noGrp="1"/>
          </p:cNvSpPr>
          <p:nvPr/>
        </p:nvSpPr>
        <p:spPr>
          <a:xfrm xmlns:a="http://schemas.openxmlformats.org/drawingml/2006/main">
            <a:off x="457200" y="228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C8102E"/>
                </a:solidFill>
                <a:latin typeface="Aptos"/>
                <a:ea typeface="Aptos"/>
                <a:cs typeface="Aptos"/>
              </a:defRPr>
            </a:pPr>
            <a:r>
              <a:rPr sz="1275" b="1" i="0">
                <a:solidFill>
                  <a:srgbClr val="C8102E"/>
                </a:solidFill>
                <a:latin typeface="Aptos"/>
                <a:ea typeface="Aptos"/>
                <a:cs typeface="Aptos"/>
              </a:rPr>
              <a:t>APPENDIX</a:t>
            </a:r>
          </a:p>
        </p:txBody>
      </p:sp>
      <p:sp>
        <p:nvSpPr>
          <p:cNvPr id="2" name="">
            <a:extLst xmlns:a="http://schemas.openxmlformats.org/drawingml/2006/main">
              <a:ext uri="{FF2B5EF4-FFF2-40B4-BE49-F238E27FC236}">
                <a16:creationId xmlns:a16="http://schemas.microsoft.com/office/drawing/2014/main" id="{3391B3F6-9E66-4253-AD92-AFC9BCCF33B6}"/>
              </a:ext>
            </a:extLst>
          </p:cNvPr>
          <p:cNvSpPr>
            <a:spLocks xmlns:a="http://schemas.openxmlformats.org/drawingml/2006/main" noGrp="1"/>
          </p:cNvSpPr>
          <p:nvPr/>
        </p:nvSpPr>
        <p:spPr>
          <a:xfrm xmlns:a="http://schemas.openxmlformats.org/drawingml/2006/main">
            <a:off x="457200" y="485775"/>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00" b="1" i="0">
                <a:solidFill>
                  <a:srgbClr val="0B1220"/>
                </a:solidFill>
                <a:latin typeface="Aptos"/>
                <a:ea typeface="Aptos"/>
                <a:cs typeface="Aptos"/>
              </a:defRPr>
            </a:pPr>
            <a:r>
              <a:rPr sz="3300" b="1" i="0">
                <a:solidFill>
                  <a:srgbClr val="0B1220"/>
                </a:solidFill>
                <a:latin typeface="Aptos"/>
                <a:ea typeface="Aptos"/>
                <a:cs typeface="Aptos"/>
              </a:rPr>
              <a:t>Scenario details: paired changes and intervals</a:t>
            </a:r>
          </a:p>
        </p:txBody>
      </p:sp>
      <p:sp>
        <p:nvSpPr>
          <p:cNvPr id="3" name="">
            <a:extLst xmlns:a="http://schemas.openxmlformats.org/drawingml/2006/main">
              <a:ext uri="{FF2B5EF4-FFF2-40B4-BE49-F238E27FC236}">
                <a16:creationId xmlns:a16="http://schemas.microsoft.com/office/drawing/2014/main" id="{0C623C5B-08C8-433B-9597-407B320C844B}"/>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4" name="">
            <a:extLst xmlns:a="http://schemas.openxmlformats.org/drawingml/2006/main">
              <a:ext uri="{FF2B5EF4-FFF2-40B4-BE49-F238E27FC236}">
                <a16:creationId xmlns:a16="http://schemas.microsoft.com/office/drawing/2014/main" id="{9F6C9198-758D-4679-8E4C-FE09C641693C}"/>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5" name="">
            <a:extLst xmlns:a="http://schemas.openxmlformats.org/drawingml/2006/main">
              <a:ext uri="{FF2B5EF4-FFF2-40B4-BE49-F238E27FC236}">
                <a16:creationId xmlns:a16="http://schemas.microsoft.com/office/drawing/2014/main" id="{8FB99ED8-22E7-493C-93B2-F15BEA055E27}"/>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22</a:t>
            </a:r>
          </a:p>
        </p:txBody>
      </p:sp>
      <p:sp>
        <p:nvSpPr>
          <p:cNvPr id="6" name="">
            <a:extLst xmlns:a="http://schemas.openxmlformats.org/drawingml/2006/main">
              <a:ext uri="{FF2B5EF4-FFF2-40B4-BE49-F238E27FC236}">
                <a16:creationId xmlns:a16="http://schemas.microsoft.com/office/drawing/2014/main" id="{6D390739-3249-4E79-AFA0-D87577B0FB92}"/>
              </a:ext>
            </a:extLst>
          </p:cNvPr>
          <p:cNvSpPr>
            <a:spLocks xmlns:a="http://schemas.openxmlformats.org/drawingml/2006/main" noGrp="1"/>
          </p:cNvSpPr>
          <p:nvPr/>
        </p:nvSpPr>
        <p:spPr>
          <a:xfrm xmlns:a="http://schemas.openxmlformats.org/drawingml/2006/main">
            <a:off x="552450" y="1200150"/>
            <a:ext cx="5334000" cy="4686300"/>
          </a:xfrm>
          <a:prstGeom xmlns:a="http://schemas.openxmlformats.org/drawingml/2006/main" prst="roundRect">
            <a:avLst>
              <a:gd name="adj" fmla="val 2439"/>
            </a:avLst>
          </a:prstGeom>
          <a:solidFill xmlns:a="http://schemas.openxmlformats.org/drawingml/2006/main">
            <a:srgbClr val="F8FAFC"/>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4D146504-5E6B-4D0B-AF0D-473869914A62}"/>
              </a:ext>
            </a:extLst>
          </p:cNvPr>
          <p:cNvSpPr>
            <a:spLocks xmlns:a="http://schemas.openxmlformats.org/drawingml/2006/main" noGrp="1"/>
          </p:cNvSpPr>
          <p:nvPr/>
        </p:nvSpPr>
        <p:spPr>
          <a:xfrm xmlns:a="http://schemas.openxmlformats.org/drawingml/2006/main">
            <a:off x="800100" y="14478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i="0">
                <a:solidFill>
                  <a:srgbClr val="0B1220"/>
                </a:solidFill>
                <a:latin typeface="Aptos"/>
                <a:ea typeface="Aptos"/>
                <a:cs typeface="Aptos"/>
              </a:defRPr>
            </a:pPr>
            <a:r>
              <a:rPr sz="2100" b="1" i="0">
                <a:solidFill>
                  <a:srgbClr val="0B1220"/>
                </a:solidFill>
                <a:latin typeface="Aptos"/>
                <a:ea typeface="Aptos"/>
                <a:cs typeface="Aptos"/>
              </a:rPr>
              <a:t>A · T22 resource-pool reallocation</a:t>
            </a:r>
          </a:p>
        </p:txBody>
      </p:sp>
      <p:sp>
        <p:nvSpPr>
          <p:cNvPr id="8" name="">
            <a:extLst xmlns:a="http://schemas.openxmlformats.org/drawingml/2006/main">
              <a:ext uri="{FF2B5EF4-FFF2-40B4-BE49-F238E27FC236}">
                <a16:creationId xmlns:a16="http://schemas.microsoft.com/office/drawing/2014/main" id="{EBA4F505-A229-464D-BC3A-ECEF17362963}"/>
              </a:ext>
            </a:extLst>
          </p:cNvPr>
          <p:cNvSpPr>
            <a:spLocks xmlns:a="http://schemas.openxmlformats.org/drawingml/2006/main" noGrp="1"/>
          </p:cNvSpPr>
          <p:nvPr/>
        </p:nvSpPr>
        <p:spPr>
          <a:xfrm xmlns:a="http://schemas.openxmlformats.org/drawingml/2006/main">
            <a:off x="819150" y="21145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Mean turnaround</a:t>
            </a:r>
          </a:p>
        </p:txBody>
      </p:sp>
      <p:sp>
        <p:nvSpPr>
          <p:cNvPr id="9" name="">
            <a:extLst xmlns:a="http://schemas.openxmlformats.org/drawingml/2006/main">
              <a:ext uri="{FF2B5EF4-FFF2-40B4-BE49-F238E27FC236}">
                <a16:creationId xmlns:a16="http://schemas.microsoft.com/office/drawing/2014/main" id="{ED4E065B-B16E-41F0-A3EB-0180D09EF2CF}"/>
              </a:ext>
            </a:extLst>
          </p:cNvPr>
          <p:cNvSpPr>
            <a:spLocks xmlns:a="http://schemas.openxmlformats.org/drawingml/2006/main" noGrp="1"/>
          </p:cNvSpPr>
          <p:nvPr/>
        </p:nvSpPr>
        <p:spPr>
          <a:xfrm xmlns:a="http://schemas.openxmlformats.org/drawingml/2006/main">
            <a:off x="3067050" y="21145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425" b="0" i="0">
                <a:solidFill>
                  <a:srgbClr val="5F6B7A"/>
                </a:solidFill>
                <a:latin typeface="Aptos"/>
                <a:ea typeface="Aptos"/>
                <a:cs typeface="Aptos"/>
              </a:defRPr>
            </a:pPr>
            <a:r>
              <a:rPr sz="1425" b="0" i="0">
                <a:solidFill>
                  <a:srgbClr val="5F6B7A"/>
                </a:solidFill>
                <a:latin typeface="Aptos"/>
                <a:ea typeface="Aptos"/>
                <a:cs typeface="Aptos"/>
              </a:rPr>
              <a:t>-0.030 [-0.168, +0.107]</a:t>
            </a:r>
          </a:p>
        </p:txBody>
      </p:sp>
      <p:sp>
        <p:nvSpPr>
          <p:cNvPr id="10" name="">
            <a:extLst xmlns:a="http://schemas.openxmlformats.org/drawingml/2006/main">
              <a:ext uri="{FF2B5EF4-FFF2-40B4-BE49-F238E27FC236}">
                <a16:creationId xmlns:a16="http://schemas.microsoft.com/office/drawing/2014/main" id="{87E4F5D8-F497-49FD-AB97-07B650433E29}"/>
              </a:ext>
            </a:extLst>
          </p:cNvPr>
          <p:cNvSpPr>
            <a:spLocks xmlns:a="http://schemas.openxmlformats.org/drawingml/2006/main" noGrp="1"/>
          </p:cNvSpPr>
          <p:nvPr/>
        </p:nvSpPr>
        <p:spPr>
          <a:xfrm xmlns:a="http://schemas.openxmlformats.org/drawingml/2006/main">
            <a:off x="819150" y="26479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P90 turnaround</a:t>
            </a:r>
          </a:p>
        </p:txBody>
      </p:sp>
      <p:sp>
        <p:nvSpPr>
          <p:cNvPr id="11" name="">
            <a:extLst xmlns:a="http://schemas.openxmlformats.org/drawingml/2006/main">
              <a:ext uri="{FF2B5EF4-FFF2-40B4-BE49-F238E27FC236}">
                <a16:creationId xmlns:a16="http://schemas.microsoft.com/office/drawing/2014/main" id="{43A12DCA-8215-4C29-A9D4-3E883950D6DB}"/>
              </a:ext>
            </a:extLst>
          </p:cNvPr>
          <p:cNvSpPr>
            <a:spLocks xmlns:a="http://schemas.openxmlformats.org/drawingml/2006/main" noGrp="1"/>
          </p:cNvSpPr>
          <p:nvPr/>
        </p:nvSpPr>
        <p:spPr>
          <a:xfrm xmlns:a="http://schemas.openxmlformats.org/drawingml/2006/main">
            <a:off x="3067050" y="26479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425" b="0" i="0">
                <a:solidFill>
                  <a:srgbClr val="5F6B7A"/>
                </a:solidFill>
                <a:latin typeface="Aptos"/>
                <a:ea typeface="Aptos"/>
                <a:cs typeface="Aptos"/>
              </a:defRPr>
            </a:pPr>
            <a:r>
              <a:rPr sz="1425" b="0" i="0">
                <a:solidFill>
                  <a:srgbClr val="5F6B7A"/>
                </a:solidFill>
                <a:latin typeface="Aptos"/>
                <a:ea typeface="Aptos"/>
                <a:cs typeface="Aptos"/>
              </a:rPr>
              <a:t>+0.100 [-0.428, +0.628]</a:t>
            </a:r>
          </a:p>
        </p:txBody>
      </p:sp>
      <p:sp>
        <p:nvSpPr>
          <p:cNvPr id="12" name="">
            <a:extLst xmlns:a="http://schemas.openxmlformats.org/drawingml/2006/main">
              <a:ext uri="{FF2B5EF4-FFF2-40B4-BE49-F238E27FC236}">
                <a16:creationId xmlns:a16="http://schemas.microsoft.com/office/drawing/2014/main" id="{0CE13ECF-9E1A-450B-B1B9-30CB21201123}"/>
              </a:ext>
            </a:extLst>
          </p:cNvPr>
          <p:cNvSpPr>
            <a:spLocks xmlns:a="http://schemas.openxmlformats.org/drawingml/2006/main" noGrp="1"/>
          </p:cNvSpPr>
          <p:nvPr/>
        </p:nvSpPr>
        <p:spPr>
          <a:xfrm xmlns:a="http://schemas.openxmlformats.org/drawingml/2006/main">
            <a:off x="819150" y="31813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Mean RMG service</a:t>
            </a:r>
          </a:p>
        </p:txBody>
      </p:sp>
      <p:sp>
        <p:nvSpPr>
          <p:cNvPr id="13" name="">
            <a:extLst xmlns:a="http://schemas.openxmlformats.org/drawingml/2006/main">
              <a:ext uri="{FF2B5EF4-FFF2-40B4-BE49-F238E27FC236}">
                <a16:creationId xmlns:a16="http://schemas.microsoft.com/office/drawing/2014/main" id="{0F995699-02E2-4C72-9A70-B8B387452212}"/>
              </a:ext>
            </a:extLst>
          </p:cNvPr>
          <p:cNvSpPr>
            <a:spLocks xmlns:a="http://schemas.openxmlformats.org/drawingml/2006/main" noGrp="1"/>
          </p:cNvSpPr>
          <p:nvPr/>
        </p:nvSpPr>
        <p:spPr>
          <a:xfrm xmlns:a="http://schemas.openxmlformats.org/drawingml/2006/main">
            <a:off x="3067050" y="31813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425" b="0" i="0">
                <a:solidFill>
                  <a:srgbClr val="5F6B7A"/>
                </a:solidFill>
                <a:latin typeface="Aptos"/>
                <a:ea typeface="Aptos"/>
                <a:cs typeface="Aptos"/>
              </a:defRPr>
            </a:pPr>
            <a:r>
              <a:rPr sz="1425" b="0" i="0">
                <a:solidFill>
                  <a:srgbClr val="5F6B7A"/>
                </a:solidFill>
                <a:latin typeface="Aptos"/>
                <a:ea typeface="Aptos"/>
                <a:cs typeface="Aptos"/>
              </a:rPr>
              <a:t>+0.006 [-0.053, +0.066]</a:t>
            </a:r>
          </a:p>
        </p:txBody>
      </p:sp>
      <p:sp>
        <p:nvSpPr>
          <p:cNvPr id="14" name="">
            <a:extLst xmlns:a="http://schemas.openxmlformats.org/drawingml/2006/main">
              <a:ext uri="{FF2B5EF4-FFF2-40B4-BE49-F238E27FC236}">
                <a16:creationId xmlns:a16="http://schemas.microsoft.com/office/drawing/2014/main" id="{47515727-B621-42C6-AFB6-4904CB9AD9E8}"/>
              </a:ext>
            </a:extLst>
          </p:cNvPr>
          <p:cNvSpPr>
            <a:spLocks xmlns:a="http://schemas.openxmlformats.org/drawingml/2006/main" noGrp="1"/>
          </p:cNvSpPr>
          <p:nvPr/>
        </p:nvSpPr>
        <p:spPr>
          <a:xfrm xmlns:a="http://schemas.openxmlformats.org/drawingml/2006/main">
            <a:off x="819150" y="37147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Mean RMG pre-service</a:t>
            </a:r>
          </a:p>
        </p:txBody>
      </p:sp>
      <p:sp>
        <p:nvSpPr>
          <p:cNvPr id="15" name="">
            <a:extLst xmlns:a="http://schemas.openxmlformats.org/drawingml/2006/main">
              <a:ext uri="{FF2B5EF4-FFF2-40B4-BE49-F238E27FC236}">
                <a16:creationId xmlns:a16="http://schemas.microsoft.com/office/drawing/2014/main" id="{09426C34-7F89-4062-B09E-4D005B513E39}"/>
              </a:ext>
            </a:extLst>
          </p:cNvPr>
          <p:cNvSpPr>
            <a:spLocks xmlns:a="http://schemas.openxmlformats.org/drawingml/2006/main" noGrp="1"/>
          </p:cNvSpPr>
          <p:nvPr/>
        </p:nvSpPr>
        <p:spPr>
          <a:xfrm xmlns:a="http://schemas.openxmlformats.org/drawingml/2006/main">
            <a:off x="3067050" y="37147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425" b="0" i="0">
                <a:solidFill>
                  <a:srgbClr val="C8102E"/>
                </a:solidFill>
                <a:latin typeface="Aptos"/>
                <a:ea typeface="Aptos"/>
                <a:cs typeface="Aptos"/>
              </a:defRPr>
            </a:pPr>
            <a:r>
              <a:rPr sz="1425" b="0" i="0">
                <a:solidFill>
                  <a:srgbClr val="C8102E"/>
                </a:solidFill>
                <a:latin typeface="Aptos"/>
                <a:ea typeface="Aptos"/>
                <a:cs typeface="Aptos"/>
              </a:rPr>
              <a:t>-0.093 [-0.146, -0.040]</a:t>
            </a:r>
          </a:p>
        </p:txBody>
      </p:sp>
      <p:sp>
        <p:nvSpPr>
          <p:cNvPr id="16" name="">
            <a:extLst xmlns:a="http://schemas.openxmlformats.org/drawingml/2006/main">
              <a:ext uri="{FF2B5EF4-FFF2-40B4-BE49-F238E27FC236}">
                <a16:creationId xmlns:a16="http://schemas.microsoft.com/office/drawing/2014/main" id="{3DBA1B17-D9EC-4BF9-9703-350EC6A1CC5C}"/>
              </a:ext>
            </a:extLst>
          </p:cNvPr>
          <p:cNvSpPr>
            <a:spLocks xmlns:a="http://schemas.openxmlformats.org/drawingml/2006/main" noGrp="1"/>
          </p:cNvSpPr>
          <p:nvPr/>
        </p:nvSpPr>
        <p:spPr>
          <a:xfrm xmlns:a="http://schemas.openxmlformats.org/drawingml/2006/main">
            <a:off x="819150" y="42481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Delivery pre-service</a:t>
            </a:r>
          </a:p>
        </p:txBody>
      </p:sp>
      <p:sp>
        <p:nvSpPr>
          <p:cNvPr id="17" name="">
            <a:extLst xmlns:a="http://schemas.openxmlformats.org/drawingml/2006/main">
              <a:ext uri="{FF2B5EF4-FFF2-40B4-BE49-F238E27FC236}">
                <a16:creationId xmlns:a16="http://schemas.microsoft.com/office/drawing/2014/main" id="{77C6B0C1-2FBA-4E7C-9C34-1514E56CA8C6}"/>
              </a:ext>
            </a:extLst>
          </p:cNvPr>
          <p:cNvSpPr>
            <a:spLocks xmlns:a="http://schemas.openxmlformats.org/drawingml/2006/main" noGrp="1"/>
          </p:cNvSpPr>
          <p:nvPr/>
        </p:nvSpPr>
        <p:spPr>
          <a:xfrm xmlns:a="http://schemas.openxmlformats.org/drawingml/2006/main">
            <a:off x="3067050" y="4248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425" b="0" i="0">
                <a:solidFill>
                  <a:srgbClr val="C8102E"/>
                </a:solidFill>
                <a:latin typeface="Aptos"/>
                <a:ea typeface="Aptos"/>
                <a:cs typeface="Aptos"/>
              </a:defRPr>
            </a:pPr>
            <a:r>
              <a:rPr sz="1425" b="0" i="0">
                <a:solidFill>
                  <a:srgbClr val="C8102E"/>
                </a:solidFill>
                <a:latin typeface="Aptos"/>
                <a:ea typeface="Aptos"/>
                <a:cs typeface="Aptos"/>
              </a:rPr>
              <a:t>-0.128 [-0.265, +0.009]</a:t>
            </a:r>
          </a:p>
        </p:txBody>
      </p:sp>
      <p:sp>
        <p:nvSpPr>
          <p:cNvPr id="18" name="">
            <a:extLst xmlns:a="http://schemas.openxmlformats.org/drawingml/2006/main">
              <a:ext uri="{FF2B5EF4-FFF2-40B4-BE49-F238E27FC236}">
                <a16:creationId xmlns:a16="http://schemas.microsoft.com/office/drawing/2014/main" id="{C8163DD8-68EF-40C0-A25B-E45B1658F728}"/>
              </a:ext>
            </a:extLst>
          </p:cNvPr>
          <p:cNvSpPr>
            <a:spLocks xmlns:a="http://schemas.openxmlformats.org/drawingml/2006/main" noGrp="1"/>
          </p:cNvSpPr>
          <p:nvPr/>
        </p:nvSpPr>
        <p:spPr>
          <a:xfrm xmlns:a="http://schemas.openxmlformats.org/drawingml/2006/main">
            <a:off x="819150" y="47815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T22 assignments</a:t>
            </a:r>
          </a:p>
        </p:txBody>
      </p:sp>
      <p:sp>
        <p:nvSpPr>
          <p:cNvPr id="19" name="">
            <a:extLst xmlns:a="http://schemas.openxmlformats.org/drawingml/2006/main">
              <a:ext uri="{FF2B5EF4-FFF2-40B4-BE49-F238E27FC236}">
                <a16:creationId xmlns:a16="http://schemas.microsoft.com/office/drawing/2014/main" id="{85F7A1FC-BD66-42CF-8B36-EB1E4FA49677}"/>
              </a:ext>
            </a:extLst>
          </p:cNvPr>
          <p:cNvSpPr>
            <a:spLocks xmlns:a="http://schemas.openxmlformats.org/drawingml/2006/main" noGrp="1"/>
          </p:cNvSpPr>
          <p:nvPr/>
        </p:nvSpPr>
        <p:spPr>
          <a:xfrm xmlns:a="http://schemas.openxmlformats.org/drawingml/2006/main">
            <a:off x="3067050" y="47815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425" b="0" i="0">
                <a:solidFill>
                  <a:srgbClr val="C8102E"/>
                </a:solidFill>
                <a:latin typeface="Aptos"/>
                <a:ea typeface="Aptos"/>
                <a:cs typeface="Aptos"/>
              </a:defRPr>
            </a:pPr>
            <a:r>
              <a:rPr sz="1425" b="0" i="0">
                <a:solidFill>
                  <a:srgbClr val="C8102E"/>
                </a:solidFill>
                <a:latin typeface="Aptos"/>
                <a:ea typeface="Aptos"/>
                <a:cs typeface="Aptos"/>
              </a:rPr>
              <a:t>eligible assignments after scenario: 0</a:t>
            </a:r>
          </a:p>
        </p:txBody>
      </p:sp>
      <p:sp>
        <p:nvSpPr>
          <p:cNvPr id="20" name="">
            <a:extLst xmlns:a="http://schemas.openxmlformats.org/drawingml/2006/main">
              <a:ext uri="{FF2B5EF4-FFF2-40B4-BE49-F238E27FC236}">
                <a16:creationId xmlns:a16="http://schemas.microsoft.com/office/drawing/2014/main" id="{60C1713E-BE31-4075-B95A-95E4590B3618}"/>
              </a:ext>
            </a:extLst>
          </p:cNvPr>
          <p:cNvSpPr>
            <a:spLocks xmlns:a="http://schemas.openxmlformats.org/drawingml/2006/main" noGrp="1"/>
          </p:cNvSpPr>
          <p:nvPr/>
        </p:nvSpPr>
        <p:spPr>
          <a:xfrm xmlns:a="http://schemas.openxmlformats.org/drawingml/2006/main">
            <a:off x="6305550" y="1200150"/>
            <a:ext cx="5334000" cy="4686300"/>
          </a:xfrm>
          <a:prstGeom xmlns:a="http://schemas.openxmlformats.org/drawingml/2006/main" prst="roundRect">
            <a:avLst>
              <a:gd name="adj" fmla="val 2439"/>
            </a:avLst>
          </a:prstGeom>
          <a:solidFill xmlns:a="http://schemas.openxmlformats.org/drawingml/2006/main">
            <a:srgbClr val="F8FAFC"/>
          </a:solidFill>
          <a:ln xmlns:a="http://schemas.openxmlformats.org/drawingml/2006/main" w="9525">
            <a:solidFill>
              <a:srgbClr val="D0D5DD"/>
            </a:solidFill>
            <a:prstDash val="solid"/>
          </a:ln>
        </p:spPr>
      </p:sp>
      <p:sp>
        <p:nvSpPr>
          <p:cNvPr id="21" name="">
            <a:extLst xmlns:a="http://schemas.openxmlformats.org/drawingml/2006/main">
              <a:ext uri="{FF2B5EF4-FFF2-40B4-BE49-F238E27FC236}">
                <a16:creationId xmlns:a16="http://schemas.microsoft.com/office/drawing/2014/main" id="{3C32A678-3DA9-465F-BEFE-89A104CFAA70}"/>
              </a:ext>
            </a:extLst>
          </p:cNvPr>
          <p:cNvSpPr>
            <a:spLocks xmlns:a="http://schemas.openxmlformats.org/drawingml/2006/main" noGrp="1"/>
          </p:cNvSpPr>
          <p:nvPr/>
        </p:nvSpPr>
        <p:spPr>
          <a:xfrm xmlns:a="http://schemas.openxmlformats.org/drawingml/2006/main">
            <a:off x="6553200" y="14478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i="0">
                <a:solidFill>
                  <a:srgbClr val="0B1220"/>
                </a:solidFill>
                <a:latin typeface="Aptos"/>
                <a:ea typeface="Aptos"/>
                <a:cs typeface="Aptos"/>
              </a:defRPr>
            </a:pPr>
            <a:r>
              <a:rPr sz="2100" b="1" i="0">
                <a:solidFill>
                  <a:srgbClr val="0B1220"/>
                </a:solidFill>
                <a:latin typeface="Aptos"/>
                <a:ea typeface="Aptos"/>
                <a:cs typeface="Aptos"/>
              </a:rPr>
              <a:t>B · +20% working-time demand</a:t>
            </a:r>
          </a:p>
        </p:txBody>
      </p:sp>
      <p:sp>
        <p:nvSpPr>
          <p:cNvPr id="22" name="">
            <a:extLst xmlns:a="http://schemas.openxmlformats.org/drawingml/2006/main">
              <a:ext uri="{FF2B5EF4-FFF2-40B4-BE49-F238E27FC236}">
                <a16:creationId xmlns:a16="http://schemas.microsoft.com/office/drawing/2014/main" id="{7572BC38-3BB9-4DCA-AA60-10CF6AE87DA0}"/>
              </a:ext>
            </a:extLst>
          </p:cNvPr>
          <p:cNvSpPr>
            <a:spLocks xmlns:a="http://schemas.openxmlformats.org/drawingml/2006/main" noGrp="1"/>
          </p:cNvSpPr>
          <p:nvPr/>
        </p:nvSpPr>
        <p:spPr>
          <a:xfrm xmlns:a="http://schemas.openxmlformats.org/drawingml/2006/main">
            <a:off x="6572250" y="21145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Working arrival rate</a:t>
            </a:r>
          </a:p>
        </p:txBody>
      </p:sp>
      <p:sp>
        <p:nvSpPr>
          <p:cNvPr id="23" name="">
            <a:extLst xmlns:a="http://schemas.openxmlformats.org/drawingml/2006/main">
              <a:ext uri="{FF2B5EF4-FFF2-40B4-BE49-F238E27FC236}">
                <a16:creationId xmlns:a16="http://schemas.microsoft.com/office/drawing/2014/main" id="{A7F74AB5-E1B3-4C6A-9CFF-F895B782A3E1}"/>
              </a:ext>
            </a:extLst>
          </p:cNvPr>
          <p:cNvSpPr>
            <a:spLocks xmlns:a="http://schemas.openxmlformats.org/drawingml/2006/main" noGrp="1"/>
          </p:cNvSpPr>
          <p:nvPr/>
        </p:nvSpPr>
        <p:spPr>
          <a:xfrm xmlns:a="http://schemas.openxmlformats.org/drawingml/2006/main">
            <a:off x="8820150" y="21145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425" b="0" i="0">
                <a:solidFill>
                  <a:srgbClr val="5F6B7A"/>
                </a:solidFill>
                <a:latin typeface="Aptos"/>
                <a:ea typeface="Aptos"/>
                <a:cs typeface="Aptos"/>
              </a:defRPr>
            </a:pPr>
            <a:r>
              <a:rPr sz="1425" b="0" i="0">
                <a:solidFill>
                  <a:srgbClr val="5F6B7A"/>
                </a:solidFill>
                <a:latin typeface="Aptos"/>
                <a:ea typeface="Aptos"/>
                <a:cs typeface="Aptos"/>
              </a:rPr>
              <a:t>+20.000% (configured)</a:t>
            </a:r>
          </a:p>
        </p:txBody>
      </p:sp>
      <p:sp>
        <p:nvSpPr>
          <p:cNvPr id="24" name="">
            <a:extLst xmlns:a="http://schemas.openxmlformats.org/drawingml/2006/main">
              <a:ext uri="{FF2B5EF4-FFF2-40B4-BE49-F238E27FC236}">
                <a16:creationId xmlns:a16="http://schemas.microsoft.com/office/drawing/2014/main" id="{97A3077A-DAAB-4367-9221-FF4BF50242E9}"/>
              </a:ext>
            </a:extLst>
          </p:cNvPr>
          <p:cNvSpPr>
            <a:spLocks xmlns:a="http://schemas.openxmlformats.org/drawingml/2006/main" noGrp="1"/>
          </p:cNvSpPr>
          <p:nvPr/>
        </p:nvSpPr>
        <p:spPr>
          <a:xfrm xmlns:a="http://schemas.openxmlformats.org/drawingml/2006/main">
            <a:off x="6572250" y="26479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Elapsed-hour arrivals</a:t>
            </a:r>
          </a:p>
        </p:txBody>
      </p:sp>
      <p:sp>
        <p:nvSpPr>
          <p:cNvPr id="25" name="">
            <a:extLst xmlns:a="http://schemas.openxmlformats.org/drawingml/2006/main">
              <a:ext uri="{FF2B5EF4-FFF2-40B4-BE49-F238E27FC236}">
                <a16:creationId xmlns:a16="http://schemas.microsoft.com/office/drawing/2014/main" id="{408C2873-2BEE-4689-912C-14FDF869353D}"/>
              </a:ext>
            </a:extLst>
          </p:cNvPr>
          <p:cNvSpPr>
            <a:spLocks xmlns:a="http://schemas.openxmlformats.org/drawingml/2006/main" noGrp="1"/>
          </p:cNvSpPr>
          <p:nvPr/>
        </p:nvSpPr>
        <p:spPr>
          <a:xfrm xmlns:a="http://schemas.openxmlformats.org/drawingml/2006/main">
            <a:off x="8820150" y="26479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425" b="0" i="0">
                <a:solidFill>
                  <a:srgbClr val="5F6B7A"/>
                </a:solidFill>
                <a:latin typeface="Aptos"/>
                <a:ea typeface="Aptos"/>
                <a:cs typeface="Aptos"/>
              </a:defRPr>
            </a:pPr>
            <a:r>
              <a:rPr sz="1425" b="0" i="0">
                <a:solidFill>
                  <a:srgbClr val="5F6B7A"/>
                </a:solidFill>
                <a:latin typeface="Aptos"/>
                <a:ea typeface="Aptos"/>
                <a:cs typeface="Aptos"/>
              </a:rPr>
              <a:t>+15.910% elapsed-hour rate</a:t>
            </a:r>
          </a:p>
        </p:txBody>
      </p:sp>
      <p:sp>
        <p:nvSpPr>
          <p:cNvPr id="26" name="">
            <a:extLst xmlns:a="http://schemas.openxmlformats.org/drawingml/2006/main">
              <a:ext uri="{FF2B5EF4-FFF2-40B4-BE49-F238E27FC236}">
                <a16:creationId xmlns:a16="http://schemas.microsoft.com/office/drawing/2014/main" id="{084E8B9D-82EF-4453-8E93-880C5F256F07}"/>
              </a:ext>
            </a:extLst>
          </p:cNvPr>
          <p:cNvSpPr>
            <a:spLocks xmlns:a="http://schemas.openxmlformats.org/drawingml/2006/main" noGrp="1"/>
          </p:cNvSpPr>
          <p:nvPr/>
        </p:nvSpPr>
        <p:spPr>
          <a:xfrm xmlns:a="http://schemas.openxmlformats.org/drawingml/2006/main">
            <a:off x="6572250" y="31813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Mean turnaround</a:t>
            </a:r>
          </a:p>
        </p:txBody>
      </p:sp>
      <p:sp>
        <p:nvSpPr>
          <p:cNvPr id="27" name="">
            <a:extLst xmlns:a="http://schemas.openxmlformats.org/drawingml/2006/main">
              <a:ext uri="{FF2B5EF4-FFF2-40B4-BE49-F238E27FC236}">
                <a16:creationId xmlns:a16="http://schemas.microsoft.com/office/drawing/2014/main" id="{22AB79EB-674B-4674-9FE1-D448910F69FD}"/>
              </a:ext>
            </a:extLst>
          </p:cNvPr>
          <p:cNvSpPr>
            <a:spLocks xmlns:a="http://schemas.openxmlformats.org/drawingml/2006/main" noGrp="1"/>
          </p:cNvSpPr>
          <p:nvPr/>
        </p:nvSpPr>
        <p:spPr>
          <a:xfrm xmlns:a="http://schemas.openxmlformats.org/drawingml/2006/main">
            <a:off x="8820150" y="31813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425" b="0" i="0">
                <a:solidFill>
                  <a:srgbClr val="5F6B7A"/>
                </a:solidFill>
                <a:latin typeface="Aptos"/>
                <a:ea typeface="Aptos"/>
                <a:cs typeface="Aptos"/>
              </a:defRPr>
            </a:pPr>
            <a:r>
              <a:rPr sz="1425" b="0" i="0">
                <a:solidFill>
                  <a:srgbClr val="5F6B7A"/>
                </a:solidFill>
                <a:latin typeface="Aptos"/>
                <a:ea typeface="Aptos"/>
                <a:cs typeface="Aptos"/>
              </a:rPr>
              <a:t>-0.087 [-0.281, +0.106]</a:t>
            </a:r>
          </a:p>
        </p:txBody>
      </p:sp>
      <p:sp>
        <p:nvSpPr>
          <p:cNvPr id="28" name="">
            <a:extLst xmlns:a="http://schemas.openxmlformats.org/drawingml/2006/main">
              <a:ext uri="{FF2B5EF4-FFF2-40B4-BE49-F238E27FC236}">
                <a16:creationId xmlns:a16="http://schemas.microsoft.com/office/drawing/2014/main" id="{63B75424-EDCE-4DA6-860A-A5C0BCCCE4BA}"/>
              </a:ext>
            </a:extLst>
          </p:cNvPr>
          <p:cNvSpPr>
            <a:spLocks xmlns:a="http://schemas.openxmlformats.org/drawingml/2006/main" noGrp="1"/>
          </p:cNvSpPr>
          <p:nvPr/>
        </p:nvSpPr>
        <p:spPr>
          <a:xfrm xmlns:a="http://schemas.openxmlformats.org/drawingml/2006/main">
            <a:off x="6572250" y="37147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Mean RMG service</a:t>
            </a:r>
          </a:p>
        </p:txBody>
      </p:sp>
      <p:sp>
        <p:nvSpPr>
          <p:cNvPr id="29" name="">
            <a:extLst xmlns:a="http://schemas.openxmlformats.org/drawingml/2006/main">
              <a:ext uri="{FF2B5EF4-FFF2-40B4-BE49-F238E27FC236}">
                <a16:creationId xmlns:a16="http://schemas.microsoft.com/office/drawing/2014/main" id="{DC7742C2-E8B0-47AB-8C44-3BB255808AB6}"/>
              </a:ext>
            </a:extLst>
          </p:cNvPr>
          <p:cNvSpPr>
            <a:spLocks xmlns:a="http://schemas.openxmlformats.org/drawingml/2006/main" noGrp="1"/>
          </p:cNvSpPr>
          <p:nvPr/>
        </p:nvSpPr>
        <p:spPr>
          <a:xfrm xmlns:a="http://schemas.openxmlformats.org/drawingml/2006/main">
            <a:off x="8820150" y="37147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425" b="0" i="0">
                <a:solidFill>
                  <a:srgbClr val="5F6B7A"/>
                </a:solidFill>
                <a:latin typeface="Aptos"/>
                <a:ea typeface="Aptos"/>
                <a:cs typeface="Aptos"/>
              </a:defRPr>
            </a:pPr>
            <a:r>
              <a:rPr sz="1425" b="0" i="0">
                <a:solidFill>
                  <a:srgbClr val="5F6B7A"/>
                </a:solidFill>
                <a:latin typeface="Aptos"/>
                <a:ea typeface="Aptos"/>
                <a:cs typeface="Aptos"/>
              </a:rPr>
              <a:t>+0.049 [-0.041, +0.140]</a:t>
            </a:r>
          </a:p>
        </p:txBody>
      </p:sp>
      <p:sp>
        <p:nvSpPr>
          <p:cNvPr id="30" name="">
            <a:extLst xmlns:a="http://schemas.openxmlformats.org/drawingml/2006/main">
              <a:ext uri="{FF2B5EF4-FFF2-40B4-BE49-F238E27FC236}">
                <a16:creationId xmlns:a16="http://schemas.microsoft.com/office/drawing/2014/main" id="{39635F08-CA1B-40F5-BD26-C15190D3D44E}"/>
              </a:ext>
            </a:extLst>
          </p:cNvPr>
          <p:cNvSpPr>
            <a:spLocks xmlns:a="http://schemas.openxmlformats.org/drawingml/2006/main" noGrp="1"/>
          </p:cNvSpPr>
          <p:nvPr/>
        </p:nvSpPr>
        <p:spPr>
          <a:xfrm xmlns:a="http://schemas.openxmlformats.org/drawingml/2006/main">
            <a:off x="6572250" y="42481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Mean RMG pre-service</a:t>
            </a:r>
          </a:p>
        </p:txBody>
      </p:sp>
      <p:sp>
        <p:nvSpPr>
          <p:cNvPr id="31" name="">
            <a:extLst xmlns:a="http://schemas.openxmlformats.org/drawingml/2006/main">
              <a:ext uri="{FF2B5EF4-FFF2-40B4-BE49-F238E27FC236}">
                <a16:creationId xmlns:a16="http://schemas.microsoft.com/office/drawing/2014/main" id="{29310C10-1697-4D68-8C35-86CEFCD66DD8}"/>
              </a:ext>
            </a:extLst>
          </p:cNvPr>
          <p:cNvSpPr>
            <a:spLocks xmlns:a="http://schemas.openxmlformats.org/drawingml/2006/main" noGrp="1"/>
          </p:cNvSpPr>
          <p:nvPr/>
        </p:nvSpPr>
        <p:spPr>
          <a:xfrm xmlns:a="http://schemas.openxmlformats.org/drawingml/2006/main">
            <a:off x="8820150" y="4248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425" b="0" i="0">
                <a:solidFill>
                  <a:srgbClr val="5F6B7A"/>
                </a:solidFill>
                <a:latin typeface="Aptos"/>
                <a:ea typeface="Aptos"/>
                <a:cs typeface="Aptos"/>
              </a:defRPr>
            </a:pPr>
            <a:r>
              <a:rPr sz="1425" b="0" i="0">
                <a:solidFill>
                  <a:srgbClr val="5F6B7A"/>
                </a:solidFill>
                <a:latin typeface="Aptos"/>
                <a:ea typeface="Aptos"/>
                <a:cs typeface="Aptos"/>
              </a:rPr>
              <a:t>-0.062 [-0.139, +0.014]</a:t>
            </a:r>
          </a:p>
        </p:txBody>
      </p:sp>
      <p:sp>
        <p:nvSpPr>
          <p:cNvPr id="32" name="">
            <a:extLst xmlns:a="http://schemas.openxmlformats.org/drawingml/2006/main">
              <a:ext uri="{FF2B5EF4-FFF2-40B4-BE49-F238E27FC236}">
                <a16:creationId xmlns:a16="http://schemas.microsoft.com/office/drawing/2014/main" id="{C3AFF1F8-46AB-4BEC-BF24-8AF5E637069F}"/>
              </a:ext>
            </a:extLst>
          </p:cNvPr>
          <p:cNvSpPr>
            <a:spLocks xmlns:a="http://schemas.openxmlformats.org/drawingml/2006/main" noGrp="1"/>
          </p:cNvSpPr>
          <p:nvPr/>
        </p:nvSpPr>
        <p:spPr>
          <a:xfrm xmlns:a="http://schemas.openxmlformats.org/drawingml/2006/main">
            <a:off x="6572250" y="47815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Delivery pre-service</a:t>
            </a:r>
          </a:p>
        </p:txBody>
      </p:sp>
      <p:sp>
        <p:nvSpPr>
          <p:cNvPr id="33" name="">
            <a:extLst xmlns:a="http://schemas.openxmlformats.org/drawingml/2006/main">
              <a:ext uri="{FF2B5EF4-FFF2-40B4-BE49-F238E27FC236}">
                <a16:creationId xmlns:a16="http://schemas.microsoft.com/office/drawing/2014/main" id="{449D58EB-5651-4FC0-AF6D-2FF601CDEBA4}"/>
              </a:ext>
            </a:extLst>
          </p:cNvPr>
          <p:cNvSpPr>
            <a:spLocks xmlns:a="http://schemas.openxmlformats.org/drawingml/2006/main" noGrp="1"/>
          </p:cNvSpPr>
          <p:nvPr/>
        </p:nvSpPr>
        <p:spPr>
          <a:xfrm xmlns:a="http://schemas.openxmlformats.org/drawingml/2006/main">
            <a:off x="8820150" y="47815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425" b="0" i="0">
                <a:solidFill>
                  <a:srgbClr val="C8102E"/>
                </a:solidFill>
                <a:latin typeface="Aptos"/>
                <a:ea typeface="Aptos"/>
                <a:cs typeface="Aptos"/>
              </a:defRPr>
            </a:pPr>
            <a:r>
              <a:rPr sz="1425" b="0" i="0">
                <a:solidFill>
                  <a:srgbClr val="C8102E"/>
                </a:solidFill>
                <a:latin typeface="Aptos"/>
                <a:ea typeface="Aptos"/>
                <a:cs typeface="Aptos"/>
              </a:rPr>
              <a:t>-0.099 [-0.234, +0.037]</a:t>
            </a:r>
          </a:p>
        </p:txBody>
      </p:sp>
      <p:sp>
        <p:nvSpPr>
          <p:cNvPr id="34" name="">
            <a:extLst xmlns:a="http://schemas.openxmlformats.org/drawingml/2006/main">
              <a:ext uri="{FF2B5EF4-FFF2-40B4-BE49-F238E27FC236}">
                <a16:creationId xmlns:a16="http://schemas.microsoft.com/office/drawing/2014/main" id="{9F7E70B8-5C01-4052-ADDD-9A064ED69070}"/>
              </a:ext>
            </a:extLst>
          </p:cNvPr>
          <p:cNvSpPr>
            <a:spLocks xmlns:a="http://schemas.openxmlformats.org/drawingml/2006/main" noGrp="1"/>
          </p:cNvSpPr>
          <p:nvPr/>
        </p:nvSpPr>
        <p:spPr>
          <a:xfrm xmlns:a="http://schemas.openxmlformats.org/drawingml/2006/main">
            <a:off x="2381250" y="5953125"/>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0" i="0">
                <a:solidFill>
                  <a:srgbClr val="5F6B7A"/>
                </a:solidFill>
                <a:latin typeface="Aptos"/>
                <a:ea typeface="Aptos"/>
                <a:cs typeface="Aptos"/>
              </a:defRPr>
            </a:pPr>
            <a:r>
              <a:rPr sz="1500" b="0" i="0">
                <a:solidFill>
                  <a:srgbClr val="5F6B7A"/>
                </a:solidFill>
                <a:latin typeface="Aptos"/>
                <a:ea typeface="Aptos"/>
                <a:cs typeface="Aptos"/>
              </a:rPr>
              <a:t>Intervals show matched-seed variation conditional on the frozen native-only bundle.</a:t>
            </a:r>
          </a:p>
        </p:txBody>
      </p:sp>
    </p:spTree>
    <p:extLst>
      <p:ext uri="{BB962C8B-B14F-4D97-AF65-F5344CB8AC3E}">
        <p14:creationId xmlns:p14="http://schemas.microsoft.com/office/powerpoint/2010/main" val="209820729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6D33ADE9-61DB-47CB-9A06-A7A829FDDE9E}"/>
              </a:ext>
            </a:extLst>
          </p:cNvPr>
          <p:cNvSpPr>
            <a:spLocks xmlns:a="http://schemas.openxmlformats.org/drawingml/2006/main" noGrp="1"/>
          </p:cNvSpPr>
          <p:nvPr/>
        </p:nvSpPr>
        <p:spPr>
          <a:xfrm xmlns:a="http://schemas.openxmlformats.org/drawingml/2006/main">
            <a:off x="457200" y="228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C8102E"/>
                </a:solidFill>
                <a:latin typeface="Aptos"/>
                <a:ea typeface="Aptos"/>
                <a:cs typeface="Aptos"/>
              </a:defRPr>
            </a:pPr>
            <a:r>
              <a:rPr sz="1275" b="1" i="0">
                <a:solidFill>
                  <a:srgbClr val="C8102E"/>
                </a:solidFill>
                <a:latin typeface="Aptos"/>
                <a:ea typeface="Aptos"/>
                <a:cs typeface="Aptos"/>
              </a:rPr>
              <a:t>APPENDIX</a:t>
            </a:r>
          </a:p>
        </p:txBody>
      </p:sp>
      <p:sp>
        <p:nvSpPr>
          <p:cNvPr id="2" name="">
            <a:extLst xmlns:a="http://schemas.openxmlformats.org/drawingml/2006/main">
              <a:ext uri="{FF2B5EF4-FFF2-40B4-BE49-F238E27FC236}">
                <a16:creationId xmlns:a16="http://schemas.microsoft.com/office/drawing/2014/main" id="{8B81E705-3417-4BF6-BBB7-060F35909AE8}"/>
              </a:ext>
            </a:extLst>
          </p:cNvPr>
          <p:cNvSpPr>
            <a:spLocks xmlns:a="http://schemas.openxmlformats.org/drawingml/2006/main" noGrp="1"/>
          </p:cNvSpPr>
          <p:nvPr/>
        </p:nvSpPr>
        <p:spPr>
          <a:xfrm xmlns:a="http://schemas.openxmlformats.org/drawingml/2006/main">
            <a:off x="457200" y="485775"/>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00" b="1" i="0">
                <a:solidFill>
                  <a:srgbClr val="0B1220"/>
                </a:solidFill>
                <a:latin typeface="Aptos"/>
                <a:ea typeface="Aptos"/>
                <a:cs typeface="Aptos"/>
              </a:defRPr>
            </a:pPr>
            <a:r>
              <a:rPr sz="3300" b="1" i="0">
                <a:solidFill>
                  <a:srgbClr val="0B1220"/>
                </a:solidFill>
                <a:latin typeface="Aptos"/>
                <a:ea typeface="Aptos"/>
                <a:cs typeface="Aptos"/>
              </a:rPr>
              <a:t>Demand-saturation ladder: native-only response</a:t>
            </a:r>
          </a:p>
        </p:txBody>
      </p:sp>
      <p:sp>
        <p:nvSpPr>
          <p:cNvPr id="3" name="">
            <a:extLst xmlns:a="http://schemas.openxmlformats.org/drawingml/2006/main">
              <a:ext uri="{FF2B5EF4-FFF2-40B4-BE49-F238E27FC236}">
                <a16:creationId xmlns:a16="http://schemas.microsoft.com/office/drawing/2014/main" id="{F53D7F63-0997-4730-BFF4-A6231B94B904}"/>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4" name="">
            <a:extLst xmlns:a="http://schemas.openxmlformats.org/drawingml/2006/main">
              <a:ext uri="{FF2B5EF4-FFF2-40B4-BE49-F238E27FC236}">
                <a16:creationId xmlns:a16="http://schemas.microsoft.com/office/drawing/2014/main" id="{BAAB7CC4-B926-4388-B30F-ECC849BB198F}"/>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5" name="">
            <a:extLst xmlns:a="http://schemas.openxmlformats.org/drawingml/2006/main">
              <a:ext uri="{FF2B5EF4-FFF2-40B4-BE49-F238E27FC236}">
                <a16:creationId xmlns:a16="http://schemas.microsoft.com/office/drawing/2014/main" id="{04316358-D0FA-43C0-A30F-F6FBECD0F033}"/>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23</a:t>
            </a:r>
          </a:p>
        </p:txBody>
      </p:sp>
      <p:sp>
        <p:nvSpPr>
          <p:cNvPr id="6" name="">
            <a:extLst xmlns:a="http://schemas.openxmlformats.org/drawingml/2006/main">
              <a:ext uri="{FF2B5EF4-FFF2-40B4-BE49-F238E27FC236}">
                <a16:creationId xmlns:a16="http://schemas.microsoft.com/office/drawing/2014/main" id="{75E011A2-20A6-451F-86B1-4011CF4CF71F}"/>
              </a:ext>
            </a:extLst>
          </p:cNvPr>
          <p:cNvSpPr>
            <a:spLocks xmlns:a="http://schemas.openxmlformats.org/drawingml/2006/main" noGrp="1"/>
          </p:cNvSpPr>
          <p:nvPr/>
        </p:nvSpPr>
        <p:spPr>
          <a:xfrm xmlns:a="http://schemas.openxmlformats.org/drawingml/2006/main">
            <a:off x="666750" y="11620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5F6B7A"/>
                </a:solidFill>
                <a:latin typeface="Aptos"/>
                <a:ea typeface="Aptos"/>
                <a:cs typeface="Aptos"/>
              </a:defRPr>
            </a:pPr>
            <a:r>
              <a:rPr sz="1575" b="1" i="0">
                <a:solidFill>
                  <a:srgbClr val="5F6B7A"/>
                </a:solidFill>
                <a:latin typeface="Aptos"/>
                <a:ea typeface="Aptos"/>
                <a:cs typeface="Aptos"/>
              </a:rPr>
              <a:t>Realised rate ratio</a:t>
            </a:r>
          </a:p>
        </p:txBody>
      </p:sp>
      <p:sp>
        <p:nvSpPr>
          <p:cNvPr id="7" name="">
            <a:extLst xmlns:a="http://schemas.openxmlformats.org/drawingml/2006/main">
              <a:ext uri="{FF2B5EF4-FFF2-40B4-BE49-F238E27FC236}">
                <a16:creationId xmlns:a16="http://schemas.microsoft.com/office/drawing/2014/main" id="{D1CEB790-4338-470C-AFB3-0F94FF9351B8}"/>
              </a:ext>
            </a:extLst>
          </p:cNvPr>
          <p:cNvSpPr>
            <a:spLocks xmlns:a="http://schemas.openxmlformats.org/drawingml/2006/main" noGrp="1"/>
          </p:cNvSpPr>
          <p:nvPr/>
        </p:nvSpPr>
        <p:spPr>
          <a:xfrm xmlns:a="http://schemas.openxmlformats.org/drawingml/2006/main">
            <a:off x="4686300" y="11620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i="0">
                <a:solidFill>
                  <a:srgbClr val="5F6B7A"/>
                </a:solidFill>
                <a:latin typeface="Aptos"/>
                <a:ea typeface="Aptos"/>
                <a:cs typeface="Aptos"/>
              </a:defRPr>
            </a:pPr>
            <a:r>
              <a:rPr sz="1575" b="1" i="0">
                <a:solidFill>
                  <a:srgbClr val="5F6B7A"/>
                </a:solidFill>
                <a:latin typeface="Aptos"/>
                <a:ea typeface="Aptos"/>
                <a:cs typeface="Aptos"/>
              </a:rPr>
              <a:t>Turnaround Δ [95% CI]</a:t>
            </a:r>
          </a:p>
        </p:txBody>
      </p:sp>
      <p:sp>
        <p:nvSpPr>
          <p:cNvPr id="8" name="">
            <a:extLst xmlns:a="http://schemas.openxmlformats.org/drawingml/2006/main">
              <a:ext uri="{FF2B5EF4-FFF2-40B4-BE49-F238E27FC236}">
                <a16:creationId xmlns:a16="http://schemas.microsoft.com/office/drawing/2014/main" id="{6741737D-1619-489D-B25C-350B2C1AB1AE}"/>
              </a:ext>
            </a:extLst>
          </p:cNvPr>
          <p:cNvSpPr>
            <a:spLocks xmlns:a="http://schemas.openxmlformats.org/drawingml/2006/main" noGrp="1"/>
          </p:cNvSpPr>
          <p:nvPr/>
        </p:nvSpPr>
        <p:spPr>
          <a:xfrm xmlns:a="http://schemas.openxmlformats.org/drawingml/2006/main">
            <a:off x="7829550" y="1162050"/>
            <a:ext cx="360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i="0">
                <a:solidFill>
                  <a:srgbClr val="2F80ED"/>
                </a:solidFill>
                <a:latin typeface="Aptos"/>
                <a:ea typeface="Aptos"/>
                <a:cs typeface="Aptos"/>
              </a:defRPr>
            </a:pPr>
            <a:r>
              <a:rPr sz="1575" b="1" i="0">
                <a:solidFill>
                  <a:srgbClr val="2F80ED"/>
                </a:solidFill>
                <a:latin typeface="Aptos"/>
                <a:ea typeface="Aptos"/>
                <a:cs typeface="Aptos"/>
              </a:rPr>
              <a:t>RMG pre-service Δ [95% CI]</a:t>
            </a:r>
          </a:p>
        </p:txBody>
      </p:sp>
      <p:sp>
        <p:nvSpPr>
          <p:cNvPr id="9" name="">
            <a:extLst xmlns:a="http://schemas.openxmlformats.org/drawingml/2006/main">
              <a:ext uri="{FF2B5EF4-FFF2-40B4-BE49-F238E27FC236}">
                <a16:creationId xmlns:a16="http://schemas.microsoft.com/office/drawing/2014/main" id="{6AC3FD55-EB2F-48A8-8BCB-989A5001DFD7}"/>
              </a:ext>
            </a:extLst>
          </p:cNvPr>
          <p:cNvSpPr>
            <a:spLocks xmlns:a="http://schemas.openxmlformats.org/drawingml/2006/main" noGrp="1"/>
          </p:cNvSpPr>
          <p:nvPr/>
        </p:nvSpPr>
        <p:spPr>
          <a:xfrm xmlns:a="http://schemas.openxmlformats.org/drawingml/2006/main">
            <a:off x="552450" y="1533525"/>
            <a:ext cx="11087100" cy="457200"/>
          </a:xfrm>
          <a:prstGeom xmlns:a="http://schemas.openxmlformats.org/drawingml/2006/main" prst="roundRect">
            <a:avLst>
              <a:gd name="adj" fmla="val 25000"/>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F8C5031-948A-4B8B-A021-2B9EFCDE9497}"/>
              </a:ext>
            </a:extLst>
          </p:cNvPr>
          <p:cNvSpPr>
            <a:spLocks xmlns:a="http://schemas.openxmlformats.org/drawingml/2006/main" noGrp="1"/>
          </p:cNvSpPr>
          <p:nvPr/>
        </p:nvSpPr>
        <p:spPr>
          <a:xfrm xmlns:a="http://schemas.openxmlformats.org/drawingml/2006/main">
            <a:off x="723900" y="162877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1.000</a:t>
            </a:r>
          </a:p>
        </p:txBody>
      </p:sp>
      <p:sp>
        <p:nvSpPr>
          <p:cNvPr id="11" name="">
            <a:extLst xmlns:a="http://schemas.openxmlformats.org/drawingml/2006/main">
              <a:ext uri="{FF2B5EF4-FFF2-40B4-BE49-F238E27FC236}">
                <a16:creationId xmlns:a16="http://schemas.microsoft.com/office/drawing/2014/main" id="{B3A79166-B687-4519-AD0E-19A9AB0D620A}"/>
              </a:ext>
            </a:extLst>
          </p:cNvPr>
          <p:cNvSpPr>
            <a:spLocks xmlns:a="http://schemas.openxmlformats.org/drawingml/2006/main" noGrp="1"/>
          </p:cNvSpPr>
          <p:nvPr/>
        </p:nvSpPr>
        <p:spPr>
          <a:xfrm xmlns:a="http://schemas.openxmlformats.org/drawingml/2006/main">
            <a:off x="4686300" y="16287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5F6B7A"/>
                </a:solidFill>
                <a:latin typeface="Aptos"/>
                <a:ea typeface="Aptos"/>
                <a:cs typeface="Aptos"/>
              </a:defRPr>
            </a:pPr>
            <a:r>
              <a:rPr sz="1425" b="0" i="0">
                <a:solidFill>
                  <a:srgbClr val="5F6B7A"/>
                </a:solidFill>
                <a:latin typeface="Aptos"/>
                <a:ea typeface="Aptos"/>
                <a:cs typeface="Aptos"/>
              </a:rPr>
              <a:t>reference</a:t>
            </a:r>
          </a:p>
        </p:txBody>
      </p:sp>
      <p:sp>
        <p:nvSpPr>
          <p:cNvPr id="12" name="">
            <a:extLst xmlns:a="http://schemas.openxmlformats.org/drawingml/2006/main">
              <a:ext uri="{FF2B5EF4-FFF2-40B4-BE49-F238E27FC236}">
                <a16:creationId xmlns:a16="http://schemas.microsoft.com/office/drawing/2014/main" id="{05BDA8AB-A2DE-45D8-B5AB-32FEE2D84BDF}"/>
              </a:ext>
            </a:extLst>
          </p:cNvPr>
          <p:cNvSpPr>
            <a:spLocks xmlns:a="http://schemas.openxmlformats.org/drawingml/2006/main" noGrp="1"/>
          </p:cNvSpPr>
          <p:nvPr/>
        </p:nvSpPr>
        <p:spPr>
          <a:xfrm xmlns:a="http://schemas.openxmlformats.org/drawingml/2006/main">
            <a:off x="7829550" y="1628775"/>
            <a:ext cx="360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2F80ED"/>
                </a:solidFill>
                <a:latin typeface="Aptos"/>
                <a:ea typeface="Aptos"/>
                <a:cs typeface="Aptos"/>
              </a:defRPr>
            </a:pPr>
            <a:r>
              <a:rPr sz="1425" b="0" i="0">
                <a:solidFill>
                  <a:srgbClr val="2F80ED"/>
                </a:solidFill>
                <a:latin typeface="Aptos"/>
                <a:ea typeface="Aptos"/>
                <a:cs typeface="Aptos"/>
              </a:rPr>
              <a:t>reference</a:t>
            </a:r>
          </a:p>
        </p:txBody>
      </p:sp>
      <p:sp>
        <p:nvSpPr>
          <p:cNvPr id="13" name="">
            <a:extLst xmlns:a="http://schemas.openxmlformats.org/drawingml/2006/main">
              <a:ext uri="{FF2B5EF4-FFF2-40B4-BE49-F238E27FC236}">
                <a16:creationId xmlns:a16="http://schemas.microsoft.com/office/drawing/2014/main" id="{47529D03-1871-48A6-A058-40B61040FE0D}"/>
              </a:ext>
            </a:extLst>
          </p:cNvPr>
          <p:cNvSpPr>
            <a:spLocks xmlns:a="http://schemas.openxmlformats.org/drawingml/2006/main" noGrp="1"/>
          </p:cNvSpPr>
          <p:nvPr/>
        </p:nvSpPr>
        <p:spPr>
          <a:xfrm xmlns:a="http://schemas.openxmlformats.org/drawingml/2006/main">
            <a:off x="552450" y="2066925"/>
            <a:ext cx="110871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EA7A5BE-1145-460B-8EFD-557D71277A42}"/>
              </a:ext>
            </a:extLst>
          </p:cNvPr>
          <p:cNvSpPr>
            <a:spLocks xmlns:a="http://schemas.openxmlformats.org/drawingml/2006/main" noGrp="1"/>
          </p:cNvSpPr>
          <p:nvPr/>
        </p:nvSpPr>
        <p:spPr>
          <a:xfrm xmlns:a="http://schemas.openxmlformats.org/drawingml/2006/main">
            <a:off x="723900" y="216217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1.159</a:t>
            </a:r>
          </a:p>
        </p:txBody>
      </p:sp>
      <p:sp>
        <p:nvSpPr>
          <p:cNvPr id="15" name="">
            <a:extLst xmlns:a="http://schemas.openxmlformats.org/drawingml/2006/main">
              <a:ext uri="{FF2B5EF4-FFF2-40B4-BE49-F238E27FC236}">
                <a16:creationId xmlns:a16="http://schemas.microsoft.com/office/drawing/2014/main" id="{F0FD0188-905F-418A-8DC3-366F897200AF}"/>
              </a:ext>
            </a:extLst>
          </p:cNvPr>
          <p:cNvSpPr>
            <a:spLocks xmlns:a="http://schemas.openxmlformats.org/drawingml/2006/main" noGrp="1"/>
          </p:cNvSpPr>
          <p:nvPr/>
        </p:nvSpPr>
        <p:spPr>
          <a:xfrm xmlns:a="http://schemas.openxmlformats.org/drawingml/2006/main">
            <a:off x="4686300" y="21621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5F6B7A"/>
                </a:solidFill>
                <a:latin typeface="Aptos"/>
                <a:ea typeface="Aptos"/>
                <a:cs typeface="Aptos"/>
              </a:defRPr>
            </a:pPr>
            <a:r>
              <a:rPr sz="1425" b="0" i="0">
                <a:solidFill>
                  <a:srgbClr val="5F6B7A"/>
                </a:solidFill>
                <a:latin typeface="Aptos"/>
                <a:ea typeface="Aptos"/>
                <a:cs typeface="Aptos"/>
              </a:rPr>
              <a:t>-0.087 [-0.281, +0.106]</a:t>
            </a:r>
          </a:p>
        </p:txBody>
      </p:sp>
      <p:sp>
        <p:nvSpPr>
          <p:cNvPr id="16" name="">
            <a:extLst xmlns:a="http://schemas.openxmlformats.org/drawingml/2006/main">
              <a:ext uri="{FF2B5EF4-FFF2-40B4-BE49-F238E27FC236}">
                <a16:creationId xmlns:a16="http://schemas.microsoft.com/office/drawing/2014/main" id="{00C836BB-592A-486E-A977-EA6564217604}"/>
              </a:ext>
            </a:extLst>
          </p:cNvPr>
          <p:cNvSpPr>
            <a:spLocks xmlns:a="http://schemas.openxmlformats.org/drawingml/2006/main" noGrp="1"/>
          </p:cNvSpPr>
          <p:nvPr/>
        </p:nvSpPr>
        <p:spPr>
          <a:xfrm xmlns:a="http://schemas.openxmlformats.org/drawingml/2006/main">
            <a:off x="7829550" y="2162175"/>
            <a:ext cx="360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2F80ED"/>
                </a:solidFill>
                <a:latin typeface="Aptos"/>
                <a:ea typeface="Aptos"/>
                <a:cs typeface="Aptos"/>
              </a:defRPr>
            </a:pPr>
            <a:r>
              <a:rPr sz="1425" b="0" i="0">
                <a:solidFill>
                  <a:srgbClr val="2F80ED"/>
                </a:solidFill>
                <a:latin typeface="Aptos"/>
                <a:ea typeface="Aptos"/>
                <a:cs typeface="Aptos"/>
              </a:rPr>
              <a:t>-0.062 [-0.139, +0.014]</a:t>
            </a:r>
          </a:p>
        </p:txBody>
      </p:sp>
      <p:sp>
        <p:nvSpPr>
          <p:cNvPr id="17" name="">
            <a:extLst xmlns:a="http://schemas.openxmlformats.org/drawingml/2006/main">
              <a:ext uri="{FF2B5EF4-FFF2-40B4-BE49-F238E27FC236}">
                <a16:creationId xmlns:a16="http://schemas.microsoft.com/office/drawing/2014/main" id="{3768C512-28D6-41F4-8398-257AA20A5D0A}"/>
              </a:ext>
            </a:extLst>
          </p:cNvPr>
          <p:cNvSpPr>
            <a:spLocks xmlns:a="http://schemas.openxmlformats.org/drawingml/2006/main" noGrp="1"/>
          </p:cNvSpPr>
          <p:nvPr/>
        </p:nvSpPr>
        <p:spPr>
          <a:xfrm xmlns:a="http://schemas.openxmlformats.org/drawingml/2006/main">
            <a:off x="552450" y="2600325"/>
            <a:ext cx="11087100" cy="457200"/>
          </a:xfrm>
          <a:prstGeom xmlns:a="http://schemas.openxmlformats.org/drawingml/2006/main" prst="roundRect">
            <a:avLst>
              <a:gd name="adj" fmla="val 25000"/>
            </a:avLst>
          </a:prstGeom>
          <a:solidFill xmlns:a="http://schemas.openxmlformats.org/drawingml/2006/main">
            <a:srgbClr val="F8FAF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12B83EA-B6AB-4D21-ACC7-DBC043E28C79}"/>
              </a:ext>
            </a:extLst>
          </p:cNvPr>
          <p:cNvSpPr>
            <a:spLocks xmlns:a="http://schemas.openxmlformats.org/drawingml/2006/main" noGrp="1"/>
          </p:cNvSpPr>
          <p:nvPr/>
        </p:nvSpPr>
        <p:spPr>
          <a:xfrm xmlns:a="http://schemas.openxmlformats.org/drawingml/2006/main">
            <a:off x="723900" y="269557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1.378</a:t>
            </a:r>
          </a:p>
        </p:txBody>
      </p:sp>
      <p:sp>
        <p:nvSpPr>
          <p:cNvPr id="19" name="">
            <a:extLst xmlns:a="http://schemas.openxmlformats.org/drawingml/2006/main">
              <a:ext uri="{FF2B5EF4-FFF2-40B4-BE49-F238E27FC236}">
                <a16:creationId xmlns:a16="http://schemas.microsoft.com/office/drawing/2014/main" id="{39D67C42-13ED-40A5-A151-5356830B1ECD}"/>
              </a:ext>
            </a:extLst>
          </p:cNvPr>
          <p:cNvSpPr>
            <a:spLocks xmlns:a="http://schemas.openxmlformats.org/drawingml/2006/main" noGrp="1"/>
          </p:cNvSpPr>
          <p:nvPr/>
        </p:nvSpPr>
        <p:spPr>
          <a:xfrm xmlns:a="http://schemas.openxmlformats.org/drawingml/2006/main">
            <a:off x="4686300" y="26955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5F6B7A"/>
                </a:solidFill>
                <a:latin typeface="Aptos"/>
                <a:ea typeface="Aptos"/>
                <a:cs typeface="Aptos"/>
              </a:defRPr>
            </a:pPr>
            <a:r>
              <a:rPr sz="1425" b="0" i="0">
                <a:solidFill>
                  <a:srgbClr val="5F6B7A"/>
                </a:solidFill>
                <a:latin typeface="Aptos"/>
                <a:ea typeface="Aptos"/>
                <a:cs typeface="Aptos"/>
              </a:rPr>
              <a:t>+0.045 [-0.102, +0.191]</a:t>
            </a:r>
          </a:p>
        </p:txBody>
      </p:sp>
      <p:sp>
        <p:nvSpPr>
          <p:cNvPr id="20" name="">
            <a:extLst xmlns:a="http://schemas.openxmlformats.org/drawingml/2006/main">
              <a:ext uri="{FF2B5EF4-FFF2-40B4-BE49-F238E27FC236}">
                <a16:creationId xmlns:a16="http://schemas.microsoft.com/office/drawing/2014/main" id="{CB4A4000-3E12-42BD-96CB-7E6AA4BA213E}"/>
              </a:ext>
            </a:extLst>
          </p:cNvPr>
          <p:cNvSpPr>
            <a:spLocks xmlns:a="http://schemas.openxmlformats.org/drawingml/2006/main" noGrp="1"/>
          </p:cNvSpPr>
          <p:nvPr/>
        </p:nvSpPr>
        <p:spPr>
          <a:xfrm xmlns:a="http://schemas.openxmlformats.org/drawingml/2006/main">
            <a:off x="7829550" y="2695575"/>
            <a:ext cx="360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2F80ED"/>
                </a:solidFill>
                <a:latin typeface="Aptos"/>
                <a:ea typeface="Aptos"/>
                <a:cs typeface="Aptos"/>
              </a:defRPr>
            </a:pPr>
            <a:r>
              <a:rPr sz="1425" b="0" i="0">
                <a:solidFill>
                  <a:srgbClr val="2F80ED"/>
                </a:solidFill>
                <a:latin typeface="Aptos"/>
                <a:ea typeface="Aptos"/>
                <a:cs typeface="Aptos"/>
              </a:rPr>
              <a:t>-0.073 [-0.116, -0.029]</a:t>
            </a:r>
          </a:p>
        </p:txBody>
      </p:sp>
      <p:sp>
        <p:nvSpPr>
          <p:cNvPr id="21" name="">
            <a:extLst xmlns:a="http://schemas.openxmlformats.org/drawingml/2006/main">
              <a:ext uri="{FF2B5EF4-FFF2-40B4-BE49-F238E27FC236}">
                <a16:creationId xmlns:a16="http://schemas.microsoft.com/office/drawing/2014/main" id="{005DF5E7-A6ED-4928-8018-583F18C24469}"/>
              </a:ext>
            </a:extLst>
          </p:cNvPr>
          <p:cNvSpPr>
            <a:spLocks xmlns:a="http://schemas.openxmlformats.org/drawingml/2006/main" noGrp="1"/>
          </p:cNvSpPr>
          <p:nvPr/>
        </p:nvSpPr>
        <p:spPr>
          <a:xfrm xmlns:a="http://schemas.openxmlformats.org/drawingml/2006/main">
            <a:off x="552450" y="3133725"/>
            <a:ext cx="110871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8DDE394-F73D-4CB8-8F0E-F3EC9BA6597A}"/>
              </a:ext>
            </a:extLst>
          </p:cNvPr>
          <p:cNvSpPr>
            <a:spLocks xmlns:a="http://schemas.openxmlformats.org/drawingml/2006/main" noGrp="1"/>
          </p:cNvSpPr>
          <p:nvPr/>
        </p:nvSpPr>
        <p:spPr>
          <a:xfrm xmlns:a="http://schemas.openxmlformats.org/drawingml/2006/main">
            <a:off x="723900" y="322897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2.367</a:t>
            </a:r>
          </a:p>
        </p:txBody>
      </p:sp>
      <p:sp>
        <p:nvSpPr>
          <p:cNvPr id="23" name="">
            <a:extLst xmlns:a="http://schemas.openxmlformats.org/drawingml/2006/main">
              <a:ext uri="{FF2B5EF4-FFF2-40B4-BE49-F238E27FC236}">
                <a16:creationId xmlns:a16="http://schemas.microsoft.com/office/drawing/2014/main" id="{07FFB014-EE1E-498A-B32B-E28ECAF4BE23}"/>
              </a:ext>
            </a:extLst>
          </p:cNvPr>
          <p:cNvSpPr>
            <a:spLocks xmlns:a="http://schemas.openxmlformats.org/drawingml/2006/main" noGrp="1"/>
          </p:cNvSpPr>
          <p:nvPr/>
        </p:nvSpPr>
        <p:spPr>
          <a:xfrm xmlns:a="http://schemas.openxmlformats.org/drawingml/2006/main">
            <a:off x="4686300" y="32289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5F6B7A"/>
                </a:solidFill>
                <a:latin typeface="Aptos"/>
                <a:ea typeface="Aptos"/>
                <a:cs typeface="Aptos"/>
              </a:defRPr>
            </a:pPr>
            <a:r>
              <a:rPr sz="1425" b="0" i="0">
                <a:solidFill>
                  <a:srgbClr val="5F6B7A"/>
                </a:solidFill>
                <a:latin typeface="Aptos"/>
                <a:ea typeface="Aptos"/>
                <a:cs typeface="Aptos"/>
              </a:rPr>
              <a:t>+0.082 [-0.101, +0.266]</a:t>
            </a:r>
          </a:p>
        </p:txBody>
      </p:sp>
      <p:sp>
        <p:nvSpPr>
          <p:cNvPr id="24" name="">
            <a:extLst xmlns:a="http://schemas.openxmlformats.org/drawingml/2006/main">
              <a:ext uri="{FF2B5EF4-FFF2-40B4-BE49-F238E27FC236}">
                <a16:creationId xmlns:a16="http://schemas.microsoft.com/office/drawing/2014/main" id="{CFC68CC6-9007-4DA9-9A56-4D3C14248397}"/>
              </a:ext>
            </a:extLst>
          </p:cNvPr>
          <p:cNvSpPr>
            <a:spLocks xmlns:a="http://schemas.openxmlformats.org/drawingml/2006/main" noGrp="1"/>
          </p:cNvSpPr>
          <p:nvPr/>
        </p:nvSpPr>
        <p:spPr>
          <a:xfrm xmlns:a="http://schemas.openxmlformats.org/drawingml/2006/main">
            <a:off x="7829550" y="3228975"/>
            <a:ext cx="360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2F80ED"/>
                </a:solidFill>
                <a:latin typeface="Aptos"/>
                <a:ea typeface="Aptos"/>
                <a:cs typeface="Aptos"/>
              </a:defRPr>
            </a:pPr>
            <a:r>
              <a:rPr sz="1425" b="0" i="0">
                <a:solidFill>
                  <a:srgbClr val="2F80ED"/>
                </a:solidFill>
                <a:latin typeface="Aptos"/>
                <a:ea typeface="Aptos"/>
                <a:cs typeface="Aptos"/>
              </a:rPr>
              <a:t>+0.026 [-0.155, +0.207]</a:t>
            </a:r>
          </a:p>
        </p:txBody>
      </p:sp>
      <p:sp>
        <p:nvSpPr>
          <p:cNvPr id="25" name="">
            <a:extLst xmlns:a="http://schemas.openxmlformats.org/drawingml/2006/main">
              <a:ext uri="{FF2B5EF4-FFF2-40B4-BE49-F238E27FC236}">
                <a16:creationId xmlns:a16="http://schemas.microsoft.com/office/drawing/2014/main" id="{E3512D21-5BA6-43C8-B213-845642B66075}"/>
              </a:ext>
            </a:extLst>
          </p:cNvPr>
          <p:cNvSpPr>
            <a:spLocks xmlns:a="http://schemas.openxmlformats.org/drawingml/2006/main" noGrp="1"/>
          </p:cNvSpPr>
          <p:nvPr/>
        </p:nvSpPr>
        <p:spPr>
          <a:xfrm xmlns:a="http://schemas.openxmlformats.org/drawingml/2006/main">
            <a:off x="552450" y="3667125"/>
            <a:ext cx="11087100" cy="457200"/>
          </a:xfrm>
          <a:prstGeom xmlns:a="http://schemas.openxmlformats.org/drawingml/2006/main" prst="roundRect">
            <a:avLst>
              <a:gd name="adj" fmla="val 25000"/>
            </a:avLst>
          </a:prstGeom>
          <a:solidFill xmlns:a="http://schemas.openxmlformats.org/drawingml/2006/main">
            <a:srgbClr val="F8FAF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F128918-8B49-4649-BD22-E6678532FAB8}"/>
              </a:ext>
            </a:extLst>
          </p:cNvPr>
          <p:cNvSpPr>
            <a:spLocks xmlns:a="http://schemas.openxmlformats.org/drawingml/2006/main" noGrp="1"/>
          </p:cNvSpPr>
          <p:nvPr/>
        </p:nvSpPr>
        <p:spPr>
          <a:xfrm xmlns:a="http://schemas.openxmlformats.org/drawingml/2006/main">
            <a:off x="723900" y="376237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2.825</a:t>
            </a:r>
          </a:p>
        </p:txBody>
      </p:sp>
      <p:sp>
        <p:nvSpPr>
          <p:cNvPr id="27" name="">
            <a:extLst xmlns:a="http://schemas.openxmlformats.org/drawingml/2006/main">
              <a:ext uri="{FF2B5EF4-FFF2-40B4-BE49-F238E27FC236}">
                <a16:creationId xmlns:a16="http://schemas.microsoft.com/office/drawing/2014/main" id="{CD1FBCC8-A008-46E8-8192-54D38F35CB1C}"/>
              </a:ext>
            </a:extLst>
          </p:cNvPr>
          <p:cNvSpPr>
            <a:spLocks xmlns:a="http://schemas.openxmlformats.org/drawingml/2006/main" noGrp="1"/>
          </p:cNvSpPr>
          <p:nvPr/>
        </p:nvSpPr>
        <p:spPr>
          <a:xfrm xmlns:a="http://schemas.openxmlformats.org/drawingml/2006/main">
            <a:off x="4686300" y="37623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5F6B7A"/>
                </a:solidFill>
                <a:latin typeface="Aptos"/>
                <a:ea typeface="Aptos"/>
                <a:cs typeface="Aptos"/>
              </a:defRPr>
            </a:pPr>
            <a:r>
              <a:rPr sz="1425" b="0" i="0">
                <a:solidFill>
                  <a:srgbClr val="5F6B7A"/>
                </a:solidFill>
                <a:latin typeface="Aptos"/>
                <a:ea typeface="Aptos"/>
                <a:cs typeface="Aptos"/>
              </a:rPr>
              <a:t>+1.815 [+0.858, +2.772]</a:t>
            </a:r>
          </a:p>
        </p:txBody>
      </p:sp>
      <p:sp>
        <p:nvSpPr>
          <p:cNvPr id="28" name="">
            <a:extLst xmlns:a="http://schemas.openxmlformats.org/drawingml/2006/main">
              <a:ext uri="{FF2B5EF4-FFF2-40B4-BE49-F238E27FC236}">
                <a16:creationId xmlns:a16="http://schemas.microsoft.com/office/drawing/2014/main" id="{FA1421EB-7757-4CE9-9688-9A875F21271B}"/>
              </a:ext>
            </a:extLst>
          </p:cNvPr>
          <p:cNvSpPr>
            <a:spLocks xmlns:a="http://schemas.openxmlformats.org/drawingml/2006/main" noGrp="1"/>
          </p:cNvSpPr>
          <p:nvPr/>
        </p:nvSpPr>
        <p:spPr>
          <a:xfrm xmlns:a="http://schemas.openxmlformats.org/drawingml/2006/main">
            <a:off x="7829550" y="3762375"/>
            <a:ext cx="360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2F80ED"/>
                </a:solidFill>
                <a:latin typeface="Aptos"/>
                <a:ea typeface="Aptos"/>
                <a:cs typeface="Aptos"/>
              </a:defRPr>
            </a:pPr>
            <a:r>
              <a:rPr sz="1425" b="0" i="0">
                <a:solidFill>
                  <a:srgbClr val="2F80ED"/>
                </a:solidFill>
                <a:latin typeface="Aptos"/>
                <a:ea typeface="Aptos"/>
                <a:cs typeface="Aptos"/>
              </a:rPr>
              <a:t>+2.318 [+1.132, +3.504]</a:t>
            </a:r>
          </a:p>
        </p:txBody>
      </p:sp>
      <p:sp>
        <p:nvSpPr>
          <p:cNvPr id="29" name="">
            <a:extLst xmlns:a="http://schemas.openxmlformats.org/drawingml/2006/main">
              <a:ext uri="{FF2B5EF4-FFF2-40B4-BE49-F238E27FC236}">
                <a16:creationId xmlns:a16="http://schemas.microsoft.com/office/drawing/2014/main" id="{4F7854F6-207A-43CA-8E0F-2525F537E6D5}"/>
              </a:ext>
            </a:extLst>
          </p:cNvPr>
          <p:cNvSpPr>
            <a:spLocks xmlns:a="http://schemas.openxmlformats.org/drawingml/2006/main" noGrp="1"/>
          </p:cNvSpPr>
          <p:nvPr/>
        </p:nvSpPr>
        <p:spPr>
          <a:xfrm xmlns:a="http://schemas.openxmlformats.org/drawingml/2006/main">
            <a:off x="552450" y="4200525"/>
            <a:ext cx="110871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26A240B-6655-4D67-B6FF-63AC564BAAC3}"/>
              </a:ext>
            </a:extLst>
          </p:cNvPr>
          <p:cNvSpPr>
            <a:spLocks xmlns:a="http://schemas.openxmlformats.org/drawingml/2006/main" noGrp="1"/>
          </p:cNvSpPr>
          <p:nvPr/>
        </p:nvSpPr>
        <p:spPr>
          <a:xfrm xmlns:a="http://schemas.openxmlformats.org/drawingml/2006/main">
            <a:off x="723900" y="429577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3.504</a:t>
            </a:r>
          </a:p>
        </p:txBody>
      </p:sp>
      <p:sp>
        <p:nvSpPr>
          <p:cNvPr id="31" name="">
            <a:extLst xmlns:a="http://schemas.openxmlformats.org/drawingml/2006/main">
              <a:ext uri="{FF2B5EF4-FFF2-40B4-BE49-F238E27FC236}">
                <a16:creationId xmlns:a16="http://schemas.microsoft.com/office/drawing/2014/main" id="{7046D9B4-67BF-4A3C-8D85-1A0440566E77}"/>
              </a:ext>
            </a:extLst>
          </p:cNvPr>
          <p:cNvSpPr>
            <a:spLocks xmlns:a="http://schemas.openxmlformats.org/drawingml/2006/main" noGrp="1"/>
          </p:cNvSpPr>
          <p:nvPr/>
        </p:nvSpPr>
        <p:spPr>
          <a:xfrm xmlns:a="http://schemas.openxmlformats.org/drawingml/2006/main">
            <a:off x="4686300" y="42957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5F6B7A"/>
                </a:solidFill>
                <a:latin typeface="Aptos"/>
                <a:ea typeface="Aptos"/>
                <a:cs typeface="Aptos"/>
              </a:defRPr>
            </a:pPr>
            <a:r>
              <a:rPr sz="1425" b="0" i="0">
                <a:solidFill>
                  <a:srgbClr val="5F6B7A"/>
                </a:solidFill>
                <a:latin typeface="Aptos"/>
                <a:ea typeface="Aptos"/>
                <a:cs typeface="Aptos"/>
              </a:rPr>
              <a:t>+4.069 [+3.743, +4.396]</a:t>
            </a:r>
          </a:p>
        </p:txBody>
      </p:sp>
      <p:sp>
        <p:nvSpPr>
          <p:cNvPr id="32" name="">
            <a:extLst xmlns:a="http://schemas.openxmlformats.org/drawingml/2006/main">
              <a:ext uri="{FF2B5EF4-FFF2-40B4-BE49-F238E27FC236}">
                <a16:creationId xmlns:a16="http://schemas.microsoft.com/office/drawing/2014/main" id="{2F9A97A6-D561-484B-8294-4E51D36D16CC}"/>
              </a:ext>
            </a:extLst>
          </p:cNvPr>
          <p:cNvSpPr>
            <a:spLocks xmlns:a="http://schemas.openxmlformats.org/drawingml/2006/main" noGrp="1"/>
          </p:cNvSpPr>
          <p:nvPr/>
        </p:nvSpPr>
        <p:spPr>
          <a:xfrm xmlns:a="http://schemas.openxmlformats.org/drawingml/2006/main">
            <a:off x="7829550" y="4295775"/>
            <a:ext cx="360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2F80ED"/>
                </a:solidFill>
                <a:latin typeface="Aptos"/>
                <a:ea typeface="Aptos"/>
                <a:cs typeface="Aptos"/>
              </a:defRPr>
            </a:pPr>
            <a:r>
              <a:rPr sz="1425" b="0" i="0">
                <a:solidFill>
                  <a:srgbClr val="2F80ED"/>
                </a:solidFill>
                <a:latin typeface="Aptos"/>
                <a:ea typeface="Aptos"/>
                <a:cs typeface="Aptos"/>
              </a:rPr>
              <a:t>+5.221 [+4.878, +5.563]</a:t>
            </a:r>
          </a:p>
        </p:txBody>
      </p:sp>
      <p:sp>
        <p:nvSpPr>
          <p:cNvPr id="33" name="">
            <a:extLst xmlns:a="http://schemas.openxmlformats.org/drawingml/2006/main">
              <a:ext uri="{FF2B5EF4-FFF2-40B4-BE49-F238E27FC236}">
                <a16:creationId xmlns:a16="http://schemas.microsoft.com/office/drawing/2014/main" id="{A06F4FCD-DCE8-4C50-B9A7-B9C20BB7ABD4}"/>
              </a:ext>
            </a:extLst>
          </p:cNvPr>
          <p:cNvSpPr>
            <a:spLocks xmlns:a="http://schemas.openxmlformats.org/drawingml/2006/main" noGrp="1"/>
          </p:cNvSpPr>
          <p:nvPr/>
        </p:nvSpPr>
        <p:spPr>
          <a:xfrm xmlns:a="http://schemas.openxmlformats.org/drawingml/2006/main">
            <a:off x="552450" y="4733925"/>
            <a:ext cx="11087100" cy="457200"/>
          </a:xfrm>
          <a:prstGeom xmlns:a="http://schemas.openxmlformats.org/drawingml/2006/main" prst="roundRect">
            <a:avLst>
              <a:gd name="adj" fmla="val 25000"/>
            </a:avLst>
          </a:prstGeom>
          <a:solidFill xmlns:a="http://schemas.openxmlformats.org/drawingml/2006/main">
            <a:srgbClr val="F8FAFC"/>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FFF48F8-85D8-4935-8CC5-E79FB99A786B}"/>
              </a:ext>
            </a:extLst>
          </p:cNvPr>
          <p:cNvSpPr>
            <a:spLocks xmlns:a="http://schemas.openxmlformats.org/drawingml/2006/main" noGrp="1"/>
          </p:cNvSpPr>
          <p:nvPr/>
        </p:nvSpPr>
        <p:spPr>
          <a:xfrm xmlns:a="http://schemas.openxmlformats.org/drawingml/2006/main">
            <a:off x="723900" y="482917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Mechanism</a:t>
            </a:r>
          </a:p>
        </p:txBody>
      </p:sp>
      <p:sp>
        <p:nvSpPr>
          <p:cNvPr id="35" name="">
            <a:extLst xmlns:a="http://schemas.openxmlformats.org/drawingml/2006/main">
              <a:ext uri="{FF2B5EF4-FFF2-40B4-BE49-F238E27FC236}">
                <a16:creationId xmlns:a16="http://schemas.microsoft.com/office/drawing/2014/main" id="{F80D56CA-3730-4F06-A8E5-CB536D3E4F58}"/>
              </a:ext>
            </a:extLst>
          </p:cNvPr>
          <p:cNvSpPr>
            <a:spLocks xmlns:a="http://schemas.openxmlformats.org/drawingml/2006/main" noGrp="1"/>
          </p:cNvSpPr>
          <p:nvPr/>
        </p:nvSpPr>
        <p:spPr>
          <a:xfrm xmlns:a="http://schemas.openxmlformats.org/drawingml/2006/main">
            <a:off x="4686300" y="48291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5F6B7A"/>
                </a:solidFill>
                <a:latin typeface="Aptos"/>
                <a:ea typeface="Aptos"/>
                <a:cs typeface="Aptos"/>
              </a:defRPr>
            </a:pPr>
            <a:r>
              <a:rPr sz="1425" b="0" i="0">
                <a:solidFill>
                  <a:srgbClr val="5F6B7A"/>
                </a:solidFill>
                <a:latin typeface="Aptos"/>
                <a:ea typeface="Aptos"/>
                <a:cs typeface="Aptos"/>
              </a:rPr>
              <a:t>T13 queue_length &lt;= 6.5</a:t>
            </a:r>
          </a:p>
        </p:txBody>
      </p:sp>
      <p:sp>
        <p:nvSpPr>
          <p:cNvPr id="36" name="">
            <a:extLst xmlns:a="http://schemas.openxmlformats.org/drawingml/2006/main">
              <a:ext uri="{FF2B5EF4-FFF2-40B4-BE49-F238E27FC236}">
                <a16:creationId xmlns:a16="http://schemas.microsoft.com/office/drawing/2014/main" id="{177D1EA2-3D89-42BE-8D7F-A1E0104A8975}"/>
              </a:ext>
            </a:extLst>
          </p:cNvPr>
          <p:cNvSpPr>
            <a:spLocks xmlns:a="http://schemas.openxmlformats.org/drawingml/2006/main" noGrp="1"/>
          </p:cNvSpPr>
          <p:nvPr/>
        </p:nvSpPr>
        <p:spPr>
          <a:xfrm xmlns:a="http://schemas.openxmlformats.org/drawingml/2006/main">
            <a:off x="7829550" y="4829175"/>
            <a:ext cx="360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2F80ED"/>
                </a:solidFill>
                <a:latin typeface="Aptos"/>
                <a:ea typeface="Aptos"/>
                <a:cs typeface="Aptos"/>
              </a:defRPr>
            </a:pPr>
            <a:r>
              <a:rPr sz="1425" b="0" i="0">
                <a:solidFill>
                  <a:srgbClr val="2F80ED"/>
                </a:solidFill>
                <a:latin typeface="Aptos"/>
                <a:ea typeface="Aptos"/>
                <a:cs typeface="Aptos"/>
              </a:rPr>
              <a:t>7.167 vs 52.404 min leaves</a:t>
            </a:r>
          </a:p>
        </p:txBody>
      </p:sp>
      <p:sp>
        <p:nvSpPr>
          <p:cNvPr id="37" name="">
            <a:extLst xmlns:a="http://schemas.openxmlformats.org/drawingml/2006/main">
              <a:ext uri="{FF2B5EF4-FFF2-40B4-BE49-F238E27FC236}">
                <a16:creationId xmlns:a16="http://schemas.microsoft.com/office/drawing/2014/main" id="{2997B065-9347-4C11-826A-1D04FD83EF37}"/>
              </a:ext>
            </a:extLst>
          </p:cNvPr>
          <p:cNvSpPr>
            <a:spLocks xmlns:a="http://schemas.openxmlformats.org/drawingml/2006/main" noGrp="1"/>
          </p:cNvSpPr>
          <p:nvPr/>
        </p:nvSpPr>
        <p:spPr>
          <a:xfrm xmlns:a="http://schemas.openxmlformats.org/drawingml/2006/main">
            <a:off x="552450" y="5267325"/>
            <a:ext cx="110871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2853308-F3C1-42E2-8B12-F6B57D860460}"/>
              </a:ext>
            </a:extLst>
          </p:cNvPr>
          <p:cNvSpPr>
            <a:spLocks xmlns:a="http://schemas.openxmlformats.org/drawingml/2006/main" noGrp="1"/>
          </p:cNvSpPr>
          <p:nvPr/>
        </p:nvSpPr>
        <p:spPr>
          <a:xfrm xmlns:a="http://schemas.openxmlformats.org/drawingml/2006/main">
            <a:off x="723900" y="536257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0B1220"/>
                </a:solidFill>
                <a:latin typeface="Aptos"/>
                <a:ea typeface="Aptos"/>
                <a:cs typeface="Aptos"/>
              </a:defRPr>
            </a:pPr>
            <a:r>
              <a:rPr sz="1500" b="1" i="0">
                <a:solidFill>
                  <a:srgbClr val="0B1220"/>
                </a:solidFill>
                <a:latin typeface="Aptos"/>
                <a:ea typeface="Aptos"/>
                <a:cs typeface="Aptos"/>
              </a:rPr>
              <a:t>Interpretation</a:t>
            </a:r>
          </a:p>
        </p:txBody>
      </p:sp>
      <p:sp>
        <p:nvSpPr>
          <p:cNvPr id="39" name="">
            <a:extLst xmlns:a="http://schemas.openxmlformats.org/drawingml/2006/main">
              <a:ext uri="{FF2B5EF4-FFF2-40B4-BE49-F238E27FC236}">
                <a16:creationId xmlns:a16="http://schemas.microsoft.com/office/drawing/2014/main" id="{B21AA1DE-1AA3-4EB3-AED8-943B0F532CB0}"/>
              </a:ext>
            </a:extLst>
          </p:cNvPr>
          <p:cNvSpPr>
            <a:spLocks xmlns:a="http://schemas.openxmlformats.org/drawingml/2006/main" noGrp="1"/>
          </p:cNvSpPr>
          <p:nvPr/>
        </p:nvSpPr>
        <p:spPr>
          <a:xfrm xmlns:a="http://schemas.openxmlformats.org/drawingml/2006/main">
            <a:off x="4686300" y="53625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5F6B7A"/>
                </a:solidFill>
                <a:latin typeface="Aptos"/>
                <a:ea typeface="Aptos"/>
                <a:cs typeface="Aptos"/>
              </a:defRPr>
            </a:pPr>
            <a:r>
              <a:rPr sz="1425" b="0" i="0">
                <a:solidFill>
                  <a:srgbClr val="5F6B7A"/>
                </a:solidFill>
                <a:latin typeface="Aptos"/>
                <a:ea typeface="Aptos"/>
                <a:cs typeface="Aptos"/>
              </a:rPr>
              <a:t>internal fitted response</a:t>
            </a:r>
          </a:p>
        </p:txBody>
      </p:sp>
      <p:sp>
        <p:nvSpPr>
          <p:cNvPr id="40" name="">
            <a:extLst xmlns:a="http://schemas.openxmlformats.org/drawingml/2006/main">
              <a:ext uri="{FF2B5EF4-FFF2-40B4-BE49-F238E27FC236}">
                <a16:creationId xmlns:a16="http://schemas.microsoft.com/office/drawing/2014/main" id="{F15D7FE3-9D22-4601-AB6D-DF4CC713A9AC}"/>
              </a:ext>
            </a:extLst>
          </p:cNvPr>
          <p:cNvSpPr>
            <a:spLocks xmlns:a="http://schemas.openxmlformats.org/drawingml/2006/main" noGrp="1"/>
          </p:cNvSpPr>
          <p:nvPr/>
        </p:nvSpPr>
        <p:spPr>
          <a:xfrm xmlns:a="http://schemas.openxmlformats.org/drawingml/2006/main">
            <a:off x="7829550" y="5362575"/>
            <a:ext cx="360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0" i="0">
                <a:solidFill>
                  <a:srgbClr val="2F80ED"/>
                </a:solidFill>
                <a:latin typeface="Aptos"/>
                <a:ea typeface="Aptos"/>
                <a:cs typeface="Aptos"/>
              </a:defRPr>
            </a:pPr>
            <a:r>
              <a:rPr sz="1425" b="0" i="0">
                <a:solidFill>
                  <a:srgbClr val="2F80ED"/>
                </a:solidFill>
                <a:latin typeface="Aptos"/>
                <a:ea typeface="Aptos"/>
                <a:cs typeface="Aptos"/>
              </a:rPr>
              <a:t>not a physical threshold</a:t>
            </a:r>
          </a:p>
        </p:txBody>
      </p:sp>
      <p:sp>
        <p:nvSpPr>
          <p:cNvPr id="41" name="">
            <a:extLst xmlns:a="http://schemas.openxmlformats.org/drawingml/2006/main">
              <a:ext uri="{FF2B5EF4-FFF2-40B4-BE49-F238E27FC236}">
                <a16:creationId xmlns:a16="http://schemas.microsoft.com/office/drawing/2014/main" id="{3305E7C9-DC17-4EE3-A0D1-964940F44DD1}"/>
              </a:ext>
            </a:extLst>
          </p:cNvPr>
          <p:cNvSpPr>
            <a:spLocks xmlns:a="http://schemas.openxmlformats.org/drawingml/2006/main" noGrp="1"/>
          </p:cNvSpPr>
          <p:nvPr/>
        </p:nvSpPr>
        <p:spPr>
          <a:xfrm xmlns:a="http://schemas.openxmlformats.org/drawingml/2006/main">
            <a:off x="2762250" y="596265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i="0">
                <a:solidFill>
                  <a:srgbClr val="C8102E"/>
                </a:solidFill>
                <a:latin typeface="Aptos"/>
                <a:ea typeface="Aptos"/>
                <a:cs typeface="Aptos"/>
              </a:defRPr>
            </a:pPr>
            <a:r>
              <a:rPr sz="1500" b="1" i="0">
                <a:solidFill>
                  <a:srgbClr val="C8102E"/>
                </a:solidFill>
                <a:latin typeface="Aptos"/>
                <a:ea typeface="Aptos"/>
                <a:cs typeface="Aptos"/>
              </a:rPr>
              <a:t>Visit-only is the workload-blind negative control and remains effectively invariant.</a:t>
            </a:r>
          </a:p>
        </p:txBody>
      </p:sp>
    </p:spTree>
    <p:extLst>
      <p:ext uri="{BB962C8B-B14F-4D97-AF65-F5344CB8AC3E}">
        <p14:creationId xmlns:p14="http://schemas.microsoft.com/office/powerpoint/2010/main" val="28684240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ADC7419-633E-4C49-8B84-5654931E142A}"/>
              </a:ext>
            </a:extLst>
          </p:cNvPr>
          <p:cNvSpPr>
            <a:spLocks xmlns:a="http://schemas.openxmlformats.org/drawingml/2006/main" noGrp="1"/>
          </p:cNvSpPr>
          <p:nvPr/>
        </p:nvSpPr>
        <p:spPr>
          <a:xfrm xmlns:a="http://schemas.openxmlformats.org/drawingml/2006/main">
            <a:off x="457200" y="323850"/>
            <a:ext cx="11277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0B1220"/>
                </a:solidFill>
                <a:latin typeface="Aptos"/>
                <a:ea typeface="Aptos"/>
                <a:cs typeface="Aptos"/>
              </a:defRPr>
            </a:pPr>
            <a:r>
              <a:rPr sz="3450" b="1" i="0">
                <a:solidFill>
                  <a:srgbClr val="0B1220"/>
                </a:solidFill>
                <a:latin typeface="Aptos"/>
                <a:ea typeface="Aptos"/>
                <a:cs typeface="Aptos"/>
              </a:rPr>
              <a:t>The handover separates inspection from exact execution</a:t>
            </a:r>
          </a:p>
        </p:txBody>
      </p:sp>
      <p:sp>
        <p:nvSpPr>
          <p:cNvPr id="2" name="">
            <a:extLst xmlns:a="http://schemas.openxmlformats.org/drawingml/2006/main">
              <a:ext uri="{FF2B5EF4-FFF2-40B4-BE49-F238E27FC236}">
                <a16:creationId xmlns:a16="http://schemas.microsoft.com/office/drawing/2014/main" id="{866CEAC9-23CD-4728-9357-6F33F246C43B}"/>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 name="">
            <a:extLst xmlns:a="http://schemas.openxmlformats.org/drawingml/2006/main">
              <a:ext uri="{FF2B5EF4-FFF2-40B4-BE49-F238E27FC236}">
                <a16:creationId xmlns:a16="http://schemas.microsoft.com/office/drawing/2014/main" id="{8D450EA4-FBE3-45CC-896F-514CC6AA751B}"/>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4" name="">
            <a:extLst xmlns:a="http://schemas.openxmlformats.org/drawingml/2006/main">
              <a:ext uri="{FF2B5EF4-FFF2-40B4-BE49-F238E27FC236}">
                <a16:creationId xmlns:a16="http://schemas.microsoft.com/office/drawing/2014/main" id="{C0CA12AA-F704-4790-B551-4B0DF566CE47}"/>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24</a:t>
            </a:r>
          </a:p>
        </p:txBody>
      </p:sp>
      <p:sp>
        <p:nvSpPr>
          <p:cNvPr id="5" name="">
            <a:extLst xmlns:a="http://schemas.openxmlformats.org/drawingml/2006/main">
              <a:ext uri="{FF2B5EF4-FFF2-40B4-BE49-F238E27FC236}">
                <a16:creationId xmlns:a16="http://schemas.microsoft.com/office/drawing/2014/main" id="{FE198AD3-4F3A-4F7A-8BD6-A50AF230206B}"/>
              </a:ext>
            </a:extLst>
          </p:cNvPr>
          <p:cNvSpPr>
            <a:spLocks xmlns:a="http://schemas.openxmlformats.org/drawingml/2006/main" noGrp="1"/>
          </p:cNvSpPr>
          <p:nvPr/>
        </p:nvSpPr>
        <p:spPr>
          <a:xfrm xmlns:a="http://schemas.openxmlformats.org/drawingml/2006/main">
            <a:off x="704850" y="1428750"/>
            <a:ext cx="10429875" cy="1219200"/>
          </a:xfrm>
          <a:prstGeom xmlns:a="http://schemas.openxmlformats.org/drawingml/2006/main" prst="roundRect">
            <a:avLst>
              <a:gd name="adj" fmla="val 9375"/>
            </a:avLst>
          </a:prstGeom>
          <a:solidFill xmlns:a="http://schemas.openxmlformats.org/drawingml/2006/main">
            <a:srgbClr val="FFF4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4D147A0-5669-4FDF-9BEA-B83ACBDC2CF8}"/>
              </a:ext>
            </a:extLst>
          </p:cNvPr>
          <p:cNvSpPr>
            <a:spLocks xmlns:a="http://schemas.openxmlformats.org/drawingml/2006/main" noGrp="1"/>
          </p:cNvSpPr>
          <p:nvPr/>
        </p:nvSpPr>
        <p:spPr>
          <a:xfrm xmlns:a="http://schemas.openxmlformats.org/drawingml/2006/main">
            <a:off x="933450" y="1752600"/>
            <a:ext cx="533400" cy="533400"/>
          </a:xfrm>
          <a:prstGeom xmlns:a="http://schemas.openxmlformats.org/drawingml/2006/main" prst="ellipse">
            <a:avLst/>
          </a:prstGeom>
          <a:solidFill xmlns:a="http://schemas.openxmlformats.org/drawingml/2006/main">
            <a:srgbClr val="C98200"/>
          </a:solidFill>
          <a:ln xmlns:a="http://schemas.openxmlformats.org/drawingml/2006/main" w="9525">
            <a:solidFill>
              <a:srgbClr val="C98200"/>
            </a:solidFill>
            <a:prstDash val="solid"/>
          </a:ln>
        </p:spPr>
      </p:sp>
      <p:sp>
        <p:nvSpPr>
          <p:cNvPr id="7" name="">
            <a:extLst xmlns:a="http://schemas.openxmlformats.org/drawingml/2006/main">
              <a:ext uri="{FF2B5EF4-FFF2-40B4-BE49-F238E27FC236}">
                <a16:creationId xmlns:a16="http://schemas.microsoft.com/office/drawing/2014/main" id="{147C4BE2-8AD6-4ECB-9080-FC4061854FC7}"/>
              </a:ext>
            </a:extLst>
          </p:cNvPr>
          <p:cNvSpPr>
            <a:spLocks xmlns:a="http://schemas.openxmlformats.org/drawingml/2006/main" noGrp="1"/>
          </p:cNvSpPr>
          <p:nvPr/>
        </p:nvSpPr>
        <p:spPr>
          <a:xfrm xmlns:a="http://schemas.openxmlformats.org/drawingml/2006/main">
            <a:off x="933450" y="18859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6E89B64A-DCD3-483E-BF21-81E3FB7204EF}"/>
              </a:ext>
            </a:extLst>
          </p:cNvPr>
          <p:cNvSpPr>
            <a:spLocks xmlns:a="http://schemas.openxmlformats.org/drawingml/2006/main" noGrp="1"/>
          </p:cNvSpPr>
          <p:nvPr/>
        </p:nvSpPr>
        <p:spPr>
          <a:xfrm xmlns:a="http://schemas.openxmlformats.org/drawingml/2006/main">
            <a:off x="1714500" y="165735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0B1220"/>
                </a:solidFill>
                <a:latin typeface="Aptos"/>
                <a:ea typeface="Aptos"/>
                <a:cs typeface="Aptos"/>
              </a:defRPr>
            </a:pPr>
            <a:r>
              <a:rPr sz="2175" b="1" i="0">
                <a:solidFill>
                  <a:srgbClr val="0B1220"/>
                </a:solidFill>
                <a:latin typeface="Aptos"/>
                <a:ea typeface="Aptos"/>
                <a:cs typeface="Aptos"/>
              </a:rPr>
              <a:t>ProSiT JSON</a:t>
            </a:r>
          </a:p>
        </p:txBody>
      </p:sp>
      <p:sp>
        <p:nvSpPr>
          <p:cNvPr id="9" name="">
            <a:extLst xmlns:a="http://schemas.openxmlformats.org/drawingml/2006/main">
              <a:ext uri="{FF2B5EF4-FFF2-40B4-BE49-F238E27FC236}">
                <a16:creationId xmlns:a16="http://schemas.microsoft.com/office/drawing/2014/main" id="{122E71F5-57C0-4036-9E58-B50E63FC4D08}"/>
              </a:ext>
            </a:extLst>
          </p:cNvPr>
          <p:cNvSpPr>
            <a:spLocks xmlns:a="http://schemas.openxmlformats.org/drawingml/2006/main" noGrp="1"/>
          </p:cNvSpPr>
          <p:nvPr/>
        </p:nvSpPr>
        <p:spPr>
          <a:xfrm xmlns:a="http://schemas.openxmlformats.org/drawingml/2006/main">
            <a:off x="8334375" y="16764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725" b="1" i="0">
                <a:solidFill>
                  <a:srgbClr val="C98200"/>
                </a:solidFill>
                <a:latin typeface="Aptos"/>
                <a:ea typeface="Aptos"/>
                <a:cs typeface="Aptos"/>
              </a:defRPr>
            </a:pPr>
            <a:r>
              <a:rPr sz="1725" b="1" i="0">
                <a:solidFill>
                  <a:srgbClr val="C98200"/>
                </a:solidFill>
                <a:latin typeface="Aptos"/>
                <a:ea typeface="Aptos"/>
                <a:cs typeface="Aptos"/>
              </a:rPr>
              <a:t>PORTABLE</a:t>
            </a:r>
          </a:p>
        </p:txBody>
      </p:sp>
      <p:sp>
        <p:nvSpPr>
          <p:cNvPr id="10" name="">
            <a:extLst xmlns:a="http://schemas.openxmlformats.org/drawingml/2006/main">
              <a:ext uri="{FF2B5EF4-FFF2-40B4-BE49-F238E27FC236}">
                <a16:creationId xmlns:a16="http://schemas.microsoft.com/office/drawing/2014/main" id="{B0A7FEDC-1C24-4A3C-B591-CBA25DCDC95E}"/>
              </a:ext>
            </a:extLst>
          </p:cNvPr>
          <p:cNvSpPr>
            <a:spLocks xmlns:a="http://schemas.openxmlformats.org/drawingml/2006/main" noGrp="1"/>
          </p:cNvSpPr>
          <p:nvPr/>
        </p:nvSpPr>
        <p:spPr>
          <a:xfrm xmlns:a="http://schemas.openxmlformats.org/drawingml/2006/main">
            <a:off x="1714500" y="2114550"/>
            <a:ext cx="752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Human-inspectable rules, distributions, capacities and calendars through the official interface.</a:t>
            </a:r>
          </a:p>
        </p:txBody>
      </p:sp>
      <p:sp>
        <p:nvSpPr>
          <p:cNvPr id="11" name="">
            <a:extLst xmlns:a="http://schemas.openxmlformats.org/drawingml/2006/main">
              <a:ext uri="{FF2B5EF4-FFF2-40B4-BE49-F238E27FC236}">
                <a16:creationId xmlns:a16="http://schemas.microsoft.com/office/drawing/2014/main" id="{C0704FBA-100A-420B-9BB4-5CAF98A8765C}"/>
              </a:ext>
            </a:extLst>
          </p:cNvPr>
          <p:cNvSpPr>
            <a:spLocks xmlns:a="http://schemas.openxmlformats.org/drawingml/2006/main" noGrp="1"/>
          </p:cNvSpPr>
          <p:nvPr/>
        </p:nvSpPr>
        <p:spPr>
          <a:xfrm xmlns:a="http://schemas.openxmlformats.org/drawingml/2006/main">
            <a:off x="1228725" y="2952750"/>
            <a:ext cx="9382125" cy="1219200"/>
          </a:xfrm>
          <a:prstGeom xmlns:a="http://schemas.openxmlformats.org/drawingml/2006/main" prst="roundRect">
            <a:avLst>
              <a:gd name="adj" fmla="val 9375"/>
            </a:avLst>
          </a:prstGeom>
          <a:solidFill xmlns:a="http://schemas.openxmlformats.org/drawingml/2006/main">
            <a:srgbClr val="EAF8F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8C86213-4E87-45F5-8818-E96B1835D7B4}"/>
              </a:ext>
            </a:extLst>
          </p:cNvPr>
          <p:cNvSpPr>
            <a:spLocks xmlns:a="http://schemas.openxmlformats.org/drawingml/2006/main" noGrp="1"/>
          </p:cNvSpPr>
          <p:nvPr/>
        </p:nvSpPr>
        <p:spPr>
          <a:xfrm xmlns:a="http://schemas.openxmlformats.org/drawingml/2006/main">
            <a:off x="1457325" y="3276600"/>
            <a:ext cx="533400" cy="533400"/>
          </a:xfrm>
          <a:prstGeom xmlns:a="http://schemas.openxmlformats.org/drawingml/2006/main" prst="ellipse">
            <a:avLst/>
          </a:prstGeom>
          <a:solidFill xmlns:a="http://schemas.openxmlformats.org/drawingml/2006/main">
            <a:srgbClr val="16876A"/>
          </a:solidFill>
          <a:ln xmlns:a="http://schemas.openxmlformats.org/drawingml/2006/main" w="9525">
            <a:solidFill>
              <a:srgbClr val="16876A"/>
            </a:solidFill>
            <a:prstDash val="solid"/>
          </a:ln>
        </p:spPr>
      </p:sp>
      <p:sp>
        <p:nvSpPr>
          <p:cNvPr id="13" name="">
            <a:extLst xmlns:a="http://schemas.openxmlformats.org/drawingml/2006/main">
              <a:ext uri="{FF2B5EF4-FFF2-40B4-BE49-F238E27FC236}">
                <a16:creationId xmlns:a16="http://schemas.microsoft.com/office/drawing/2014/main" id="{BFA7AE8F-AE86-4A64-B4B6-E0E54E49F3D3}"/>
              </a:ext>
            </a:extLst>
          </p:cNvPr>
          <p:cNvSpPr>
            <a:spLocks xmlns:a="http://schemas.openxmlformats.org/drawingml/2006/main" noGrp="1"/>
          </p:cNvSpPr>
          <p:nvPr/>
        </p:nvSpPr>
        <p:spPr>
          <a:xfrm xmlns:a="http://schemas.openxmlformats.org/drawingml/2006/main">
            <a:off x="1457325" y="34099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2</a:t>
            </a:r>
          </a:p>
        </p:txBody>
      </p:sp>
      <p:sp>
        <p:nvSpPr>
          <p:cNvPr id="14" name="">
            <a:extLst xmlns:a="http://schemas.openxmlformats.org/drawingml/2006/main">
              <a:ext uri="{FF2B5EF4-FFF2-40B4-BE49-F238E27FC236}">
                <a16:creationId xmlns:a16="http://schemas.microsoft.com/office/drawing/2014/main" id="{3BFB55FB-33B2-4A86-AD9D-9466290F50DD}"/>
              </a:ext>
            </a:extLst>
          </p:cNvPr>
          <p:cNvSpPr>
            <a:spLocks xmlns:a="http://schemas.openxmlformats.org/drawingml/2006/main" noGrp="1"/>
          </p:cNvSpPr>
          <p:nvPr/>
        </p:nvSpPr>
        <p:spPr>
          <a:xfrm xmlns:a="http://schemas.openxmlformats.org/drawingml/2006/main">
            <a:off x="2238375" y="318135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0B1220"/>
                </a:solidFill>
                <a:latin typeface="Aptos"/>
                <a:ea typeface="Aptos"/>
                <a:cs typeface="Aptos"/>
              </a:defRPr>
            </a:pPr>
            <a:r>
              <a:rPr sz="2175" b="1" i="0">
                <a:solidFill>
                  <a:srgbClr val="0B1220"/>
                </a:solidFill>
                <a:latin typeface="Aptos"/>
                <a:ea typeface="Aptos"/>
                <a:cs typeface="Aptos"/>
              </a:rPr>
              <a:t>Frozen pickle bundle</a:t>
            </a:r>
          </a:p>
        </p:txBody>
      </p:sp>
      <p:sp>
        <p:nvSpPr>
          <p:cNvPr id="15" name="">
            <a:extLst xmlns:a="http://schemas.openxmlformats.org/drawingml/2006/main">
              <a:ext uri="{FF2B5EF4-FFF2-40B4-BE49-F238E27FC236}">
                <a16:creationId xmlns:a16="http://schemas.microsoft.com/office/drawing/2014/main" id="{BD12485A-C91D-495D-BB1B-618A12F5C356}"/>
              </a:ext>
            </a:extLst>
          </p:cNvPr>
          <p:cNvSpPr>
            <a:spLocks xmlns:a="http://schemas.openxmlformats.org/drawingml/2006/main" noGrp="1"/>
          </p:cNvSpPr>
          <p:nvPr/>
        </p:nvSpPr>
        <p:spPr>
          <a:xfrm xmlns:a="http://schemas.openxmlformats.org/drawingml/2006/main">
            <a:off x="8191500" y="32004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725" b="1" i="0">
                <a:solidFill>
                  <a:srgbClr val="16876A"/>
                </a:solidFill>
                <a:latin typeface="Aptos"/>
                <a:ea typeface="Aptos"/>
                <a:cs typeface="Aptos"/>
              </a:defRPr>
            </a:pPr>
            <a:r>
              <a:rPr sz="1725" b="1" i="0">
                <a:solidFill>
                  <a:srgbClr val="16876A"/>
                </a:solidFill>
                <a:latin typeface="Aptos"/>
                <a:ea typeface="Aptos"/>
                <a:cs typeface="Aptos"/>
              </a:rPr>
              <a:t>AUTHORITY</a:t>
            </a:r>
          </a:p>
        </p:txBody>
      </p:sp>
      <p:sp>
        <p:nvSpPr>
          <p:cNvPr id="16" name="">
            <a:extLst xmlns:a="http://schemas.openxmlformats.org/drawingml/2006/main">
              <a:ext uri="{FF2B5EF4-FFF2-40B4-BE49-F238E27FC236}">
                <a16:creationId xmlns:a16="http://schemas.microsoft.com/office/drawing/2014/main" id="{504A4223-3F96-40C8-98F5-0CBEE0A35E0A}"/>
              </a:ext>
            </a:extLst>
          </p:cNvPr>
          <p:cNvSpPr>
            <a:spLocks xmlns:a="http://schemas.openxmlformats.org/drawingml/2006/main" noGrp="1"/>
          </p:cNvSpPr>
          <p:nvPr/>
        </p:nvSpPr>
        <p:spPr>
          <a:xfrm xmlns:a="http://schemas.openxmlformats.org/drawingml/2006/main">
            <a:off x="2238375" y="3638550"/>
            <a:ext cx="676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Exact post-calibration SimulatorParameters object used for the reported numerical runs.</a:t>
            </a:r>
          </a:p>
        </p:txBody>
      </p:sp>
      <p:sp>
        <p:nvSpPr>
          <p:cNvPr id="17" name="">
            <a:extLst xmlns:a="http://schemas.openxmlformats.org/drawingml/2006/main">
              <a:ext uri="{FF2B5EF4-FFF2-40B4-BE49-F238E27FC236}">
                <a16:creationId xmlns:a16="http://schemas.microsoft.com/office/drawing/2014/main" id="{9C9B3A3E-8A41-4C1B-8CF9-4766939B8DA5}"/>
              </a:ext>
            </a:extLst>
          </p:cNvPr>
          <p:cNvSpPr>
            <a:spLocks xmlns:a="http://schemas.openxmlformats.org/drawingml/2006/main" noGrp="1"/>
          </p:cNvSpPr>
          <p:nvPr/>
        </p:nvSpPr>
        <p:spPr>
          <a:xfrm xmlns:a="http://schemas.openxmlformats.org/drawingml/2006/main">
            <a:off x="1752600" y="4476750"/>
            <a:ext cx="8334375" cy="1219200"/>
          </a:xfrm>
          <a:prstGeom xmlns:a="http://schemas.openxmlformats.org/drawingml/2006/main" prst="roundRect">
            <a:avLst>
              <a:gd name="adj" fmla="val 9375"/>
            </a:avLst>
          </a:prstGeom>
          <a:solidFill xmlns:a="http://schemas.openxmlformats.org/drawingml/2006/main">
            <a:srgbClr val="FDEC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261D78F-73FD-4A04-96DB-6001F5FCE05E}"/>
              </a:ext>
            </a:extLst>
          </p:cNvPr>
          <p:cNvSpPr>
            <a:spLocks xmlns:a="http://schemas.openxmlformats.org/drawingml/2006/main" noGrp="1"/>
          </p:cNvSpPr>
          <p:nvPr/>
        </p:nvSpPr>
        <p:spPr>
          <a:xfrm xmlns:a="http://schemas.openxmlformats.org/drawingml/2006/main">
            <a:off x="1981200" y="4800600"/>
            <a:ext cx="533400" cy="53340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19" name="">
            <a:extLst xmlns:a="http://schemas.openxmlformats.org/drawingml/2006/main">
              <a:ext uri="{FF2B5EF4-FFF2-40B4-BE49-F238E27FC236}">
                <a16:creationId xmlns:a16="http://schemas.microsoft.com/office/drawing/2014/main" id="{EE9F58BA-CB52-4AEE-9A57-D6B5F6404B99}"/>
              </a:ext>
            </a:extLst>
          </p:cNvPr>
          <p:cNvSpPr>
            <a:spLocks xmlns:a="http://schemas.openxmlformats.org/drawingml/2006/main" noGrp="1"/>
          </p:cNvSpPr>
          <p:nvPr/>
        </p:nvSpPr>
        <p:spPr>
          <a:xfrm xmlns:a="http://schemas.openxmlformats.org/drawingml/2006/main">
            <a:off x="1981200" y="493395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3</a:t>
            </a:r>
          </a:p>
        </p:txBody>
      </p:sp>
      <p:sp>
        <p:nvSpPr>
          <p:cNvPr id="20" name="">
            <a:extLst xmlns:a="http://schemas.openxmlformats.org/drawingml/2006/main">
              <a:ext uri="{FF2B5EF4-FFF2-40B4-BE49-F238E27FC236}">
                <a16:creationId xmlns:a16="http://schemas.microsoft.com/office/drawing/2014/main" id="{1616E1B2-17CD-4E8F-9FD6-8F698A40B719}"/>
              </a:ext>
            </a:extLst>
          </p:cNvPr>
          <p:cNvSpPr>
            <a:spLocks xmlns:a="http://schemas.openxmlformats.org/drawingml/2006/main" noGrp="1"/>
          </p:cNvSpPr>
          <p:nvPr/>
        </p:nvSpPr>
        <p:spPr>
          <a:xfrm xmlns:a="http://schemas.openxmlformats.org/drawingml/2006/main">
            <a:off x="2762250" y="470535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0B1220"/>
                </a:solidFill>
                <a:latin typeface="Aptos"/>
                <a:ea typeface="Aptos"/>
                <a:cs typeface="Aptos"/>
              </a:defRPr>
            </a:pPr>
            <a:r>
              <a:rPr sz="2175" b="1" i="0">
                <a:solidFill>
                  <a:srgbClr val="0B1220"/>
                </a:solidFill>
                <a:latin typeface="Aptos"/>
                <a:ea typeface="Aptos"/>
                <a:cs typeface="Aptos"/>
              </a:rPr>
              <a:t>Click-run notebooks</a:t>
            </a:r>
          </a:p>
        </p:txBody>
      </p:sp>
      <p:sp>
        <p:nvSpPr>
          <p:cNvPr id="21" name="">
            <a:extLst xmlns:a="http://schemas.openxmlformats.org/drawingml/2006/main">
              <a:ext uri="{FF2B5EF4-FFF2-40B4-BE49-F238E27FC236}">
                <a16:creationId xmlns:a16="http://schemas.microsoft.com/office/drawing/2014/main" id="{F107E146-BA66-4199-B6EF-3104D7AD3FA7}"/>
              </a:ext>
            </a:extLst>
          </p:cNvPr>
          <p:cNvSpPr>
            <a:spLocks xmlns:a="http://schemas.openxmlformats.org/drawingml/2006/main" noGrp="1"/>
          </p:cNvSpPr>
          <p:nvPr/>
        </p:nvSpPr>
        <p:spPr>
          <a:xfrm xmlns:a="http://schemas.openxmlformats.org/drawingml/2006/main">
            <a:off x="8048625" y="47244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725" b="1" i="0">
                <a:solidFill>
                  <a:srgbClr val="C8102E"/>
                </a:solidFill>
                <a:latin typeface="Aptos"/>
                <a:ea typeface="Aptos"/>
                <a:cs typeface="Aptos"/>
              </a:defRPr>
            </a:pPr>
            <a:r>
              <a:rPr sz="1725" b="1" i="0">
                <a:solidFill>
                  <a:srgbClr val="C8102E"/>
                </a:solidFill>
                <a:latin typeface="Aptos"/>
                <a:ea typeface="Aptos"/>
                <a:cs typeface="Aptos"/>
              </a:rPr>
              <a:t>REPEAT</a:t>
            </a:r>
          </a:p>
        </p:txBody>
      </p:sp>
      <p:sp>
        <p:nvSpPr>
          <p:cNvPr id="22" name="">
            <a:extLst xmlns:a="http://schemas.openxmlformats.org/drawingml/2006/main">
              <a:ext uri="{FF2B5EF4-FFF2-40B4-BE49-F238E27FC236}">
                <a16:creationId xmlns:a16="http://schemas.microsoft.com/office/drawing/2014/main" id="{509F4644-9414-472C-9092-8DAF0BDD09A2}"/>
              </a:ext>
            </a:extLst>
          </p:cNvPr>
          <p:cNvSpPr>
            <a:spLocks xmlns:a="http://schemas.openxmlformats.org/drawingml/2006/main" noGrp="1"/>
          </p:cNvSpPr>
          <p:nvPr/>
        </p:nvSpPr>
        <p:spPr>
          <a:xfrm xmlns:a="http://schemas.openxmlformats.org/drawingml/2006/main">
            <a:off x="2762250" y="5162550"/>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Local and Colab notebooks load the Petri net and bundles, run seeds and compare thesis KPIs.</a:t>
            </a:r>
          </a:p>
        </p:txBody>
      </p:sp>
    </p:spTree>
    <p:extLst>
      <p:ext uri="{BB962C8B-B14F-4D97-AF65-F5344CB8AC3E}">
        <p14:creationId xmlns:p14="http://schemas.microsoft.com/office/powerpoint/2010/main" val="140010463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AE367172-6B50-4CAD-A977-2AE3B79F8967}"/>
              </a:ext>
            </a:extLst>
          </p:cNvPr>
          <p:cNvSpPr>
            <a:spLocks xmlns:a="http://schemas.openxmlformats.org/drawingml/2006/main" noGrp="1"/>
          </p:cNvSpPr>
          <p:nvPr/>
        </p:nvSpPr>
        <p:spPr>
          <a:xfrm xmlns:a="http://schemas.openxmlformats.org/drawingml/2006/main">
            <a:off x="457200" y="228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C8102E"/>
                </a:solidFill>
                <a:latin typeface="Aptos"/>
                <a:ea typeface="Aptos"/>
                <a:cs typeface="Aptos"/>
              </a:defRPr>
            </a:pPr>
            <a:r>
              <a:rPr sz="1275" b="1" i="0">
                <a:solidFill>
                  <a:srgbClr val="C8102E"/>
                </a:solidFill>
                <a:latin typeface="Aptos"/>
                <a:ea typeface="Aptos"/>
                <a:cs typeface="Aptos"/>
              </a:rPr>
              <a:t>APPENDIX</a:t>
            </a:r>
          </a:p>
        </p:txBody>
      </p:sp>
      <p:sp>
        <p:nvSpPr>
          <p:cNvPr id="2" name="">
            <a:extLst xmlns:a="http://schemas.openxmlformats.org/drawingml/2006/main">
              <a:ext uri="{FF2B5EF4-FFF2-40B4-BE49-F238E27FC236}">
                <a16:creationId xmlns:a16="http://schemas.microsoft.com/office/drawing/2014/main" id="{728CB58C-79F6-4FC5-82B1-411AA5928AE0}"/>
              </a:ext>
            </a:extLst>
          </p:cNvPr>
          <p:cNvSpPr>
            <a:spLocks xmlns:a="http://schemas.openxmlformats.org/drawingml/2006/main" noGrp="1"/>
          </p:cNvSpPr>
          <p:nvPr/>
        </p:nvSpPr>
        <p:spPr>
          <a:xfrm xmlns:a="http://schemas.openxmlformats.org/drawingml/2006/main">
            <a:off x="457200" y="485775"/>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00" b="1" i="0">
                <a:solidFill>
                  <a:srgbClr val="0B1220"/>
                </a:solidFill>
                <a:latin typeface="Aptos"/>
                <a:ea typeface="Aptos"/>
                <a:cs typeface="Aptos"/>
              </a:defRPr>
            </a:pPr>
            <a:r>
              <a:rPr sz="3300" b="1" i="0">
                <a:solidFill>
                  <a:srgbClr val="0B1220"/>
                </a:solidFill>
                <a:latin typeface="Aptos"/>
                <a:ea typeface="Aptos"/>
                <a:cs typeface="Aptos"/>
              </a:rPr>
              <a:t>Threats to validity—and the path forward</a:t>
            </a:r>
          </a:p>
        </p:txBody>
      </p:sp>
      <p:sp>
        <p:nvSpPr>
          <p:cNvPr id="3" name="">
            <a:extLst xmlns:a="http://schemas.openxmlformats.org/drawingml/2006/main">
              <a:ext uri="{FF2B5EF4-FFF2-40B4-BE49-F238E27FC236}">
                <a16:creationId xmlns:a16="http://schemas.microsoft.com/office/drawing/2014/main" id="{912F4A15-025D-4B62-9736-115446269E93}"/>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4" name="">
            <a:extLst xmlns:a="http://schemas.openxmlformats.org/drawingml/2006/main">
              <a:ext uri="{FF2B5EF4-FFF2-40B4-BE49-F238E27FC236}">
                <a16:creationId xmlns:a16="http://schemas.microsoft.com/office/drawing/2014/main" id="{91390D92-D64E-4E30-A815-D65D2E1515FD}"/>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5" name="">
            <a:extLst xmlns:a="http://schemas.openxmlformats.org/drawingml/2006/main">
              <a:ext uri="{FF2B5EF4-FFF2-40B4-BE49-F238E27FC236}">
                <a16:creationId xmlns:a16="http://schemas.microsoft.com/office/drawing/2014/main" id="{46FF3FA5-24A2-4D2B-BE17-7AF20E4E6208}"/>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25</a:t>
            </a:r>
          </a:p>
        </p:txBody>
      </p:sp>
      <p:sp>
        <p:nvSpPr>
          <p:cNvPr id="6" name="">
            <a:extLst xmlns:a="http://schemas.openxmlformats.org/drawingml/2006/main">
              <a:ext uri="{FF2B5EF4-FFF2-40B4-BE49-F238E27FC236}">
                <a16:creationId xmlns:a16="http://schemas.microsoft.com/office/drawing/2014/main" id="{CF2FC9C3-9445-4CD6-9000-02409E72F646}"/>
              </a:ext>
            </a:extLst>
          </p:cNvPr>
          <p:cNvSpPr>
            <a:spLocks xmlns:a="http://schemas.openxmlformats.org/drawingml/2006/main" noGrp="1"/>
          </p:cNvSpPr>
          <p:nvPr/>
        </p:nvSpPr>
        <p:spPr>
          <a:xfrm xmlns:a="http://schemas.openxmlformats.org/drawingml/2006/main">
            <a:off x="762000" y="122872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C8102E"/>
                </a:solidFill>
                <a:latin typeface="Aptos"/>
                <a:ea typeface="Aptos"/>
                <a:cs typeface="Aptos"/>
              </a:defRPr>
            </a:pPr>
            <a:r>
              <a:rPr sz="2175" b="1" i="0">
                <a:solidFill>
                  <a:srgbClr val="C8102E"/>
                </a:solidFill>
                <a:latin typeface="Aptos"/>
                <a:ea typeface="Aptos"/>
                <a:cs typeface="Aptos"/>
              </a:rPr>
              <a:t>Current boundary</a:t>
            </a:r>
          </a:p>
        </p:txBody>
      </p:sp>
      <p:sp>
        <p:nvSpPr>
          <p:cNvPr id="7" name="">
            <a:extLst xmlns:a="http://schemas.openxmlformats.org/drawingml/2006/main">
              <a:ext uri="{FF2B5EF4-FFF2-40B4-BE49-F238E27FC236}">
                <a16:creationId xmlns:a16="http://schemas.microsoft.com/office/drawing/2014/main" id="{5C79FB59-70AD-498A-AC9C-E1A4F47F8EB3}"/>
              </a:ext>
            </a:extLst>
          </p:cNvPr>
          <p:cNvSpPr>
            <a:spLocks xmlns:a="http://schemas.openxmlformats.org/drawingml/2006/main" noGrp="1"/>
          </p:cNvSpPr>
          <p:nvPr/>
        </p:nvSpPr>
        <p:spPr>
          <a:xfrm xmlns:a="http://schemas.openxmlformats.org/drawingml/2006/main">
            <a:off x="6858000" y="122872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16876A"/>
                </a:solidFill>
                <a:latin typeface="Aptos"/>
                <a:ea typeface="Aptos"/>
                <a:cs typeface="Aptos"/>
              </a:defRPr>
            </a:pPr>
            <a:r>
              <a:rPr sz="2175" b="1" i="0">
                <a:solidFill>
                  <a:srgbClr val="16876A"/>
                </a:solidFill>
                <a:latin typeface="Aptos"/>
                <a:ea typeface="Aptos"/>
                <a:cs typeface="Aptos"/>
              </a:rPr>
              <a:t>Required extension</a:t>
            </a:r>
          </a:p>
        </p:txBody>
      </p:sp>
      <p:sp>
        <p:nvSpPr>
          <p:cNvPr id="8" name="">
            <a:extLst xmlns:a="http://schemas.openxmlformats.org/drawingml/2006/main">
              <a:ext uri="{FF2B5EF4-FFF2-40B4-BE49-F238E27FC236}">
                <a16:creationId xmlns:a16="http://schemas.microsoft.com/office/drawing/2014/main" id="{22B13689-4A0D-4225-A702-486375026C97}"/>
              </a:ext>
            </a:extLst>
          </p:cNvPr>
          <p:cNvSpPr>
            <a:spLocks xmlns:a="http://schemas.openxmlformats.org/drawingml/2006/main" noGrp="1"/>
          </p:cNvSpPr>
          <p:nvPr/>
        </p:nvSpPr>
        <p:spPr>
          <a:xfrm xmlns:a="http://schemas.openxmlformats.org/drawingml/2006/main">
            <a:off x="619125" y="1809750"/>
            <a:ext cx="5191125" cy="781050"/>
          </a:xfrm>
          <a:prstGeom xmlns:a="http://schemas.openxmlformats.org/drawingml/2006/main" prst="roundRect">
            <a:avLst>
              <a:gd name="adj" fmla="val 14634"/>
            </a:avLst>
          </a:prstGeom>
          <a:solidFill xmlns:a="http://schemas.openxmlformats.org/drawingml/2006/main">
            <a:srgbClr val="F8FAFC"/>
          </a:solidFill>
          <a:ln xmlns:a="http://schemas.openxmlformats.org/drawingml/2006/main" w="9525">
            <a:solidFill>
              <a:srgbClr val="D0D5DD"/>
            </a:solidFill>
            <a:prstDash val="solid"/>
          </a:ln>
        </p:spPr>
      </p:sp>
      <p:sp>
        <p:nvSpPr>
          <p:cNvPr id="9" name="">
            <a:extLst xmlns:a="http://schemas.openxmlformats.org/drawingml/2006/main">
              <a:ext uri="{FF2B5EF4-FFF2-40B4-BE49-F238E27FC236}">
                <a16:creationId xmlns:a16="http://schemas.microsoft.com/office/drawing/2014/main" id="{37377902-19FB-412B-B4F0-76973E33B2D7}"/>
              </a:ext>
            </a:extLst>
          </p:cNvPr>
          <p:cNvSpPr>
            <a:spLocks xmlns:a="http://schemas.openxmlformats.org/drawingml/2006/main" noGrp="1"/>
          </p:cNvSpPr>
          <p:nvPr/>
        </p:nvSpPr>
        <p:spPr>
          <a:xfrm xmlns:a="http://schemas.openxmlformats.org/drawingml/2006/main">
            <a:off x="847725" y="2038350"/>
            <a:ext cx="400050" cy="40005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10" name="">
            <a:extLst xmlns:a="http://schemas.openxmlformats.org/drawingml/2006/main">
              <a:ext uri="{FF2B5EF4-FFF2-40B4-BE49-F238E27FC236}">
                <a16:creationId xmlns:a16="http://schemas.microsoft.com/office/drawing/2014/main" id="{FFB31C05-EB8C-4E7A-A436-0285C430F9C9}"/>
              </a:ext>
            </a:extLst>
          </p:cNvPr>
          <p:cNvSpPr>
            <a:spLocks xmlns:a="http://schemas.openxmlformats.org/drawingml/2006/main" noGrp="1"/>
          </p:cNvSpPr>
          <p:nvPr/>
        </p:nvSpPr>
        <p:spPr>
          <a:xfrm xmlns:a="http://schemas.openxmlformats.org/drawingml/2006/main">
            <a:off x="847725" y="20859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CC63A35C-F4C2-40BC-8EFA-2CDCEE8EBE12}"/>
              </a:ext>
            </a:extLst>
          </p:cNvPr>
          <p:cNvSpPr>
            <a:spLocks xmlns:a="http://schemas.openxmlformats.org/drawingml/2006/main" noGrp="1"/>
          </p:cNvSpPr>
          <p:nvPr/>
        </p:nvSpPr>
        <p:spPr>
          <a:xfrm xmlns:a="http://schemas.openxmlformats.org/drawingml/2006/main">
            <a:off x="1419225" y="1905000"/>
            <a:ext cx="4162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i="0">
                <a:solidFill>
                  <a:srgbClr val="0B1220"/>
                </a:solidFill>
                <a:latin typeface="Aptos"/>
                <a:ea typeface="Aptos"/>
                <a:cs typeface="Aptos"/>
              </a:defRPr>
            </a:pPr>
            <a:r>
              <a:rPr sz="1575" b="1" i="0">
                <a:solidFill>
                  <a:srgbClr val="0B1220"/>
                </a:solidFill>
                <a:latin typeface="Aptos"/>
                <a:ea typeface="Aptos"/>
                <a:cs typeface="Aptos"/>
              </a:rPr>
              <a:t>One terminal and one two-month period</a:t>
            </a:r>
          </a:p>
        </p:txBody>
      </p:sp>
      <p:sp>
        <p:nvSpPr>
          <p:cNvPr id="12" name="">
            <a:extLst xmlns:a="http://schemas.openxmlformats.org/drawingml/2006/main">
              <a:ext uri="{FF2B5EF4-FFF2-40B4-BE49-F238E27FC236}">
                <a16:creationId xmlns:a16="http://schemas.microsoft.com/office/drawing/2014/main" id="{69625B52-1C19-4243-AAFB-62E171D7151C}"/>
              </a:ext>
            </a:extLst>
          </p:cNvPr>
          <p:cNvSpPr>
            <a:spLocks xmlns:a="http://schemas.openxmlformats.org/drawingml/2006/main" noGrp="1"/>
          </p:cNvSpPr>
          <p:nvPr/>
        </p:nvSpPr>
        <p:spPr>
          <a:xfrm xmlns:a="http://schemas.openxmlformats.org/drawingml/2006/main">
            <a:off x="619125" y="2790825"/>
            <a:ext cx="5191125" cy="781050"/>
          </a:xfrm>
          <a:prstGeom xmlns:a="http://schemas.openxmlformats.org/drawingml/2006/main" prst="roundRect">
            <a:avLst>
              <a:gd name="adj" fmla="val 14634"/>
            </a:avLst>
          </a:prstGeom>
          <a:solidFill xmlns:a="http://schemas.openxmlformats.org/drawingml/2006/main">
            <a:srgbClr val="F8FAFC"/>
          </a:solidFill>
          <a:ln xmlns:a="http://schemas.openxmlformats.org/drawingml/2006/main" w="9525">
            <a:solidFill>
              <a:srgbClr val="D0D5DD"/>
            </a:solidFill>
            <a:prstDash val="solid"/>
          </a:ln>
        </p:spPr>
      </p:sp>
      <p:sp>
        <p:nvSpPr>
          <p:cNvPr id="13" name="">
            <a:extLst xmlns:a="http://schemas.openxmlformats.org/drawingml/2006/main">
              <a:ext uri="{FF2B5EF4-FFF2-40B4-BE49-F238E27FC236}">
                <a16:creationId xmlns:a16="http://schemas.microsoft.com/office/drawing/2014/main" id="{2A3EB3ED-7009-4A25-95EF-CED53D822189}"/>
              </a:ext>
            </a:extLst>
          </p:cNvPr>
          <p:cNvSpPr>
            <a:spLocks xmlns:a="http://schemas.openxmlformats.org/drawingml/2006/main" noGrp="1"/>
          </p:cNvSpPr>
          <p:nvPr/>
        </p:nvSpPr>
        <p:spPr>
          <a:xfrm xmlns:a="http://schemas.openxmlformats.org/drawingml/2006/main">
            <a:off x="847725" y="3019425"/>
            <a:ext cx="400050" cy="40005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14" name="">
            <a:extLst xmlns:a="http://schemas.openxmlformats.org/drawingml/2006/main">
              <a:ext uri="{FF2B5EF4-FFF2-40B4-BE49-F238E27FC236}">
                <a16:creationId xmlns:a16="http://schemas.microsoft.com/office/drawing/2014/main" id="{17C213C8-33DE-418B-981B-538657357B8C}"/>
              </a:ext>
            </a:extLst>
          </p:cNvPr>
          <p:cNvSpPr>
            <a:spLocks xmlns:a="http://schemas.openxmlformats.org/drawingml/2006/main" noGrp="1"/>
          </p:cNvSpPr>
          <p:nvPr/>
        </p:nvSpPr>
        <p:spPr>
          <a:xfrm xmlns:a="http://schemas.openxmlformats.org/drawingml/2006/main">
            <a:off x="847725" y="30670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2</a:t>
            </a:r>
          </a:p>
        </p:txBody>
      </p:sp>
      <p:sp>
        <p:nvSpPr>
          <p:cNvPr id="15" name="">
            <a:extLst xmlns:a="http://schemas.openxmlformats.org/drawingml/2006/main">
              <a:ext uri="{FF2B5EF4-FFF2-40B4-BE49-F238E27FC236}">
                <a16:creationId xmlns:a16="http://schemas.microsoft.com/office/drawing/2014/main" id="{B9CCE928-02FC-42C3-BB2C-AA39EDA1FB4A}"/>
              </a:ext>
            </a:extLst>
          </p:cNvPr>
          <p:cNvSpPr>
            <a:spLocks xmlns:a="http://schemas.openxmlformats.org/drawingml/2006/main" noGrp="1"/>
          </p:cNvSpPr>
          <p:nvPr/>
        </p:nvSpPr>
        <p:spPr>
          <a:xfrm xmlns:a="http://schemas.openxmlformats.org/drawingml/2006/main">
            <a:off x="1419225" y="2886075"/>
            <a:ext cx="4162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i="0">
                <a:solidFill>
                  <a:srgbClr val="0B1220"/>
                </a:solidFill>
                <a:latin typeface="Aptos"/>
                <a:ea typeface="Aptos"/>
                <a:cs typeface="Aptos"/>
              </a:defRPr>
            </a:pPr>
            <a:r>
              <a:rPr sz="1575" b="1" i="0">
                <a:solidFill>
                  <a:srgbClr val="0B1220"/>
                </a:solidFill>
                <a:latin typeface="Aptos"/>
                <a:ea typeface="Aptos"/>
                <a:cs typeface="Aptos"/>
              </a:rPr>
              <a:t>No observed queue, readiness or movement timestamps</a:t>
            </a:r>
          </a:p>
        </p:txBody>
      </p:sp>
      <p:sp>
        <p:nvSpPr>
          <p:cNvPr id="16" name="">
            <a:extLst xmlns:a="http://schemas.openxmlformats.org/drawingml/2006/main">
              <a:ext uri="{FF2B5EF4-FFF2-40B4-BE49-F238E27FC236}">
                <a16:creationId xmlns:a16="http://schemas.microsoft.com/office/drawing/2014/main" id="{0FF03332-1A21-423B-968D-957038F594E1}"/>
              </a:ext>
            </a:extLst>
          </p:cNvPr>
          <p:cNvSpPr>
            <a:spLocks xmlns:a="http://schemas.openxmlformats.org/drawingml/2006/main" noGrp="1"/>
          </p:cNvSpPr>
          <p:nvPr/>
        </p:nvSpPr>
        <p:spPr>
          <a:xfrm xmlns:a="http://schemas.openxmlformats.org/drawingml/2006/main">
            <a:off x="619125" y="3771900"/>
            <a:ext cx="5191125" cy="781050"/>
          </a:xfrm>
          <a:prstGeom xmlns:a="http://schemas.openxmlformats.org/drawingml/2006/main" prst="roundRect">
            <a:avLst>
              <a:gd name="adj" fmla="val 14634"/>
            </a:avLst>
          </a:prstGeom>
          <a:solidFill xmlns:a="http://schemas.openxmlformats.org/drawingml/2006/main">
            <a:srgbClr val="F8FAFC"/>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D98BE584-66A4-4A90-8C15-6BC76EFC4011}"/>
              </a:ext>
            </a:extLst>
          </p:cNvPr>
          <p:cNvSpPr>
            <a:spLocks xmlns:a="http://schemas.openxmlformats.org/drawingml/2006/main" noGrp="1"/>
          </p:cNvSpPr>
          <p:nvPr/>
        </p:nvSpPr>
        <p:spPr>
          <a:xfrm xmlns:a="http://schemas.openxmlformats.org/drawingml/2006/main">
            <a:off x="847725" y="4000500"/>
            <a:ext cx="400050" cy="40005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18" name="">
            <a:extLst xmlns:a="http://schemas.openxmlformats.org/drawingml/2006/main">
              <a:ext uri="{FF2B5EF4-FFF2-40B4-BE49-F238E27FC236}">
                <a16:creationId xmlns:a16="http://schemas.microsoft.com/office/drawing/2014/main" id="{D84D72D5-6EFA-45D5-B4E7-022D95CBB33F}"/>
              </a:ext>
            </a:extLst>
          </p:cNvPr>
          <p:cNvSpPr>
            <a:spLocks xmlns:a="http://schemas.openxmlformats.org/drawingml/2006/main" noGrp="1"/>
          </p:cNvSpPr>
          <p:nvPr/>
        </p:nvSpPr>
        <p:spPr>
          <a:xfrm xmlns:a="http://schemas.openxmlformats.org/drawingml/2006/main">
            <a:off x="847725" y="40481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3</a:t>
            </a:r>
          </a:p>
        </p:txBody>
      </p:sp>
      <p:sp>
        <p:nvSpPr>
          <p:cNvPr id="19" name="">
            <a:extLst xmlns:a="http://schemas.openxmlformats.org/drawingml/2006/main">
              <a:ext uri="{FF2B5EF4-FFF2-40B4-BE49-F238E27FC236}">
                <a16:creationId xmlns:a16="http://schemas.microsoft.com/office/drawing/2014/main" id="{8D11C5AE-529D-4D0D-88B2-36FCB361BC45}"/>
              </a:ext>
            </a:extLst>
          </p:cNvPr>
          <p:cNvSpPr>
            <a:spLocks xmlns:a="http://schemas.openxmlformats.org/drawingml/2006/main" noGrp="1"/>
          </p:cNvSpPr>
          <p:nvPr/>
        </p:nvSpPr>
        <p:spPr>
          <a:xfrm xmlns:a="http://schemas.openxmlformats.org/drawingml/2006/main">
            <a:off x="1419225" y="3867150"/>
            <a:ext cx="4162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i="0">
                <a:solidFill>
                  <a:srgbClr val="0B1220"/>
                </a:solidFill>
                <a:latin typeface="Aptos"/>
                <a:ea typeface="Aptos"/>
                <a:cs typeface="Aptos"/>
              </a:defRPr>
            </a:pPr>
            <a:r>
              <a:rPr sz="1575" b="1" i="0">
                <a:solidFill>
                  <a:srgbClr val="0B1220"/>
                </a:solidFill>
                <a:latin typeface="Aptos"/>
                <a:ea typeface="Aptos"/>
                <a:cs typeface="Aptos"/>
              </a:rPr>
              <a:t>One-RMG case scope excludes multi-block visits</a:t>
            </a:r>
          </a:p>
        </p:txBody>
      </p:sp>
      <p:sp>
        <p:nvSpPr>
          <p:cNvPr id="20" name="">
            <a:extLst xmlns:a="http://schemas.openxmlformats.org/drawingml/2006/main">
              <a:ext uri="{FF2B5EF4-FFF2-40B4-BE49-F238E27FC236}">
                <a16:creationId xmlns:a16="http://schemas.microsoft.com/office/drawing/2014/main" id="{9AA403AE-B992-4E61-BD35-86C8D2B8545F}"/>
              </a:ext>
            </a:extLst>
          </p:cNvPr>
          <p:cNvSpPr>
            <a:spLocks xmlns:a="http://schemas.openxmlformats.org/drawingml/2006/main" noGrp="1"/>
          </p:cNvSpPr>
          <p:nvPr/>
        </p:nvSpPr>
        <p:spPr>
          <a:xfrm xmlns:a="http://schemas.openxmlformats.org/drawingml/2006/main">
            <a:off x="619125" y="4752975"/>
            <a:ext cx="5191125" cy="781050"/>
          </a:xfrm>
          <a:prstGeom xmlns:a="http://schemas.openxmlformats.org/drawingml/2006/main" prst="roundRect">
            <a:avLst>
              <a:gd name="adj" fmla="val 14634"/>
            </a:avLst>
          </a:prstGeom>
          <a:solidFill xmlns:a="http://schemas.openxmlformats.org/drawingml/2006/main">
            <a:srgbClr val="F8FAFC"/>
          </a:solidFill>
          <a:ln xmlns:a="http://schemas.openxmlformats.org/drawingml/2006/main" w="9525">
            <a:solidFill>
              <a:srgbClr val="D0D5DD"/>
            </a:solidFill>
            <a:prstDash val="solid"/>
          </a:ln>
        </p:spPr>
      </p:sp>
      <p:sp>
        <p:nvSpPr>
          <p:cNvPr id="21" name="">
            <a:extLst xmlns:a="http://schemas.openxmlformats.org/drawingml/2006/main">
              <a:ext uri="{FF2B5EF4-FFF2-40B4-BE49-F238E27FC236}">
                <a16:creationId xmlns:a16="http://schemas.microsoft.com/office/drawing/2014/main" id="{6616ECEB-2DAC-4498-B1AD-7ACB0E02101E}"/>
              </a:ext>
            </a:extLst>
          </p:cNvPr>
          <p:cNvSpPr>
            <a:spLocks xmlns:a="http://schemas.openxmlformats.org/drawingml/2006/main" noGrp="1"/>
          </p:cNvSpPr>
          <p:nvPr/>
        </p:nvSpPr>
        <p:spPr>
          <a:xfrm xmlns:a="http://schemas.openxmlformats.org/drawingml/2006/main">
            <a:off x="847725" y="4981575"/>
            <a:ext cx="400050" cy="400050"/>
          </a:xfrm>
          <a:prstGeom xmlns:a="http://schemas.openxmlformats.org/drawingml/2006/main" prst="ellipse">
            <a:avLst/>
          </a:prstGeom>
          <a:solidFill xmlns:a="http://schemas.openxmlformats.org/drawingml/2006/main">
            <a:srgbClr val="C8102E"/>
          </a:solidFill>
          <a:ln xmlns:a="http://schemas.openxmlformats.org/drawingml/2006/main" w="9525">
            <a:solidFill>
              <a:srgbClr val="C8102E"/>
            </a:solidFill>
            <a:prstDash val="solid"/>
          </a:ln>
        </p:spPr>
      </p:sp>
      <p:sp>
        <p:nvSpPr>
          <p:cNvPr id="22" name="">
            <a:extLst xmlns:a="http://schemas.openxmlformats.org/drawingml/2006/main">
              <a:ext uri="{FF2B5EF4-FFF2-40B4-BE49-F238E27FC236}">
                <a16:creationId xmlns:a16="http://schemas.microsoft.com/office/drawing/2014/main" id="{102BF55F-81FC-492E-A949-8073F20ED507}"/>
              </a:ext>
            </a:extLst>
          </p:cNvPr>
          <p:cNvSpPr>
            <a:spLocks xmlns:a="http://schemas.openxmlformats.org/drawingml/2006/main" noGrp="1"/>
          </p:cNvSpPr>
          <p:nvPr/>
        </p:nvSpPr>
        <p:spPr>
          <a:xfrm xmlns:a="http://schemas.openxmlformats.org/drawingml/2006/main">
            <a:off x="847725" y="5029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4</a:t>
            </a:r>
          </a:p>
        </p:txBody>
      </p:sp>
      <p:sp>
        <p:nvSpPr>
          <p:cNvPr id="23" name="">
            <a:extLst xmlns:a="http://schemas.openxmlformats.org/drawingml/2006/main">
              <a:ext uri="{FF2B5EF4-FFF2-40B4-BE49-F238E27FC236}">
                <a16:creationId xmlns:a16="http://schemas.microsoft.com/office/drawing/2014/main" id="{82AA7DF9-C753-4595-96A7-7CDE55E8402D}"/>
              </a:ext>
            </a:extLst>
          </p:cNvPr>
          <p:cNvSpPr>
            <a:spLocks xmlns:a="http://schemas.openxmlformats.org/drawingml/2006/main" noGrp="1"/>
          </p:cNvSpPr>
          <p:nvPr/>
        </p:nvSpPr>
        <p:spPr>
          <a:xfrm xmlns:a="http://schemas.openxmlformats.org/drawingml/2006/main">
            <a:off x="1419225" y="4848225"/>
            <a:ext cx="4162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i="0">
                <a:solidFill>
                  <a:srgbClr val="0B1220"/>
                </a:solidFill>
                <a:latin typeface="Aptos"/>
                <a:ea typeface="Aptos"/>
                <a:cs typeface="Aptos"/>
              </a:defRPr>
            </a:pPr>
            <a:r>
              <a:rPr sz="1575" b="1" i="0">
                <a:solidFill>
                  <a:srgbClr val="0B1220"/>
                </a:solidFill>
                <a:latin typeface="Aptos"/>
                <a:ea typeface="Aptos"/>
                <a:cs typeface="Aptos"/>
              </a:rPr>
              <a:t>Mechanism audit and stress response are exploratory</a:t>
            </a:r>
          </a:p>
        </p:txBody>
      </p:sp>
      <p:sp>
        <p:nvSpPr>
          <p:cNvPr id="24" name="">
            <a:extLst xmlns:a="http://schemas.openxmlformats.org/drawingml/2006/main">
              <a:ext uri="{FF2B5EF4-FFF2-40B4-BE49-F238E27FC236}">
                <a16:creationId xmlns:a16="http://schemas.microsoft.com/office/drawing/2014/main" id="{F383E98B-65E6-4427-87F5-E94F37C1E9D8}"/>
              </a:ext>
            </a:extLst>
          </p:cNvPr>
          <p:cNvSpPr>
            <a:spLocks xmlns:a="http://schemas.openxmlformats.org/drawingml/2006/main" noGrp="1"/>
          </p:cNvSpPr>
          <p:nvPr/>
        </p:nvSpPr>
        <p:spPr>
          <a:xfrm xmlns:a="http://schemas.openxmlformats.org/drawingml/2006/main">
            <a:off x="6381750" y="1809750"/>
            <a:ext cx="5191125" cy="781050"/>
          </a:xfrm>
          <a:prstGeom xmlns:a="http://schemas.openxmlformats.org/drawingml/2006/main" prst="roundRect">
            <a:avLst>
              <a:gd name="adj" fmla="val 14634"/>
            </a:avLst>
          </a:prstGeom>
          <a:solidFill xmlns:a="http://schemas.openxmlformats.org/drawingml/2006/main">
            <a:srgbClr val="F8FAFC"/>
          </a:solidFill>
          <a:ln xmlns:a="http://schemas.openxmlformats.org/drawingml/2006/main" w="9525">
            <a:solidFill>
              <a:srgbClr val="D0D5DD"/>
            </a:solidFill>
            <a:prstDash val="solid"/>
          </a:ln>
        </p:spPr>
      </p:sp>
      <p:sp>
        <p:nvSpPr>
          <p:cNvPr id="25" name="">
            <a:extLst xmlns:a="http://schemas.openxmlformats.org/drawingml/2006/main">
              <a:ext uri="{FF2B5EF4-FFF2-40B4-BE49-F238E27FC236}">
                <a16:creationId xmlns:a16="http://schemas.microsoft.com/office/drawing/2014/main" id="{3791C7E1-BD0C-416D-9215-9EA1F600478C}"/>
              </a:ext>
            </a:extLst>
          </p:cNvPr>
          <p:cNvSpPr>
            <a:spLocks xmlns:a="http://schemas.openxmlformats.org/drawingml/2006/main" noGrp="1"/>
          </p:cNvSpPr>
          <p:nvPr/>
        </p:nvSpPr>
        <p:spPr>
          <a:xfrm xmlns:a="http://schemas.openxmlformats.org/drawingml/2006/main">
            <a:off x="6610350" y="2038350"/>
            <a:ext cx="400050" cy="400050"/>
          </a:xfrm>
          <a:prstGeom xmlns:a="http://schemas.openxmlformats.org/drawingml/2006/main" prst="ellipse">
            <a:avLst/>
          </a:prstGeom>
          <a:solidFill xmlns:a="http://schemas.openxmlformats.org/drawingml/2006/main">
            <a:srgbClr val="16876A"/>
          </a:solidFill>
          <a:ln xmlns:a="http://schemas.openxmlformats.org/drawingml/2006/main" w="9525">
            <a:solidFill>
              <a:srgbClr val="16876A"/>
            </a:solidFill>
            <a:prstDash val="solid"/>
          </a:ln>
        </p:spPr>
      </p:sp>
      <p:sp>
        <p:nvSpPr>
          <p:cNvPr id="26" name="">
            <a:extLst xmlns:a="http://schemas.openxmlformats.org/drawingml/2006/main">
              <a:ext uri="{FF2B5EF4-FFF2-40B4-BE49-F238E27FC236}">
                <a16:creationId xmlns:a16="http://schemas.microsoft.com/office/drawing/2014/main" id="{746F3DF4-C67A-4DB9-A843-09C446A120EA}"/>
              </a:ext>
            </a:extLst>
          </p:cNvPr>
          <p:cNvSpPr>
            <a:spLocks xmlns:a="http://schemas.openxmlformats.org/drawingml/2006/main" noGrp="1"/>
          </p:cNvSpPr>
          <p:nvPr/>
        </p:nvSpPr>
        <p:spPr>
          <a:xfrm xmlns:a="http://schemas.openxmlformats.org/drawingml/2006/main">
            <a:off x="6610350" y="20859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1</a:t>
            </a:r>
          </a:p>
        </p:txBody>
      </p:sp>
      <p:sp>
        <p:nvSpPr>
          <p:cNvPr id="27" name="">
            <a:extLst xmlns:a="http://schemas.openxmlformats.org/drawingml/2006/main">
              <a:ext uri="{FF2B5EF4-FFF2-40B4-BE49-F238E27FC236}">
                <a16:creationId xmlns:a16="http://schemas.microsoft.com/office/drawing/2014/main" id="{D6A6E324-A010-4BE2-88B2-07D94973DBCC}"/>
              </a:ext>
            </a:extLst>
          </p:cNvPr>
          <p:cNvSpPr>
            <a:spLocks xmlns:a="http://schemas.openxmlformats.org/drawingml/2006/main" noGrp="1"/>
          </p:cNvSpPr>
          <p:nvPr/>
        </p:nvSpPr>
        <p:spPr>
          <a:xfrm xmlns:a="http://schemas.openxmlformats.org/drawingml/2006/main">
            <a:off x="7181850" y="1905000"/>
            <a:ext cx="4162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i="0">
                <a:solidFill>
                  <a:srgbClr val="0B1220"/>
                </a:solidFill>
                <a:latin typeface="Aptos"/>
                <a:ea typeface="Aptos"/>
                <a:cs typeface="Aptos"/>
              </a:defRPr>
            </a:pPr>
            <a:r>
              <a:rPr sz="1575" b="1" i="0">
                <a:solidFill>
                  <a:srgbClr val="0B1220"/>
                </a:solidFill>
                <a:latin typeface="Aptos"/>
                <a:ea typeface="Aptos"/>
                <a:cs typeface="Aptos"/>
              </a:rPr>
              <a:t>Repeat discovery across seasons and terminals</a:t>
            </a:r>
          </a:p>
        </p:txBody>
      </p:sp>
      <p:sp>
        <p:nvSpPr>
          <p:cNvPr id="28" name="">
            <a:extLst xmlns:a="http://schemas.openxmlformats.org/drawingml/2006/main">
              <a:ext uri="{FF2B5EF4-FFF2-40B4-BE49-F238E27FC236}">
                <a16:creationId xmlns:a16="http://schemas.microsoft.com/office/drawing/2014/main" id="{8237586E-F3B2-4413-9557-D626316D257D}"/>
              </a:ext>
            </a:extLst>
          </p:cNvPr>
          <p:cNvSpPr>
            <a:spLocks xmlns:a="http://schemas.openxmlformats.org/drawingml/2006/main" noGrp="1"/>
          </p:cNvSpPr>
          <p:nvPr/>
        </p:nvSpPr>
        <p:spPr>
          <a:xfrm xmlns:a="http://schemas.openxmlformats.org/drawingml/2006/main">
            <a:off x="6381750" y="2790825"/>
            <a:ext cx="5191125" cy="781050"/>
          </a:xfrm>
          <a:prstGeom xmlns:a="http://schemas.openxmlformats.org/drawingml/2006/main" prst="roundRect">
            <a:avLst>
              <a:gd name="adj" fmla="val 14634"/>
            </a:avLst>
          </a:prstGeom>
          <a:solidFill xmlns:a="http://schemas.openxmlformats.org/drawingml/2006/main">
            <a:srgbClr val="F8FAFC"/>
          </a:solidFill>
          <a:ln xmlns:a="http://schemas.openxmlformats.org/drawingml/2006/main" w="9525">
            <a:solidFill>
              <a:srgbClr val="D0D5DD"/>
            </a:solidFill>
            <a:prstDash val="solid"/>
          </a:ln>
        </p:spPr>
      </p:sp>
      <p:sp>
        <p:nvSpPr>
          <p:cNvPr id="29" name="">
            <a:extLst xmlns:a="http://schemas.openxmlformats.org/drawingml/2006/main">
              <a:ext uri="{FF2B5EF4-FFF2-40B4-BE49-F238E27FC236}">
                <a16:creationId xmlns:a16="http://schemas.microsoft.com/office/drawing/2014/main" id="{037A7805-D602-45FB-95F7-0F30264F9681}"/>
              </a:ext>
            </a:extLst>
          </p:cNvPr>
          <p:cNvSpPr>
            <a:spLocks xmlns:a="http://schemas.openxmlformats.org/drawingml/2006/main" noGrp="1"/>
          </p:cNvSpPr>
          <p:nvPr/>
        </p:nvSpPr>
        <p:spPr>
          <a:xfrm xmlns:a="http://schemas.openxmlformats.org/drawingml/2006/main">
            <a:off x="6610350" y="3019425"/>
            <a:ext cx="400050" cy="400050"/>
          </a:xfrm>
          <a:prstGeom xmlns:a="http://schemas.openxmlformats.org/drawingml/2006/main" prst="ellipse">
            <a:avLst/>
          </a:prstGeom>
          <a:solidFill xmlns:a="http://schemas.openxmlformats.org/drawingml/2006/main">
            <a:srgbClr val="16876A"/>
          </a:solidFill>
          <a:ln xmlns:a="http://schemas.openxmlformats.org/drawingml/2006/main" w="9525">
            <a:solidFill>
              <a:srgbClr val="16876A"/>
            </a:solidFill>
            <a:prstDash val="solid"/>
          </a:ln>
        </p:spPr>
      </p:sp>
      <p:sp>
        <p:nvSpPr>
          <p:cNvPr id="30" name="">
            <a:extLst xmlns:a="http://schemas.openxmlformats.org/drawingml/2006/main">
              <a:ext uri="{FF2B5EF4-FFF2-40B4-BE49-F238E27FC236}">
                <a16:creationId xmlns:a16="http://schemas.microsoft.com/office/drawing/2014/main" id="{52D0C19C-262B-49B5-B96F-A6B9C2A1FEB6}"/>
              </a:ext>
            </a:extLst>
          </p:cNvPr>
          <p:cNvSpPr>
            <a:spLocks xmlns:a="http://schemas.openxmlformats.org/drawingml/2006/main" noGrp="1"/>
          </p:cNvSpPr>
          <p:nvPr/>
        </p:nvSpPr>
        <p:spPr>
          <a:xfrm xmlns:a="http://schemas.openxmlformats.org/drawingml/2006/main">
            <a:off x="6610350" y="30670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2</a:t>
            </a:r>
          </a:p>
        </p:txBody>
      </p:sp>
      <p:sp>
        <p:nvSpPr>
          <p:cNvPr id="31" name="">
            <a:extLst xmlns:a="http://schemas.openxmlformats.org/drawingml/2006/main">
              <a:ext uri="{FF2B5EF4-FFF2-40B4-BE49-F238E27FC236}">
                <a16:creationId xmlns:a16="http://schemas.microsoft.com/office/drawing/2014/main" id="{16C52286-D806-4F96-98C3-E230627C0F87}"/>
              </a:ext>
            </a:extLst>
          </p:cNvPr>
          <p:cNvSpPr>
            <a:spLocks xmlns:a="http://schemas.openxmlformats.org/drawingml/2006/main" noGrp="1"/>
          </p:cNvSpPr>
          <p:nvPr/>
        </p:nvSpPr>
        <p:spPr>
          <a:xfrm xmlns:a="http://schemas.openxmlformats.org/drawingml/2006/main">
            <a:off x="7181850" y="2886075"/>
            <a:ext cx="4162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i="0">
                <a:solidFill>
                  <a:srgbClr val="0B1220"/>
                </a:solidFill>
                <a:latin typeface="Aptos"/>
                <a:ea typeface="Aptos"/>
                <a:cs typeface="Aptos"/>
              </a:defRPr>
            </a:pPr>
            <a:r>
              <a:rPr sz="1575" b="1" i="0">
                <a:solidFill>
                  <a:srgbClr val="0B1220"/>
                </a:solidFill>
                <a:latin typeface="Aptos"/>
                <a:ea typeface="Aptos"/>
                <a:cs typeface="Aptos"/>
              </a:rPr>
              <a:t>Add trajectory, queue-entry and physical readiness events</a:t>
            </a:r>
          </a:p>
        </p:txBody>
      </p:sp>
      <p:sp>
        <p:nvSpPr>
          <p:cNvPr id="32" name="">
            <a:extLst xmlns:a="http://schemas.openxmlformats.org/drawingml/2006/main">
              <a:ext uri="{FF2B5EF4-FFF2-40B4-BE49-F238E27FC236}">
                <a16:creationId xmlns:a16="http://schemas.microsoft.com/office/drawing/2014/main" id="{D0B5807A-B947-4351-8939-4A6EF0DF8AEA}"/>
              </a:ext>
            </a:extLst>
          </p:cNvPr>
          <p:cNvSpPr>
            <a:spLocks xmlns:a="http://schemas.openxmlformats.org/drawingml/2006/main" noGrp="1"/>
          </p:cNvSpPr>
          <p:nvPr/>
        </p:nvSpPr>
        <p:spPr>
          <a:xfrm xmlns:a="http://schemas.openxmlformats.org/drawingml/2006/main">
            <a:off x="6381750" y="3771900"/>
            <a:ext cx="5191125" cy="781050"/>
          </a:xfrm>
          <a:prstGeom xmlns:a="http://schemas.openxmlformats.org/drawingml/2006/main" prst="roundRect">
            <a:avLst>
              <a:gd name="adj" fmla="val 14634"/>
            </a:avLst>
          </a:prstGeom>
          <a:solidFill xmlns:a="http://schemas.openxmlformats.org/drawingml/2006/main">
            <a:srgbClr val="F8FAFC"/>
          </a:solidFill>
          <a:ln xmlns:a="http://schemas.openxmlformats.org/drawingml/2006/main" w="9525">
            <a:solidFill>
              <a:srgbClr val="D0D5DD"/>
            </a:solidFill>
            <a:prstDash val="solid"/>
          </a:ln>
        </p:spPr>
      </p:sp>
      <p:sp>
        <p:nvSpPr>
          <p:cNvPr id="33" name="">
            <a:extLst xmlns:a="http://schemas.openxmlformats.org/drawingml/2006/main">
              <a:ext uri="{FF2B5EF4-FFF2-40B4-BE49-F238E27FC236}">
                <a16:creationId xmlns:a16="http://schemas.microsoft.com/office/drawing/2014/main" id="{60F66DCF-3F4C-4E91-AD00-01BB804905AC}"/>
              </a:ext>
            </a:extLst>
          </p:cNvPr>
          <p:cNvSpPr>
            <a:spLocks xmlns:a="http://schemas.openxmlformats.org/drawingml/2006/main" noGrp="1"/>
          </p:cNvSpPr>
          <p:nvPr/>
        </p:nvSpPr>
        <p:spPr>
          <a:xfrm xmlns:a="http://schemas.openxmlformats.org/drawingml/2006/main">
            <a:off x="6610350" y="4000500"/>
            <a:ext cx="400050" cy="400050"/>
          </a:xfrm>
          <a:prstGeom xmlns:a="http://schemas.openxmlformats.org/drawingml/2006/main" prst="ellipse">
            <a:avLst/>
          </a:prstGeom>
          <a:solidFill xmlns:a="http://schemas.openxmlformats.org/drawingml/2006/main">
            <a:srgbClr val="16876A"/>
          </a:solidFill>
          <a:ln xmlns:a="http://schemas.openxmlformats.org/drawingml/2006/main" w="9525">
            <a:solidFill>
              <a:srgbClr val="16876A"/>
            </a:solidFill>
            <a:prstDash val="solid"/>
          </a:ln>
        </p:spPr>
      </p:sp>
      <p:sp>
        <p:nvSpPr>
          <p:cNvPr id="34" name="">
            <a:extLst xmlns:a="http://schemas.openxmlformats.org/drawingml/2006/main">
              <a:ext uri="{FF2B5EF4-FFF2-40B4-BE49-F238E27FC236}">
                <a16:creationId xmlns:a16="http://schemas.microsoft.com/office/drawing/2014/main" id="{04E18D56-33A7-4598-B472-2C3A7ED05C7A}"/>
              </a:ext>
            </a:extLst>
          </p:cNvPr>
          <p:cNvSpPr>
            <a:spLocks xmlns:a="http://schemas.openxmlformats.org/drawingml/2006/main" noGrp="1"/>
          </p:cNvSpPr>
          <p:nvPr/>
        </p:nvSpPr>
        <p:spPr>
          <a:xfrm xmlns:a="http://schemas.openxmlformats.org/drawingml/2006/main">
            <a:off x="6610350" y="40481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3</a:t>
            </a:r>
          </a:p>
        </p:txBody>
      </p:sp>
      <p:sp>
        <p:nvSpPr>
          <p:cNvPr id="35" name="">
            <a:extLst xmlns:a="http://schemas.openxmlformats.org/drawingml/2006/main">
              <a:ext uri="{FF2B5EF4-FFF2-40B4-BE49-F238E27FC236}">
                <a16:creationId xmlns:a16="http://schemas.microsoft.com/office/drawing/2014/main" id="{0CC9CD09-4B4B-4F18-B212-32CD4C3C078D}"/>
              </a:ext>
            </a:extLst>
          </p:cNvPr>
          <p:cNvSpPr>
            <a:spLocks xmlns:a="http://schemas.openxmlformats.org/drawingml/2006/main" noGrp="1"/>
          </p:cNvSpPr>
          <p:nvPr/>
        </p:nvSpPr>
        <p:spPr>
          <a:xfrm xmlns:a="http://schemas.openxmlformats.org/drawingml/2006/main">
            <a:off x="7181850" y="3867150"/>
            <a:ext cx="4162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i="0">
                <a:solidFill>
                  <a:srgbClr val="0B1220"/>
                </a:solidFill>
                <a:latin typeface="Aptos"/>
                <a:ea typeface="Aptos"/>
                <a:cs typeface="Aptos"/>
              </a:defRPr>
            </a:pPr>
            <a:r>
              <a:rPr sz="1575" b="1" i="0">
                <a:solidFill>
                  <a:srgbClr val="0B1220"/>
                </a:solidFill>
                <a:latin typeface="Aptos"/>
                <a:ea typeface="Aptos"/>
                <a:cs typeface="Aptos"/>
              </a:rPr>
              <a:t>Use object-centric state and a hybrid physical simulator</a:t>
            </a:r>
          </a:p>
        </p:txBody>
      </p:sp>
      <p:sp>
        <p:nvSpPr>
          <p:cNvPr id="36" name="">
            <a:extLst xmlns:a="http://schemas.openxmlformats.org/drawingml/2006/main">
              <a:ext uri="{FF2B5EF4-FFF2-40B4-BE49-F238E27FC236}">
                <a16:creationId xmlns:a16="http://schemas.microsoft.com/office/drawing/2014/main" id="{4F40B248-2C9C-499B-BB6B-B8946068244D}"/>
              </a:ext>
            </a:extLst>
          </p:cNvPr>
          <p:cNvSpPr>
            <a:spLocks xmlns:a="http://schemas.openxmlformats.org/drawingml/2006/main" noGrp="1"/>
          </p:cNvSpPr>
          <p:nvPr/>
        </p:nvSpPr>
        <p:spPr>
          <a:xfrm xmlns:a="http://schemas.openxmlformats.org/drawingml/2006/main">
            <a:off x="6381750" y="4752975"/>
            <a:ext cx="5191125" cy="781050"/>
          </a:xfrm>
          <a:prstGeom xmlns:a="http://schemas.openxmlformats.org/drawingml/2006/main" prst="roundRect">
            <a:avLst>
              <a:gd name="adj" fmla="val 14634"/>
            </a:avLst>
          </a:prstGeom>
          <a:solidFill xmlns:a="http://schemas.openxmlformats.org/drawingml/2006/main">
            <a:srgbClr val="F8FAFC"/>
          </a:solidFill>
          <a:ln xmlns:a="http://schemas.openxmlformats.org/drawingml/2006/main" w="9525">
            <a:solidFill>
              <a:srgbClr val="D0D5DD"/>
            </a:solidFill>
            <a:prstDash val="solid"/>
          </a:ln>
        </p:spPr>
      </p:sp>
      <p:sp>
        <p:nvSpPr>
          <p:cNvPr id="37" name="">
            <a:extLst xmlns:a="http://schemas.openxmlformats.org/drawingml/2006/main">
              <a:ext uri="{FF2B5EF4-FFF2-40B4-BE49-F238E27FC236}">
                <a16:creationId xmlns:a16="http://schemas.microsoft.com/office/drawing/2014/main" id="{E38A69F2-605E-4940-BE36-E93EA9B921A4}"/>
              </a:ext>
            </a:extLst>
          </p:cNvPr>
          <p:cNvSpPr>
            <a:spLocks xmlns:a="http://schemas.openxmlformats.org/drawingml/2006/main" noGrp="1"/>
          </p:cNvSpPr>
          <p:nvPr/>
        </p:nvSpPr>
        <p:spPr>
          <a:xfrm xmlns:a="http://schemas.openxmlformats.org/drawingml/2006/main">
            <a:off x="6610350" y="4981575"/>
            <a:ext cx="400050" cy="400050"/>
          </a:xfrm>
          <a:prstGeom xmlns:a="http://schemas.openxmlformats.org/drawingml/2006/main" prst="ellipse">
            <a:avLst/>
          </a:prstGeom>
          <a:solidFill xmlns:a="http://schemas.openxmlformats.org/drawingml/2006/main">
            <a:srgbClr val="16876A"/>
          </a:solidFill>
          <a:ln xmlns:a="http://schemas.openxmlformats.org/drawingml/2006/main" w="9525">
            <a:solidFill>
              <a:srgbClr val="16876A"/>
            </a:solidFill>
            <a:prstDash val="solid"/>
          </a:ln>
        </p:spPr>
      </p:sp>
      <p:sp>
        <p:nvSpPr>
          <p:cNvPr id="38" name="">
            <a:extLst xmlns:a="http://schemas.openxmlformats.org/drawingml/2006/main">
              <a:ext uri="{FF2B5EF4-FFF2-40B4-BE49-F238E27FC236}">
                <a16:creationId xmlns:a16="http://schemas.microsoft.com/office/drawing/2014/main" id="{1BC6A618-C48A-4B5C-9D6E-06B1123E3804}"/>
              </a:ext>
            </a:extLst>
          </p:cNvPr>
          <p:cNvSpPr>
            <a:spLocks xmlns:a="http://schemas.openxmlformats.org/drawingml/2006/main" noGrp="1"/>
          </p:cNvSpPr>
          <p:nvPr/>
        </p:nvSpPr>
        <p:spPr>
          <a:xfrm xmlns:a="http://schemas.openxmlformats.org/drawingml/2006/main">
            <a:off x="6610350" y="5029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FFFFFF"/>
                </a:solidFill>
                <a:latin typeface="Aptos"/>
                <a:ea typeface="Aptos"/>
                <a:cs typeface="Aptos"/>
              </a:defRPr>
            </a:pPr>
            <a:r>
              <a:rPr sz="1650" b="1" i="0">
                <a:solidFill>
                  <a:srgbClr val="FFFFFF"/>
                </a:solidFill>
                <a:latin typeface="Aptos"/>
                <a:ea typeface="Aptos"/>
                <a:cs typeface="Aptos"/>
              </a:rPr>
              <a:t>4</a:t>
            </a:r>
          </a:p>
        </p:txBody>
      </p:sp>
      <p:sp>
        <p:nvSpPr>
          <p:cNvPr id="39" name="">
            <a:extLst xmlns:a="http://schemas.openxmlformats.org/drawingml/2006/main">
              <a:ext uri="{FF2B5EF4-FFF2-40B4-BE49-F238E27FC236}">
                <a16:creationId xmlns:a16="http://schemas.microsoft.com/office/drawing/2014/main" id="{2163CAA9-6708-4233-85B6-3857E393FFBF}"/>
              </a:ext>
            </a:extLst>
          </p:cNvPr>
          <p:cNvSpPr>
            <a:spLocks xmlns:a="http://schemas.openxmlformats.org/drawingml/2006/main" noGrp="1"/>
          </p:cNvSpPr>
          <p:nvPr/>
        </p:nvSpPr>
        <p:spPr>
          <a:xfrm xmlns:a="http://schemas.openxmlformats.org/drawingml/2006/main">
            <a:off x="7181850" y="4848225"/>
            <a:ext cx="4162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i="0">
                <a:solidFill>
                  <a:srgbClr val="0B1220"/>
                </a:solidFill>
                <a:latin typeface="Aptos"/>
                <a:ea typeface="Aptos"/>
                <a:cs typeface="Aptos"/>
              </a:defRPr>
            </a:pPr>
            <a:r>
              <a:rPr sz="1575" b="1" i="0">
                <a:solidFill>
                  <a:srgbClr val="0B1220"/>
                </a:solidFill>
                <a:latin typeface="Aptos"/>
                <a:ea typeface="Aptos"/>
                <a:cs typeface="Aptos"/>
              </a:rPr>
              <a:t>Validate candidate policies prospectively against operations</a:t>
            </a:r>
          </a:p>
        </p:txBody>
      </p:sp>
    </p:spTree>
    <p:extLst>
      <p:ext uri="{BB962C8B-B14F-4D97-AF65-F5344CB8AC3E}">
        <p14:creationId xmlns:p14="http://schemas.microsoft.com/office/powerpoint/2010/main" val="74346406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2CD8722-B45D-464A-80B5-57A0316D4FD1}"/>
              </a:ext>
            </a:extLst>
          </p:cNvPr>
          <p:cNvSpPr>
            <a:spLocks xmlns:a="http://schemas.openxmlformats.org/drawingml/2006/main" noGrp="1"/>
          </p:cNvSpPr>
          <p:nvPr/>
        </p:nvSpPr>
        <p:spPr>
          <a:xfrm xmlns:a="http://schemas.openxmlformats.org/drawingml/2006/main">
            <a:off x="457200" y="228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C8102E"/>
                </a:solidFill>
                <a:latin typeface="Aptos"/>
                <a:ea typeface="Aptos"/>
                <a:cs typeface="Aptos"/>
              </a:defRPr>
            </a:pPr>
            <a:r>
              <a:rPr sz="1275" b="1" i="0">
                <a:solidFill>
                  <a:srgbClr val="C8102E"/>
                </a:solidFill>
                <a:latin typeface="Aptos"/>
                <a:ea typeface="Aptos"/>
                <a:cs typeface="Aptos"/>
              </a:rPr>
              <a:t>APPENDIX</a:t>
            </a:r>
          </a:p>
        </p:txBody>
      </p:sp>
      <p:sp>
        <p:nvSpPr>
          <p:cNvPr id="2" name="">
            <a:extLst xmlns:a="http://schemas.openxmlformats.org/drawingml/2006/main">
              <a:ext uri="{FF2B5EF4-FFF2-40B4-BE49-F238E27FC236}">
                <a16:creationId xmlns:a16="http://schemas.microsoft.com/office/drawing/2014/main" id="{293E621C-0852-46BF-AB78-D392F1E750FC}"/>
              </a:ext>
            </a:extLst>
          </p:cNvPr>
          <p:cNvSpPr>
            <a:spLocks xmlns:a="http://schemas.openxmlformats.org/drawingml/2006/main" noGrp="1"/>
          </p:cNvSpPr>
          <p:nvPr/>
        </p:nvSpPr>
        <p:spPr>
          <a:xfrm xmlns:a="http://schemas.openxmlformats.org/drawingml/2006/main">
            <a:off x="457200" y="485775"/>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00" b="1" i="0">
                <a:solidFill>
                  <a:srgbClr val="0B1220"/>
                </a:solidFill>
                <a:latin typeface="Aptos"/>
                <a:ea typeface="Aptos"/>
                <a:cs typeface="Aptos"/>
              </a:defRPr>
            </a:pPr>
            <a:r>
              <a:rPr sz="3300" b="1" i="0">
                <a:solidFill>
                  <a:srgbClr val="0B1220"/>
                </a:solidFill>
                <a:latin typeface="Aptos"/>
                <a:ea typeface="Aptos"/>
                <a:cs typeface="Aptos"/>
              </a:rPr>
              <a:t>Likely examiner questions: concise answers</a:t>
            </a:r>
          </a:p>
        </p:txBody>
      </p:sp>
      <p:sp>
        <p:nvSpPr>
          <p:cNvPr id="3" name="">
            <a:extLst xmlns:a="http://schemas.openxmlformats.org/drawingml/2006/main">
              <a:ext uri="{FF2B5EF4-FFF2-40B4-BE49-F238E27FC236}">
                <a16:creationId xmlns:a16="http://schemas.microsoft.com/office/drawing/2014/main" id="{3DD378AE-5733-4875-850D-93283091ACFB}"/>
              </a:ext>
            </a:extLst>
          </p:cNvPr>
          <p:cNvSpPr>
            <a:spLocks xmlns:a="http://schemas.openxmlformats.org/drawingml/2006/main" noGrp="1"/>
          </p:cNvSpPr>
          <p:nvPr/>
        </p:nvSpPr>
        <p:spPr>
          <a:xfrm xmlns:a="http://schemas.openxmlformats.org/drawingml/2006/main">
            <a:off x="457200" y="6486525"/>
            <a:ext cx="10763250" cy="9525"/>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4" name="">
            <a:extLst xmlns:a="http://schemas.openxmlformats.org/drawingml/2006/main">
              <a:ext uri="{FF2B5EF4-FFF2-40B4-BE49-F238E27FC236}">
                <a16:creationId xmlns:a16="http://schemas.microsoft.com/office/drawing/2014/main" id="{978D03F2-6CF7-49F4-ABED-647E27724A3E}"/>
              </a:ext>
            </a:extLst>
          </p:cNvPr>
          <p:cNvSpPr>
            <a:spLocks xmlns:a="http://schemas.openxmlformats.org/drawingml/2006/main" noGrp="1"/>
          </p:cNvSpPr>
          <p:nvPr/>
        </p:nvSpPr>
        <p:spPr>
          <a:xfrm xmlns:a="http://schemas.openxmlformats.org/drawingml/2006/main">
            <a:off x="457200" y="6543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98A2B3"/>
                </a:solidFill>
                <a:latin typeface="Aptos"/>
                <a:ea typeface="Aptos"/>
                <a:cs typeface="Aptos"/>
              </a:defRPr>
            </a:pPr>
            <a:r>
              <a:rPr sz="1125" b="0" i="0">
                <a:solidFill>
                  <a:srgbClr val="98A2B3"/>
                </a:solidFill>
                <a:latin typeface="Aptos"/>
                <a:ea typeface="Aptos"/>
                <a:cs typeface="Aptos"/>
              </a:rPr>
              <a:t>Jule Grigat · Master’s Thesis Defense</a:t>
            </a:r>
          </a:p>
        </p:txBody>
      </p:sp>
      <p:sp>
        <p:nvSpPr>
          <p:cNvPr id="5" name="">
            <a:extLst xmlns:a="http://schemas.openxmlformats.org/drawingml/2006/main">
              <a:ext uri="{FF2B5EF4-FFF2-40B4-BE49-F238E27FC236}">
                <a16:creationId xmlns:a16="http://schemas.microsoft.com/office/drawing/2014/main" id="{28B52230-9D74-42CA-BA10-050FD2885B53}"/>
              </a:ext>
            </a:extLst>
          </p:cNvPr>
          <p:cNvSpPr>
            <a:spLocks xmlns:a="http://schemas.openxmlformats.org/drawingml/2006/main" noGrp="1"/>
          </p:cNvSpPr>
          <p:nvPr/>
        </p:nvSpPr>
        <p:spPr>
          <a:xfrm xmlns:a="http://schemas.openxmlformats.org/drawingml/2006/main">
            <a:off x="11239500" y="65436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i="0">
                <a:solidFill>
                  <a:srgbClr val="98A2B3"/>
                </a:solidFill>
                <a:latin typeface="Aptos"/>
                <a:ea typeface="Aptos"/>
                <a:cs typeface="Aptos"/>
              </a:defRPr>
            </a:pPr>
            <a:r>
              <a:rPr sz="1125" b="0" i="0">
                <a:solidFill>
                  <a:srgbClr val="98A2B3"/>
                </a:solidFill>
                <a:latin typeface="Aptos"/>
                <a:ea typeface="Aptos"/>
                <a:cs typeface="Aptos"/>
              </a:rPr>
              <a:t>26</a:t>
            </a:r>
          </a:p>
        </p:txBody>
      </p:sp>
      <p:sp>
        <p:nvSpPr>
          <p:cNvPr id="6" name="">
            <a:extLst xmlns:a="http://schemas.openxmlformats.org/drawingml/2006/main">
              <a:ext uri="{FF2B5EF4-FFF2-40B4-BE49-F238E27FC236}">
                <a16:creationId xmlns:a16="http://schemas.microsoft.com/office/drawing/2014/main" id="{49049E84-3876-4768-A78D-261672BEECF3}"/>
              </a:ext>
            </a:extLst>
          </p:cNvPr>
          <p:cNvSpPr>
            <a:spLocks xmlns:a="http://schemas.openxmlformats.org/drawingml/2006/main" noGrp="1"/>
          </p:cNvSpPr>
          <p:nvPr/>
        </p:nvSpPr>
        <p:spPr>
          <a:xfrm xmlns:a="http://schemas.openxmlformats.org/drawingml/2006/main">
            <a:off x="666750" y="1238250"/>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0B1220"/>
                </a:solidFill>
                <a:latin typeface="Aptos"/>
                <a:ea typeface="Aptos"/>
                <a:cs typeface="Aptos"/>
              </a:defRPr>
            </a:pPr>
            <a:r>
              <a:rPr sz="1650" b="1" i="0">
                <a:solidFill>
                  <a:srgbClr val="0B1220"/>
                </a:solidFill>
                <a:latin typeface="Aptos"/>
                <a:ea typeface="Aptos"/>
                <a:cs typeface="Aptos"/>
              </a:rPr>
              <a:t>Why not a random split?</a:t>
            </a:r>
          </a:p>
        </p:txBody>
      </p:sp>
      <p:sp>
        <p:nvSpPr>
          <p:cNvPr id="7" name="">
            <a:extLst xmlns:a="http://schemas.openxmlformats.org/drawingml/2006/main">
              <a:ext uri="{FF2B5EF4-FFF2-40B4-BE49-F238E27FC236}">
                <a16:creationId xmlns:a16="http://schemas.microsoft.com/office/drawing/2014/main" id="{CAD39241-BF8B-4E18-BC46-D1E99243BA5A}"/>
              </a:ext>
            </a:extLst>
          </p:cNvPr>
          <p:cNvSpPr>
            <a:spLocks xmlns:a="http://schemas.openxmlformats.org/drawingml/2006/main" noGrp="1"/>
          </p:cNvSpPr>
          <p:nvPr/>
        </p:nvSpPr>
        <p:spPr>
          <a:xfrm xmlns:a="http://schemas.openxmlformats.org/drawingml/2006/main">
            <a:off x="4495800" y="1143000"/>
            <a:ext cx="7105650" cy="666750"/>
          </a:xfrm>
          <a:prstGeom xmlns:a="http://schemas.openxmlformats.org/drawingml/2006/main" prst="roundRect">
            <a:avLst>
              <a:gd name="adj" fmla="val 17143"/>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0B51EAC-2864-42F7-9786-DF98CC43BBB6}"/>
              </a:ext>
            </a:extLst>
          </p:cNvPr>
          <p:cNvSpPr>
            <a:spLocks xmlns:a="http://schemas.openxmlformats.org/drawingml/2006/main" noGrp="1"/>
          </p:cNvSpPr>
          <p:nvPr/>
        </p:nvSpPr>
        <p:spPr>
          <a:xfrm xmlns:a="http://schemas.openxmlformats.org/drawingml/2006/main">
            <a:off x="4724400" y="1247775"/>
            <a:ext cx="6610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It would mix the later-period shift into training and test, overstating transfer.</a:t>
            </a:r>
          </a:p>
        </p:txBody>
      </p:sp>
      <p:sp>
        <p:nvSpPr>
          <p:cNvPr id="9" name="">
            <a:extLst xmlns:a="http://schemas.openxmlformats.org/drawingml/2006/main">
              <a:ext uri="{FF2B5EF4-FFF2-40B4-BE49-F238E27FC236}">
                <a16:creationId xmlns:a16="http://schemas.microsoft.com/office/drawing/2014/main" id="{2C627055-0CB8-4223-823B-75C0E606D4D0}"/>
              </a:ext>
            </a:extLst>
          </p:cNvPr>
          <p:cNvSpPr>
            <a:spLocks xmlns:a="http://schemas.openxmlformats.org/drawingml/2006/main" noGrp="1"/>
          </p:cNvSpPr>
          <p:nvPr/>
        </p:nvSpPr>
        <p:spPr>
          <a:xfrm xmlns:a="http://schemas.openxmlformats.org/drawingml/2006/main">
            <a:off x="666750" y="2085975"/>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0B1220"/>
                </a:solidFill>
                <a:latin typeface="Aptos"/>
                <a:ea typeface="Aptos"/>
                <a:cs typeface="Aptos"/>
              </a:defRPr>
            </a:pPr>
            <a:r>
              <a:rPr sz="1650" b="1" i="0">
                <a:solidFill>
                  <a:srgbClr val="0B1220"/>
                </a:solidFill>
                <a:latin typeface="Aptos"/>
                <a:ea typeface="Aptos"/>
                <a:cs typeface="Aptos"/>
              </a:rPr>
              <a:t>Why use two model roles?</a:t>
            </a:r>
          </a:p>
        </p:txBody>
      </p:sp>
      <p:sp>
        <p:nvSpPr>
          <p:cNvPr id="10" name="">
            <a:extLst xmlns:a="http://schemas.openxmlformats.org/drawingml/2006/main">
              <a:ext uri="{FF2B5EF4-FFF2-40B4-BE49-F238E27FC236}">
                <a16:creationId xmlns:a16="http://schemas.microsoft.com/office/drawing/2014/main" id="{B25194D3-80B0-4550-B389-AC226092E14F}"/>
              </a:ext>
            </a:extLst>
          </p:cNvPr>
          <p:cNvSpPr>
            <a:spLocks xmlns:a="http://schemas.openxmlformats.org/drawingml/2006/main" noGrp="1"/>
          </p:cNvSpPr>
          <p:nvPr/>
        </p:nvSpPr>
        <p:spPr>
          <a:xfrm xmlns:a="http://schemas.openxmlformats.org/drawingml/2006/main">
            <a:off x="4495800" y="1990725"/>
            <a:ext cx="71056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CCD9D1E-F584-4E81-8CEB-2B9E0112FC67}"/>
              </a:ext>
            </a:extLst>
          </p:cNvPr>
          <p:cNvSpPr>
            <a:spLocks xmlns:a="http://schemas.openxmlformats.org/drawingml/2006/main" noGrp="1"/>
          </p:cNvSpPr>
          <p:nvPr/>
        </p:nvSpPr>
        <p:spPr>
          <a:xfrm xmlns:a="http://schemas.openxmlformats.org/drawingml/2006/main">
            <a:off x="4724400" y="2095500"/>
            <a:ext cx="6610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Visit-only is the selected historical reference; native-only is the minimal demand-pathway probe.</a:t>
            </a:r>
          </a:p>
        </p:txBody>
      </p:sp>
      <p:sp>
        <p:nvSpPr>
          <p:cNvPr id="12" name="">
            <a:extLst xmlns:a="http://schemas.openxmlformats.org/drawingml/2006/main">
              <a:ext uri="{FF2B5EF4-FFF2-40B4-BE49-F238E27FC236}">
                <a16:creationId xmlns:a16="http://schemas.microsoft.com/office/drawing/2014/main" id="{B647E151-3680-49F9-8DBA-70261DCA8964}"/>
              </a:ext>
            </a:extLst>
          </p:cNvPr>
          <p:cNvSpPr>
            <a:spLocks xmlns:a="http://schemas.openxmlformats.org/drawingml/2006/main" noGrp="1"/>
          </p:cNvSpPr>
          <p:nvPr/>
        </p:nvSpPr>
        <p:spPr>
          <a:xfrm xmlns:a="http://schemas.openxmlformats.org/drawingml/2006/main">
            <a:off x="666750" y="2933700"/>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0B1220"/>
                </a:solidFill>
                <a:latin typeface="Aptos"/>
                <a:ea typeface="Aptos"/>
                <a:cs typeface="Aptos"/>
              </a:defRPr>
            </a:pPr>
            <a:r>
              <a:rPr sz="1650" b="1" i="0">
                <a:solidFill>
                  <a:srgbClr val="0B1220"/>
                </a:solidFill>
                <a:latin typeface="Aptos"/>
                <a:ea typeface="Aptos"/>
                <a:cs typeface="Aptos"/>
              </a:rPr>
              <a:t>Does near-perfect fitness prove validity?</a:t>
            </a:r>
          </a:p>
        </p:txBody>
      </p:sp>
      <p:sp>
        <p:nvSpPr>
          <p:cNvPr id="13" name="">
            <a:extLst xmlns:a="http://schemas.openxmlformats.org/drawingml/2006/main">
              <a:ext uri="{FF2B5EF4-FFF2-40B4-BE49-F238E27FC236}">
                <a16:creationId xmlns:a16="http://schemas.microsoft.com/office/drawing/2014/main" id="{695D6D62-C3D1-4D70-A60D-DF0C8B8EBB08}"/>
              </a:ext>
            </a:extLst>
          </p:cNvPr>
          <p:cNvSpPr>
            <a:spLocks xmlns:a="http://schemas.openxmlformats.org/drawingml/2006/main" noGrp="1"/>
          </p:cNvSpPr>
          <p:nvPr/>
        </p:nvSpPr>
        <p:spPr>
          <a:xfrm xmlns:a="http://schemas.openxmlformats.org/drawingml/2006/main">
            <a:off x="4495800" y="2838450"/>
            <a:ext cx="7105650" cy="666750"/>
          </a:xfrm>
          <a:prstGeom xmlns:a="http://schemas.openxmlformats.org/drawingml/2006/main" prst="roundRect">
            <a:avLst>
              <a:gd name="adj" fmla="val 17143"/>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B6390D5-23CD-4A4B-9E93-C3E4AA880DAF}"/>
              </a:ext>
            </a:extLst>
          </p:cNvPr>
          <p:cNvSpPr>
            <a:spLocks xmlns:a="http://schemas.openxmlformats.org/drawingml/2006/main" noGrp="1"/>
          </p:cNvSpPr>
          <p:nvPr/>
        </p:nvSpPr>
        <p:spPr>
          <a:xfrm xmlns:a="http://schemas.openxmlformats.org/drawingml/2006/main">
            <a:off x="4724400" y="2943225"/>
            <a:ext cx="6610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No. It proves replay capability; timing and physical mechanisms require separate tests.</a:t>
            </a:r>
          </a:p>
        </p:txBody>
      </p:sp>
      <p:sp>
        <p:nvSpPr>
          <p:cNvPr id="15" name="">
            <a:extLst xmlns:a="http://schemas.openxmlformats.org/drawingml/2006/main">
              <a:ext uri="{FF2B5EF4-FFF2-40B4-BE49-F238E27FC236}">
                <a16:creationId xmlns:a16="http://schemas.microsoft.com/office/drawing/2014/main" id="{C1D5EFEA-3846-40D3-BD95-9791BA5A1E80}"/>
              </a:ext>
            </a:extLst>
          </p:cNvPr>
          <p:cNvSpPr>
            <a:spLocks xmlns:a="http://schemas.openxmlformats.org/drawingml/2006/main" noGrp="1"/>
          </p:cNvSpPr>
          <p:nvPr/>
        </p:nvSpPr>
        <p:spPr>
          <a:xfrm xmlns:a="http://schemas.openxmlformats.org/drawingml/2006/main">
            <a:off x="666750" y="3781425"/>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0B1220"/>
                </a:solidFill>
                <a:latin typeface="Aptos"/>
                <a:ea typeface="Aptos"/>
                <a:cs typeface="Aptos"/>
              </a:defRPr>
            </a:pPr>
            <a:r>
              <a:rPr sz="1650" b="1" i="0">
                <a:solidFill>
                  <a:srgbClr val="0B1220"/>
                </a:solidFill>
                <a:latin typeface="Aptos"/>
                <a:ea typeface="Aptos"/>
                <a:cs typeface="Aptos"/>
              </a:rPr>
              <a:t>Is the demand transition a CTB capacity threshold?</a:t>
            </a:r>
          </a:p>
        </p:txBody>
      </p:sp>
      <p:sp>
        <p:nvSpPr>
          <p:cNvPr id="16" name="">
            <a:extLst xmlns:a="http://schemas.openxmlformats.org/drawingml/2006/main">
              <a:ext uri="{FF2B5EF4-FFF2-40B4-BE49-F238E27FC236}">
                <a16:creationId xmlns:a16="http://schemas.microsoft.com/office/drawing/2014/main" id="{6A28BB96-C3A9-41A0-A8B1-593213D91C94}"/>
              </a:ext>
            </a:extLst>
          </p:cNvPr>
          <p:cNvSpPr>
            <a:spLocks xmlns:a="http://schemas.openxmlformats.org/drawingml/2006/main" noGrp="1"/>
          </p:cNvSpPr>
          <p:nvPr/>
        </p:nvSpPr>
        <p:spPr>
          <a:xfrm xmlns:a="http://schemas.openxmlformats.org/drawingml/2006/main">
            <a:off x="4495800" y="3686175"/>
            <a:ext cx="71056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704B8EE-0DC2-46A9-9C63-CBA3C0187A7F}"/>
              </a:ext>
            </a:extLst>
          </p:cNvPr>
          <p:cNvSpPr>
            <a:spLocks xmlns:a="http://schemas.openxmlformats.org/drawingml/2006/main" noGrp="1"/>
          </p:cNvSpPr>
          <p:nvPr/>
        </p:nvSpPr>
        <p:spPr>
          <a:xfrm xmlns:a="http://schemas.openxmlformats.org/drawingml/2006/main">
            <a:off x="4724400" y="3790950"/>
            <a:ext cx="6610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No. It is a fitted-model response under compressed arrivals and fixed case count.</a:t>
            </a:r>
          </a:p>
        </p:txBody>
      </p:sp>
      <p:sp>
        <p:nvSpPr>
          <p:cNvPr id="18" name="">
            <a:extLst xmlns:a="http://schemas.openxmlformats.org/drawingml/2006/main">
              <a:ext uri="{FF2B5EF4-FFF2-40B4-BE49-F238E27FC236}">
                <a16:creationId xmlns:a16="http://schemas.microsoft.com/office/drawing/2014/main" id="{99109C1B-CB05-4E40-B261-2A15A175DBD4}"/>
              </a:ext>
            </a:extLst>
          </p:cNvPr>
          <p:cNvSpPr>
            <a:spLocks xmlns:a="http://schemas.openxmlformats.org/drawingml/2006/main" noGrp="1"/>
          </p:cNvSpPr>
          <p:nvPr/>
        </p:nvSpPr>
        <p:spPr>
          <a:xfrm xmlns:a="http://schemas.openxmlformats.org/drawingml/2006/main">
            <a:off x="666750" y="4629150"/>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0B1220"/>
                </a:solidFill>
                <a:latin typeface="Aptos"/>
                <a:ea typeface="Aptos"/>
                <a:cs typeface="Aptos"/>
              </a:defRPr>
            </a:pPr>
            <a:r>
              <a:rPr sz="1650" b="1" i="0">
                <a:solidFill>
                  <a:srgbClr val="0B1220"/>
                </a:solidFill>
                <a:latin typeface="Aptos"/>
                <a:ea typeface="Aptos"/>
                <a:cs typeface="Aptos"/>
              </a:rPr>
              <a:t>Can the T22 result guide a real block closure?</a:t>
            </a:r>
          </a:p>
        </p:txBody>
      </p:sp>
      <p:sp>
        <p:nvSpPr>
          <p:cNvPr id="19" name="">
            <a:extLst xmlns:a="http://schemas.openxmlformats.org/drawingml/2006/main">
              <a:ext uri="{FF2B5EF4-FFF2-40B4-BE49-F238E27FC236}">
                <a16:creationId xmlns:a16="http://schemas.microsoft.com/office/drawing/2014/main" id="{0CE711FE-193A-4F6A-9CF5-57DA42D67F47}"/>
              </a:ext>
            </a:extLst>
          </p:cNvPr>
          <p:cNvSpPr>
            <a:spLocks xmlns:a="http://schemas.openxmlformats.org/drawingml/2006/main" noGrp="1"/>
          </p:cNvSpPr>
          <p:nvPr/>
        </p:nvSpPr>
        <p:spPr>
          <a:xfrm xmlns:a="http://schemas.openxmlformats.org/drawingml/2006/main">
            <a:off x="4495800" y="4533900"/>
            <a:ext cx="7105650" cy="666750"/>
          </a:xfrm>
          <a:prstGeom xmlns:a="http://schemas.openxmlformats.org/drawingml/2006/main" prst="roundRect">
            <a:avLst>
              <a:gd name="adj" fmla="val 17143"/>
            </a:avLst>
          </a:prstGeom>
          <a:solidFill xmlns:a="http://schemas.openxmlformats.org/drawingml/2006/main">
            <a:srgbClr val="F8FAF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D00201D-63C9-47BF-A97B-9BF9423CED2A}"/>
              </a:ext>
            </a:extLst>
          </p:cNvPr>
          <p:cNvSpPr>
            <a:spLocks xmlns:a="http://schemas.openxmlformats.org/drawingml/2006/main" noGrp="1"/>
          </p:cNvSpPr>
          <p:nvPr/>
        </p:nvSpPr>
        <p:spPr>
          <a:xfrm xmlns:a="http://schemas.openxmlformats.org/drawingml/2006/main">
            <a:off x="4724400" y="4638675"/>
            <a:ext cx="6610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No. The model reallocates labels without container location, relocation or added travel.</a:t>
            </a:r>
          </a:p>
        </p:txBody>
      </p:sp>
      <p:sp>
        <p:nvSpPr>
          <p:cNvPr id="21" name="">
            <a:extLst xmlns:a="http://schemas.openxmlformats.org/drawingml/2006/main">
              <a:ext uri="{FF2B5EF4-FFF2-40B4-BE49-F238E27FC236}">
                <a16:creationId xmlns:a16="http://schemas.microsoft.com/office/drawing/2014/main" id="{9508C996-CD20-4EAD-ABCF-47F2DF2CC8D3}"/>
              </a:ext>
            </a:extLst>
          </p:cNvPr>
          <p:cNvSpPr>
            <a:spLocks xmlns:a="http://schemas.openxmlformats.org/drawingml/2006/main" noGrp="1"/>
          </p:cNvSpPr>
          <p:nvPr/>
        </p:nvSpPr>
        <p:spPr>
          <a:xfrm xmlns:a="http://schemas.openxmlformats.org/drawingml/2006/main">
            <a:off x="666750" y="5476875"/>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0B1220"/>
                </a:solidFill>
                <a:latin typeface="Aptos"/>
                <a:ea typeface="Aptos"/>
                <a:cs typeface="Aptos"/>
              </a:defRPr>
            </a:pPr>
            <a:r>
              <a:rPr sz="1650" b="1" i="0">
                <a:solidFill>
                  <a:srgbClr val="0B1220"/>
                </a:solidFill>
                <a:latin typeface="Aptos"/>
                <a:ea typeface="Aptos"/>
                <a:cs typeface="Aptos"/>
              </a:rPr>
              <a:t>What is the main contribution?</a:t>
            </a:r>
          </a:p>
        </p:txBody>
      </p:sp>
      <p:sp>
        <p:nvSpPr>
          <p:cNvPr id="22" name="">
            <a:extLst xmlns:a="http://schemas.openxmlformats.org/drawingml/2006/main">
              <a:ext uri="{FF2B5EF4-FFF2-40B4-BE49-F238E27FC236}">
                <a16:creationId xmlns:a16="http://schemas.microsoft.com/office/drawing/2014/main" id="{06DE6C00-D3FE-4693-853D-C7C244CD01C3}"/>
              </a:ext>
            </a:extLst>
          </p:cNvPr>
          <p:cNvSpPr>
            <a:spLocks xmlns:a="http://schemas.openxmlformats.org/drawingml/2006/main" noGrp="1"/>
          </p:cNvSpPr>
          <p:nvPr/>
        </p:nvSpPr>
        <p:spPr>
          <a:xfrm xmlns:a="http://schemas.openxmlformats.org/drawingml/2006/main">
            <a:off x="4495800" y="5381625"/>
            <a:ext cx="71056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81DEB79-6592-4D26-9B01-EA8C213CE058}"/>
              </a:ext>
            </a:extLst>
          </p:cNvPr>
          <p:cNvSpPr>
            <a:spLocks xmlns:a="http://schemas.openxmlformats.org/drawingml/2006/main" noGrp="1"/>
          </p:cNvSpPr>
          <p:nvPr/>
        </p:nvSpPr>
        <p:spPr>
          <a:xfrm xmlns:a="http://schemas.openxmlformats.org/drawingml/2006/main">
            <a:off x="4724400" y="5486400"/>
            <a:ext cx="6610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5F6B7A"/>
                </a:solidFill>
                <a:latin typeface="Aptos"/>
                <a:ea typeface="Aptos"/>
                <a:cs typeface="Aptos"/>
              </a:defRPr>
            </a:pPr>
            <a:r>
              <a:rPr sz="1575" b="0" i="0">
                <a:solidFill>
                  <a:srgbClr val="5F6B7A"/>
                </a:solidFill>
                <a:latin typeface="Aptos"/>
                <a:ea typeface="Aptos"/>
                <a:cs typeface="Aptos"/>
              </a:rPr>
              <a:t>A layered, reproducible audit separating historical fit, physical admissibility and intervention adequacy.</a:t>
            </a:r>
          </a:p>
        </p:txBody>
      </p:sp>
    </p:spTree>
    <p:extLst>
      <p:ext uri="{BB962C8B-B14F-4D97-AF65-F5344CB8AC3E}">
        <p14:creationId xmlns:p14="http://schemas.microsoft.com/office/powerpoint/2010/main" val="17663304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2026-09-01T10:13:16.8850000Z</dcterms:created>
  <dcterms:modified xsi:type="dcterms:W3CDTF">2026-09-01T10:13:16.8850000Z</dcterms:modified>
</coreProperties>
</file>